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708" r:id="rId2"/>
  </p:sldMasterIdLst>
  <p:notesMasterIdLst>
    <p:notesMasterId r:id="rId31"/>
  </p:notesMasterIdLst>
  <p:handoutMasterIdLst>
    <p:handoutMasterId r:id="rId32"/>
  </p:handoutMasterIdLst>
  <p:sldIdLst>
    <p:sldId id="307" r:id="rId3"/>
    <p:sldId id="329" r:id="rId4"/>
    <p:sldId id="330" r:id="rId5"/>
    <p:sldId id="331" r:id="rId6"/>
    <p:sldId id="356" r:id="rId7"/>
    <p:sldId id="357" r:id="rId8"/>
    <p:sldId id="332" r:id="rId9"/>
    <p:sldId id="333" r:id="rId10"/>
    <p:sldId id="334" r:id="rId11"/>
    <p:sldId id="336" r:id="rId12"/>
    <p:sldId id="337" r:id="rId13"/>
    <p:sldId id="338" r:id="rId14"/>
    <p:sldId id="339" r:id="rId15"/>
    <p:sldId id="340" r:id="rId16"/>
    <p:sldId id="341" r:id="rId17"/>
    <p:sldId id="342" r:id="rId18"/>
    <p:sldId id="343" r:id="rId19"/>
    <p:sldId id="344" r:id="rId20"/>
    <p:sldId id="345" r:id="rId21"/>
    <p:sldId id="346" r:id="rId22"/>
    <p:sldId id="355" r:id="rId23"/>
    <p:sldId id="347" r:id="rId24"/>
    <p:sldId id="349" r:id="rId25"/>
    <p:sldId id="350" r:id="rId26"/>
    <p:sldId id="351" r:id="rId27"/>
    <p:sldId id="352" r:id="rId28"/>
    <p:sldId id="324" r:id="rId29"/>
    <p:sldId id="303" r:id="rId30"/>
  </p:sldIdLst>
  <p:sldSz cx="9144000" cy="6858000" type="screen4x3"/>
  <p:notesSz cx="6802438" cy="99345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610" autoAdjust="0"/>
  </p:normalViewPr>
  <p:slideViewPr>
    <p:cSldViewPr>
      <p:cViewPr varScale="1">
        <p:scale>
          <a:sx n="110" d="100"/>
          <a:sy n="110" d="100"/>
        </p:scale>
        <p:origin x="1644" y="11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9F0BC5-5130-4D61-A246-001E168685E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039B01B-F356-448C-B00E-CD0D5B1315B5}">
      <dgm:prSet/>
      <dgm:spPr/>
      <dgm:t>
        <a:bodyPr/>
        <a:lstStyle/>
        <a:p>
          <a:r>
            <a:rPr lang="zh-TW" dirty="0"/>
            <a:t>我們介紹了如何利用迴歸模型探討一個自變數和一個依變數之間的關係。但在運動科學領域的分析中我們</a:t>
          </a:r>
          <a:r>
            <a:rPr lang="zh-TW" dirty="0">
              <a:solidFill>
                <a:schemeClr val="tx1"/>
              </a:solidFill>
            </a:rPr>
            <a:t>很少</a:t>
          </a:r>
          <a:r>
            <a:rPr lang="zh-TW" dirty="0"/>
            <a:t>會遇到僅用一個自變數分析的情形。</a:t>
          </a:r>
          <a:endParaRPr lang="en-US" dirty="0"/>
        </a:p>
      </dgm:t>
    </dgm:pt>
    <dgm:pt modelId="{291F8BFD-F613-427F-912F-E742FFA67705}" type="parTrans" cxnId="{509E4D7E-7FAD-42F8-991C-324C2BA79B3A}">
      <dgm:prSet/>
      <dgm:spPr/>
      <dgm:t>
        <a:bodyPr/>
        <a:lstStyle/>
        <a:p>
          <a:endParaRPr lang="en-US"/>
        </a:p>
      </dgm:t>
    </dgm:pt>
    <dgm:pt modelId="{6D53CC0A-CFC6-4CB1-8C7D-E15599EC067B}" type="sibTrans" cxnId="{509E4D7E-7FAD-42F8-991C-324C2BA79B3A}">
      <dgm:prSet/>
      <dgm:spPr/>
      <dgm:t>
        <a:bodyPr/>
        <a:lstStyle/>
        <a:p>
          <a:endParaRPr lang="en-US"/>
        </a:p>
      </dgm:t>
    </dgm:pt>
    <dgm:pt modelId="{0B5DD929-624D-4AFD-BD0C-460F15A4B009}">
      <dgm:prSet/>
      <dgm:spPr/>
      <dgm:t>
        <a:bodyPr/>
        <a:lstStyle/>
        <a:p>
          <a:r>
            <a:rPr lang="zh-TW" dirty="0"/>
            <a:t>原因是經常有許多風險因子（自變數）會同時影響要研究的依變數，單一自變數的分析結論經常有</a:t>
          </a:r>
          <a:r>
            <a:rPr lang="zh-TW" dirty="0">
              <a:solidFill>
                <a:schemeClr val="tx1"/>
              </a:solidFill>
            </a:rPr>
            <a:t>干擾</a:t>
          </a:r>
          <a:r>
            <a:rPr lang="zh-TW" dirty="0"/>
            <a:t>（</a:t>
          </a:r>
          <a:r>
            <a:rPr lang="en-US" dirty="0"/>
            <a:t>confounding</a:t>
          </a:r>
          <a:r>
            <a:rPr lang="zh-TW" dirty="0"/>
            <a:t>）的情形產生。</a:t>
          </a:r>
          <a:endParaRPr lang="en-US" dirty="0"/>
        </a:p>
      </dgm:t>
    </dgm:pt>
    <dgm:pt modelId="{59EF0DBE-5E52-4742-9440-A44C9AA7F627}" type="parTrans" cxnId="{9C3167BF-6E1A-4D25-9162-A45E5EFDC274}">
      <dgm:prSet/>
      <dgm:spPr/>
      <dgm:t>
        <a:bodyPr/>
        <a:lstStyle/>
        <a:p>
          <a:endParaRPr lang="en-US"/>
        </a:p>
      </dgm:t>
    </dgm:pt>
    <dgm:pt modelId="{CBE88D8A-7DC5-4356-8C57-5D6492B25015}" type="sibTrans" cxnId="{9C3167BF-6E1A-4D25-9162-A45E5EFDC274}">
      <dgm:prSet/>
      <dgm:spPr/>
      <dgm:t>
        <a:bodyPr/>
        <a:lstStyle/>
        <a:p>
          <a:endParaRPr lang="en-US"/>
        </a:p>
      </dgm:t>
    </dgm:pt>
    <dgm:pt modelId="{02313F51-00D0-4EA9-9C0F-7C88949328B2}" type="pres">
      <dgm:prSet presAssocID="{679F0BC5-5130-4D61-A246-001E168685EB}" presName="root" presStyleCnt="0">
        <dgm:presLayoutVars>
          <dgm:dir/>
          <dgm:resizeHandles val="exact"/>
        </dgm:presLayoutVars>
      </dgm:prSet>
      <dgm:spPr/>
    </dgm:pt>
    <dgm:pt modelId="{F7892512-515B-4D54-84CE-5C9DDC1252EF}" type="pres">
      <dgm:prSet presAssocID="{7039B01B-F356-448C-B00E-CD0D5B1315B5}" presName="compNode" presStyleCnt="0"/>
      <dgm:spPr/>
    </dgm:pt>
    <dgm:pt modelId="{26830A81-4DEB-4E9F-9FAA-B38A1AE0A8BC}" type="pres">
      <dgm:prSet presAssocID="{7039B01B-F356-448C-B00E-CD0D5B1315B5}" presName="bgRect" presStyleLbl="bgShp" presStyleIdx="0" presStyleCnt="2"/>
      <dgm:spPr/>
    </dgm:pt>
    <dgm:pt modelId="{29666559-C9A0-4F48-A329-F74722F9A4CF}" type="pres">
      <dgm:prSet presAssocID="{7039B01B-F356-448C-B00E-CD0D5B1315B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字幕"/>
        </a:ext>
      </dgm:extLst>
    </dgm:pt>
    <dgm:pt modelId="{A8B14631-5A7E-4C40-AE1E-8798A0A319A7}" type="pres">
      <dgm:prSet presAssocID="{7039B01B-F356-448C-B00E-CD0D5B1315B5}" presName="spaceRect" presStyleCnt="0"/>
      <dgm:spPr/>
    </dgm:pt>
    <dgm:pt modelId="{1F58FBBA-297C-4226-89A5-E53F4C337E03}" type="pres">
      <dgm:prSet presAssocID="{7039B01B-F356-448C-B00E-CD0D5B1315B5}" presName="parTx" presStyleLbl="revTx" presStyleIdx="0" presStyleCnt="2">
        <dgm:presLayoutVars>
          <dgm:chMax val="0"/>
          <dgm:chPref val="0"/>
        </dgm:presLayoutVars>
      </dgm:prSet>
      <dgm:spPr/>
    </dgm:pt>
    <dgm:pt modelId="{02BBD734-308F-4F31-82D4-454CFFFD2196}" type="pres">
      <dgm:prSet presAssocID="{6D53CC0A-CFC6-4CB1-8C7D-E15599EC067B}" presName="sibTrans" presStyleCnt="0"/>
      <dgm:spPr/>
    </dgm:pt>
    <dgm:pt modelId="{53CAF0AD-D0DD-4F65-B5EC-6F46C237E268}" type="pres">
      <dgm:prSet presAssocID="{0B5DD929-624D-4AFD-BD0C-460F15A4B009}" presName="compNode" presStyleCnt="0"/>
      <dgm:spPr/>
    </dgm:pt>
    <dgm:pt modelId="{58F3FE1A-90D8-45C5-BA56-F77DBE58CE13}" type="pres">
      <dgm:prSet presAssocID="{0B5DD929-624D-4AFD-BD0C-460F15A4B009}" presName="bgRect" presStyleLbl="bgShp" presStyleIdx="1" presStyleCnt="2"/>
      <dgm:spPr/>
    </dgm:pt>
    <dgm:pt modelId="{A02585BD-EE44-4AD0-9DD5-C113D94C6643}" type="pres">
      <dgm:prSet presAssocID="{0B5DD929-624D-4AFD-BD0C-460F15A4B00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統計"/>
        </a:ext>
      </dgm:extLst>
    </dgm:pt>
    <dgm:pt modelId="{B9B00797-B187-40A2-BFF0-52B082FEFB22}" type="pres">
      <dgm:prSet presAssocID="{0B5DD929-624D-4AFD-BD0C-460F15A4B009}" presName="spaceRect" presStyleCnt="0"/>
      <dgm:spPr/>
    </dgm:pt>
    <dgm:pt modelId="{0E3BDCBE-C952-4B6B-A9CD-ABD7FAFAFE75}" type="pres">
      <dgm:prSet presAssocID="{0B5DD929-624D-4AFD-BD0C-460F15A4B009}" presName="parTx" presStyleLbl="revTx" presStyleIdx="1" presStyleCnt="2">
        <dgm:presLayoutVars>
          <dgm:chMax val="0"/>
          <dgm:chPref val="0"/>
        </dgm:presLayoutVars>
      </dgm:prSet>
      <dgm:spPr/>
    </dgm:pt>
  </dgm:ptLst>
  <dgm:cxnLst>
    <dgm:cxn modelId="{1638DE75-CBE7-4EB7-98BD-A929FFC1EBAC}" type="presOf" srcId="{0B5DD929-624D-4AFD-BD0C-460F15A4B009}" destId="{0E3BDCBE-C952-4B6B-A9CD-ABD7FAFAFE75}" srcOrd="0" destOrd="0" presId="urn:microsoft.com/office/officeart/2018/2/layout/IconVerticalSolidList"/>
    <dgm:cxn modelId="{7626AB7A-C585-49C5-A284-2FA384C75B87}" type="presOf" srcId="{679F0BC5-5130-4D61-A246-001E168685EB}" destId="{02313F51-00D0-4EA9-9C0F-7C88949328B2}" srcOrd="0" destOrd="0" presId="urn:microsoft.com/office/officeart/2018/2/layout/IconVerticalSolidList"/>
    <dgm:cxn modelId="{509E4D7E-7FAD-42F8-991C-324C2BA79B3A}" srcId="{679F0BC5-5130-4D61-A246-001E168685EB}" destId="{7039B01B-F356-448C-B00E-CD0D5B1315B5}" srcOrd="0" destOrd="0" parTransId="{291F8BFD-F613-427F-912F-E742FFA67705}" sibTransId="{6D53CC0A-CFC6-4CB1-8C7D-E15599EC067B}"/>
    <dgm:cxn modelId="{9C3167BF-6E1A-4D25-9162-A45E5EFDC274}" srcId="{679F0BC5-5130-4D61-A246-001E168685EB}" destId="{0B5DD929-624D-4AFD-BD0C-460F15A4B009}" srcOrd="1" destOrd="0" parTransId="{59EF0DBE-5E52-4742-9440-A44C9AA7F627}" sibTransId="{CBE88D8A-7DC5-4356-8C57-5D6492B25015}"/>
    <dgm:cxn modelId="{D31EE7D8-6BC5-49B7-B2C8-875B8F6B1A2B}" type="presOf" srcId="{7039B01B-F356-448C-B00E-CD0D5B1315B5}" destId="{1F58FBBA-297C-4226-89A5-E53F4C337E03}" srcOrd="0" destOrd="0" presId="urn:microsoft.com/office/officeart/2018/2/layout/IconVerticalSolidList"/>
    <dgm:cxn modelId="{AD2FD4C9-35BB-40F2-AD67-039D0AAE1D4E}" type="presParOf" srcId="{02313F51-00D0-4EA9-9C0F-7C88949328B2}" destId="{F7892512-515B-4D54-84CE-5C9DDC1252EF}" srcOrd="0" destOrd="0" presId="urn:microsoft.com/office/officeart/2018/2/layout/IconVerticalSolidList"/>
    <dgm:cxn modelId="{6A1D7FBB-703A-45F4-91DE-98E8530C10F9}" type="presParOf" srcId="{F7892512-515B-4D54-84CE-5C9DDC1252EF}" destId="{26830A81-4DEB-4E9F-9FAA-B38A1AE0A8BC}" srcOrd="0" destOrd="0" presId="urn:microsoft.com/office/officeart/2018/2/layout/IconVerticalSolidList"/>
    <dgm:cxn modelId="{AE2793EB-7B87-43FE-9BBB-D11228C65E51}" type="presParOf" srcId="{F7892512-515B-4D54-84CE-5C9DDC1252EF}" destId="{29666559-C9A0-4F48-A329-F74722F9A4CF}" srcOrd="1" destOrd="0" presId="urn:microsoft.com/office/officeart/2018/2/layout/IconVerticalSolidList"/>
    <dgm:cxn modelId="{D824D0AF-B274-4B5A-A334-CF9511A60E27}" type="presParOf" srcId="{F7892512-515B-4D54-84CE-5C9DDC1252EF}" destId="{A8B14631-5A7E-4C40-AE1E-8798A0A319A7}" srcOrd="2" destOrd="0" presId="urn:microsoft.com/office/officeart/2018/2/layout/IconVerticalSolidList"/>
    <dgm:cxn modelId="{3345696D-BB2B-4284-9A53-C5A72BE03E54}" type="presParOf" srcId="{F7892512-515B-4D54-84CE-5C9DDC1252EF}" destId="{1F58FBBA-297C-4226-89A5-E53F4C337E03}" srcOrd="3" destOrd="0" presId="urn:microsoft.com/office/officeart/2018/2/layout/IconVerticalSolidList"/>
    <dgm:cxn modelId="{A501296E-E632-436B-9565-A2236EDD333D}" type="presParOf" srcId="{02313F51-00D0-4EA9-9C0F-7C88949328B2}" destId="{02BBD734-308F-4F31-82D4-454CFFFD2196}" srcOrd="1" destOrd="0" presId="urn:microsoft.com/office/officeart/2018/2/layout/IconVerticalSolidList"/>
    <dgm:cxn modelId="{4FA1ED2E-C974-44B9-8FED-E11D91C48CAA}" type="presParOf" srcId="{02313F51-00D0-4EA9-9C0F-7C88949328B2}" destId="{53CAF0AD-D0DD-4F65-B5EC-6F46C237E268}" srcOrd="2" destOrd="0" presId="urn:microsoft.com/office/officeart/2018/2/layout/IconVerticalSolidList"/>
    <dgm:cxn modelId="{8E3F19D6-90AC-4957-8B0B-CD483B9066FE}" type="presParOf" srcId="{53CAF0AD-D0DD-4F65-B5EC-6F46C237E268}" destId="{58F3FE1A-90D8-45C5-BA56-F77DBE58CE13}" srcOrd="0" destOrd="0" presId="urn:microsoft.com/office/officeart/2018/2/layout/IconVerticalSolidList"/>
    <dgm:cxn modelId="{FE9B20C8-2B13-4C95-9DAB-077E8664549E}" type="presParOf" srcId="{53CAF0AD-D0DD-4F65-B5EC-6F46C237E268}" destId="{A02585BD-EE44-4AD0-9DD5-C113D94C6643}" srcOrd="1" destOrd="0" presId="urn:microsoft.com/office/officeart/2018/2/layout/IconVerticalSolidList"/>
    <dgm:cxn modelId="{B8A8590C-F040-4FFF-A721-DC540E575EB0}" type="presParOf" srcId="{53CAF0AD-D0DD-4F65-B5EC-6F46C237E268}" destId="{B9B00797-B187-40A2-BFF0-52B082FEFB22}" srcOrd="2" destOrd="0" presId="urn:microsoft.com/office/officeart/2018/2/layout/IconVerticalSolidList"/>
    <dgm:cxn modelId="{CEBD965E-5CBB-4C05-A8B9-ECE3E486C219}" type="presParOf" srcId="{53CAF0AD-D0DD-4F65-B5EC-6F46C237E268}" destId="{0E3BDCBE-C952-4B6B-A9CD-ABD7FAFAFE7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4E7390-273A-4A4B-BDFC-A838D5606EA5}" type="doc">
      <dgm:prSet loTypeId="urn:microsoft.com/office/officeart/2005/8/layout/process4" loCatId="process" qsTypeId="urn:microsoft.com/office/officeart/2005/8/quickstyle/simple1" qsCatId="simple" csTypeId="urn:microsoft.com/office/officeart/2005/8/colors/accent1_2" csCatId="accent1" phldr="1"/>
      <dgm:spPr/>
      <dgm:t>
        <a:bodyPr/>
        <a:lstStyle/>
        <a:p>
          <a:endParaRPr lang="en-US"/>
        </a:p>
      </dgm:t>
    </dgm:pt>
    <dgm:pt modelId="{EA6C0735-49F2-4871-9B68-0E7E18F36F40}">
      <dgm:prSet/>
      <dgm:spPr/>
      <dgm:t>
        <a:bodyPr/>
        <a:lstStyle/>
        <a:p>
          <a:r>
            <a:rPr lang="zh-TW" u="sng" dirty="0"/>
            <a:t>賀爾蒙治療</a:t>
          </a:r>
          <a:r>
            <a:rPr lang="zh-TW" dirty="0"/>
            <a:t>和</a:t>
          </a:r>
          <a:r>
            <a:rPr lang="zh-TW" u="sng" dirty="0"/>
            <a:t>冠狀動脈性心臟病</a:t>
          </a:r>
          <a:r>
            <a:rPr lang="zh-TW" dirty="0"/>
            <a:t>相關性的研究裡，假設資料分析的結論是 </a:t>
          </a:r>
          <a:r>
            <a:rPr lang="en-US" dirty="0"/>
            <a:t>“</a:t>
          </a:r>
          <a:r>
            <a:rPr lang="zh-TW" dirty="0"/>
            <a:t>賀爾蒙的治療會降低冠狀動脈性心臟病的發生率，結論在統計上是顯著的</a:t>
          </a:r>
          <a:r>
            <a:rPr lang="en-US" dirty="0"/>
            <a:t>”</a:t>
          </a:r>
          <a:r>
            <a:rPr lang="zh-TW" dirty="0"/>
            <a:t>，但發現所研究的資料中接受賀爾蒙治療的婦女</a:t>
          </a:r>
          <a:r>
            <a:rPr lang="zh-TW" u="sng" dirty="0"/>
            <a:t>剛好多數是年齡較輕</a:t>
          </a:r>
          <a:r>
            <a:rPr lang="zh-TW" dirty="0"/>
            <a:t>的人，會不會冠狀動脈性心臟病發生率降低的原因是因為使用者年齡較低的關係，而不是因為使用賀爾蒙的原因</a:t>
          </a:r>
          <a:r>
            <a:rPr lang="en-US" dirty="0"/>
            <a:t>? </a:t>
          </a:r>
        </a:p>
      </dgm:t>
    </dgm:pt>
    <dgm:pt modelId="{17AC6D32-2013-41E9-AF29-F05B02152FF8}" type="parTrans" cxnId="{E5CAD41B-7CAB-4C10-930E-5D822E105854}">
      <dgm:prSet/>
      <dgm:spPr/>
      <dgm:t>
        <a:bodyPr/>
        <a:lstStyle/>
        <a:p>
          <a:endParaRPr lang="en-US"/>
        </a:p>
      </dgm:t>
    </dgm:pt>
    <dgm:pt modelId="{8EE780F6-D058-4078-9C05-04E221FD2527}" type="sibTrans" cxnId="{E5CAD41B-7CAB-4C10-930E-5D822E105854}">
      <dgm:prSet/>
      <dgm:spPr/>
      <dgm:t>
        <a:bodyPr/>
        <a:lstStyle/>
        <a:p>
          <a:endParaRPr lang="en-US"/>
        </a:p>
      </dgm:t>
    </dgm:pt>
    <dgm:pt modelId="{7698700B-4030-4B67-B0A3-C9F3526F4AE6}">
      <dgm:prSet/>
      <dgm:spPr/>
      <dgm:t>
        <a:bodyPr/>
        <a:lstStyle/>
        <a:p>
          <a:r>
            <a:rPr lang="zh-TW" dirty="0"/>
            <a:t>統計上解決這種干擾的處理原則上有二種：</a:t>
          </a:r>
          <a:endParaRPr lang="en-US" altLang="zh-TW" dirty="0"/>
        </a:p>
        <a:p>
          <a:r>
            <a:rPr lang="en-US" altLang="zh-TW" dirty="0"/>
            <a:t>1. </a:t>
          </a:r>
          <a:r>
            <a:rPr lang="zh-TW" dirty="0"/>
            <a:t>從研究方法上處理或</a:t>
          </a:r>
          <a:endParaRPr lang="en-US" altLang="zh-TW" dirty="0"/>
        </a:p>
        <a:p>
          <a:r>
            <a:rPr lang="en-US" altLang="zh-TW" dirty="0"/>
            <a:t>2. </a:t>
          </a:r>
          <a:r>
            <a:rPr lang="zh-TW" dirty="0"/>
            <a:t>從資料分析上下手。</a:t>
          </a:r>
          <a:endParaRPr lang="en-US" dirty="0"/>
        </a:p>
      </dgm:t>
    </dgm:pt>
    <dgm:pt modelId="{8E419CCE-C088-4631-86F3-31D32C6ADD2B}" type="parTrans" cxnId="{93212294-0D0B-4AA3-9AF3-B72031A8960A}">
      <dgm:prSet/>
      <dgm:spPr/>
      <dgm:t>
        <a:bodyPr/>
        <a:lstStyle/>
        <a:p>
          <a:endParaRPr lang="en-US"/>
        </a:p>
      </dgm:t>
    </dgm:pt>
    <dgm:pt modelId="{4E995E8B-5175-4E2A-88CA-7AFF06D1ACC9}" type="sibTrans" cxnId="{93212294-0D0B-4AA3-9AF3-B72031A8960A}">
      <dgm:prSet/>
      <dgm:spPr/>
      <dgm:t>
        <a:bodyPr/>
        <a:lstStyle/>
        <a:p>
          <a:endParaRPr lang="en-US"/>
        </a:p>
      </dgm:t>
    </dgm:pt>
    <dgm:pt modelId="{39D7D9F3-F53B-4B48-B6D3-3C64F63292A2}" type="pres">
      <dgm:prSet presAssocID="{6E4E7390-273A-4A4B-BDFC-A838D5606EA5}" presName="Name0" presStyleCnt="0">
        <dgm:presLayoutVars>
          <dgm:dir/>
          <dgm:animLvl val="lvl"/>
          <dgm:resizeHandles val="exact"/>
        </dgm:presLayoutVars>
      </dgm:prSet>
      <dgm:spPr/>
    </dgm:pt>
    <dgm:pt modelId="{0C62F927-EB35-4328-925D-FF4E83921B0B}" type="pres">
      <dgm:prSet presAssocID="{7698700B-4030-4B67-B0A3-C9F3526F4AE6}" presName="boxAndChildren" presStyleCnt="0"/>
      <dgm:spPr/>
    </dgm:pt>
    <dgm:pt modelId="{A83ED7F2-CC5D-4C5C-B547-B7BDECE9E693}" type="pres">
      <dgm:prSet presAssocID="{7698700B-4030-4B67-B0A3-C9F3526F4AE6}" presName="parentTextBox" presStyleLbl="node1" presStyleIdx="0" presStyleCnt="2"/>
      <dgm:spPr/>
    </dgm:pt>
    <dgm:pt modelId="{B6B55ABB-6868-45F6-8EC5-F6367E42853B}" type="pres">
      <dgm:prSet presAssocID="{8EE780F6-D058-4078-9C05-04E221FD2527}" presName="sp" presStyleCnt="0"/>
      <dgm:spPr/>
    </dgm:pt>
    <dgm:pt modelId="{84CC2F99-2133-40CB-B3E9-1C448874B9CB}" type="pres">
      <dgm:prSet presAssocID="{EA6C0735-49F2-4871-9B68-0E7E18F36F40}" presName="arrowAndChildren" presStyleCnt="0"/>
      <dgm:spPr/>
    </dgm:pt>
    <dgm:pt modelId="{BC6D8A9D-315B-4FC0-BE51-B1DE41CA9B8B}" type="pres">
      <dgm:prSet presAssocID="{EA6C0735-49F2-4871-9B68-0E7E18F36F40}" presName="parentTextArrow" presStyleLbl="node1" presStyleIdx="1" presStyleCnt="2"/>
      <dgm:spPr/>
    </dgm:pt>
  </dgm:ptLst>
  <dgm:cxnLst>
    <dgm:cxn modelId="{69B0F712-EC1A-4436-92FE-D4F8C11B83D0}" type="presOf" srcId="{EA6C0735-49F2-4871-9B68-0E7E18F36F40}" destId="{BC6D8A9D-315B-4FC0-BE51-B1DE41CA9B8B}" srcOrd="0" destOrd="0" presId="urn:microsoft.com/office/officeart/2005/8/layout/process4"/>
    <dgm:cxn modelId="{E5CAD41B-7CAB-4C10-930E-5D822E105854}" srcId="{6E4E7390-273A-4A4B-BDFC-A838D5606EA5}" destId="{EA6C0735-49F2-4871-9B68-0E7E18F36F40}" srcOrd="0" destOrd="0" parTransId="{17AC6D32-2013-41E9-AF29-F05B02152FF8}" sibTransId="{8EE780F6-D058-4078-9C05-04E221FD2527}"/>
    <dgm:cxn modelId="{5B717636-D485-4AC7-B738-32BE2EB3D673}" type="presOf" srcId="{6E4E7390-273A-4A4B-BDFC-A838D5606EA5}" destId="{39D7D9F3-F53B-4B48-B6D3-3C64F63292A2}" srcOrd="0" destOrd="0" presId="urn:microsoft.com/office/officeart/2005/8/layout/process4"/>
    <dgm:cxn modelId="{93212294-0D0B-4AA3-9AF3-B72031A8960A}" srcId="{6E4E7390-273A-4A4B-BDFC-A838D5606EA5}" destId="{7698700B-4030-4B67-B0A3-C9F3526F4AE6}" srcOrd="1" destOrd="0" parTransId="{8E419CCE-C088-4631-86F3-31D32C6ADD2B}" sibTransId="{4E995E8B-5175-4E2A-88CA-7AFF06D1ACC9}"/>
    <dgm:cxn modelId="{6B8FBDD9-6A05-4A75-93B7-F688DB9A3525}" type="presOf" srcId="{7698700B-4030-4B67-B0A3-C9F3526F4AE6}" destId="{A83ED7F2-CC5D-4C5C-B547-B7BDECE9E693}" srcOrd="0" destOrd="0" presId="urn:microsoft.com/office/officeart/2005/8/layout/process4"/>
    <dgm:cxn modelId="{D8BA7ECB-09E8-49CB-981F-8F1A79180990}" type="presParOf" srcId="{39D7D9F3-F53B-4B48-B6D3-3C64F63292A2}" destId="{0C62F927-EB35-4328-925D-FF4E83921B0B}" srcOrd="0" destOrd="0" presId="urn:microsoft.com/office/officeart/2005/8/layout/process4"/>
    <dgm:cxn modelId="{118D6A18-7198-40F2-B2B3-5A0EF210703D}" type="presParOf" srcId="{0C62F927-EB35-4328-925D-FF4E83921B0B}" destId="{A83ED7F2-CC5D-4C5C-B547-B7BDECE9E693}" srcOrd="0" destOrd="0" presId="urn:microsoft.com/office/officeart/2005/8/layout/process4"/>
    <dgm:cxn modelId="{5C6B9039-9D34-45B3-8CEC-F485E970E6AE}" type="presParOf" srcId="{39D7D9F3-F53B-4B48-B6D3-3C64F63292A2}" destId="{B6B55ABB-6868-45F6-8EC5-F6367E42853B}" srcOrd="1" destOrd="0" presId="urn:microsoft.com/office/officeart/2005/8/layout/process4"/>
    <dgm:cxn modelId="{EFCDC2D4-6860-4C61-9EB3-804E5DECD7DF}" type="presParOf" srcId="{39D7D9F3-F53B-4B48-B6D3-3C64F63292A2}" destId="{84CC2F99-2133-40CB-B3E9-1C448874B9CB}" srcOrd="2" destOrd="0" presId="urn:microsoft.com/office/officeart/2005/8/layout/process4"/>
    <dgm:cxn modelId="{CE8EB2DB-E09D-4A07-8D93-EECBB413F090}" type="presParOf" srcId="{84CC2F99-2133-40CB-B3E9-1C448874B9CB}" destId="{BC6D8A9D-315B-4FC0-BE51-B1DE41CA9B8B}"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E51131E-06D4-47F6-9395-1D10AA6267F7}"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5B89849F-4600-409D-AFEB-29E444FD2568}">
      <dgm:prSet/>
      <dgm:spPr/>
      <dgm:t>
        <a:bodyPr/>
        <a:lstStyle/>
        <a:p>
          <a:r>
            <a:rPr lang="zh-TW" u="sng"/>
            <a:t>要從研究方法的設計上解決</a:t>
          </a:r>
          <a:r>
            <a:rPr lang="zh-TW"/>
            <a:t>的話，我們在收集資料時，觀察到一位接受賀爾蒙治療的婦女（可稱為案例）就找一位年齡（干擾變數）相仿沒接受賀爾蒙治療的婦女（可稱為對照）同步追蹤觀察冠狀動脈性心臟病發生的情形 （此設計是以年齡相配</a:t>
          </a:r>
          <a:r>
            <a:rPr lang="en-US"/>
            <a:t>(matching) </a:t>
          </a:r>
          <a:r>
            <a:rPr lang="zh-TW"/>
            <a:t>的設計），接著用統計方法處理分析。</a:t>
          </a:r>
          <a:endParaRPr lang="en-US"/>
        </a:p>
      </dgm:t>
    </dgm:pt>
    <dgm:pt modelId="{94029910-AB67-4D9B-AC85-31AA6CC2A760}" type="parTrans" cxnId="{5B4B1416-88EA-46B3-A794-96E7F9BB9252}">
      <dgm:prSet/>
      <dgm:spPr/>
      <dgm:t>
        <a:bodyPr/>
        <a:lstStyle/>
        <a:p>
          <a:endParaRPr lang="en-US"/>
        </a:p>
      </dgm:t>
    </dgm:pt>
    <dgm:pt modelId="{8510F2FF-F4F7-4101-9CFB-5D09CF4420AA}" type="sibTrans" cxnId="{5B4B1416-88EA-46B3-A794-96E7F9BB9252}">
      <dgm:prSet/>
      <dgm:spPr/>
      <dgm:t>
        <a:bodyPr/>
        <a:lstStyle/>
        <a:p>
          <a:endParaRPr lang="en-US"/>
        </a:p>
      </dgm:t>
    </dgm:pt>
    <dgm:pt modelId="{FE427752-E21B-4422-B383-FBE67A323CC3}">
      <dgm:prSet/>
      <dgm:spPr/>
      <dgm:t>
        <a:bodyPr/>
        <a:lstStyle/>
        <a:p>
          <a:r>
            <a:rPr lang="zh-TW" u="sng"/>
            <a:t>若要從分析方法下手</a:t>
          </a:r>
          <a:r>
            <a:rPr lang="zh-TW"/>
            <a:t>的話，則通常要使用多變項迴歸分析方法，將干擾變數放進迴歸模型中和主要的風險變數同步分析，這種作法稱為控制干擾因子的作法（</a:t>
          </a:r>
          <a:r>
            <a:rPr lang="en-US"/>
            <a:t>control of confounding</a:t>
          </a:r>
          <a:r>
            <a:rPr lang="zh-TW"/>
            <a:t>），是本章討論的重點。</a:t>
          </a:r>
          <a:endParaRPr lang="en-US"/>
        </a:p>
      </dgm:t>
    </dgm:pt>
    <dgm:pt modelId="{6F5B10D0-B5A2-437F-8434-64B4F93405EE}" type="parTrans" cxnId="{E4458782-57BE-4DD7-9FFE-91EAF3515BAD}">
      <dgm:prSet/>
      <dgm:spPr/>
      <dgm:t>
        <a:bodyPr/>
        <a:lstStyle/>
        <a:p>
          <a:endParaRPr lang="en-US"/>
        </a:p>
      </dgm:t>
    </dgm:pt>
    <dgm:pt modelId="{5DBE0186-5C50-4442-9FA7-F79FA842A8E0}" type="sibTrans" cxnId="{E4458782-57BE-4DD7-9FFE-91EAF3515BAD}">
      <dgm:prSet/>
      <dgm:spPr/>
      <dgm:t>
        <a:bodyPr/>
        <a:lstStyle/>
        <a:p>
          <a:endParaRPr lang="en-US"/>
        </a:p>
      </dgm:t>
    </dgm:pt>
    <dgm:pt modelId="{CABDF773-9D3C-4C47-A271-62A609B6C4AC}" type="pres">
      <dgm:prSet presAssocID="{BE51131E-06D4-47F6-9395-1D10AA6267F7}" presName="Name0" presStyleCnt="0">
        <dgm:presLayoutVars>
          <dgm:dir/>
          <dgm:animLvl val="lvl"/>
          <dgm:resizeHandles val="exact"/>
        </dgm:presLayoutVars>
      </dgm:prSet>
      <dgm:spPr/>
    </dgm:pt>
    <dgm:pt modelId="{A1E12FAC-3704-44FD-AD9B-BAAC84F0D89D}" type="pres">
      <dgm:prSet presAssocID="{FE427752-E21B-4422-B383-FBE67A323CC3}" presName="boxAndChildren" presStyleCnt="0"/>
      <dgm:spPr/>
    </dgm:pt>
    <dgm:pt modelId="{EBB4C93A-F047-4829-B451-D9C7F6AFFD67}" type="pres">
      <dgm:prSet presAssocID="{FE427752-E21B-4422-B383-FBE67A323CC3}" presName="parentTextBox" presStyleLbl="node1" presStyleIdx="0" presStyleCnt="2"/>
      <dgm:spPr/>
    </dgm:pt>
    <dgm:pt modelId="{844DB151-3CA8-4145-BD15-C080DBB1AF87}" type="pres">
      <dgm:prSet presAssocID="{8510F2FF-F4F7-4101-9CFB-5D09CF4420AA}" presName="sp" presStyleCnt="0"/>
      <dgm:spPr/>
    </dgm:pt>
    <dgm:pt modelId="{F731FDBE-DEBD-4CD9-A86E-77A9032EF2D1}" type="pres">
      <dgm:prSet presAssocID="{5B89849F-4600-409D-AFEB-29E444FD2568}" presName="arrowAndChildren" presStyleCnt="0"/>
      <dgm:spPr/>
    </dgm:pt>
    <dgm:pt modelId="{A856EFC7-BFC6-4B26-A11A-B3F743815239}" type="pres">
      <dgm:prSet presAssocID="{5B89849F-4600-409D-AFEB-29E444FD2568}" presName="parentTextArrow" presStyleLbl="node1" presStyleIdx="1" presStyleCnt="2"/>
      <dgm:spPr/>
    </dgm:pt>
  </dgm:ptLst>
  <dgm:cxnLst>
    <dgm:cxn modelId="{5B4B1416-88EA-46B3-A794-96E7F9BB9252}" srcId="{BE51131E-06D4-47F6-9395-1D10AA6267F7}" destId="{5B89849F-4600-409D-AFEB-29E444FD2568}" srcOrd="0" destOrd="0" parTransId="{94029910-AB67-4D9B-AC85-31AA6CC2A760}" sibTransId="{8510F2FF-F4F7-4101-9CFB-5D09CF4420AA}"/>
    <dgm:cxn modelId="{04C8DC22-A5FD-4AC7-B208-49B5261BB102}" type="presOf" srcId="{BE51131E-06D4-47F6-9395-1D10AA6267F7}" destId="{CABDF773-9D3C-4C47-A271-62A609B6C4AC}" srcOrd="0" destOrd="0" presId="urn:microsoft.com/office/officeart/2005/8/layout/process4"/>
    <dgm:cxn modelId="{9A46CA78-7030-4EB1-B50E-228C5AE26728}" type="presOf" srcId="{5B89849F-4600-409D-AFEB-29E444FD2568}" destId="{A856EFC7-BFC6-4B26-A11A-B3F743815239}" srcOrd="0" destOrd="0" presId="urn:microsoft.com/office/officeart/2005/8/layout/process4"/>
    <dgm:cxn modelId="{E4458782-57BE-4DD7-9FFE-91EAF3515BAD}" srcId="{BE51131E-06D4-47F6-9395-1D10AA6267F7}" destId="{FE427752-E21B-4422-B383-FBE67A323CC3}" srcOrd="1" destOrd="0" parTransId="{6F5B10D0-B5A2-437F-8434-64B4F93405EE}" sibTransId="{5DBE0186-5C50-4442-9FA7-F79FA842A8E0}"/>
    <dgm:cxn modelId="{8099A5B6-01CC-4D7C-9202-DA50BBCBA621}" type="presOf" srcId="{FE427752-E21B-4422-B383-FBE67A323CC3}" destId="{EBB4C93A-F047-4829-B451-D9C7F6AFFD67}" srcOrd="0" destOrd="0" presId="urn:microsoft.com/office/officeart/2005/8/layout/process4"/>
    <dgm:cxn modelId="{362B4D8E-3A36-4D81-BB79-2F7F8EB4C74D}" type="presParOf" srcId="{CABDF773-9D3C-4C47-A271-62A609B6C4AC}" destId="{A1E12FAC-3704-44FD-AD9B-BAAC84F0D89D}" srcOrd="0" destOrd="0" presId="urn:microsoft.com/office/officeart/2005/8/layout/process4"/>
    <dgm:cxn modelId="{2D7FF2BA-92B9-4571-9FDD-BCBFD2E78F3D}" type="presParOf" srcId="{A1E12FAC-3704-44FD-AD9B-BAAC84F0D89D}" destId="{EBB4C93A-F047-4829-B451-D9C7F6AFFD67}" srcOrd="0" destOrd="0" presId="urn:microsoft.com/office/officeart/2005/8/layout/process4"/>
    <dgm:cxn modelId="{6E5A1C14-17B6-4224-ADEA-56F85117F164}" type="presParOf" srcId="{CABDF773-9D3C-4C47-A271-62A609B6C4AC}" destId="{844DB151-3CA8-4145-BD15-C080DBB1AF87}" srcOrd="1" destOrd="0" presId="urn:microsoft.com/office/officeart/2005/8/layout/process4"/>
    <dgm:cxn modelId="{06462333-D318-4972-BA38-9AC48275D04C}" type="presParOf" srcId="{CABDF773-9D3C-4C47-A271-62A609B6C4AC}" destId="{F731FDBE-DEBD-4CD9-A86E-77A9032EF2D1}" srcOrd="2" destOrd="0" presId="urn:microsoft.com/office/officeart/2005/8/layout/process4"/>
    <dgm:cxn modelId="{F7A64BB2-3B72-44FE-8713-7C80754FA8BE}" type="presParOf" srcId="{F731FDBE-DEBD-4CD9-A86E-77A9032EF2D1}" destId="{A856EFC7-BFC6-4B26-A11A-B3F743815239}"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830A81-4DEB-4E9F-9FAA-B38A1AE0A8BC}">
      <dsp:nvSpPr>
        <dsp:cNvPr id="0" name=""/>
        <dsp:cNvSpPr/>
      </dsp:nvSpPr>
      <dsp:spPr>
        <a:xfrm>
          <a:off x="0" y="615237"/>
          <a:ext cx="7543800" cy="1135824"/>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666559-C9A0-4F48-A329-F74722F9A4CF}">
      <dsp:nvSpPr>
        <dsp:cNvPr id="0" name=""/>
        <dsp:cNvSpPr/>
      </dsp:nvSpPr>
      <dsp:spPr>
        <a:xfrm>
          <a:off x="343586" y="870798"/>
          <a:ext cx="624703" cy="62470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F58FBBA-297C-4226-89A5-E53F4C337E03}">
      <dsp:nvSpPr>
        <dsp:cNvPr id="0" name=""/>
        <dsp:cNvSpPr/>
      </dsp:nvSpPr>
      <dsp:spPr>
        <a:xfrm>
          <a:off x="1311876" y="615237"/>
          <a:ext cx="6231923" cy="113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208" tIns="120208" rIns="120208" bIns="120208" numCol="1" spcCol="1270" anchor="ctr" anchorCtr="0">
          <a:noAutofit/>
        </a:bodyPr>
        <a:lstStyle/>
        <a:p>
          <a:pPr marL="0" lvl="0" indent="0" algn="l" defTabSz="844550">
            <a:lnSpc>
              <a:spcPct val="90000"/>
            </a:lnSpc>
            <a:spcBef>
              <a:spcPct val="0"/>
            </a:spcBef>
            <a:spcAft>
              <a:spcPct val="35000"/>
            </a:spcAft>
            <a:buNone/>
          </a:pPr>
          <a:r>
            <a:rPr lang="zh-TW" sz="1900" kern="1200" dirty="0"/>
            <a:t>我們介紹了如何利用迴歸模型探討一個自變數和一個依變數之間的關係。但在運動科學領域的分析中我們</a:t>
          </a:r>
          <a:r>
            <a:rPr lang="zh-TW" sz="1900" kern="1200" dirty="0">
              <a:solidFill>
                <a:schemeClr val="tx1"/>
              </a:solidFill>
            </a:rPr>
            <a:t>很少</a:t>
          </a:r>
          <a:r>
            <a:rPr lang="zh-TW" sz="1900" kern="1200" dirty="0"/>
            <a:t>會遇到僅用一個自變數分析的情形。</a:t>
          </a:r>
          <a:endParaRPr lang="en-US" sz="1900" kern="1200" dirty="0"/>
        </a:p>
      </dsp:txBody>
      <dsp:txXfrm>
        <a:off x="1311876" y="615237"/>
        <a:ext cx="6231923" cy="1135824"/>
      </dsp:txXfrm>
    </dsp:sp>
    <dsp:sp modelId="{58F3FE1A-90D8-45C5-BA56-F77DBE58CE13}">
      <dsp:nvSpPr>
        <dsp:cNvPr id="0" name=""/>
        <dsp:cNvSpPr/>
      </dsp:nvSpPr>
      <dsp:spPr>
        <a:xfrm>
          <a:off x="0" y="2035018"/>
          <a:ext cx="7543800" cy="1135824"/>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02585BD-EE44-4AD0-9DD5-C113D94C6643}">
      <dsp:nvSpPr>
        <dsp:cNvPr id="0" name=""/>
        <dsp:cNvSpPr/>
      </dsp:nvSpPr>
      <dsp:spPr>
        <a:xfrm>
          <a:off x="343586" y="2290578"/>
          <a:ext cx="624703" cy="62470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E3BDCBE-C952-4B6B-A9CD-ABD7FAFAFE75}">
      <dsp:nvSpPr>
        <dsp:cNvPr id="0" name=""/>
        <dsp:cNvSpPr/>
      </dsp:nvSpPr>
      <dsp:spPr>
        <a:xfrm>
          <a:off x="1311876" y="2035018"/>
          <a:ext cx="6231923" cy="11358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208" tIns="120208" rIns="120208" bIns="120208" numCol="1" spcCol="1270" anchor="ctr" anchorCtr="0">
          <a:noAutofit/>
        </a:bodyPr>
        <a:lstStyle/>
        <a:p>
          <a:pPr marL="0" lvl="0" indent="0" algn="l" defTabSz="844550">
            <a:lnSpc>
              <a:spcPct val="90000"/>
            </a:lnSpc>
            <a:spcBef>
              <a:spcPct val="0"/>
            </a:spcBef>
            <a:spcAft>
              <a:spcPct val="35000"/>
            </a:spcAft>
            <a:buNone/>
          </a:pPr>
          <a:r>
            <a:rPr lang="zh-TW" sz="1900" kern="1200" dirty="0"/>
            <a:t>原因是經常有許多風險因子（自變數）會同時影響要研究的依變數，單一自變數的分析結論經常有</a:t>
          </a:r>
          <a:r>
            <a:rPr lang="zh-TW" sz="1900" kern="1200" dirty="0">
              <a:solidFill>
                <a:schemeClr val="tx1"/>
              </a:solidFill>
            </a:rPr>
            <a:t>干擾</a:t>
          </a:r>
          <a:r>
            <a:rPr lang="zh-TW" sz="1900" kern="1200" dirty="0"/>
            <a:t>（</a:t>
          </a:r>
          <a:r>
            <a:rPr lang="en-US" sz="1900" kern="1200" dirty="0"/>
            <a:t>confounding</a:t>
          </a:r>
          <a:r>
            <a:rPr lang="zh-TW" sz="1900" kern="1200" dirty="0"/>
            <a:t>）的情形產生。</a:t>
          </a:r>
          <a:endParaRPr lang="en-US" sz="1900" kern="1200" dirty="0"/>
        </a:p>
      </dsp:txBody>
      <dsp:txXfrm>
        <a:off x="1311876" y="2035018"/>
        <a:ext cx="6231923" cy="11358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3ED7F2-CC5D-4C5C-B547-B7BDECE9E693}">
      <dsp:nvSpPr>
        <dsp:cNvPr id="0" name=""/>
        <dsp:cNvSpPr/>
      </dsp:nvSpPr>
      <dsp:spPr>
        <a:xfrm>
          <a:off x="0" y="2731331"/>
          <a:ext cx="8229600" cy="1792049"/>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TW" sz="2000" kern="1200" dirty="0"/>
            <a:t>統計上解決這種干擾的處理原則上有二種：</a:t>
          </a:r>
          <a:endParaRPr lang="en-US" altLang="zh-TW" sz="2000" kern="1200" dirty="0"/>
        </a:p>
        <a:p>
          <a:pPr marL="0" lvl="0" indent="0" algn="ctr" defTabSz="889000">
            <a:lnSpc>
              <a:spcPct val="90000"/>
            </a:lnSpc>
            <a:spcBef>
              <a:spcPct val="0"/>
            </a:spcBef>
            <a:spcAft>
              <a:spcPct val="35000"/>
            </a:spcAft>
            <a:buNone/>
          </a:pPr>
          <a:r>
            <a:rPr lang="en-US" altLang="zh-TW" sz="2000" kern="1200" dirty="0"/>
            <a:t>1. </a:t>
          </a:r>
          <a:r>
            <a:rPr lang="zh-TW" sz="2000" kern="1200" dirty="0"/>
            <a:t>從研究方法上處理或</a:t>
          </a:r>
          <a:endParaRPr lang="en-US" altLang="zh-TW" sz="2000" kern="1200" dirty="0"/>
        </a:p>
        <a:p>
          <a:pPr marL="0" lvl="0" indent="0" algn="ctr" defTabSz="889000">
            <a:lnSpc>
              <a:spcPct val="90000"/>
            </a:lnSpc>
            <a:spcBef>
              <a:spcPct val="0"/>
            </a:spcBef>
            <a:spcAft>
              <a:spcPct val="35000"/>
            </a:spcAft>
            <a:buNone/>
          </a:pPr>
          <a:r>
            <a:rPr lang="en-US" altLang="zh-TW" sz="2000" kern="1200" dirty="0"/>
            <a:t>2. </a:t>
          </a:r>
          <a:r>
            <a:rPr lang="zh-TW" sz="2000" kern="1200" dirty="0"/>
            <a:t>從資料分析上下手。</a:t>
          </a:r>
          <a:endParaRPr lang="en-US" sz="2000" kern="1200" dirty="0"/>
        </a:p>
      </dsp:txBody>
      <dsp:txXfrm>
        <a:off x="0" y="2731331"/>
        <a:ext cx="8229600" cy="1792049"/>
      </dsp:txXfrm>
    </dsp:sp>
    <dsp:sp modelId="{BC6D8A9D-315B-4FC0-BE51-B1DE41CA9B8B}">
      <dsp:nvSpPr>
        <dsp:cNvPr id="0" name=""/>
        <dsp:cNvSpPr/>
      </dsp:nvSpPr>
      <dsp:spPr>
        <a:xfrm rot="10800000">
          <a:off x="0" y="2040"/>
          <a:ext cx="8229600" cy="2756171"/>
        </a:xfrm>
        <a:prstGeom prst="upArrowCallou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zh-TW" sz="2000" u="sng" kern="1200" dirty="0"/>
            <a:t>賀爾蒙治療</a:t>
          </a:r>
          <a:r>
            <a:rPr lang="zh-TW" sz="2000" kern="1200" dirty="0"/>
            <a:t>和</a:t>
          </a:r>
          <a:r>
            <a:rPr lang="zh-TW" sz="2000" u="sng" kern="1200" dirty="0"/>
            <a:t>冠狀動脈性心臟病</a:t>
          </a:r>
          <a:r>
            <a:rPr lang="zh-TW" sz="2000" kern="1200" dirty="0"/>
            <a:t>相關性的研究裡，假設資料分析的結論是 </a:t>
          </a:r>
          <a:r>
            <a:rPr lang="en-US" sz="2000" kern="1200" dirty="0"/>
            <a:t>“</a:t>
          </a:r>
          <a:r>
            <a:rPr lang="zh-TW" sz="2000" kern="1200" dirty="0"/>
            <a:t>賀爾蒙的治療會降低冠狀動脈性心臟病的發生率，結論在統計上是顯著的</a:t>
          </a:r>
          <a:r>
            <a:rPr lang="en-US" sz="2000" kern="1200" dirty="0"/>
            <a:t>”</a:t>
          </a:r>
          <a:r>
            <a:rPr lang="zh-TW" sz="2000" kern="1200" dirty="0"/>
            <a:t>，但發現所研究的資料中接受賀爾蒙治療的婦女</a:t>
          </a:r>
          <a:r>
            <a:rPr lang="zh-TW" sz="2000" u="sng" kern="1200" dirty="0"/>
            <a:t>剛好多數是年齡較輕</a:t>
          </a:r>
          <a:r>
            <a:rPr lang="zh-TW" sz="2000" kern="1200" dirty="0"/>
            <a:t>的人，會不會冠狀動脈性心臟病發生率降低的原因是因為使用者年齡較低的關係，而不是因為使用賀爾蒙的原因</a:t>
          </a:r>
          <a:r>
            <a:rPr lang="en-US" sz="2000" kern="1200" dirty="0"/>
            <a:t>? </a:t>
          </a:r>
        </a:p>
      </dsp:txBody>
      <dsp:txXfrm rot="10800000">
        <a:off x="0" y="2040"/>
        <a:ext cx="8229600" cy="17908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B4C93A-F047-4829-B451-D9C7F6AFFD67}">
      <dsp:nvSpPr>
        <dsp:cNvPr id="0" name=""/>
        <dsp:cNvSpPr/>
      </dsp:nvSpPr>
      <dsp:spPr>
        <a:xfrm>
          <a:off x="0" y="2285099"/>
          <a:ext cx="7543800" cy="1499272"/>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zh-TW" sz="1700" u="sng" kern="1200"/>
            <a:t>若要從分析方法下手</a:t>
          </a:r>
          <a:r>
            <a:rPr lang="zh-TW" sz="1700" kern="1200"/>
            <a:t>的話，則通常要使用多變項迴歸分析方法，將干擾變數放進迴歸模型中和主要的風險變數同步分析，這種作法稱為控制干擾因子的作法（</a:t>
          </a:r>
          <a:r>
            <a:rPr lang="en-US" sz="1700" kern="1200"/>
            <a:t>control of confounding</a:t>
          </a:r>
          <a:r>
            <a:rPr lang="zh-TW" sz="1700" kern="1200"/>
            <a:t>），是本章討論的重點。</a:t>
          </a:r>
          <a:endParaRPr lang="en-US" sz="1700" kern="1200"/>
        </a:p>
      </dsp:txBody>
      <dsp:txXfrm>
        <a:off x="0" y="2285099"/>
        <a:ext cx="7543800" cy="1499272"/>
      </dsp:txXfrm>
    </dsp:sp>
    <dsp:sp modelId="{A856EFC7-BFC6-4B26-A11A-B3F743815239}">
      <dsp:nvSpPr>
        <dsp:cNvPr id="0" name=""/>
        <dsp:cNvSpPr/>
      </dsp:nvSpPr>
      <dsp:spPr>
        <a:xfrm rot="10800000">
          <a:off x="0" y="1707"/>
          <a:ext cx="7543800" cy="2305881"/>
        </a:xfrm>
        <a:prstGeom prst="upArrowCallou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zh-TW" sz="1700" u="sng" kern="1200"/>
            <a:t>要從研究方法的設計上解決</a:t>
          </a:r>
          <a:r>
            <a:rPr lang="zh-TW" sz="1700" kern="1200"/>
            <a:t>的話，我們在收集資料時，觀察到一位接受賀爾蒙治療的婦女（可稱為案例）就找一位年齡（干擾變數）相仿沒接受賀爾蒙治療的婦女（可稱為對照）同步追蹤觀察冠狀動脈性心臟病發生的情形 （此設計是以年齡相配</a:t>
          </a:r>
          <a:r>
            <a:rPr lang="en-US" sz="1700" kern="1200"/>
            <a:t>(matching) </a:t>
          </a:r>
          <a:r>
            <a:rPr lang="zh-TW" sz="1700" kern="1200"/>
            <a:t>的設計），接著用統計方法處理分析。</a:t>
          </a:r>
          <a:endParaRPr lang="en-US" sz="1700" kern="1200"/>
        </a:p>
      </dsp:txBody>
      <dsp:txXfrm rot="10800000">
        <a:off x="0" y="1707"/>
        <a:ext cx="7543800" cy="149829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1"/>
            <a:ext cx="2947723" cy="498454"/>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53141" y="1"/>
            <a:ext cx="2947723" cy="498454"/>
          </a:xfrm>
          <a:prstGeom prst="rect">
            <a:avLst/>
          </a:prstGeom>
        </p:spPr>
        <p:txBody>
          <a:bodyPr vert="horz" lIns="91440" tIns="45720" rIns="91440" bIns="45720" rtlCol="0"/>
          <a:lstStyle>
            <a:lvl1pPr algn="r">
              <a:defRPr sz="1200"/>
            </a:lvl1pPr>
          </a:lstStyle>
          <a:p>
            <a:fld id="{12F06A88-CB4F-40C9-B387-77A5984A66C9}" type="datetimeFigureOut">
              <a:rPr lang="zh-TW" altLang="en-US" smtClean="0"/>
              <a:t>2024/11/28</a:t>
            </a:fld>
            <a:endParaRPr lang="zh-TW" altLang="en-US"/>
          </a:p>
        </p:txBody>
      </p:sp>
      <p:sp>
        <p:nvSpPr>
          <p:cNvPr id="4" name="頁尾版面配置區 3"/>
          <p:cNvSpPr>
            <a:spLocks noGrp="1"/>
          </p:cNvSpPr>
          <p:nvPr>
            <p:ph type="ftr" sz="quarter" idx="2"/>
          </p:nvPr>
        </p:nvSpPr>
        <p:spPr>
          <a:xfrm>
            <a:off x="0" y="9436123"/>
            <a:ext cx="2947723" cy="498453"/>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3141" y="9436123"/>
            <a:ext cx="2947723" cy="498453"/>
          </a:xfrm>
          <a:prstGeom prst="rect">
            <a:avLst/>
          </a:prstGeom>
        </p:spPr>
        <p:txBody>
          <a:bodyPr vert="horz" lIns="91440" tIns="45720" rIns="91440" bIns="45720" rtlCol="0" anchor="b"/>
          <a:lstStyle>
            <a:lvl1pPr algn="r">
              <a:defRPr sz="1200"/>
            </a:lvl1pPr>
          </a:lstStyle>
          <a:p>
            <a:fld id="{15237A30-6EEF-4982-BC4D-02EEF3876DCF}" type="slidenum">
              <a:rPr lang="zh-TW" altLang="en-US" smtClean="0"/>
              <a:t>‹#›</a:t>
            </a:fld>
            <a:endParaRPr lang="zh-TW" altLang="en-US"/>
          </a:p>
        </p:txBody>
      </p:sp>
    </p:spTree>
    <p:extLst>
      <p:ext uri="{BB962C8B-B14F-4D97-AF65-F5344CB8AC3E}">
        <p14:creationId xmlns:p14="http://schemas.microsoft.com/office/powerpoint/2010/main" val="35338223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47723" cy="496729"/>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53141" y="0"/>
            <a:ext cx="2947723" cy="496729"/>
          </a:xfrm>
          <a:prstGeom prst="rect">
            <a:avLst/>
          </a:prstGeom>
        </p:spPr>
        <p:txBody>
          <a:bodyPr vert="horz" lIns="91440" tIns="45720" rIns="91440" bIns="45720" rtlCol="0"/>
          <a:lstStyle>
            <a:lvl1pPr algn="r">
              <a:defRPr sz="1200"/>
            </a:lvl1pPr>
          </a:lstStyle>
          <a:p>
            <a:fld id="{A1D626F1-FBD8-493A-9CA1-DD5D47278114}" type="datetimeFigureOut">
              <a:rPr lang="zh-TW" altLang="en-US" smtClean="0"/>
              <a:pPr/>
              <a:t>2024/11/28</a:t>
            </a:fld>
            <a:endParaRPr lang="zh-TW" altLang="en-US"/>
          </a:p>
        </p:txBody>
      </p:sp>
      <p:sp>
        <p:nvSpPr>
          <p:cNvPr id="4" name="投影片圖像版面配置區 3"/>
          <p:cNvSpPr>
            <a:spLocks noGrp="1" noRot="1" noChangeAspect="1"/>
          </p:cNvSpPr>
          <p:nvPr>
            <p:ph type="sldImg" idx="2"/>
          </p:nvPr>
        </p:nvSpPr>
        <p:spPr>
          <a:xfrm>
            <a:off x="917575" y="744538"/>
            <a:ext cx="4967288" cy="3725862"/>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0244" y="4718923"/>
            <a:ext cx="5441950" cy="4470559"/>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436122"/>
            <a:ext cx="2947723" cy="496729"/>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3141" y="9436122"/>
            <a:ext cx="2947723" cy="496729"/>
          </a:xfrm>
          <a:prstGeom prst="rect">
            <a:avLst/>
          </a:prstGeom>
        </p:spPr>
        <p:txBody>
          <a:bodyPr vert="horz" lIns="91440" tIns="45720" rIns="91440" bIns="45720" rtlCol="0" anchor="b"/>
          <a:lstStyle>
            <a:lvl1pPr algn="r">
              <a:defRPr sz="1200"/>
            </a:lvl1pPr>
          </a:lstStyle>
          <a:p>
            <a:fld id="{9B7D1DB4-53FC-4FFB-A815-5EE85BC9630F}" type="slidenum">
              <a:rPr lang="zh-TW" altLang="en-US" smtClean="0"/>
              <a:pPr/>
              <a:t>‹#›</a:t>
            </a:fld>
            <a:endParaRPr lang="zh-TW" altLang="en-US"/>
          </a:p>
        </p:txBody>
      </p:sp>
    </p:spTree>
    <p:extLst>
      <p:ext uri="{BB962C8B-B14F-4D97-AF65-F5344CB8AC3E}">
        <p14:creationId xmlns:p14="http://schemas.microsoft.com/office/powerpoint/2010/main" val="1590312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B7D1DB4-53FC-4FFB-A815-5EE85BC9630F}" type="slidenum">
              <a:rPr lang="zh-TW" altLang="en-US" smtClean="0"/>
              <a:pPr/>
              <a:t>14</a:t>
            </a:fld>
            <a:endParaRPr lang="zh-TW" altLang="en-US"/>
          </a:p>
        </p:txBody>
      </p:sp>
    </p:spTree>
    <p:extLst>
      <p:ext uri="{BB962C8B-B14F-4D97-AF65-F5344CB8AC3E}">
        <p14:creationId xmlns:p14="http://schemas.microsoft.com/office/powerpoint/2010/main" val="1054474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B7D1DB4-53FC-4FFB-A815-5EE85BC9630F}" type="slidenum">
              <a:rPr lang="zh-TW" altLang="en-US" smtClean="0"/>
              <a:pPr/>
              <a:t>20</a:t>
            </a:fld>
            <a:endParaRPr lang="zh-TW" altLang="en-US"/>
          </a:p>
        </p:txBody>
      </p:sp>
    </p:spTree>
    <p:extLst>
      <p:ext uri="{BB962C8B-B14F-4D97-AF65-F5344CB8AC3E}">
        <p14:creationId xmlns:p14="http://schemas.microsoft.com/office/powerpoint/2010/main" val="528850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C24635E5-66BE-4E0D-9F21-5253C4F4758A}" type="datetime1">
              <a:rPr lang="zh-TW" altLang="en-US" smtClean="0"/>
              <a:t>2024/11/28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421872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F2A128E-1718-4F04-8697-D7F2A33239AC}" type="datetime1">
              <a:rPr lang="zh-TW" altLang="en-US" smtClean="0"/>
              <a:t>2024/11/28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72874733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52634"/>
            <a:ext cx="7886700" cy="1500187"/>
          </a:xfrm>
        </p:spPr>
        <p:txBody>
          <a:bodyPr anchor="t">
            <a:normAutofit/>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54E69E94-0F6C-4B62-8BDF-06A0F1FA1CAC}" type="datetime1">
              <a:rPr lang="zh-TW" altLang="en-US" smtClean="0"/>
              <a:t>2024/11/28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3267186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33845" y="1828801"/>
            <a:ext cx="3886200" cy="435133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8801"/>
            <a:ext cx="3886200" cy="435133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BF2A128E-1718-4F04-8697-D7F2A33239AC}" type="datetime1">
              <a:rPr lang="zh-TW" altLang="en-US" smtClean="0"/>
              <a:t>2024/11/28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836094716"/>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normAutofit/>
          </a:bodyP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按一下以編輯母片文字樣式</a:t>
            </a:r>
          </a:p>
        </p:txBody>
      </p:sp>
      <p:sp>
        <p:nvSpPr>
          <p:cNvPr id="4" name="Content Placeholder 3"/>
          <p:cNvSpPr>
            <a:spLocks noGrp="1"/>
          </p:cNvSpPr>
          <p:nvPr>
            <p:ph sz="half" idx="2"/>
          </p:nvPr>
        </p:nvSpPr>
        <p:spPr>
          <a:xfrm>
            <a:off x="633845" y="2507551"/>
            <a:ext cx="3867150" cy="368052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TW" altLang="en-US"/>
              <a:t>按一下以編輯母片文字樣式</a:t>
            </a:r>
          </a:p>
        </p:txBody>
      </p:sp>
      <p:sp>
        <p:nvSpPr>
          <p:cNvPr id="6" name="Content Placeholder 5"/>
          <p:cNvSpPr>
            <a:spLocks noGrp="1"/>
          </p:cNvSpPr>
          <p:nvPr>
            <p:ph sz="quarter" idx="4"/>
          </p:nvPr>
        </p:nvSpPr>
        <p:spPr>
          <a:xfrm>
            <a:off x="4629150" y="2507551"/>
            <a:ext cx="3886201" cy="3680525"/>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BF2A128E-1718-4F04-8697-D7F2A33239AC}" type="datetime1">
              <a:rPr lang="zh-TW" altLang="en-US" smtClean="0"/>
              <a:t>2024/11/28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C68121D2-9246-4B52-9877-10E6A7AF0C69}" type="slidenum">
              <a:rPr lang="zh-TW" altLang="en-US" smtClean="0"/>
              <a:pPr/>
              <a:t>‹#›</a:t>
            </a:fld>
            <a:endParaRPr lang="zh-TW" altLang="en-US"/>
          </a:p>
        </p:txBody>
      </p:sp>
      <p:sp>
        <p:nvSpPr>
          <p:cNvPr id="10" name="Title 9"/>
          <p:cNvSpPr>
            <a:spLocks noGrp="1"/>
          </p:cNvSpPr>
          <p:nvPr>
            <p:ph type="title"/>
          </p:nvPr>
        </p:nvSpPr>
        <p:spPr/>
        <p:txBody>
          <a:bodyPr/>
          <a:lstStyle/>
          <a:p>
            <a:r>
              <a:rPr lang="zh-TW" altLang="en-US"/>
              <a:t>按一下以編輯母片標題樣式</a:t>
            </a:r>
            <a:endParaRPr lang="en-US" dirty="0"/>
          </a:p>
        </p:txBody>
      </p:sp>
    </p:spTree>
    <p:extLst>
      <p:ext uri="{BB962C8B-B14F-4D97-AF65-F5344CB8AC3E}">
        <p14:creationId xmlns:p14="http://schemas.microsoft.com/office/powerpoint/2010/main" val="291401827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只有標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8BFFE44E-2251-4F06-9D4F-3279CB874D3A}" type="datetime1">
              <a:rPr lang="zh-TW" altLang="en-US" smtClean="0"/>
              <a:t>2024/11/28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C68121D2-9246-4B52-9877-10E6A7AF0C69}" type="slidenum">
              <a:rPr lang="zh-TW" altLang="en-US" smtClean="0"/>
              <a:pPr/>
              <a:t>‹#›</a:t>
            </a:fld>
            <a:endParaRPr lang="zh-TW" altLang="en-US"/>
          </a:p>
        </p:txBody>
      </p:sp>
      <p:sp>
        <p:nvSpPr>
          <p:cNvPr id="6" name="Title 5"/>
          <p:cNvSpPr>
            <a:spLocks noGrp="1"/>
          </p:cNvSpPr>
          <p:nvPr>
            <p:ph type="title"/>
          </p:nvPr>
        </p:nvSpPr>
        <p:spPr/>
        <p:txBody>
          <a:bodyPr/>
          <a:lstStyle/>
          <a:p>
            <a:r>
              <a:rPr lang="zh-TW" altLang="en-US"/>
              <a:t>按一下以編輯母片標題樣式</a:t>
            </a:r>
            <a:endParaRPr lang="en-US"/>
          </a:p>
        </p:txBody>
      </p:sp>
    </p:spTree>
    <p:extLst>
      <p:ext uri="{BB962C8B-B14F-4D97-AF65-F5344CB8AC3E}">
        <p14:creationId xmlns:p14="http://schemas.microsoft.com/office/powerpoint/2010/main" val="575989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B23E35-4CC9-4DFF-A03D-75E3E043585E}" type="datetime1">
              <a:rPr lang="zh-TW" altLang="en-US" smtClean="0"/>
              <a:t>2024/11/28</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620593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zh-TW" altLang="en-US"/>
              <a:t>按一下以編輯母片標題樣式</a:t>
            </a:r>
            <a:endParaRPr lang="en-US" dirty="0"/>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30936" y="2057399"/>
            <a:ext cx="2948940" cy="3810001"/>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BF2A128E-1718-4F04-8697-D7F2A33239AC}" type="datetime1">
              <a:rPr lang="zh-TW" altLang="en-US" smtClean="0"/>
              <a:t>2024/11/28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870770070"/>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zh-TW" altLang="en-US"/>
              <a:t>按一下以編輯母片標題樣式</a:t>
            </a:r>
            <a:endParaRPr lang="en-US" dirty="0"/>
          </a:p>
        </p:txBody>
      </p:sp>
      <p:sp>
        <p:nvSpPr>
          <p:cNvPr id="3" name="Picture Placeholder 2"/>
          <p:cNvSpPr>
            <a:spLocks noGrp="1"/>
          </p:cNvSpPr>
          <p:nvPr>
            <p:ph type="pic" idx="1"/>
          </p:nvPr>
        </p:nvSpPr>
        <p:spPr>
          <a:xfrm>
            <a:off x="3886200" y="990600"/>
            <a:ext cx="4629150" cy="4876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TW" altLang="en-US"/>
              <a:t>按一下圖示以新增圖片</a:t>
            </a:r>
            <a:endParaRPr lang="en-US" dirty="0"/>
          </a:p>
        </p:txBody>
      </p:sp>
      <p:sp>
        <p:nvSpPr>
          <p:cNvPr id="4" name="Text Placeholder 3"/>
          <p:cNvSpPr>
            <a:spLocks noGrp="1"/>
          </p:cNvSpPr>
          <p:nvPr>
            <p:ph type="body" sz="half" idx="2"/>
          </p:nvPr>
        </p:nvSpPr>
        <p:spPr>
          <a:xfrm>
            <a:off x="630936" y="2057400"/>
            <a:ext cx="2948940" cy="3810000"/>
          </a:xfrm>
        </p:spPr>
        <p:txBody>
          <a:bodyPr>
            <a:normAutofit/>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BF2A128E-1718-4F04-8697-D7F2A33239AC}" type="datetime1">
              <a:rPr lang="zh-TW" altLang="en-US" smtClean="0"/>
              <a:t>2024/11/28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316669170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0E3534B-CAFE-4B34-AD6F-E0CF9F02273A}" type="datetime1">
              <a:rPr lang="zh-TW" altLang="en-US" smtClean="0"/>
              <a:t>2024/11/28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3834156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1050E82B-ED45-4E27-AE31-D1E4089550F1}" type="datetime1">
              <a:rPr lang="zh-TW" altLang="en-US" smtClean="0"/>
              <a:t>2024/11/28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3122484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C24635E5-66BE-4E0D-9F21-5253C4F4758A}" type="datetime1">
              <a:rPr lang="zh-TW" altLang="en-US" smtClean="0"/>
              <a:t>2024/11/28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8121D2-9246-4B52-9877-10E6A7AF0C69}" type="slidenum">
              <a:rPr lang="zh-TW" altLang="en-US" smtClean="0"/>
              <a:pPr/>
              <a:t>‹#›</a:t>
            </a:fld>
            <a:endParaRPr lang="zh-TW"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6334315"/>
            <a:ext cx="9144001" cy="659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542645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F2A128E-1718-4F04-8697-D7F2A33239AC}" type="datetime1">
              <a:rPr lang="zh-TW" altLang="en-US" smtClean="0"/>
              <a:t>2024/11/28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1749682387"/>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章節標題">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54E69E94-0F6C-4B62-8BDF-06A0F1FA1CAC}" type="datetime1">
              <a:rPr lang="zh-TW" altLang="en-US" smtClean="0"/>
              <a:t>2024/11/28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8121D2-9246-4B52-9877-10E6A7AF0C69}" type="slidenum">
              <a:rPr lang="zh-TW" altLang="en-US" smtClean="0"/>
              <a:pPr/>
              <a:t>‹#›</a:t>
            </a:fld>
            <a:endParaRPr lang="zh-TW" alt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0" y="6334315"/>
            <a:ext cx="9144001" cy="659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812352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63440" y="1845735"/>
            <a:ext cx="3703320" cy="402336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BF2A128E-1718-4F04-8697-D7F2A33239AC}" type="datetime1">
              <a:rPr lang="zh-TW" altLang="en-US" smtClean="0"/>
              <a:t>2024/11/28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3571761776"/>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822960" y="2582334"/>
            <a:ext cx="3703320" cy="337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663440" y="2582334"/>
            <a:ext cx="3703320" cy="33782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BF2A128E-1718-4F04-8697-D7F2A33239AC}" type="datetime1">
              <a:rPr lang="zh-TW" altLang="en-US" smtClean="0"/>
              <a:t>2024/11/28</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1832597616"/>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8BFFE44E-2251-4F06-9D4F-3279CB874D3A}" type="datetime1">
              <a:rPr lang="zh-TW" altLang="en-US" smtClean="0"/>
              <a:t>2024/11/28</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25017866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7B23E35-4CC9-4DFF-A03D-75E3E043585E}" type="datetime1">
              <a:rPr lang="zh-TW" altLang="en-US" smtClean="0"/>
              <a:t>2024/11/28</a:t>
            </a:fld>
            <a:endParaRPr lang="zh-TW"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TW" altLang="en-US"/>
          </a:p>
        </p:txBody>
      </p:sp>
      <p:sp>
        <p:nvSpPr>
          <p:cNvPr id="9" name="Slide Number Placeholder 8"/>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14256977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含輔助字幕的內容">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zh-TW" altLang="en-US"/>
              <a:t>按一下以編輯母片標題樣式</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BF2A128E-1718-4F04-8697-D7F2A33239AC}" type="datetime1">
              <a:rPr lang="zh-TW" altLang="en-US" smtClean="0"/>
              <a:t>2024/11/28</a:t>
            </a:fld>
            <a:endParaRPr lang="zh-TW" alt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zh-TW"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1501885825"/>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含輔助字幕的圖片">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5234" cy="822960"/>
          </a:xfrm>
        </p:spPr>
        <p:txBody>
          <a:bodyPr tIns="0" bIns="0" anchor="b">
            <a:noAutofit/>
          </a:bodyPr>
          <a:lstStyle>
            <a:lvl1pPr>
              <a:defRPr sz="3600" b="0">
                <a:solidFill>
                  <a:srgbClr val="FFFFFF"/>
                </a:solidFill>
              </a:defRPr>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BF2A128E-1718-4F04-8697-D7F2A33239AC}" type="datetime1">
              <a:rPr lang="zh-TW" altLang="en-US" smtClean="0"/>
              <a:t>2024/11/28</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3852847393"/>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0E3534B-CAFE-4B34-AD6F-E0CF9F02273A}" type="datetime1">
              <a:rPr lang="zh-TW" altLang="en-US" smtClean="0"/>
              <a:t>2024/11/28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25648807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3989"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1050E82B-ED45-4E27-AE31-D1E4089550F1}" type="datetime1">
              <a:rPr lang="zh-TW" altLang="en-US" smtClean="0"/>
              <a:t>2024/11/28</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2227237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3845" y="365760"/>
            <a:ext cx="7886700" cy="1325562"/>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33845" y="1828801"/>
            <a:ext cx="7886700" cy="4351337"/>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fld id="{BF2A128E-1718-4F04-8697-D7F2A33239AC}" type="datetime1">
              <a:rPr lang="zh-TW" altLang="en-US" smtClean="0"/>
              <a:t>2024/11/28</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825">
                <a:solidFill>
                  <a:schemeClr val="tx1">
                    <a:lumMod val="65000"/>
                    <a:lumOff val="35000"/>
                  </a:schemeClr>
                </a:solidFill>
              </a:defRPr>
            </a:lvl1pPr>
          </a:lstStyle>
          <a:p>
            <a:endParaRPr lang="zh-TW" altLang="en-US"/>
          </a:p>
        </p:txBody>
      </p:sp>
      <p:sp>
        <p:nvSpPr>
          <p:cNvPr id="6" name="Slide Number Placeholder 5"/>
          <p:cNvSpPr>
            <a:spLocks noGrp="1"/>
          </p:cNvSpPr>
          <p:nvPr>
            <p:ph type="sldNum" sz="quarter" idx="4"/>
          </p:nvPr>
        </p:nvSpPr>
        <p:spPr>
          <a:xfrm>
            <a:off x="6463145" y="6356351"/>
            <a:ext cx="2057400" cy="365125"/>
          </a:xfrm>
          <a:prstGeom prst="rect">
            <a:avLst/>
          </a:prstGeom>
        </p:spPr>
        <p:txBody>
          <a:bodyPr vert="horz" lIns="91440" tIns="45720" rIns="91440" bIns="45720" rtlCol="0" anchor="ctr"/>
          <a:lstStyle>
            <a:lvl1pPr algn="r">
              <a:defRPr sz="825">
                <a:solidFill>
                  <a:schemeClr val="tx1">
                    <a:tint val="75000"/>
                  </a:schemeClr>
                </a:solidFill>
              </a:defRPr>
            </a:lvl1pPr>
          </a:lstStyle>
          <a:p>
            <a:fld id="{C68121D2-9246-4B52-9877-10E6A7AF0C69}" type="slidenum">
              <a:rPr lang="zh-TW" altLang="en-US" smtClean="0"/>
              <a:pPr/>
              <a:t>‹#›</a:t>
            </a:fld>
            <a:endParaRPr lang="zh-TW" altLang="en-US"/>
          </a:p>
        </p:txBody>
      </p:sp>
    </p:spTree>
    <p:extLst>
      <p:ext uri="{BB962C8B-B14F-4D97-AF65-F5344CB8AC3E}">
        <p14:creationId xmlns:p14="http://schemas.microsoft.com/office/powerpoint/2010/main" val="24949476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Wingdings 2" pitchFamily="18" charset="2"/>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Wingdings 2" pitchFamily="18" charset="2"/>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Wingdings 2" pitchFamily="18" charset="2"/>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Wingdings 2" pitchFamily="18" charset="2"/>
        <a:buChar char=""/>
        <a:defRPr sz="1350" kern="1200">
          <a:solidFill>
            <a:schemeClr val="tx1"/>
          </a:solidFill>
          <a:latin typeface="+mn-lt"/>
          <a:ea typeface="+mn-ea"/>
          <a:cs typeface="+mn-cs"/>
        </a:defRPr>
      </a:lvl5pPr>
      <a:lvl6pPr marL="18859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BF2A128E-1718-4F04-8697-D7F2A33239AC}" type="datetime1">
              <a:rPr lang="zh-TW" altLang="en-US" smtClean="0"/>
              <a:t>2024/11/28</a:t>
            </a:fld>
            <a:endParaRPr lang="zh-TW" alt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TW" alt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68121D2-9246-4B52-9877-10E6A7AF0C69}" type="slidenum">
              <a:rPr lang="zh-TW" altLang="en-US" smtClean="0"/>
              <a:pPr/>
              <a:t>‹#›</a:t>
            </a:fld>
            <a:endParaRPr lang="zh-TW" alt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7310873"/>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1628800"/>
            <a:ext cx="7772400" cy="1829761"/>
          </a:xfrm>
        </p:spPr>
        <p:txBody>
          <a:bodyPr>
            <a:normAutofit fontScale="90000"/>
          </a:bodyPr>
          <a:lstStyle/>
          <a:p>
            <a:pPr algn="ctr"/>
            <a:br>
              <a:rPr lang="en-US" altLang="zh-TW" dirty="0">
                <a:effectLst/>
                <a:latin typeface="微軟正黑體" panose="020B0604030504040204" pitchFamily="34" charset="-120"/>
                <a:ea typeface="微軟正黑體" panose="020B0604030504040204" pitchFamily="34" charset="-120"/>
              </a:rPr>
            </a:br>
            <a:r>
              <a:rPr lang="zh-TW" altLang="zh-TW" dirty="0">
                <a:effectLst/>
                <a:latin typeface="微軟正黑體" panose="020B0604030504040204" pitchFamily="34" charset="-120"/>
                <a:ea typeface="微軟正黑體" panose="020B0604030504040204" pitchFamily="34" charset="-120"/>
              </a:rPr>
              <a:t>多變項迴歸分析</a:t>
            </a:r>
            <a:endParaRPr lang="zh-TW" altLang="en-US"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12"/>
          </p:nvPr>
        </p:nvSpPr>
        <p:spPr/>
        <p:txBody>
          <a:bodyPr/>
          <a:lstStyle/>
          <a:p>
            <a:fld id="{C68121D2-9246-4B52-9877-10E6A7AF0C69}" type="slidenum">
              <a:rPr lang="zh-TW" altLang="en-US" smtClean="0"/>
              <a:pPr/>
              <a:t>1</a:t>
            </a:fld>
            <a:endParaRPr lang="zh-TW" altLang="en-US"/>
          </a:p>
        </p:txBody>
      </p:sp>
    </p:spTree>
    <p:extLst>
      <p:ext uri="{BB962C8B-B14F-4D97-AF65-F5344CB8AC3E}">
        <p14:creationId xmlns:p14="http://schemas.microsoft.com/office/powerpoint/2010/main" val="6998510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792235" y="764704"/>
            <a:ext cx="8229600" cy="706090"/>
          </a:xfrm>
        </p:spPr>
        <p:txBody>
          <a:bodyPr>
            <a:normAutofit fontScale="90000"/>
          </a:bodyPr>
          <a:lstStyle/>
          <a:p>
            <a:r>
              <a:rPr lang="en-US" altLang="zh-TW" dirty="0">
                <a:latin typeface="微軟正黑體" panose="020B0604030504040204" pitchFamily="34" charset="-120"/>
                <a:ea typeface="微軟正黑體" panose="020B0604030504040204" pitchFamily="34" charset="-120"/>
              </a:rPr>
              <a:t>Key words</a:t>
            </a:r>
            <a:endParaRPr lang="zh-TW" altLang="en-US" dirty="0">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idx="1"/>
          </p:nvPr>
        </p:nvSpPr>
        <p:spPr>
          <a:xfrm>
            <a:off x="827584" y="1988840"/>
            <a:ext cx="7931224" cy="5256583"/>
          </a:xfrm>
        </p:spPr>
        <p:txBody>
          <a:bodyPr>
            <a:normAutofit/>
          </a:bodyPr>
          <a:lstStyle/>
          <a:p>
            <a:pPr>
              <a:lnSpc>
                <a:spcPct val="150000"/>
              </a:lnSpc>
            </a:pPr>
            <a:r>
              <a:rPr lang="zh-TW" altLang="zh-TW" dirty="0">
                <a:latin typeface="微軟正黑體" panose="020B0604030504040204" pitchFamily="34" charset="-120"/>
                <a:ea typeface="微軟正黑體" panose="020B0604030504040204" pitchFamily="34" charset="-120"/>
              </a:rPr>
              <a:t>干擾變數</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en-US" dirty="0">
                <a:latin typeface="微軟正黑體" panose="020B0604030504040204" pitchFamily="34" charset="-120"/>
                <a:ea typeface="微軟正黑體" panose="020B0604030504040204" pitchFamily="34" charset="-120"/>
              </a:rPr>
              <a:t>原始估計值</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調整後的</a:t>
            </a:r>
            <a:r>
              <a:rPr lang="zh-TW" altLang="en-US" dirty="0">
                <a:latin typeface="微軟正黑體" panose="020B0604030504040204" pitchFamily="34" charset="-120"/>
                <a:ea typeface="微軟正黑體" panose="020B0604030504040204" pitchFamily="34" charset="-120"/>
              </a:rPr>
              <a:t>估計值</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交互作用</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分層分析</a:t>
            </a:r>
            <a:endParaRPr lang="zh-TW" altLang="en-US" dirty="0">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C68121D2-9246-4B52-9877-10E6A7AF0C69}" type="slidenum">
              <a:rPr lang="zh-TW" altLang="en-US" smtClean="0"/>
              <a:pPr/>
              <a:t>2</a:t>
            </a:fld>
            <a:endParaRPr lang="zh-TW" altLang="en-US"/>
          </a:p>
        </p:txBody>
      </p:sp>
    </p:spTree>
    <p:extLst>
      <p:ext uri="{BB962C8B-B14F-4D97-AF65-F5344CB8AC3E}">
        <p14:creationId xmlns:p14="http://schemas.microsoft.com/office/powerpoint/2010/main" val="3035163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611560" y="1988840"/>
            <a:ext cx="8229600" cy="5458611"/>
          </a:xfrm>
        </p:spPr>
        <p:txBody>
          <a:bodyPr>
            <a:normAutofit/>
          </a:bodyPr>
          <a:lstStyle/>
          <a:p>
            <a:pPr>
              <a:lnSpc>
                <a:spcPct val="150000"/>
              </a:lnSpc>
            </a:pPr>
            <a:r>
              <a:rPr lang="zh-TW" altLang="zh-TW" dirty="0">
                <a:latin typeface="微軟正黑體" panose="020B0604030504040204" pitchFamily="34" charset="-120"/>
                <a:ea typeface="微軟正黑體" panose="020B0604030504040204" pitchFamily="34" charset="-120"/>
              </a:rPr>
              <a:t>我們研究的主題 </a:t>
            </a:r>
            <a:r>
              <a:rPr lang="zh-TW" altLang="zh-TW" b="1" dirty="0">
                <a:latin typeface="微軟正黑體" panose="020B0604030504040204" pitchFamily="34" charset="-120"/>
                <a:ea typeface="微軟正黑體" panose="020B0604030504040204" pitchFamily="34" charset="-120"/>
              </a:rPr>
              <a:t>（依變數）</a:t>
            </a:r>
            <a:r>
              <a:rPr lang="zh-TW" altLang="zh-TW" dirty="0">
                <a:latin typeface="微軟正黑體" panose="020B0604030504040204" pitchFamily="34" charset="-120"/>
                <a:ea typeface="微軟正黑體" panose="020B0604030504040204" pitchFamily="34" charset="-120"/>
              </a:rPr>
              <a:t>資料有</a:t>
            </a:r>
            <a:endParaRPr lang="en-US" altLang="zh-TW" dirty="0">
              <a:latin typeface="微軟正黑體" panose="020B0604030504040204" pitchFamily="34" charset="-120"/>
              <a:ea typeface="微軟正黑體" panose="020B0604030504040204" pitchFamily="34" charset="-120"/>
            </a:endParaRPr>
          </a:p>
          <a:p>
            <a:pPr lvl="1">
              <a:lnSpc>
                <a:spcPct val="150000"/>
              </a:lnSpc>
              <a:buFont typeface="Wingdings" panose="05000000000000000000" pitchFamily="2" charset="2"/>
              <a:buChar char="l"/>
            </a:pPr>
            <a:r>
              <a:rPr lang="zh-TW" altLang="zh-TW" u="sng" dirty="0">
                <a:latin typeface="微軟正黑體" panose="020B0604030504040204" pitchFamily="34" charset="-120"/>
                <a:ea typeface="微軟正黑體" panose="020B0604030504040204" pitchFamily="34" charset="-120"/>
              </a:rPr>
              <a:t>連續型（或稱數值型）資料</a:t>
            </a:r>
            <a:r>
              <a:rPr lang="zh-TW" altLang="zh-TW"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lnSpc>
                <a:spcPct val="150000"/>
              </a:lnSpc>
              <a:buFont typeface="Wingdings" panose="05000000000000000000" pitchFamily="2" charset="2"/>
              <a:buChar char="l"/>
            </a:pPr>
            <a:r>
              <a:rPr lang="zh-TW" altLang="zh-TW" dirty="0">
                <a:latin typeface="微軟正黑體" panose="020B0604030504040204" pitchFamily="34" charset="-120"/>
                <a:ea typeface="微軟正黑體" panose="020B0604030504040204" pitchFamily="34" charset="-120"/>
              </a:rPr>
              <a:t>有</a:t>
            </a:r>
            <a:r>
              <a:rPr lang="zh-TW" altLang="zh-TW" u="sng" dirty="0">
                <a:latin typeface="微軟正黑體" panose="020B0604030504040204" pitchFamily="34" charset="-120"/>
                <a:ea typeface="微軟正黑體" panose="020B0604030504040204" pitchFamily="34" charset="-120"/>
              </a:rPr>
              <a:t>二元類別型資料</a:t>
            </a:r>
            <a:r>
              <a:rPr lang="zh-TW" altLang="zh-TW"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不同的資料形態導致分析的迴歸模型及方法都有相當大的差異。</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不同迴歸模型的迴歸係數也各有不同的解釋和代表的意義，分析時要特別注意。</a:t>
            </a:r>
            <a:endParaRPr lang="zh-TW" altLang="en-US" dirty="0">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C68121D2-9246-4B52-9877-10E6A7AF0C69}" type="slidenum">
              <a:rPr lang="zh-TW" altLang="en-US" smtClean="0"/>
              <a:pPr/>
              <a:t>3</a:t>
            </a:fld>
            <a:endParaRPr lang="zh-TW" altLang="en-US"/>
          </a:p>
        </p:txBody>
      </p:sp>
    </p:spTree>
    <p:extLst>
      <p:ext uri="{BB962C8B-B14F-4D97-AF65-F5344CB8AC3E}">
        <p14:creationId xmlns:p14="http://schemas.microsoft.com/office/powerpoint/2010/main" val="2834216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a:xfrm>
            <a:off x="7425343" y="6459785"/>
            <a:ext cx="984019" cy="365125"/>
          </a:xfrm>
        </p:spPr>
        <p:txBody>
          <a:bodyPr>
            <a:normAutofit/>
          </a:bodyPr>
          <a:lstStyle/>
          <a:p>
            <a:pPr>
              <a:spcAft>
                <a:spcPts val="600"/>
              </a:spcAft>
            </a:pPr>
            <a:fld id="{C68121D2-9246-4B52-9877-10E6A7AF0C69}" type="slidenum">
              <a:rPr lang="zh-TW" altLang="en-US" smtClean="0"/>
              <a:pPr>
                <a:spcAft>
                  <a:spcPts val="600"/>
                </a:spcAft>
              </a:pPr>
              <a:t>4</a:t>
            </a:fld>
            <a:endParaRPr lang="zh-TW" altLang="en-US"/>
          </a:p>
        </p:txBody>
      </p:sp>
      <p:graphicFrame>
        <p:nvGraphicFramePr>
          <p:cNvPr id="5" name="內容版面配置區 1">
            <a:extLst>
              <a:ext uri="{FF2B5EF4-FFF2-40B4-BE49-F238E27FC236}">
                <a16:creationId xmlns:a16="http://schemas.microsoft.com/office/drawing/2014/main" id="{832C34C3-E3E0-8BFE-74B6-EB7719B7E58B}"/>
              </a:ext>
            </a:extLst>
          </p:cNvPr>
          <p:cNvGraphicFramePr>
            <a:graphicFrameLocks noGrp="1"/>
          </p:cNvGraphicFramePr>
          <p:nvPr>
            <p:ph idx="1"/>
            <p:extLst>
              <p:ext uri="{D42A27DB-BD31-4B8C-83A1-F6EECF244321}">
                <p14:modId xmlns:p14="http://schemas.microsoft.com/office/powerpoint/2010/main" val="175903699"/>
              </p:ext>
            </p:extLst>
          </p:nvPr>
        </p:nvGraphicFramePr>
        <p:xfrm>
          <a:off x="822722" y="2098515"/>
          <a:ext cx="75438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6659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辛普森詭論</a:t>
            </a:r>
          </a:p>
        </p:txBody>
      </p:sp>
      <p:sp>
        <p:nvSpPr>
          <p:cNvPr id="2" name="內容版面配置區 1"/>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英國統計學家</a:t>
            </a:r>
            <a:r>
              <a:rPr lang="en-US" altLang="zh-TW" dirty="0">
                <a:latin typeface="微軟正黑體" panose="020B0604030504040204" pitchFamily="34" charset="-120"/>
                <a:ea typeface="微軟正黑體" panose="020B0604030504040204" pitchFamily="34" charset="-120"/>
              </a:rPr>
              <a:t>E.H.</a:t>
            </a:r>
            <a:r>
              <a:rPr lang="zh-TW" altLang="en-US" dirty="0">
                <a:latin typeface="微軟正黑體" panose="020B0604030504040204" pitchFamily="34" charset="-120"/>
                <a:ea typeface="微軟正黑體" panose="020B0604030504040204" pitchFamily="34" charset="-120"/>
              </a:rPr>
              <a:t>辛普森（</a:t>
            </a:r>
            <a:r>
              <a:rPr lang="en-US" altLang="zh-TW" dirty="0" err="1">
                <a:latin typeface="微軟正黑體" panose="020B0604030504040204" pitchFamily="34" charset="-120"/>
                <a:ea typeface="微軟正黑體" panose="020B0604030504040204" pitchFamily="34" charset="-120"/>
              </a:rPr>
              <a:t>E.H.Simpson</a:t>
            </a:r>
            <a:r>
              <a:rPr lang="zh-TW" altLang="en-US" dirty="0">
                <a:latin typeface="微軟正黑體" panose="020B0604030504040204" pitchFamily="34" charset="-120"/>
                <a:ea typeface="微軟正黑體" panose="020B0604030504040204" pitchFamily="34" charset="-120"/>
              </a:rPr>
              <a:t>）於</a:t>
            </a:r>
            <a:r>
              <a:rPr lang="en-US" altLang="zh-TW" dirty="0">
                <a:latin typeface="微軟正黑體" panose="020B0604030504040204" pitchFamily="34" charset="-120"/>
                <a:ea typeface="微軟正黑體" panose="020B0604030504040204" pitchFamily="34" charset="-120"/>
              </a:rPr>
              <a:t>1951</a:t>
            </a:r>
            <a:r>
              <a:rPr lang="zh-TW" altLang="en-US" dirty="0">
                <a:latin typeface="微軟正黑體" panose="020B0604030504040204" pitchFamily="34" charset="-120"/>
                <a:ea typeface="微軟正黑體" panose="020B0604030504040204" pitchFamily="34" charset="-120"/>
              </a:rPr>
              <a:t>年提出的悖論，即在某個條件下的兩組數據，分別討論時都會滿足某種性質，可是一旦合併考慮，卻可能導致相反的結論</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例：一所美國大學招生。人們懷疑入學標準有性別歧視。經統計如下：</a:t>
            </a:r>
            <a:endParaRPr lang="en-US" altLang="zh-TW"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C68121D2-9246-4B52-9877-10E6A7AF0C69}" type="slidenum">
              <a:rPr lang="zh-TW" altLang="en-US" smtClean="0"/>
              <a:pPr/>
              <a:t>5</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1747210362"/>
              </p:ext>
            </p:extLst>
          </p:nvPr>
        </p:nvGraphicFramePr>
        <p:xfrm>
          <a:off x="603541" y="4221088"/>
          <a:ext cx="8229600" cy="1249680"/>
        </p:xfrm>
        <a:graphic>
          <a:graphicData uri="http://schemas.openxmlformats.org/drawingml/2006/table">
            <a:tbl>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0">
                <a:tc>
                  <a:txBody>
                    <a:bodyPr/>
                    <a:lstStyle/>
                    <a:p>
                      <a:r>
                        <a:rPr lang="zh-TW" altLang="en-US"/>
                        <a:t>性別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a:t>錄取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a:t>拒收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a:t>總數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a:t>錄取比例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r>
                        <a:rPr lang="zh-TW" altLang="en-US"/>
                        <a:t>男生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209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95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304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68.8%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r>
                        <a:rPr lang="zh-TW" altLang="en-US"/>
                        <a:t>女生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143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110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253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56.5%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r>
                        <a:rPr lang="zh-TW" altLang="en-US"/>
                        <a:t>合計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352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205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557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042678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辛普森詭論</a:t>
            </a:r>
          </a:p>
        </p:txBody>
      </p:sp>
      <p:sp>
        <p:nvSpPr>
          <p:cNvPr id="2" name="內容版面配置區 1"/>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此校以下列數據辯駁</a:t>
            </a:r>
            <a:r>
              <a:rPr lang="en-US" altLang="zh-TW" dirty="0">
                <a:latin typeface="微軟正黑體" panose="020B0604030504040204" pitchFamily="34" charset="-120"/>
                <a:ea typeface="微軟正黑體" panose="020B0604030504040204" pitchFamily="34" charset="-120"/>
              </a:rPr>
              <a:t>:</a:t>
            </a:r>
          </a:p>
          <a:p>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各學院皆為女生錄取率較高</a:t>
            </a:r>
          </a:p>
        </p:txBody>
      </p:sp>
      <p:sp>
        <p:nvSpPr>
          <p:cNvPr id="3" name="投影片編號版面配置區 2"/>
          <p:cNvSpPr>
            <a:spLocks noGrp="1"/>
          </p:cNvSpPr>
          <p:nvPr>
            <p:ph type="sldNum" sz="quarter" idx="12"/>
          </p:nvPr>
        </p:nvSpPr>
        <p:spPr/>
        <p:txBody>
          <a:bodyPr/>
          <a:lstStyle/>
          <a:p>
            <a:fld id="{C68121D2-9246-4B52-9877-10E6A7AF0C69}" type="slidenum">
              <a:rPr lang="zh-TW" altLang="en-US" smtClean="0"/>
              <a:pPr/>
              <a:t>6</a:t>
            </a:fld>
            <a:endParaRPr lang="zh-TW" altLang="en-US"/>
          </a:p>
        </p:txBody>
      </p:sp>
      <p:graphicFrame>
        <p:nvGraphicFramePr>
          <p:cNvPr id="5" name="表格 4"/>
          <p:cNvGraphicFramePr>
            <a:graphicFrameLocks noGrp="1"/>
          </p:cNvGraphicFramePr>
          <p:nvPr>
            <p:extLst>
              <p:ext uri="{D42A27DB-BD31-4B8C-83A1-F6EECF244321}">
                <p14:modId xmlns:p14="http://schemas.microsoft.com/office/powerpoint/2010/main" val="3504334919"/>
              </p:ext>
            </p:extLst>
          </p:nvPr>
        </p:nvGraphicFramePr>
        <p:xfrm>
          <a:off x="395536" y="2643835"/>
          <a:ext cx="3826767" cy="1303020"/>
        </p:xfrm>
        <a:graphic>
          <a:graphicData uri="http://schemas.openxmlformats.org/drawingml/2006/table">
            <a:tbl>
              <a:tblPr/>
              <a:tblGrid>
                <a:gridCol w="674023">
                  <a:extLst>
                    <a:ext uri="{9D8B030D-6E8A-4147-A177-3AD203B41FA5}">
                      <a16:colId xmlns:a16="http://schemas.microsoft.com/office/drawing/2014/main" val="20000"/>
                    </a:ext>
                  </a:extLst>
                </a:gridCol>
                <a:gridCol w="674023">
                  <a:extLst>
                    <a:ext uri="{9D8B030D-6E8A-4147-A177-3AD203B41FA5}">
                      <a16:colId xmlns:a16="http://schemas.microsoft.com/office/drawing/2014/main" val="20001"/>
                    </a:ext>
                  </a:extLst>
                </a:gridCol>
                <a:gridCol w="674023">
                  <a:extLst>
                    <a:ext uri="{9D8B030D-6E8A-4147-A177-3AD203B41FA5}">
                      <a16:colId xmlns:a16="http://schemas.microsoft.com/office/drawing/2014/main" val="20002"/>
                    </a:ext>
                  </a:extLst>
                </a:gridCol>
                <a:gridCol w="674023">
                  <a:extLst>
                    <a:ext uri="{9D8B030D-6E8A-4147-A177-3AD203B41FA5}">
                      <a16:colId xmlns:a16="http://schemas.microsoft.com/office/drawing/2014/main" val="20003"/>
                    </a:ext>
                  </a:extLst>
                </a:gridCol>
                <a:gridCol w="1130675">
                  <a:extLst>
                    <a:ext uri="{9D8B030D-6E8A-4147-A177-3AD203B41FA5}">
                      <a16:colId xmlns:a16="http://schemas.microsoft.com/office/drawing/2014/main" val="20004"/>
                    </a:ext>
                  </a:extLst>
                </a:gridCol>
              </a:tblGrid>
              <a:tr h="312420">
                <a:tc>
                  <a:txBody>
                    <a:bodyPr/>
                    <a:lstStyle/>
                    <a:p>
                      <a:r>
                        <a:rPr lang="zh-TW" altLang="en-US" sz="1800" dirty="0"/>
                        <a:t>性別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a:t>錄取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a:t>拒收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a:t>總數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a:t>錄取比例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2420">
                <a:tc>
                  <a:txBody>
                    <a:bodyPr/>
                    <a:lstStyle/>
                    <a:p>
                      <a:r>
                        <a:rPr lang="zh-TW" altLang="en-US" sz="1800" dirty="0"/>
                        <a:t>男生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800" dirty="0"/>
                        <a:t>8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800" dirty="0"/>
                        <a:t>45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800"/>
                        <a:t>53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800" dirty="0"/>
                        <a:t>15.1%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2420">
                <a:tc>
                  <a:txBody>
                    <a:bodyPr/>
                    <a:lstStyle/>
                    <a:p>
                      <a:r>
                        <a:rPr lang="zh-TW" altLang="en-US" sz="1800"/>
                        <a:t>女生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800"/>
                        <a:t>51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800" dirty="0"/>
                        <a:t>101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800" dirty="0"/>
                        <a:t>152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800" dirty="0"/>
                        <a:t>33.6%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r>
                        <a:rPr lang="zh-TW" altLang="en-US" sz="1800"/>
                        <a:t>合計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800"/>
                        <a:t>59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800"/>
                        <a:t>146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1800"/>
                        <a:t>205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18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2842279704"/>
              </p:ext>
            </p:extLst>
          </p:nvPr>
        </p:nvGraphicFramePr>
        <p:xfrm>
          <a:off x="4793930" y="2643835"/>
          <a:ext cx="4098550" cy="1249680"/>
        </p:xfrm>
        <a:graphic>
          <a:graphicData uri="http://schemas.openxmlformats.org/drawingml/2006/table">
            <a:tbl>
              <a:tblPr/>
              <a:tblGrid>
                <a:gridCol w="848629">
                  <a:extLst>
                    <a:ext uri="{9D8B030D-6E8A-4147-A177-3AD203B41FA5}">
                      <a16:colId xmlns:a16="http://schemas.microsoft.com/office/drawing/2014/main" val="20000"/>
                    </a:ext>
                  </a:extLst>
                </a:gridCol>
                <a:gridCol w="730219">
                  <a:extLst>
                    <a:ext uri="{9D8B030D-6E8A-4147-A177-3AD203B41FA5}">
                      <a16:colId xmlns:a16="http://schemas.microsoft.com/office/drawing/2014/main" val="20001"/>
                    </a:ext>
                  </a:extLst>
                </a:gridCol>
                <a:gridCol w="720080">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gridCol w="1007534">
                  <a:extLst>
                    <a:ext uri="{9D8B030D-6E8A-4147-A177-3AD203B41FA5}">
                      <a16:colId xmlns:a16="http://schemas.microsoft.com/office/drawing/2014/main" val="20004"/>
                    </a:ext>
                  </a:extLst>
                </a:gridCol>
              </a:tblGrid>
              <a:tr h="0">
                <a:tc>
                  <a:txBody>
                    <a:bodyPr/>
                    <a:lstStyle/>
                    <a:p>
                      <a:r>
                        <a:rPr lang="zh-TW" altLang="en-US" dirty="0"/>
                        <a:t>性別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a:t>錄取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a:t>拒收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a:t>總數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dirty="0"/>
                        <a:t>錄取比例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r>
                        <a:rPr lang="zh-TW" altLang="en-US" dirty="0"/>
                        <a:t>男生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201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50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251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80.1%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r>
                        <a:rPr lang="zh-TW" altLang="en-US"/>
                        <a:t>女生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92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9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101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dirty="0"/>
                        <a:t>91.1%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r>
                        <a:rPr lang="zh-TW" altLang="en-US" dirty="0"/>
                        <a:t>合計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293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59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a:t>352 </a:t>
                      </a:r>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marL="19050" marR="190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7" name="文字方塊 6"/>
          <p:cNvSpPr txBox="1"/>
          <p:nvPr/>
        </p:nvSpPr>
        <p:spPr>
          <a:xfrm>
            <a:off x="1835696" y="2245514"/>
            <a:ext cx="1224136" cy="369332"/>
          </a:xfrm>
          <a:prstGeom prst="rect">
            <a:avLst/>
          </a:prstGeom>
          <a:noFill/>
        </p:spPr>
        <p:txBody>
          <a:bodyPr wrap="square" rtlCol="0">
            <a:spAutoFit/>
          </a:bodyPr>
          <a:lstStyle/>
          <a:p>
            <a:r>
              <a:rPr lang="zh-TW" altLang="en-US" b="1" dirty="0"/>
              <a:t>法學院</a:t>
            </a:r>
            <a:r>
              <a:rPr lang="zh-TW" altLang="en-US" dirty="0"/>
              <a:t> </a:t>
            </a:r>
          </a:p>
        </p:txBody>
      </p:sp>
      <p:sp>
        <p:nvSpPr>
          <p:cNvPr id="9" name="文字方塊 8"/>
          <p:cNvSpPr txBox="1"/>
          <p:nvPr/>
        </p:nvSpPr>
        <p:spPr>
          <a:xfrm>
            <a:off x="6444208" y="2274503"/>
            <a:ext cx="1224136" cy="369332"/>
          </a:xfrm>
          <a:prstGeom prst="rect">
            <a:avLst/>
          </a:prstGeom>
          <a:noFill/>
        </p:spPr>
        <p:txBody>
          <a:bodyPr wrap="square" rtlCol="0">
            <a:spAutoFit/>
          </a:bodyPr>
          <a:lstStyle/>
          <a:p>
            <a:r>
              <a:rPr lang="zh-TW" altLang="en-US" b="1" dirty="0"/>
              <a:t>商學院</a:t>
            </a:r>
            <a:r>
              <a:rPr lang="zh-TW" altLang="en-US" dirty="0"/>
              <a:t> </a:t>
            </a:r>
          </a:p>
        </p:txBody>
      </p:sp>
    </p:spTree>
    <p:extLst>
      <p:ext uri="{BB962C8B-B14F-4D97-AF65-F5344CB8AC3E}">
        <p14:creationId xmlns:p14="http://schemas.microsoft.com/office/powerpoint/2010/main" val="1317771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pPr algn="ctr"/>
            <a:r>
              <a:rPr lang="zh-TW" altLang="zh-TW" sz="3600" dirty="0">
                <a:latin typeface="微軟正黑體" panose="020B0604030504040204" pitchFamily="34" charset="-120"/>
                <a:ea typeface="微軟正黑體" panose="020B0604030504040204" pitchFamily="34" charset="-120"/>
              </a:rPr>
              <a:t>賀爾蒙治療</a:t>
            </a:r>
            <a:r>
              <a:rPr lang="zh-TW" altLang="en-US" sz="3600" dirty="0">
                <a:latin typeface="微軟正黑體" panose="020B0604030504040204" pitchFamily="34" charset="-120"/>
                <a:ea typeface="微軟正黑體" panose="020B0604030504040204" pitchFamily="34" charset="-120"/>
              </a:rPr>
              <a:t>　</a:t>
            </a:r>
            <a:r>
              <a:rPr lang="en-US" altLang="zh-TW" sz="3600" dirty="0">
                <a:latin typeface="微軟正黑體" panose="020B0604030504040204" pitchFamily="34" charset="-120"/>
                <a:ea typeface="微軟正黑體" panose="020B0604030504040204" pitchFamily="34" charset="-120"/>
              </a:rPr>
              <a:t>VS</a:t>
            </a:r>
            <a:r>
              <a:rPr lang="zh-TW" altLang="en-US" sz="3600" dirty="0">
                <a:latin typeface="微軟正黑體" panose="020B0604030504040204" pitchFamily="34" charset="-120"/>
                <a:ea typeface="微軟正黑體" panose="020B0604030504040204" pitchFamily="34" charset="-120"/>
              </a:rPr>
              <a:t>　冠狀動脈性心臟病</a:t>
            </a:r>
          </a:p>
        </p:txBody>
      </p:sp>
      <p:graphicFrame>
        <p:nvGraphicFramePr>
          <p:cNvPr id="6" name="內容版面配置區 1">
            <a:extLst>
              <a:ext uri="{FF2B5EF4-FFF2-40B4-BE49-F238E27FC236}">
                <a16:creationId xmlns:a16="http://schemas.microsoft.com/office/drawing/2014/main" id="{2D0A6E09-6316-0959-6CE6-446A2ACE0D1C}"/>
              </a:ext>
            </a:extLst>
          </p:cNvPr>
          <p:cNvGraphicFramePr>
            <a:graphicFrameLocks noGrp="1"/>
          </p:cNvGraphicFramePr>
          <p:nvPr>
            <p:ph idx="1"/>
            <p:extLst>
              <p:ext uri="{D42A27DB-BD31-4B8C-83A1-F6EECF244321}">
                <p14:modId xmlns:p14="http://schemas.microsoft.com/office/powerpoint/2010/main" val="1255325521"/>
              </p:ext>
            </p:extLst>
          </p:nvPr>
        </p:nvGraphicFramePr>
        <p:xfrm>
          <a:off x="480060" y="1783899"/>
          <a:ext cx="8229600" cy="45254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投影片編號版面配置區 2"/>
          <p:cNvSpPr>
            <a:spLocks noGrp="1"/>
          </p:cNvSpPr>
          <p:nvPr>
            <p:ph type="sldNum" sz="quarter" idx="12"/>
          </p:nvPr>
        </p:nvSpPr>
        <p:spPr/>
        <p:txBody>
          <a:bodyPr/>
          <a:lstStyle/>
          <a:p>
            <a:fld id="{C68121D2-9246-4B52-9877-10E6A7AF0C69}" type="slidenum">
              <a:rPr lang="zh-TW" altLang="en-US" smtClean="0"/>
              <a:pPr/>
              <a:t>7</a:t>
            </a:fld>
            <a:endParaRPr lang="zh-TW" altLang="en-US"/>
          </a:p>
        </p:txBody>
      </p:sp>
    </p:spTree>
    <p:extLst>
      <p:ext uri="{BB962C8B-B14F-4D97-AF65-F5344CB8AC3E}">
        <p14:creationId xmlns:p14="http://schemas.microsoft.com/office/powerpoint/2010/main" val="1283361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投影片編號版面配置區 2"/>
          <p:cNvSpPr>
            <a:spLocks noGrp="1"/>
          </p:cNvSpPr>
          <p:nvPr>
            <p:ph type="sldNum" sz="quarter" idx="12"/>
          </p:nvPr>
        </p:nvSpPr>
        <p:spPr>
          <a:xfrm>
            <a:off x="7425343" y="6459785"/>
            <a:ext cx="984019" cy="365125"/>
          </a:xfrm>
        </p:spPr>
        <p:txBody>
          <a:bodyPr>
            <a:normAutofit/>
          </a:bodyPr>
          <a:lstStyle/>
          <a:p>
            <a:pPr>
              <a:spcAft>
                <a:spcPts val="600"/>
              </a:spcAft>
            </a:pPr>
            <a:fld id="{C68121D2-9246-4B52-9877-10E6A7AF0C69}" type="slidenum">
              <a:rPr lang="zh-TW" altLang="en-US" smtClean="0"/>
              <a:pPr>
                <a:spcAft>
                  <a:spcPts val="600"/>
                </a:spcAft>
              </a:pPr>
              <a:t>8</a:t>
            </a:fld>
            <a:endParaRPr lang="zh-TW" altLang="en-US"/>
          </a:p>
        </p:txBody>
      </p:sp>
      <p:graphicFrame>
        <p:nvGraphicFramePr>
          <p:cNvPr id="5" name="內容版面配置區 1">
            <a:extLst>
              <a:ext uri="{FF2B5EF4-FFF2-40B4-BE49-F238E27FC236}">
                <a16:creationId xmlns:a16="http://schemas.microsoft.com/office/drawing/2014/main" id="{4183D318-C309-C84E-6D71-DE10577112AD}"/>
              </a:ext>
            </a:extLst>
          </p:cNvPr>
          <p:cNvGraphicFramePr>
            <a:graphicFrameLocks noGrp="1"/>
          </p:cNvGraphicFramePr>
          <p:nvPr>
            <p:ph idx="1"/>
            <p:extLst>
              <p:ext uri="{D42A27DB-BD31-4B8C-83A1-F6EECF244321}">
                <p14:modId xmlns:p14="http://schemas.microsoft.com/office/powerpoint/2010/main" val="1330887217"/>
              </p:ext>
            </p:extLst>
          </p:nvPr>
        </p:nvGraphicFramePr>
        <p:xfrm>
          <a:off x="822722" y="2098515"/>
          <a:ext cx="75438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4314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1979712" y="987261"/>
            <a:ext cx="8229600" cy="716630"/>
          </a:xfrm>
        </p:spPr>
        <p:txBody>
          <a:bodyPr/>
          <a:lstStyle/>
          <a:p>
            <a:r>
              <a:rPr lang="zh-TW" altLang="zh-TW" dirty="0">
                <a:effectLst/>
                <a:latin typeface="微軟正黑體" panose="020B0604030504040204" pitchFamily="34" charset="-120"/>
                <a:ea typeface="微軟正黑體" panose="020B0604030504040204" pitchFamily="34" charset="-120"/>
              </a:rPr>
              <a:t>多變項迴歸模型</a:t>
            </a:r>
            <a:endParaRPr lang="zh-TW" altLang="en-US" dirty="0">
              <a:latin typeface="微軟正黑體" panose="020B0604030504040204" pitchFamily="34" charset="-120"/>
              <a:ea typeface="微軟正黑體" panose="020B0604030504040204" pitchFamily="34" charset="-120"/>
            </a:endParaRPr>
          </a:p>
        </p:txBody>
      </p:sp>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442797" y="1874656"/>
                <a:ext cx="8363272" cy="5098571"/>
              </a:xfrm>
            </p:spPr>
            <p:txBody>
              <a:bodyPr>
                <a:normAutofit/>
              </a:bodyPr>
              <a:lstStyle/>
              <a:p>
                <a:pPr>
                  <a:lnSpc>
                    <a:spcPct val="130000"/>
                  </a:lnSpc>
                </a:pPr>
                <a:r>
                  <a:rPr lang="zh-TW" altLang="zh-TW" dirty="0">
                    <a:latin typeface="微軟正黑體" panose="020B0604030504040204" pitchFamily="34" charset="-120"/>
                    <a:ea typeface="微軟正黑體" panose="020B0604030504040204" pitchFamily="34" charset="-120"/>
                  </a:rPr>
                  <a:t>簡單線性迴歸模型應用於</a:t>
                </a:r>
                <a:r>
                  <a:rPr lang="zh-TW" altLang="zh-TW" b="1" dirty="0">
                    <a:latin typeface="微軟正黑體" panose="020B0604030504040204" pitchFamily="34" charset="-120"/>
                    <a:ea typeface="微軟正黑體" panose="020B0604030504040204" pitchFamily="34" charset="-120"/>
                  </a:rPr>
                  <a:t>常態分配</a:t>
                </a:r>
                <a:r>
                  <a:rPr lang="zh-TW" altLang="zh-TW" dirty="0">
                    <a:latin typeface="微軟正黑體" panose="020B0604030504040204" pitchFamily="34" charset="-120"/>
                    <a:ea typeface="微軟正黑體" panose="020B0604030504040204" pitchFamily="34" charset="-120"/>
                  </a:rPr>
                  <a:t>資料</a:t>
                </a:r>
                <a:r>
                  <a:rPr lang="en-US" altLang="zh-TW" dirty="0">
                    <a:latin typeface="微軟正黑體" panose="020B0604030504040204" pitchFamily="34" charset="-120"/>
                    <a:ea typeface="微軟正黑體" panose="020B0604030504040204" pitchFamily="34" charset="-120"/>
                  </a:rPr>
                  <a:t>y</a:t>
                </a:r>
                <a:r>
                  <a:rPr lang="zh-TW" altLang="zh-TW" dirty="0">
                    <a:latin typeface="微軟正黑體" panose="020B0604030504040204" pitchFamily="34" charset="-120"/>
                    <a:ea typeface="微軟正黑體" panose="020B0604030504040204" pitchFamily="34" charset="-120"/>
                  </a:rPr>
                  <a:t>（例如收縮壓）的分析；</a:t>
                </a:r>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假設”收縮壓的期望值</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平</a:t>
                </a:r>
                <a14:m>
                  <m:oMath xmlns:m="http://schemas.openxmlformats.org/officeDocument/2006/math">
                    <m:r>
                      <a:rPr lang="zh-TW" altLang="en-US" i="1" smtClean="0">
                        <a:latin typeface="+mn-lt"/>
                      </a:rPr>
                      <m:t>均</m:t>
                    </m:r>
                    <m:r>
                      <a:rPr lang="zh-TW" altLang="en-US" i="1" smtClean="0">
                        <a:latin typeface="+mn-lt"/>
                      </a:rPr>
                      <m:t>𝜇</m:t>
                    </m:r>
                  </m:oMath>
                </a14:m>
                <a:r>
                  <a:rPr lang="zh-TW" altLang="zh-TW" dirty="0">
                    <a:latin typeface="微軟正黑體" panose="020B0604030504040204" pitchFamily="34" charset="-120"/>
                    <a:ea typeface="微軟正黑體" panose="020B0604030504040204" pitchFamily="34" charset="-120"/>
                  </a:rPr>
                  <a:t>會受年齡自變數</a:t>
                </a:r>
                <a14:m>
                  <m:oMath xmlns:m="http://schemas.openxmlformats.org/officeDocument/2006/math">
                    <m:sSub>
                      <m:sSubPr>
                        <m:ctrlPr>
                          <a:rPr lang="en-US" altLang="zh-TW" i="1" smtClean="0">
                            <a:latin typeface="+mn-lt"/>
                          </a:rPr>
                        </m:ctrlPr>
                      </m:sSubPr>
                      <m:e>
                        <m:r>
                          <a:rPr lang="en-US" altLang="zh-TW" b="0" i="1" smtClean="0">
                            <a:latin typeface="+mn-lt"/>
                          </a:rPr>
                          <m:t>𝑥</m:t>
                        </m:r>
                      </m:e>
                      <m:sub>
                        <m:r>
                          <a:rPr lang="en-US" altLang="zh-TW" b="0" i="1" smtClean="0">
                            <a:latin typeface="+mn-lt"/>
                          </a:rPr>
                          <m:t>1</m:t>
                        </m:r>
                      </m:sub>
                    </m:sSub>
                  </m:oMath>
                </a14:m>
                <a:r>
                  <a:rPr lang="zh-TW" altLang="zh-TW" dirty="0">
                    <a:latin typeface="微軟正黑體" panose="020B0604030504040204" pitchFamily="34" charset="-120"/>
                    <a:ea typeface="微軟正黑體" panose="020B0604030504040204" pitchFamily="34" charset="-120"/>
                  </a:rPr>
                  <a:t>的影響；它們的關係假設滿足</a:t>
                </a:r>
                <a:endParaRPr lang="en-US" altLang="zh-TW" dirty="0">
                  <a:latin typeface="微軟正黑體" panose="020B0604030504040204" pitchFamily="34" charset="-120"/>
                  <a:ea typeface="微軟正黑體" panose="020B0604030504040204" pitchFamily="34" charset="-120"/>
                </a:endParaRPr>
              </a:p>
              <a:p>
                <a:pPr marL="109728" indent="0" algn="ctr">
                  <a:lnSpc>
                    <a:spcPct val="130000"/>
                  </a:lnSpc>
                  <a:buNone/>
                </a:pPr>
                <a:endParaRPr lang="en-US" altLang="zh-TW" b="0" i="1" dirty="0">
                  <a:latin typeface="微軟正黑體" panose="020B0604030504040204" pitchFamily="34" charset="-120"/>
                  <a:ea typeface="微軟正黑體" panose="020B0604030504040204" pitchFamily="34" charset="-120"/>
                </a:endParaRPr>
              </a:p>
              <a:p>
                <a:pPr marL="109728" indent="0" algn="ctr">
                  <a:lnSpc>
                    <a:spcPct val="130000"/>
                  </a:lnSpc>
                  <a:buNone/>
                </a:pPr>
                <a14:m>
                  <m:oMath xmlns:m="http://schemas.openxmlformats.org/officeDocument/2006/math">
                    <m:r>
                      <a:rPr lang="en-US" altLang="zh-TW" b="0" i="1" smtClean="0">
                        <a:latin typeface="+mn-lt"/>
                      </a:rPr>
                      <m:t>𝑦</m:t>
                    </m:r>
                    <m:r>
                      <a:rPr lang="en-US" altLang="zh-TW" b="0" i="1" smtClean="0">
                        <a:latin typeface="+mn-lt"/>
                      </a:rPr>
                      <m:t>=</m:t>
                    </m:r>
                    <m:sSub>
                      <m:sSubPr>
                        <m:ctrlPr>
                          <a:rPr lang="en-US" altLang="zh-TW" b="0" i="1" smtClean="0">
                            <a:latin typeface="+mn-lt"/>
                          </a:rPr>
                        </m:ctrlPr>
                      </m:sSubPr>
                      <m:e>
                        <m:r>
                          <a:rPr lang="zh-TW" altLang="en-US" b="0" i="1" smtClean="0">
                            <a:latin typeface="+mn-lt"/>
                          </a:rPr>
                          <m:t>𝛽</m:t>
                        </m:r>
                      </m:e>
                      <m:sub>
                        <m:r>
                          <a:rPr lang="en-US" altLang="zh-TW" b="0" i="1" smtClean="0">
                            <a:latin typeface="+mn-lt"/>
                          </a:rPr>
                          <m:t>0</m:t>
                        </m:r>
                      </m:sub>
                    </m:sSub>
                    <m:r>
                      <a:rPr lang="en-US" altLang="zh-TW" b="0" i="1" smtClean="0">
                        <a:latin typeface="+mn-lt"/>
                      </a:rPr>
                      <m:t>+</m:t>
                    </m:r>
                    <m:sSub>
                      <m:sSubPr>
                        <m:ctrlPr>
                          <a:rPr lang="en-US" altLang="zh-TW" i="1">
                            <a:latin typeface="+mn-lt"/>
                          </a:rPr>
                        </m:ctrlPr>
                      </m:sSubPr>
                      <m:e>
                        <m:r>
                          <a:rPr lang="zh-TW" altLang="en-US" i="1">
                            <a:latin typeface="+mn-lt"/>
                          </a:rPr>
                          <m:t>𝛽</m:t>
                        </m:r>
                      </m:e>
                      <m:sub>
                        <m:r>
                          <a:rPr lang="en-US" altLang="zh-TW" b="0" i="1" smtClean="0">
                            <a:latin typeface="+mn-lt"/>
                          </a:rPr>
                          <m:t>1</m:t>
                        </m:r>
                      </m:sub>
                    </m:sSub>
                    <m:r>
                      <a:rPr lang="en-US" altLang="zh-TW" b="0" i="1" smtClean="0">
                        <a:latin typeface="+mn-lt"/>
                      </a:rPr>
                      <m:t>𝑥</m:t>
                    </m:r>
                  </m:oMath>
                </a14:m>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109728" indent="0" algn="ctr">
                  <a:lnSpc>
                    <a:spcPct val="130000"/>
                  </a:lnSpc>
                  <a:buNone/>
                </a:pPr>
                <a:endParaRPr lang="en-US" altLang="zh-TW" dirty="0">
                  <a:latin typeface="微軟正黑體" panose="020B0604030504040204" pitchFamily="34" charset="-120"/>
                  <a:ea typeface="微軟正黑體" panose="020B0604030504040204" pitchFamily="34" charset="-120"/>
                </a:endParaRPr>
              </a:p>
              <a:p>
                <a:pPr marL="109728" indent="0">
                  <a:lnSpc>
                    <a:spcPct val="130000"/>
                  </a:lnSpc>
                  <a:buNone/>
                </a:pPr>
                <a:r>
                  <a:rPr lang="zh-TW" altLang="zh-TW" dirty="0">
                    <a:latin typeface="微軟正黑體" panose="020B0604030504040204" pitchFamily="34" charset="-120"/>
                    <a:ea typeface="微軟正黑體" panose="020B0604030504040204" pitchFamily="34" charset="-120"/>
                  </a:rPr>
                  <a:t>以上迴歸模型被稱為簡單迴歸模型的原因是因為模型中只有一個自變數。</a:t>
                </a:r>
                <a:endParaRPr lang="zh-TW" altLang="en-US" dirty="0">
                  <a:latin typeface="微軟正黑體" panose="020B0604030504040204" pitchFamily="34" charset="-120"/>
                  <a:ea typeface="微軟正黑體" panose="020B0604030504040204" pitchFamily="34" charset="-120"/>
                </a:endParaRPr>
              </a:p>
              <a:p>
                <a:pPr marL="109728" indent="0" algn="ctr">
                  <a:lnSpc>
                    <a:spcPct val="130000"/>
                  </a:lnSpc>
                  <a:buNone/>
                </a:pPr>
                <a:endParaRPr lang="en-US" altLang="zh-TW"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442797" y="1874656"/>
                <a:ext cx="8363272" cy="5098571"/>
              </a:xfrm>
              <a:blipFill>
                <a:blip r:embed="rId2"/>
                <a:stretch>
                  <a:fillRect l="-802" r="-1822"/>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C68121D2-9246-4B52-9877-10E6A7AF0C69}" type="slidenum">
              <a:rPr lang="zh-TW" altLang="en-US" smtClean="0"/>
              <a:pPr/>
              <a:t>9</a:t>
            </a:fld>
            <a:endParaRPr lang="zh-TW" altLang="en-US"/>
          </a:p>
        </p:txBody>
      </p:sp>
      <p:sp>
        <p:nvSpPr>
          <p:cNvPr id="25" name="Rectangle 2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14" name="Rectangle 10"/>
          <p:cNvSpPr>
            <a:spLocks noChangeArrowheads="1"/>
          </p:cNvSpPr>
          <p:nvPr/>
        </p:nvSpPr>
        <p:spPr bwMode="auto">
          <a:xfrm>
            <a:off x="3275855" y="5013175"/>
            <a:ext cx="1106042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TW" altLang="en-US"/>
          </a:p>
        </p:txBody>
      </p:sp>
    </p:spTree>
    <p:extLst>
      <p:ext uri="{BB962C8B-B14F-4D97-AF65-F5344CB8AC3E}">
        <p14:creationId xmlns:p14="http://schemas.microsoft.com/office/powerpoint/2010/main" val="3487562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323528" y="1844824"/>
                <a:ext cx="8229600" cy="5314595"/>
              </a:xfrm>
            </p:spPr>
            <p:txBody>
              <a:bodyPr/>
              <a:lstStyle/>
              <a:p>
                <a:pPr>
                  <a:lnSpc>
                    <a:spcPct val="150000"/>
                  </a:lnSpc>
                </a:pPr>
                <a14:m>
                  <m:oMath xmlns:m="http://schemas.openxmlformats.org/officeDocument/2006/math">
                    <m:sSub>
                      <m:sSubPr>
                        <m:ctrlPr>
                          <a:rPr lang="en-US" altLang="zh-TW" i="1" smtClean="0">
                            <a:latin typeface="+mn-lt"/>
                          </a:rPr>
                        </m:ctrlPr>
                      </m:sSubPr>
                      <m:e>
                        <m:r>
                          <a:rPr lang="zh-TW" altLang="en-US" i="1">
                            <a:latin typeface="+mn-lt"/>
                          </a:rPr>
                          <m:t>𝛽</m:t>
                        </m:r>
                      </m:e>
                      <m:sub>
                        <m:r>
                          <a:rPr lang="en-US" altLang="zh-TW" b="0" i="1" smtClean="0">
                            <a:latin typeface="+mn-lt"/>
                          </a:rPr>
                          <m:t>0</m:t>
                        </m:r>
                      </m:sub>
                    </m:sSub>
                    <m:r>
                      <a:rPr lang="zh-TW" altLang="en-US" i="1">
                        <a:latin typeface="+mn-lt"/>
                      </a:rPr>
                      <m:t>、</m:t>
                    </m:r>
                    <m:sSub>
                      <m:sSubPr>
                        <m:ctrlPr>
                          <a:rPr lang="en-US" altLang="zh-TW" i="1">
                            <a:latin typeface="+mn-lt"/>
                          </a:rPr>
                        </m:ctrlPr>
                      </m:sSubPr>
                      <m:e>
                        <m:r>
                          <a:rPr lang="zh-TW" altLang="en-US" i="1">
                            <a:latin typeface="+mn-lt"/>
                          </a:rPr>
                          <m:t>𝛽</m:t>
                        </m:r>
                      </m:e>
                      <m:sub>
                        <m:r>
                          <a:rPr lang="en-US" altLang="zh-TW" b="0" i="1" smtClean="0">
                            <a:latin typeface="+mn-lt"/>
                          </a:rPr>
                          <m:t>1</m:t>
                        </m:r>
                      </m:sub>
                    </m:sSub>
                  </m:oMath>
                </a14:m>
                <a:r>
                  <a:rPr lang="zh-TW" altLang="zh-TW" dirty="0">
                    <a:latin typeface="微軟正黑體" panose="020B0604030504040204" pitchFamily="34" charset="-120"/>
                    <a:ea typeface="微軟正黑體" panose="020B0604030504040204" pitchFamily="34" charset="-120"/>
                  </a:rPr>
                  <a:t>通稱為迴歸係數，雖然它們在不同的迴歸模型下各別代表不同的意義，但是我們分析的重點經常圍繞在探討（檢定）</a:t>
                </a:r>
                <a14:m>
                  <m:oMath xmlns:m="http://schemas.openxmlformats.org/officeDocument/2006/math">
                    <m:sSub>
                      <m:sSubPr>
                        <m:ctrlPr>
                          <a:rPr lang="en-US" altLang="zh-TW" i="1">
                            <a:latin typeface="+mn-lt"/>
                          </a:rPr>
                        </m:ctrlPr>
                      </m:sSubPr>
                      <m:e>
                        <m:r>
                          <a:rPr lang="zh-TW" altLang="en-US" i="1">
                            <a:latin typeface="+mn-lt"/>
                          </a:rPr>
                          <m:t>𝛽</m:t>
                        </m:r>
                      </m:e>
                      <m:sub>
                        <m:r>
                          <a:rPr lang="en-US" altLang="zh-TW" i="1">
                            <a:latin typeface="+mn-lt"/>
                          </a:rPr>
                          <m:t>1</m:t>
                        </m:r>
                      </m:sub>
                    </m:sSub>
                  </m:oMath>
                </a14:m>
                <a:r>
                  <a:rPr lang="en-US" altLang="zh-TW"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是否成立</a:t>
                </a:r>
                <a:r>
                  <a:rPr lang="en-US" altLang="zh-TW" dirty="0">
                    <a:latin typeface="微軟正黑體" panose="020B0604030504040204" pitchFamily="34" charset="-120"/>
                    <a:ea typeface="微軟正黑體" panose="020B0604030504040204" pitchFamily="34" charset="-120"/>
                  </a:rPr>
                  <a:t>?</a:t>
                </a:r>
              </a:p>
              <a:p>
                <a:pPr>
                  <a:lnSpc>
                    <a:spcPct val="150000"/>
                  </a:lnSpc>
                </a:pPr>
                <a:r>
                  <a:rPr lang="zh-TW" altLang="zh-TW" dirty="0">
                    <a:latin typeface="微軟正黑體" panose="020B0604030504040204" pitchFamily="34" charset="-120"/>
                    <a:ea typeface="微軟正黑體" panose="020B0604030504040204" pitchFamily="34" charset="-120"/>
                  </a:rPr>
                  <a:t>雖然不同 </a:t>
                </a:r>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依變數</a:t>
                </a:r>
                <a:r>
                  <a:rPr lang="en-US" altLang="zh-TW" dirty="0">
                    <a:latin typeface="微軟正黑體" panose="020B0604030504040204" pitchFamily="34" charset="-120"/>
                    <a:ea typeface="微軟正黑體" panose="020B0604030504040204" pitchFamily="34" charset="-120"/>
                  </a:rPr>
                  <a:t>”y</a:t>
                </a:r>
                <a:r>
                  <a:rPr lang="zh-TW" altLang="zh-TW" dirty="0">
                    <a:latin typeface="微軟正黑體" panose="020B0604030504040204" pitchFamily="34" charset="-120"/>
                    <a:ea typeface="微軟正黑體" panose="020B0604030504040204" pitchFamily="34" charset="-120"/>
                  </a:rPr>
                  <a:t>的資料形態會影響不同迴歸模型的應用選擇，但是在</a:t>
                </a:r>
                <a:r>
                  <a:rPr lang="zh-TW" altLang="zh-TW" b="1" dirty="0">
                    <a:latin typeface="微軟正黑體" panose="020B0604030504040204" pitchFamily="34" charset="-120"/>
                    <a:ea typeface="微軟正黑體" panose="020B0604030504040204" pitchFamily="34" charset="-120"/>
                  </a:rPr>
                  <a:t>任何迴歸模型中  </a:t>
                </a:r>
                <a:r>
                  <a:rPr lang="en-US" altLang="zh-TW" b="1" dirty="0">
                    <a:latin typeface="微軟正黑體" panose="020B0604030504040204" pitchFamily="34" charset="-120"/>
                    <a:ea typeface="微軟正黑體" panose="020B0604030504040204" pitchFamily="34" charset="-120"/>
                  </a:rPr>
                  <a:t>“</a:t>
                </a:r>
                <a:r>
                  <a:rPr lang="zh-TW" altLang="zh-TW" b="1" dirty="0">
                    <a:latin typeface="微軟正黑體" panose="020B0604030504040204" pitchFamily="34" charset="-120"/>
                    <a:ea typeface="微軟正黑體" panose="020B0604030504040204" pitchFamily="34" charset="-120"/>
                  </a:rPr>
                  <a:t>自變數＂</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1</m:t>
                        </m:r>
                      </m:sub>
                    </m:sSub>
                  </m:oMath>
                </a14:m>
                <a:r>
                  <a:rPr lang="zh-TW" altLang="zh-TW" b="1" dirty="0">
                    <a:latin typeface="微軟正黑體" panose="020B0604030504040204" pitchFamily="34" charset="-120"/>
                    <a:ea typeface="微軟正黑體" panose="020B0604030504040204" pitchFamily="34" charset="-120"/>
                  </a:rPr>
                  <a:t>資料形態則是不拘的，</a:t>
                </a:r>
                <a:r>
                  <a:rPr lang="zh-TW" altLang="zh-TW" dirty="0">
                    <a:latin typeface="微軟正黑體" panose="020B0604030504040204" pitchFamily="34" charset="-120"/>
                    <a:ea typeface="微軟正黑體" panose="020B0604030504040204" pitchFamily="34" charset="-120"/>
                  </a:rPr>
                  <a:t>可以是連續的資料形態也可以是類別的資料形態。</a:t>
                </a:r>
                <a:endParaRPr lang="zh-TW" altLang="en-US"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323528" y="1844824"/>
                <a:ext cx="8229600" cy="5314595"/>
              </a:xfrm>
              <a:blipFill>
                <a:blip r:embed="rId2"/>
                <a:stretch>
                  <a:fillRect l="-741" r="-1926"/>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C68121D2-9246-4B52-9877-10E6A7AF0C69}" type="slidenum">
              <a:rPr lang="zh-TW" altLang="en-US" smtClean="0"/>
              <a:pPr/>
              <a:t>10</a:t>
            </a:fld>
            <a:endParaRPr lang="zh-TW" altLang="en-US"/>
          </a:p>
        </p:txBody>
      </p:sp>
    </p:spTree>
    <p:extLst>
      <p:ext uri="{BB962C8B-B14F-4D97-AF65-F5344CB8AC3E}">
        <p14:creationId xmlns:p14="http://schemas.microsoft.com/office/powerpoint/2010/main" val="2296830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1259632" y="980728"/>
            <a:ext cx="8229600" cy="627385"/>
          </a:xfrm>
        </p:spPr>
        <p:txBody>
          <a:bodyPr>
            <a:normAutofit fontScale="90000"/>
          </a:bodyPr>
          <a:lstStyle/>
          <a:p>
            <a:r>
              <a:rPr lang="zh-TW" altLang="zh-TW" dirty="0">
                <a:effectLst/>
                <a:latin typeface="微軟正黑體" panose="020B0604030504040204" pitchFamily="34" charset="-120"/>
                <a:ea typeface="微軟正黑體" panose="020B0604030504040204" pitchFamily="34" charset="-120"/>
              </a:rPr>
              <a:t>二個自變數以上的迴歸模型</a:t>
            </a:r>
            <a:endParaRPr lang="zh-TW" altLang="en-US" dirty="0">
              <a:latin typeface="微軟正黑體" panose="020B0604030504040204" pitchFamily="34" charset="-120"/>
              <a:ea typeface="微軟正黑體" panose="020B0604030504040204" pitchFamily="34" charset="-120"/>
            </a:endParaRPr>
          </a:p>
        </p:txBody>
      </p:sp>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463961" y="1988840"/>
                <a:ext cx="8291264" cy="5386603"/>
              </a:xfrm>
            </p:spPr>
            <p:txBody>
              <a:bodyPr>
                <a:normAutofit/>
              </a:bodyPr>
              <a:lstStyle/>
              <a:p>
                <a:pPr>
                  <a:lnSpc>
                    <a:spcPct val="150000"/>
                  </a:lnSpc>
                </a:pPr>
                <a:r>
                  <a:rPr lang="zh-TW" altLang="zh-TW" dirty="0">
                    <a:latin typeface="微軟正黑體" panose="020B0604030504040204" pitchFamily="34" charset="-120"/>
                    <a:ea typeface="微軟正黑體" panose="020B0604030504040204" pitchFamily="34" charset="-120"/>
                  </a:rPr>
                  <a:t>本章討論</a:t>
                </a:r>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多變項迴歸模型</a:t>
                </a:r>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要求迴歸模型中</a:t>
                </a:r>
                <a:r>
                  <a:rPr lang="zh-TW" altLang="zh-TW" b="1" dirty="0">
                    <a:latin typeface="微軟正黑體" panose="020B0604030504040204" pitchFamily="34" charset="-120"/>
                    <a:ea typeface="微軟正黑體" panose="020B0604030504040204" pitchFamily="34" charset="-120"/>
                  </a:rPr>
                  <a:t>至少有二個以上的自變數</a:t>
                </a:r>
                <a:r>
                  <a:rPr lang="zh-TW" altLang="zh-TW" dirty="0">
                    <a:latin typeface="微軟正黑體" panose="020B0604030504040204" pitchFamily="34" charset="-120"/>
                    <a:ea typeface="微軟正黑體" panose="020B0604030504040204" pitchFamily="34" charset="-120"/>
                  </a:rPr>
                  <a:t>，為方便討論假設模型中有二個自變數</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1</m:t>
                        </m:r>
                      </m:sub>
                    </m:sSub>
                  </m:oMath>
                </a14:m>
                <a:r>
                  <a:rPr lang="zh-TW" altLang="en-US" dirty="0">
                    <a:latin typeface="微軟正黑體" panose="020B0604030504040204" pitchFamily="34" charset="-120"/>
                    <a:ea typeface="微軟正黑體" panose="020B0604030504040204" pitchFamily="34" charset="-120"/>
                  </a:rPr>
                  <a:t>和</a:t>
                </a:r>
                <a14:m>
                  <m:oMath xmlns:m="http://schemas.openxmlformats.org/officeDocument/2006/math">
                    <m:sSub>
                      <m:sSubPr>
                        <m:ctrlPr>
                          <a:rPr lang="en-US" altLang="zh-TW" i="1">
                            <a:latin typeface="+mn-lt"/>
                          </a:rPr>
                        </m:ctrlPr>
                      </m:sSubPr>
                      <m:e>
                        <m:r>
                          <a:rPr lang="en-US" altLang="zh-TW" i="1">
                            <a:latin typeface="+mn-lt"/>
                          </a:rPr>
                          <m:t>𝑥</m:t>
                        </m:r>
                      </m:e>
                      <m:sub>
                        <m:r>
                          <a:rPr lang="en-US" altLang="zh-TW" b="0" i="1" smtClean="0">
                            <a:latin typeface="+mn-lt"/>
                          </a:rPr>
                          <m:t>2</m:t>
                        </m:r>
                      </m:sub>
                    </m:sSub>
                    <m:r>
                      <m:rPr>
                        <m:nor/>
                      </m:rPr>
                      <a:rPr lang="zh-TW" altLang="en-US">
                        <a:latin typeface="微軟正黑體" panose="020B0604030504040204" pitchFamily="34" charset="-120"/>
                        <a:ea typeface="微軟正黑體" panose="020B0604030504040204" pitchFamily="34" charset="-120"/>
                      </a:rPr>
                      <m:t>。最簡單的多變項迴歸模型假設</m:t>
                    </m:r>
                  </m:oMath>
                </a14:m>
                <a:endParaRPr lang="en-US" altLang="zh-TW" i="1" dirty="0">
                  <a:latin typeface="微軟正黑體" panose="020B0604030504040204" pitchFamily="34" charset="-120"/>
                  <a:ea typeface="微軟正黑體" panose="020B0604030504040204" pitchFamily="34" charset="-120"/>
                </a:endParaRPr>
              </a:p>
              <a:p>
                <a:pPr>
                  <a:lnSpc>
                    <a:spcPct val="150000"/>
                  </a:lnSpc>
                </a:pPr>
                <a:endParaRPr lang="en-US" altLang="zh-TW" i="1" dirty="0">
                  <a:latin typeface="微軟正黑體" panose="020B0604030504040204" pitchFamily="34" charset="-120"/>
                  <a:ea typeface="微軟正黑體" panose="020B0604030504040204" pitchFamily="34" charset="-120"/>
                </a:endParaRPr>
              </a:p>
              <a:p>
                <a:pPr>
                  <a:lnSpc>
                    <a:spcPct val="150000"/>
                  </a:lnSpc>
                </a:pPr>
                <a:endParaRPr lang="en-US" altLang="zh-TW" i="1" dirty="0">
                  <a:latin typeface="微軟正黑體" panose="020B0604030504040204" pitchFamily="34" charset="-120"/>
                  <a:ea typeface="微軟正黑體" panose="020B0604030504040204" pitchFamily="34" charset="-120"/>
                </a:endParaRPr>
              </a:p>
              <a:p>
                <a:pPr marL="109728" indent="0" algn="ctr">
                  <a:lnSpc>
                    <a:spcPct val="150000"/>
                  </a:lnSpc>
                  <a:buNone/>
                </a:pPr>
                <a14:m>
                  <m:oMath xmlns:m="http://schemas.openxmlformats.org/officeDocument/2006/math">
                    <m:r>
                      <a:rPr lang="en-US" altLang="zh-TW" b="0" i="1" smtClean="0">
                        <a:latin typeface="+mn-lt"/>
                      </a:rPr>
                      <m:t> </m:t>
                    </m:r>
                    <m:r>
                      <a:rPr lang="en-US" altLang="zh-TW" b="0" i="1" smtClean="0">
                        <a:latin typeface="+mn-lt"/>
                      </a:rPr>
                      <m:t>𝑦</m:t>
                    </m:r>
                  </m:oMath>
                </a14:m>
                <a:r>
                  <a:rPr lang="en-US" altLang="zh-TW"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i="1">
                            <a:latin typeface="+mn-lt"/>
                          </a:rPr>
                        </m:ctrlPr>
                      </m:sSubPr>
                      <m:e>
                        <m:r>
                          <a:rPr lang="zh-TW" altLang="en-US" i="1">
                            <a:latin typeface="+mn-lt"/>
                          </a:rPr>
                          <m:t>𝛽</m:t>
                        </m:r>
                      </m:e>
                      <m:sub>
                        <m:r>
                          <a:rPr lang="en-US" altLang="zh-TW" i="1">
                            <a:latin typeface="+mn-lt"/>
                          </a:rPr>
                          <m:t>0</m:t>
                        </m:r>
                      </m:sub>
                    </m:sSub>
                    <m:r>
                      <a:rPr lang="en-US" altLang="zh-TW" b="0" i="1" smtClean="0">
                        <a:latin typeface="+mn-lt"/>
                      </a:rPr>
                      <m:t>+</m:t>
                    </m:r>
                    <m:sSub>
                      <m:sSubPr>
                        <m:ctrlPr>
                          <a:rPr lang="en-US" altLang="zh-TW" i="1">
                            <a:latin typeface="+mn-lt"/>
                          </a:rPr>
                        </m:ctrlPr>
                      </m:sSubPr>
                      <m:e>
                        <m:r>
                          <a:rPr lang="zh-TW" altLang="en-US" i="1">
                            <a:latin typeface="+mn-lt"/>
                          </a:rPr>
                          <m:t>𝛽</m:t>
                        </m:r>
                      </m:e>
                      <m:sub>
                        <m:r>
                          <a:rPr lang="en-US" altLang="zh-TW" i="1">
                            <a:latin typeface="+mn-lt"/>
                          </a:rPr>
                          <m:t>1</m:t>
                        </m:r>
                      </m:sub>
                    </m:sSub>
                    <m:sSub>
                      <m:sSubPr>
                        <m:ctrlPr>
                          <a:rPr lang="en-US" altLang="zh-TW" i="1">
                            <a:latin typeface="+mn-lt"/>
                          </a:rPr>
                        </m:ctrlPr>
                      </m:sSubPr>
                      <m:e>
                        <m:r>
                          <a:rPr lang="en-US" altLang="zh-TW" i="1">
                            <a:latin typeface="+mn-lt"/>
                          </a:rPr>
                          <m:t>𝑥</m:t>
                        </m:r>
                      </m:e>
                      <m:sub>
                        <m:r>
                          <a:rPr lang="en-US" altLang="zh-TW" i="1">
                            <a:latin typeface="+mn-lt"/>
                          </a:rPr>
                          <m:t>1</m:t>
                        </m:r>
                      </m:sub>
                    </m:sSub>
                  </m:oMath>
                </a14:m>
                <a:r>
                  <a:rPr lang="en-US" altLang="zh-TW"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i="1">
                            <a:latin typeface="+mn-lt"/>
                          </a:rPr>
                        </m:ctrlPr>
                      </m:sSubPr>
                      <m:e>
                        <m:r>
                          <a:rPr lang="zh-TW" altLang="en-US" i="1">
                            <a:latin typeface="+mn-lt"/>
                          </a:rPr>
                          <m:t>𝛽</m:t>
                        </m:r>
                      </m:e>
                      <m:sub>
                        <m:r>
                          <a:rPr lang="en-US" altLang="zh-TW" b="0" i="1" smtClean="0">
                            <a:latin typeface="+mn-lt"/>
                          </a:rPr>
                          <m:t>2</m:t>
                        </m:r>
                      </m:sub>
                    </m:sSub>
                    <m:sSub>
                      <m:sSubPr>
                        <m:ctrlPr>
                          <a:rPr lang="en-US" altLang="zh-TW" i="1">
                            <a:latin typeface="+mn-lt"/>
                          </a:rPr>
                        </m:ctrlPr>
                      </m:sSubPr>
                      <m:e>
                        <m:r>
                          <a:rPr lang="en-US" altLang="zh-TW" i="1">
                            <a:latin typeface="+mn-lt"/>
                          </a:rPr>
                          <m:t>𝑥</m:t>
                        </m:r>
                      </m:e>
                      <m:sub>
                        <m:r>
                          <a:rPr lang="en-US" altLang="zh-TW" b="0" i="1" smtClean="0">
                            <a:latin typeface="+mn-lt"/>
                          </a:rPr>
                          <m:t>2</m:t>
                        </m:r>
                      </m:sub>
                    </m:sSub>
                  </m:oMath>
                </a14:m>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a:lnSpc>
                    <a:spcPct val="150000"/>
                  </a:lnSpc>
                </a:pPr>
                <a:endParaRPr lang="en-US" altLang="zh-TW"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463961" y="1988840"/>
                <a:ext cx="8291264" cy="5386603"/>
              </a:xfrm>
              <a:blipFill>
                <a:blip r:embed="rId2"/>
                <a:stretch>
                  <a:fillRect l="-735" r="-1250"/>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C68121D2-9246-4B52-9877-10E6A7AF0C69}" type="slidenum">
              <a:rPr lang="zh-TW" altLang="en-US" smtClean="0"/>
              <a:pPr/>
              <a:t>11</a:t>
            </a:fld>
            <a:endParaRPr lang="zh-TW" altLang="en-US"/>
          </a:p>
        </p:txBody>
      </p:sp>
      <p:sp>
        <p:nvSpPr>
          <p:cNvPr id="5"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Tree>
    <p:extLst>
      <p:ext uri="{BB962C8B-B14F-4D97-AF65-F5344CB8AC3E}">
        <p14:creationId xmlns:p14="http://schemas.microsoft.com/office/powerpoint/2010/main" val="3935150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457200" y="1844824"/>
                <a:ext cx="8229600" cy="5832648"/>
              </a:xfrm>
            </p:spPr>
            <p:txBody>
              <a:bodyPr>
                <a:normAutofit/>
              </a:bodyPr>
              <a:lstStyle/>
              <a:p>
                <a:pPr>
                  <a:lnSpc>
                    <a:spcPct val="150000"/>
                  </a:lnSpc>
                </a:pPr>
                <a:r>
                  <a:rPr lang="zh-TW" altLang="zh-TW" dirty="0">
                    <a:latin typeface="微軟正黑體" panose="020B0604030504040204" pitchFamily="34" charset="-120"/>
                    <a:ea typeface="微軟正黑體" panose="020B0604030504040204" pitchFamily="34" charset="-120"/>
                  </a:rPr>
                  <a:t>自變數</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2</m:t>
                        </m:r>
                      </m:sub>
                    </m:sSub>
                  </m:oMath>
                </a14:m>
                <a:r>
                  <a:rPr lang="zh-TW" altLang="zh-TW" dirty="0">
                    <a:latin typeface="微軟正黑體" panose="020B0604030504040204" pitchFamily="34" charset="-120"/>
                    <a:ea typeface="微軟正黑體" panose="020B0604030504040204" pitchFamily="34" charset="-120"/>
                  </a:rPr>
                  <a:t>的資料形態也是不拘的，可以是連續形的資料形態也可以是類別形的資料形態。</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在迴歸分析的應用裡，我們可以視問題的屬性</a:t>
                </a:r>
                <a:endParaRPr lang="en-US" altLang="zh-TW" dirty="0">
                  <a:latin typeface="微軟正黑體" panose="020B0604030504040204" pitchFamily="34" charset="-120"/>
                  <a:ea typeface="微軟正黑體" panose="020B0604030504040204" pitchFamily="34" charset="-120"/>
                </a:endParaRPr>
              </a:p>
              <a:p>
                <a:pPr marL="624078" indent="-514350">
                  <a:lnSpc>
                    <a:spcPct val="150000"/>
                  </a:lnSpc>
                  <a:buAutoNum type="arabicPeriod"/>
                </a:pPr>
                <a:r>
                  <a:rPr lang="zh-TW" altLang="zh-TW" dirty="0">
                    <a:latin typeface="微軟正黑體" panose="020B0604030504040204" pitchFamily="34" charset="-120"/>
                    <a:ea typeface="微軟正黑體" panose="020B0604030504040204" pitchFamily="34" charset="-120"/>
                  </a:rPr>
                  <a:t>將自變數</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1</m:t>
                        </m:r>
                      </m:sub>
                    </m:sSub>
                  </m:oMath>
                </a14:m>
                <a:r>
                  <a:rPr lang="zh-TW" altLang="en-US" dirty="0">
                    <a:latin typeface="微軟正黑體" panose="020B0604030504040204" pitchFamily="34" charset="-120"/>
                    <a:ea typeface="微軟正黑體" panose="020B0604030504040204" pitchFamily="34" charset="-120"/>
                  </a:rPr>
                  <a:t>和</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2</m:t>
                        </m:r>
                      </m:sub>
                    </m:sSub>
                  </m:oMath>
                </a14:m>
                <a:r>
                  <a:rPr lang="zh-TW" altLang="zh-TW" dirty="0">
                    <a:latin typeface="微軟正黑體" panose="020B0604030504040204" pitchFamily="34" charset="-120"/>
                    <a:ea typeface="微軟正黑體" panose="020B0604030504040204" pitchFamily="34" charset="-120"/>
                  </a:rPr>
                  <a:t>當成研究中共同的主要因子變數，或</a:t>
                </a:r>
                <a:endParaRPr lang="en-US" altLang="zh-TW" dirty="0">
                  <a:latin typeface="微軟正黑體" panose="020B0604030504040204" pitchFamily="34" charset="-120"/>
                  <a:ea typeface="微軟正黑體" panose="020B0604030504040204" pitchFamily="34" charset="-120"/>
                </a:endParaRPr>
              </a:p>
              <a:p>
                <a:pPr marL="624078" indent="-514350">
                  <a:lnSpc>
                    <a:spcPct val="150000"/>
                  </a:lnSpc>
                  <a:buAutoNum type="arabicPeriod"/>
                </a:pPr>
                <a:r>
                  <a:rPr lang="zh-TW" altLang="zh-TW" dirty="0">
                    <a:latin typeface="微軟正黑體" panose="020B0604030504040204" pitchFamily="34" charset="-120"/>
                    <a:ea typeface="微軟正黑體" panose="020B0604030504040204" pitchFamily="34" charset="-120"/>
                  </a:rPr>
                  <a:t>僅將自變數</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1</m:t>
                        </m:r>
                      </m:sub>
                    </m:sSub>
                  </m:oMath>
                </a14:m>
                <a:r>
                  <a:rPr lang="zh-TW" altLang="zh-TW" dirty="0">
                    <a:latin typeface="微軟正黑體" panose="020B0604030504040204" pitchFamily="34" charset="-120"/>
                    <a:ea typeface="微軟正黑體" panose="020B0604030504040204" pitchFamily="34" charset="-120"/>
                  </a:rPr>
                  <a:t>當成主要因子變數，而自變數</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2</m:t>
                        </m:r>
                      </m:sub>
                    </m:sSub>
                  </m:oMath>
                </a14:m>
                <a:r>
                  <a:rPr lang="zh-TW" altLang="zh-TW" dirty="0">
                    <a:latin typeface="微軟正黑體" panose="020B0604030504040204" pitchFamily="34" charset="-120"/>
                    <a:ea typeface="微軟正黑體" panose="020B0604030504040204" pitchFamily="34" charset="-120"/>
                  </a:rPr>
                  <a:t>當成前面所說的干擾變數</a:t>
                </a:r>
                <a:r>
                  <a:rPr lang="zh-TW" altLang="zh-TW" b="1" dirty="0">
                    <a:latin typeface="微軟正黑體" panose="020B0604030504040204" pitchFamily="34" charset="-120"/>
                    <a:ea typeface="微軟正黑體" panose="020B0604030504040204" pitchFamily="34" charset="-120"/>
                  </a:rPr>
                  <a:t>。</a:t>
                </a:r>
                <a:endParaRPr lang="en-US" altLang="zh-TW" b="1"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457200" y="1844824"/>
                <a:ext cx="8229600" cy="5832648"/>
              </a:xfrm>
              <a:blipFill>
                <a:blip r:embed="rId2"/>
                <a:stretch>
                  <a:fillRect l="-741" r="-1852"/>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C68121D2-9246-4B52-9877-10E6A7AF0C69}" type="slidenum">
              <a:rPr lang="zh-TW" altLang="en-US" smtClean="0"/>
              <a:pPr/>
              <a:t>12</a:t>
            </a:fld>
            <a:endParaRPr lang="zh-TW" altLang="en-US"/>
          </a:p>
        </p:txBody>
      </p:sp>
    </p:spTree>
    <p:extLst>
      <p:ext uri="{BB962C8B-B14F-4D97-AF65-F5344CB8AC3E}">
        <p14:creationId xmlns:p14="http://schemas.microsoft.com/office/powerpoint/2010/main" val="2531985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354360" y="2132856"/>
                <a:ext cx="8435280" cy="6264696"/>
              </a:xfrm>
            </p:spPr>
            <p:txBody>
              <a:bodyPr>
                <a:normAutofit/>
              </a:bodyPr>
              <a:lstStyle/>
              <a:p>
                <a:pPr marL="109728" indent="0">
                  <a:lnSpc>
                    <a:spcPct val="150000"/>
                  </a:lnSpc>
                  <a:buNone/>
                </a:pPr>
                <a:r>
                  <a:rPr lang="zh-TW" altLang="zh-TW" sz="2400" dirty="0">
                    <a:latin typeface="微軟正黑體" panose="020B0604030504040204" pitchFamily="34" charset="-120"/>
                    <a:ea typeface="微軟正黑體" panose="020B0604030504040204" pitchFamily="34" charset="-120"/>
                  </a:rPr>
                  <a:t>在探討抽菸（</a:t>
                </a:r>
                <a14:m>
                  <m:oMath xmlns:m="http://schemas.openxmlformats.org/officeDocument/2006/math">
                    <m:sSub>
                      <m:sSubPr>
                        <m:ctrlPr>
                          <a:rPr lang="en-US" altLang="zh-TW" sz="2400" i="1">
                            <a:latin typeface="+mn-lt"/>
                          </a:rPr>
                        </m:ctrlPr>
                      </m:sSubPr>
                      <m:e>
                        <m:r>
                          <a:rPr lang="en-US" altLang="zh-TW" sz="2400" i="1">
                            <a:latin typeface="+mn-lt"/>
                          </a:rPr>
                          <m:t>𝑥</m:t>
                        </m:r>
                      </m:e>
                      <m:sub>
                        <m:r>
                          <a:rPr lang="en-US" altLang="zh-TW" sz="2400" i="1">
                            <a:latin typeface="+mn-lt"/>
                          </a:rPr>
                          <m:t>1</m:t>
                        </m:r>
                      </m:sub>
                    </m:sSub>
                  </m:oMath>
                </a14:m>
                <a:r>
                  <a:rPr lang="zh-TW" altLang="zh-TW" sz="2400" dirty="0">
                    <a:latin typeface="微軟正黑體" panose="020B0604030504040204" pitchFamily="34" charset="-120"/>
                    <a:ea typeface="微軟正黑體" panose="020B0604030504040204" pitchFamily="34" charset="-120"/>
                  </a:rPr>
                  <a:t>）對</a:t>
                </a:r>
                <a:r>
                  <a:rPr lang="zh-TW" altLang="en-US" sz="2400" dirty="0">
                    <a:latin typeface="微軟正黑體" panose="020B0604030504040204" pitchFamily="34" charset="-120"/>
                    <a:ea typeface="微軟正黑體" panose="020B0604030504040204" pitchFamily="34" charset="-120"/>
                  </a:rPr>
                  <a:t>腰圍</a:t>
                </a:r>
                <a:r>
                  <a:rPr lang="zh-TW" altLang="zh-TW" sz="2400" dirty="0">
                    <a:latin typeface="微軟正黑體" panose="020B0604030504040204" pitchFamily="34" charset="-120"/>
                    <a:ea typeface="微軟正黑體" panose="020B0604030504040204" pitchFamily="34" charset="-120"/>
                  </a:rPr>
                  <a:t>的發生機率是否有相關的研究中</a:t>
                </a:r>
                <a:r>
                  <a:rPr lang="zh-TW" altLang="en-US" sz="2400" dirty="0">
                    <a:latin typeface="微軟正黑體" panose="020B0604030504040204" pitchFamily="34" charset="-120"/>
                    <a:ea typeface="微軟正黑體" panose="020B0604030504040204" pitchFamily="34" charset="-120"/>
                  </a:rPr>
                  <a:t>：</a:t>
                </a:r>
                <a:endParaRPr lang="en-US" altLang="zh-TW" sz="2400" dirty="0">
                  <a:latin typeface="微軟正黑體" panose="020B0604030504040204" pitchFamily="34" charset="-120"/>
                  <a:ea typeface="微軟正黑體" panose="020B0604030504040204" pitchFamily="34" charset="-120"/>
                </a:endParaRPr>
              </a:p>
              <a:p>
                <a:pPr>
                  <a:lnSpc>
                    <a:spcPct val="150000"/>
                  </a:lnSpc>
                </a:pPr>
                <a:r>
                  <a:rPr lang="zh-TW" altLang="zh-TW" sz="2400" dirty="0">
                    <a:latin typeface="微軟正黑體" panose="020B0604030504040204" pitchFamily="34" charset="-120"/>
                    <a:ea typeface="微軟正黑體" panose="020B0604030504040204" pitchFamily="34" charset="-120"/>
                  </a:rPr>
                  <a:t>若廻歸模型的分析中同步放入“年齡”</a:t>
                </a:r>
                <a:r>
                  <a:rPr lang="en-US" altLang="zh-TW" sz="2400" dirty="0">
                    <a:latin typeface="微軟正黑體" panose="020B0604030504040204" pitchFamily="34" charset="-120"/>
                    <a:ea typeface="微軟正黑體" panose="020B0604030504040204" pitchFamily="34" charset="-120"/>
                  </a:rPr>
                  <a:t>(</a:t>
                </a:r>
                <a:r>
                  <a:rPr lang="zh-TW" altLang="en-US" sz="2400" dirty="0">
                    <a:latin typeface="微軟正黑體" panose="020B0604030504040204" pitchFamily="34" charset="-120"/>
                    <a:ea typeface="微軟正黑體" panose="020B0604030504040204" pitchFamily="34" charset="-120"/>
                  </a:rPr>
                  <a:t>此為</a:t>
                </a:r>
                <a:r>
                  <a:rPr lang="zh-TW" altLang="zh-TW" sz="2400" dirty="0">
                    <a:latin typeface="微軟正黑體" panose="020B0604030504040204" pitchFamily="34" charset="-120"/>
                    <a:ea typeface="微軟正黑體" panose="020B0604030504040204" pitchFamily="34" charset="-120"/>
                  </a:rPr>
                  <a:t>可能的干擾變數當作第二個自變數</a:t>
                </a:r>
                <a14:m>
                  <m:oMath xmlns:m="http://schemas.openxmlformats.org/officeDocument/2006/math">
                    <m:sSub>
                      <m:sSubPr>
                        <m:ctrlPr>
                          <a:rPr lang="en-US" altLang="zh-TW" sz="2400" i="1">
                            <a:latin typeface="+mn-lt"/>
                          </a:rPr>
                        </m:ctrlPr>
                      </m:sSubPr>
                      <m:e>
                        <m:r>
                          <a:rPr lang="en-US" altLang="zh-TW" sz="2400" i="1">
                            <a:latin typeface="+mn-lt"/>
                          </a:rPr>
                          <m:t>𝑥</m:t>
                        </m:r>
                      </m:e>
                      <m:sub>
                        <m:r>
                          <a:rPr lang="en-US" altLang="zh-TW" sz="2400" i="1">
                            <a:latin typeface="+mn-lt"/>
                          </a:rPr>
                          <m:t>2</m:t>
                        </m:r>
                      </m:sub>
                    </m:sSub>
                  </m:oMath>
                </a14:m>
                <a:r>
                  <a:rPr lang="en-US" altLang="zh-TW" sz="2400" dirty="0">
                    <a:latin typeface="微軟正黑體" panose="020B0604030504040204" pitchFamily="34" charset="-120"/>
                    <a:ea typeface="微軟正黑體" panose="020B0604030504040204" pitchFamily="34" charset="-120"/>
                  </a:rPr>
                  <a:t>)</a:t>
                </a:r>
                <a:r>
                  <a:rPr lang="zh-TW" altLang="zh-TW" sz="2400" dirty="0">
                    <a:latin typeface="微軟正黑體" panose="020B0604030504040204" pitchFamily="34" charset="-120"/>
                    <a:ea typeface="微軟正黑體" panose="020B0604030504040204" pitchFamily="34" charset="-120"/>
                  </a:rPr>
                  <a:t> ，則可以說 </a:t>
                </a:r>
                <a:r>
                  <a:rPr lang="en-US" altLang="zh-TW" sz="2400" dirty="0">
                    <a:latin typeface="微軟正黑體" panose="020B0604030504040204" pitchFamily="34" charset="-120"/>
                    <a:ea typeface="微軟正黑體" panose="020B0604030504040204" pitchFamily="34" charset="-120"/>
                  </a:rPr>
                  <a:t>“</a:t>
                </a:r>
                <a:r>
                  <a:rPr lang="zh-TW" altLang="zh-TW" sz="2400" dirty="0">
                    <a:latin typeface="微軟正黑體" panose="020B0604030504040204" pitchFamily="34" charset="-120"/>
                    <a:ea typeface="微軟正黑體" panose="020B0604030504040204" pitchFamily="34" charset="-120"/>
                  </a:rPr>
                  <a:t>在</a:t>
                </a:r>
                <a:r>
                  <a:rPr lang="zh-TW" altLang="en-US" sz="2400" dirty="0">
                    <a:latin typeface="微軟正黑體" panose="020B0604030504040204" pitchFamily="34" charset="-120"/>
                    <a:ea typeface="微軟正黑體" panose="020B0604030504040204" pitchFamily="34" charset="-120"/>
                  </a:rPr>
                  <a:t>某固定</a:t>
                </a:r>
                <a:r>
                  <a:rPr lang="zh-TW" altLang="zh-TW" sz="2400" dirty="0">
                    <a:latin typeface="微軟正黑體" panose="020B0604030504040204" pitchFamily="34" charset="-120"/>
                    <a:ea typeface="微軟正黑體" panose="020B0604030504040204" pitchFamily="34" charset="-120"/>
                  </a:rPr>
                  <a:t>的年齡層下</a:t>
                </a:r>
                <a:r>
                  <a:rPr lang="en-US" altLang="zh-TW" sz="2400" dirty="0">
                    <a:latin typeface="微軟正黑體" panose="020B0604030504040204" pitchFamily="34" charset="-120"/>
                    <a:ea typeface="微軟正黑體" panose="020B0604030504040204" pitchFamily="34" charset="-120"/>
                  </a:rPr>
                  <a:t>”</a:t>
                </a:r>
                <a:r>
                  <a:rPr lang="zh-TW" altLang="zh-TW" sz="2400" dirty="0">
                    <a:latin typeface="微軟正黑體" panose="020B0604030504040204" pitchFamily="34" charset="-120"/>
                    <a:ea typeface="微軟正黑體" panose="020B0604030504040204" pitchFamily="34" charset="-120"/>
                  </a:rPr>
                  <a:t>，</a:t>
                </a:r>
                <a:r>
                  <a:rPr lang="zh-TW" altLang="zh-TW" sz="2400" dirty="0">
                    <a:solidFill>
                      <a:srgbClr val="C00000"/>
                    </a:solidFill>
                    <a:latin typeface="微軟正黑體" panose="020B0604030504040204" pitchFamily="34" charset="-120"/>
                    <a:ea typeface="微軟正黑體" panose="020B0604030504040204" pitchFamily="34" charset="-120"/>
                  </a:rPr>
                  <a:t>抽菸者</a:t>
                </a:r>
                <a:r>
                  <a:rPr lang="zh-TW" altLang="en-US" sz="2400" dirty="0">
                    <a:solidFill>
                      <a:srgbClr val="C00000"/>
                    </a:solidFill>
                    <a:latin typeface="微軟正黑體" panose="020B0604030504040204" pitchFamily="34" charset="-120"/>
                    <a:ea typeface="微軟正黑體" panose="020B0604030504040204" pitchFamily="34" charset="-120"/>
                  </a:rPr>
                  <a:t>的腰圍估計值比非抽菸者的腰圍估計值多</a:t>
                </a:r>
                <a14:m>
                  <m:oMath xmlns:m="http://schemas.openxmlformats.org/officeDocument/2006/math">
                    <m:r>
                      <a:rPr lang="en-US" altLang="zh-TW" sz="2400" b="0" i="1" smtClean="0">
                        <a:solidFill>
                          <a:srgbClr val="C00000"/>
                        </a:solidFill>
                        <a:latin typeface="+mn-lt"/>
                      </a:rPr>
                      <m:t>𝛽</m:t>
                    </m:r>
                  </m:oMath>
                </a14:m>
                <a:r>
                  <a:rPr lang="zh-TW" altLang="en-US" sz="2400" dirty="0">
                    <a:solidFill>
                      <a:srgbClr val="C00000"/>
                    </a:solidFill>
                    <a:latin typeface="微軟正黑體" panose="020B0604030504040204" pitchFamily="34" charset="-120"/>
                    <a:ea typeface="微軟正黑體" panose="020B0604030504040204" pitchFamily="34" charset="-120"/>
                  </a:rPr>
                  <a:t>。</a:t>
                </a:r>
                <a:endParaRPr lang="en-US" altLang="zh-TW" sz="2400" dirty="0">
                  <a:solidFill>
                    <a:srgbClr val="C00000"/>
                  </a:solidFill>
                  <a:latin typeface="微軟正黑體" panose="020B0604030504040204" pitchFamily="34" charset="-120"/>
                  <a:ea typeface="微軟正黑體" panose="020B0604030504040204" pitchFamily="34" charset="-120"/>
                </a:endParaRPr>
              </a:p>
              <a:p>
                <a:pPr marL="594360" indent="-457200">
                  <a:lnSpc>
                    <a:spcPct val="150000"/>
                  </a:lnSpc>
                </a:pPr>
                <a:r>
                  <a:rPr lang="zh-TW" altLang="zh-TW" sz="2400" dirty="0">
                    <a:latin typeface="微軟正黑體" panose="020B0604030504040204" pitchFamily="34" charset="-120"/>
                    <a:ea typeface="微軟正黑體" panose="020B0604030504040204" pitchFamily="34" charset="-120"/>
                  </a:rPr>
                  <a:t>這種</a:t>
                </a:r>
                <a:r>
                  <a:rPr lang="zh-TW" altLang="en-US" sz="2400" b="1" dirty="0">
                    <a:latin typeface="微軟正黑體" panose="020B0604030504040204" pitchFamily="34" charset="-120"/>
                    <a:ea typeface="微軟正黑體" panose="020B0604030504040204" pitchFamily="34" charset="-120"/>
                  </a:rPr>
                  <a:t>估計值</a:t>
                </a:r>
                <a:r>
                  <a:rPr lang="zh-TW" altLang="zh-TW" sz="2400" dirty="0">
                    <a:latin typeface="微軟正黑體" panose="020B0604030504040204" pitchFamily="34" charset="-120"/>
                    <a:ea typeface="微軟正黑體" panose="020B0604030504040204" pitchFamily="34" charset="-120"/>
                  </a:rPr>
                  <a:t>又稱是 </a:t>
                </a:r>
                <a:r>
                  <a:rPr lang="zh-TW" altLang="zh-TW" sz="2400" b="1" dirty="0">
                    <a:latin typeface="微軟正黑體" panose="020B0604030504040204" pitchFamily="34" charset="-120"/>
                    <a:ea typeface="微軟正黑體" panose="020B0604030504040204" pitchFamily="34" charset="-120"/>
                  </a:rPr>
                  <a:t>調整</a:t>
                </a:r>
                <a:r>
                  <a:rPr lang="zh-TW" altLang="zh-TW" sz="2400" dirty="0">
                    <a:latin typeface="微軟正黑體" panose="020B0604030504040204" pitchFamily="34" charset="-120"/>
                    <a:ea typeface="微軟正黑體" panose="020B0604030504040204" pitchFamily="34" charset="-120"/>
                  </a:rPr>
                  <a:t>（年齡）</a:t>
                </a:r>
                <a:r>
                  <a:rPr lang="zh-TW" altLang="zh-TW" sz="2400" b="1" dirty="0">
                    <a:latin typeface="微軟正黑體" panose="020B0604030504040204" pitchFamily="34" charset="-120"/>
                    <a:ea typeface="微軟正黑體" panose="020B0604030504040204" pitchFamily="34" charset="-120"/>
                  </a:rPr>
                  <a:t>後的</a:t>
                </a:r>
                <a:r>
                  <a:rPr lang="zh-TW" altLang="en-US" sz="2400" b="1" dirty="0">
                    <a:latin typeface="微軟正黑體" panose="020B0604030504040204" pitchFamily="34" charset="-120"/>
                    <a:ea typeface="微軟正黑體" panose="020B0604030504040204" pitchFamily="34" charset="-120"/>
                  </a:rPr>
                  <a:t>估計值</a:t>
                </a:r>
                <a:r>
                  <a:rPr lang="zh-TW" altLang="zh-TW" sz="2400" b="1" dirty="0">
                    <a:latin typeface="微軟正黑體" panose="020B0604030504040204" pitchFamily="34" charset="-120"/>
                    <a:ea typeface="微軟正黑體" panose="020B0604030504040204" pitchFamily="34" charset="-120"/>
                  </a:rPr>
                  <a:t>。</a:t>
                </a:r>
                <a:endParaRPr lang="en-US" altLang="zh-TW" sz="2400" b="1" dirty="0">
                  <a:latin typeface="微軟正黑體" panose="020B0604030504040204" pitchFamily="34" charset="-120"/>
                  <a:ea typeface="微軟正黑體" panose="020B0604030504040204" pitchFamily="34" charset="-120"/>
                </a:endParaRPr>
              </a:p>
              <a:p>
                <a:pPr>
                  <a:lnSpc>
                    <a:spcPct val="150000"/>
                  </a:lnSpc>
                </a:pPr>
                <a:endParaRPr lang="zh-TW" altLang="en-US" sz="1600"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354360" y="2132856"/>
                <a:ext cx="8435280" cy="6264696"/>
              </a:xfrm>
              <a:blipFill>
                <a:blip r:embed="rId2"/>
                <a:stretch>
                  <a:fillRect l="-1084" r="-2023"/>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C68121D2-9246-4B52-9877-10E6A7AF0C69}" type="slidenum">
              <a:rPr lang="zh-TW" altLang="en-US" smtClean="0"/>
              <a:pPr/>
              <a:t>13</a:t>
            </a:fld>
            <a:endParaRPr lang="zh-TW" altLang="en-US"/>
          </a:p>
        </p:txBody>
      </p:sp>
    </p:spTree>
    <p:extLst>
      <p:ext uri="{BB962C8B-B14F-4D97-AF65-F5344CB8AC3E}">
        <p14:creationId xmlns:p14="http://schemas.microsoft.com/office/powerpoint/2010/main" val="1561940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457200" y="2132856"/>
                <a:ext cx="8229600" cy="5530619"/>
              </a:xfrm>
            </p:spPr>
            <p:txBody>
              <a:bodyPr>
                <a:normAutofit fontScale="92500"/>
              </a:bodyPr>
              <a:lstStyle/>
              <a:p>
                <a:pPr>
                  <a:lnSpc>
                    <a:spcPct val="150000"/>
                  </a:lnSpc>
                </a:pPr>
                <a:r>
                  <a:rPr lang="zh-TW" altLang="zh-TW" dirty="0">
                    <a:latin typeface="微軟正黑體" panose="020B0604030504040204" pitchFamily="34" charset="-120"/>
                    <a:ea typeface="微軟正黑體" panose="020B0604030504040204" pitchFamily="34" charset="-120"/>
                  </a:rPr>
                  <a:t>若是廻歸模型中只有一個自變數</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1</m:t>
                        </m:r>
                      </m:sub>
                    </m:sSub>
                  </m:oMath>
                </a14:m>
                <a:r>
                  <a:rPr lang="zh-TW" altLang="en-US"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沒有放入干擾變數</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2</m:t>
                        </m:r>
                      </m:sub>
                    </m:sSub>
                  </m:oMath>
                </a14:m>
                <a:r>
                  <a:rPr lang="zh-TW" altLang="zh-TW" dirty="0">
                    <a:latin typeface="微軟正黑體" panose="020B0604030504040204" pitchFamily="34" charset="-120"/>
                    <a:ea typeface="微軟正黑體" panose="020B0604030504040204" pitchFamily="34" charset="-120"/>
                  </a:rPr>
                  <a:t>的話，估計所得的</a:t>
                </a:r>
                <a:r>
                  <a:rPr lang="zh-TW" altLang="en-US" dirty="0">
                    <a:latin typeface="微軟正黑體" panose="020B0604030504040204" pitchFamily="34" charset="-120"/>
                    <a:ea typeface="微軟正黑體" panose="020B0604030504040204" pitchFamily="34" charset="-120"/>
                  </a:rPr>
                  <a:t>估計值</a:t>
                </a:r>
                <a:r>
                  <a:rPr lang="zh-TW" altLang="zh-TW" dirty="0">
                    <a:latin typeface="微軟正黑體" panose="020B0604030504040204" pitchFamily="34" charset="-120"/>
                    <a:ea typeface="微軟正黑體" panose="020B0604030504040204" pitchFamily="34" charset="-120"/>
                  </a:rPr>
                  <a:t>稱為</a:t>
                </a:r>
                <a:r>
                  <a:rPr lang="zh-TW" altLang="zh-TW" dirty="0">
                    <a:solidFill>
                      <a:srgbClr val="FF0000"/>
                    </a:solidFill>
                    <a:latin typeface="微軟正黑體" panose="020B0604030504040204" pitchFamily="34" charset="-120"/>
                    <a:ea typeface="微軟正黑體" panose="020B0604030504040204" pitchFamily="34" charset="-120"/>
                  </a:rPr>
                  <a:t>未調整</a:t>
                </a:r>
                <a:r>
                  <a:rPr lang="zh-TW" altLang="en-US" dirty="0">
                    <a:solidFill>
                      <a:srgbClr val="FF0000"/>
                    </a:solidFill>
                    <a:latin typeface="微軟正黑體" panose="020B0604030504040204" pitchFamily="34" charset="-120"/>
                    <a:ea typeface="微軟正黑體" panose="020B0604030504040204" pitchFamily="34" charset="-120"/>
                  </a:rPr>
                  <a:t>的估計值</a:t>
                </a:r>
                <a:r>
                  <a:rPr lang="zh-TW" altLang="zh-TW" b="1"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若是調整過及未調整的勝算比</a:t>
                </a:r>
                <a:r>
                  <a:rPr lang="zh-TW" altLang="zh-TW" dirty="0">
                    <a:solidFill>
                      <a:srgbClr val="C00000"/>
                    </a:solidFill>
                    <a:latin typeface="微軟正黑體" panose="020B0604030504040204" pitchFamily="34" charset="-120"/>
                    <a:ea typeface="微軟正黑體" panose="020B0604030504040204" pitchFamily="34" charset="-120"/>
                  </a:rPr>
                  <a:t>差別不大的話</a:t>
                </a:r>
                <a:r>
                  <a:rPr lang="zh-TW" altLang="zh-TW" dirty="0">
                    <a:latin typeface="微軟正黑體" panose="020B0604030504040204" pitchFamily="34" charset="-120"/>
                    <a:ea typeface="微軟正黑體" panose="020B0604030504040204" pitchFamily="34" charset="-120"/>
                  </a:rPr>
                  <a:t>，</a:t>
                </a:r>
                <a:r>
                  <a:rPr lang="zh-TW" altLang="zh-TW" dirty="0">
                    <a:solidFill>
                      <a:srgbClr val="C00000"/>
                    </a:solidFill>
                    <a:latin typeface="微軟正黑體" panose="020B0604030504040204" pitchFamily="34" charset="-120"/>
                    <a:ea typeface="微軟正黑體" panose="020B0604030504040204" pitchFamily="34" charset="-120"/>
                  </a:rPr>
                  <a:t>則顯示變數</a:t>
                </a:r>
                <a14:m>
                  <m:oMath xmlns:m="http://schemas.openxmlformats.org/officeDocument/2006/math">
                    <m:sSub>
                      <m:sSubPr>
                        <m:ctrlPr>
                          <a:rPr lang="en-US" altLang="zh-TW" i="1">
                            <a:solidFill>
                              <a:srgbClr val="C00000"/>
                            </a:solidFill>
                            <a:latin typeface="+mn-lt"/>
                          </a:rPr>
                        </m:ctrlPr>
                      </m:sSubPr>
                      <m:e>
                        <m:r>
                          <a:rPr lang="en-US" altLang="zh-TW" i="1">
                            <a:solidFill>
                              <a:srgbClr val="C00000"/>
                            </a:solidFill>
                            <a:latin typeface="+mn-lt"/>
                          </a:rPr>
                          <m:t>𝑥</m:t>
                        </m:r>
                      </m:e>
                      <m:sub>
                        <m:r>
                          <a:rPr lang="en-US" altLang="zh-TW" i="1">
                            <a:solidFill>
                              <a:srgbClr val="C00000"/>
                            </a:solidFill>
                            <a:latin typeface="+mn-lt"/>
                          </a:rPr>
                          <m:t>2</m:t>
                        </m:r>
                      </m:sub>
                    </m:sSub>
                  </m:oMath>
                </a14:m>
                <a:r>
                  <a:rPr lang="zh-TW" altLang="zh-TW" dirty="0">
                    <a:solidFill>
                      <a:srgbClr val="C00000"/>
                    </a:solidFill>
                    <a:latin typeface="微軟正黑體" panose="020B0604030504040204" pitchFamily="34" charset="-120"/>
                    <a:ea typeface="微軟正黑體" panose="020B0604030504040204" pitchFamily="34" charset="-120"/>
                  </a:rPr>
                  <a:t>不是干擾變數</a:t>
                </a:r>
                <a:r>
                  <a:rPr lang="zh-TW" altLang="zh-TW" b="1"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在流行病學研究裡，</a:t>
                </a:r>
                <a:r>
                  <a:rPr lang="zh-TW" altLang="zh-TW" b="1" dirty="0">
                    <a:latin typeface="微軟正黑體" panose="020B0604030504040204" pitchFamily="34" charset="-120"/>
                    <a:ea typeface="微軟正黑體" panose="020B0604030504040204" pitchFamily="34" charset="-120"/>
                  </a:rPr>
                  <a:t>性別及年齡經常被看成是干擾變數</a:t>
                </a:r>
                <a:r>
                  <a:rPr lang="zh-TW" altLang="zh-TW" dirty="0">
                    <a:latin typeface="微軟正黑體" panose="020B0604030504040204" pitchFamily="34" charset="-120"/>
                    <a:ea typeface="微軟正黑體" panose="020B0604030504040204" pitchFamily="34" charset="-120"/>
                  </a:rPr>
                  <a:t>，須要被用來 </a:t>
                </a:r>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調整其他研究主要因子的效應</a:t>
                </a:r>
                <a:r>
                  <a:rPr lang="zh-TW" altLang="zh-TW" b="1" dirty="0">
                    <a:latin typeface="微軟正黑體" panose="020B0604030504040204" pitchFamily="34" charset="-120"/>
                    <a:ea typeface="微軟正黑體" panose="020B0604030504040204" pitchFamily="34" charset="-120"/>
                  </a:rPr>
                  <a:t>。</a:t>
                </a:r>
                <a:endParaRPr lang="en-US" altLang="zh-TW" b="1"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457200" y="2132856"/>
                <a:ext cx="8229600" cy="5530619"/>
              </a:xfrm>
              <a:blipFill>
                <a:blip r:embed="rId3"/>
                <a:stretch>
                  <a:fillRect l="-667" r="-444"/>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C68121D2-9246-4B52-9877-10E6A7AF0C69}" type="slidenum">
              <a:rPr lang="zh-TW" altLang="en-US" smtClean="0"/>
              <a:pPr/>
              <a:t>14</a:t>
            </a:fld>
            <a:endParaRPr lang="zh-TW" altLang="en-US"/>
          </a:p>
        </p:txBody>
      </p:sp>
    </p:spTree>
    <p:extLst>
      <p:ext uri="{BB962C8B-B14F-4D97-AF65-F5344CB8AC3E}">
        <p14:creationId xmlns:p14="http://schemas.microsoft.com/office/powerpoint/2010/main" val="6711671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395536" y="1044650"/>
            <a:ext cx="8229600" cy="562074"/>
          </a:xfrm>
        </p:spPr>
        <p:txBody>
          <a:bodyPr>
            <a:normAutofit fontScale="90000"/>
          </a:bodyPr>
          <a:lstStyle/>
          <a:p>
            <a:r>
              <a:rPr lang="en-US" altLang="zh-TW" dirty="0">
                <a:latin typeface="微軟正黑體" panose="020B0604030504040204" pitchFamily="34" charset="-120"/>
                <a:ea typeface="微軟正黑體" panose="020B0604030504040204" pitchFamily="34" charset="-120"/>
              </a:rPr>
              <a:t>SPSS</a:t>
            </a:r>
            <a:endParaRPr lang="zh-TW" altLang="en-US" dirty="0">
              <a:latin typeface="微軟正黑體" panose="020B0604030504040204" pitchFamily="34" charset="-120"/>
              <a:ea typeface="微軟正黑體" panose="020B0604030504040204" pitchFamily="34" charset="-120"/>
            </a:endParaRPr>
          </a:p>
        </p:txBody>
      </p:sp>
      <p:sp>
        <p:nvSpPr>
          <p:cNvPr id="2" name="內容版面配置區 1"/>
          <p:cNvSpPr>
            <a:spLocks noGrp="1"/>
          </p:cNvSpPr>
          <p:nvPr>
            <p:ph idx="1"/>
          </p:nvPr>
        </p:nvSpPr>
        <p:spPr>
          <a:xfrm>
            <a:off x="468383" y="2132856"/>
            <a:ext cx="8229600" cy="5499224"/>
          </a:xfrm>
        </p:spPr>
        <p:txBody>
          <a:bodyPr>
            <a:normAutofit/>
          </a:bodyPr>
          <a:lstStyle/>
          <a:p>
            <a:pPr marL="109728" indent="0">
              <a:lnSpc>
                <a:spcPct val="150000"/>
              </a:lnSpc>
              <a:buNone/>
            </a:pPr>
            <a:r>
              <a:rPr lang="zh-TW" altLang="zh-TW" dirty="0">
                <a:latin typeface="微軟正黑體" panose="020B0604030504040204" pitchFamily="34" charset="-120"/>
                <a:ea typeface="微軟正黑體" panose="020B0604030504040204" pitchFamily="34" charset="-120"/>
              </a:rPr>
              <a:t>以下我們針對</a:t>
            </a:r>
            <a:r>
              <a:rPr lang="en-US" altLang="zh-TW" dirty="0" err="1">
                <a:latin typeface="微軟正黑體" panose="020B0604030504040204" pitchFamily="34" charset="-120"/>
                <a:ea typeface="微軟正黑體" panose="020B0604030504040204" pitchFamily="34" charset="-120"/>
              </a:rPr>
              <a:t>CVD_All</a:t>
            </a:r>
            <a:r>
              <a:rPr lang="zh-TW" altLang="zh-TW" dirty="0">
                <a:latin typeface="微軟正黑體" panose="020B0604030504040204" pitchFamily="34" charset="-120"/>
                <a:ea typeface="微軟正黑體" panose="020B0604030504040204" pitchFamily="34" charset="-120"/>
              </a:rPr>
              <a:t>的資料分析抽菸量對</a:t>
            </a:r>
            <a:r>
              <a:rPr lang="zh-TW" altLang="en-US" dirty="0">
                <a:latin typeface="微軟正黑體" panose="020B0604030504040204" pitchFamily="34" charset="-120"/>
                <a:ea typeface="微軟正黑體" panose="020B0604030504040204" pitchFamily="34" charset="-120"/>
              </a:rPr>
              <a:t>腰圍</a:t>
            </a:r>
            <a:r>
              <a:rPr lang="zh-TW" altLang="zh-TW" dirty="0">
                <a:latin typeface="微軟正黑體" panose="020B0604030504040204" pitchFamily="34" charset="-120"/>
                <a:ea typeface="微軟正黑體" panose="020B0604030504040204" pitchFamily="34" charset="-120"/>
              </a:rPr>
              <a:t>的影響</a:t>
            </a:r>
            <a:r>
              <a:rPr lang="zh-TW" altLang="zh-TW" b="1" dirty="0">
                <a:latin typeface="微軟正黑體" panose="020B0604030504040204" pitchFamily="34" charset="-120"/>
                <a:ea typeface="微軟正黑體" panose="020B0604030504040204" pitchFamily="34" charset="-120"/>
              </a:rPr>
              <a:t>。</a:t>
            </a:r>
            <a:endParaRPr lang="en-US" altLang="zh-TW" b="1"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首先我們使用</a:t>
            </a:r>
            <a:r>
              <a:rPr lang="en-US" altLang="zh-TW" dirty="0">
                <a:latin typeface="微軟正黑體" panose="020B0604030504040204" pitchFamily="34" charset="-120"/>
                <a:ea typeface="微軟正黑體" panose="020B0604030504040204" pitchFamily="34" charset="-120"/>
              </a:rPr>
              <a:t>SPSS</a:t>
            </a:r>
            <a:r>
              <a:rPr lang="zh-TW" altLang="zh-TW" b="1" dirty="0">
                <a:latin typeface="微軟正黑體" panose="020B0604030504040204" pitchFamily="34" charset="-120"/>
                <a:ea typeface="微軟正黑體" panose="020B0604030504040204" pitchFamily="34" charset="-120"/>
              </a:rPr>
              <a:t>資料</a:t>
            </a:r>
            <a:r>
              <a:rPr lang="zh-TW" altLang="zh-TW" dirty="0">
                <a:latin typeface="微軟正黑體" panose="020B0604030504040204" pitchFamily="34" charset="-120"/>
                <a:ea typeface="微軟正黑體" panose="020B0604030504040204" pitchFamily="34" charset="-120"/>
              </a:rPr>
              <a:t>中</a:t>
            </a:r>
            <a:r>
              <a:rPr lang="zh-TW" altLang="en-US" b="1" dirty="0">
                <a:latin typeface="微軟正黑體" panose="020B0604030504040204" pitchFamily="34" charset="-120"/>
                <a:ea typeface="微軟正黑體" panose="020B0604030504040204" pitchFamily="34" charset="-120"/>
              </a:rPr>
              <a:t>重新編碼成不同變數</a:t>
            </a:r>
            <a:r>
              <a:rPr lang="zh-TW" altLang="zh-TW" dirty="0">
                <a:latin typeface="微軟正黑體" panose="020B0604030504040204" pitchFamily="34" charset="-120"/>
                <a:ea typeface="微軟正黑體" panose="020B0604030504040204" pitchFamily="34" charset="-120"/>
              </a:rPr>
              <a:t>的功能將數值變數 </a:t>
            </a:r>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年齡＂轉換成類別變數（</a:t>
            </a:r>
            <a:r>
              <a:rPr lang="en-US" altLang="zh-TW" dirty="0">
                <a:latin typeface="微軟正黑體" panose="020B0604030504040204" pitchFamily="34" charset="-120"/>
                <a:ea typeface="微軟正黑體" panose="020B0604030504040204" pitchFamily="34" charset="-120"/>
              </a:rPr>
              <a:t>50</a:t>
            </a:r>
            <a:r>
              <a:rPr lang="zh-TW" altLang="zh-TW" dirty="0">
                <a:latin typeface="微軟正黑體" panose="020B0604030504040204" pitchFamily="34" charset="-120"/>
                <a:ea typeface="微軟正黑體" panose="020B0604030504040204" pitchFamily="34" charset="-120"/>
              </a:rPr>
              <a:t>歲以下為第</a:t>
            </a:r>
            <a:r>
              <a:rPr lang="en-US" altLang="zh-TW"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組，以上為第</a:t>
            </a: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組）， 將抽菸量也分成二組（</a:t>
            </a: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包菸以下為第</a:t>
            </a:r>
            <a:r>
              <a:rPr lang="en-US" altLang="zh-TW"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組，以上為第</a:t>
            </a: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組）</a:t>
            </a:r>
            <a:r>
              <a:rPr lang="zh-TW" altLang="zh-TW" b="1" dirty="0">
                <a:latin typeface="微軟正黑體" panose="020B0604030504040204" pitchFamily="34" charset="-120"/>
                <a:ea typeface="微軟正黑體" panose="020B0604030504040204" pitchFamily="34" charset="-120"/>
              </a:rPr>
              <a:t>。</a:t>
            </a:r>
            <a:endParaRPr lang="en-US" altLang="zh-TW" b="1"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接著我們使用</a:t>
            </a:r>
            <a:r>
              <a:rPr lang="en-US" altLang="zh-TW" dirty="0">
                <a:latin typeface="微軟正黑體" panose="020B0604030504040204" pitchFamily="34" charset="-120"/>
                <a:ea typeface="微軟正黑體" panose="020B0604030504040204" pitchFamily="34" charset="-120"/>
              </a:rPr>
              <a:t>SPSS </a:t>
            </a:r>
            <a:r>
              <a:rPr lang="zh-TW" altLang="zh-TW" dirty="0">
                <a:latin typeface="微軟正黑體" panose="020B0604030504040204" pitchFamily="34" charset="-120"/>
                <a:ea typeface="微軟正黑體" panose="020B0604030504040204" pitchFamily="34" charset="-120"/>
              </a:rPr>
              <a:t>中</a:t>
            </a:r>
            <a:r>
              <a:rPr lang="zh-TW" altLang="en-US" b="1" dirty="0">
                <a:latin typeface="微軟正黑體" panose="020B0604030504040204" pitchFamily="34" charset="-120"/>
                <a:ea typeface="微軟正黑體" panose="020B0604030504040204" pitchFamily="34" charset="-120"/>
              </a:rPr>
              <a:t>線性</a:t>
            </a:r>
            <a:r>
              <a:rPr lang="zh-TW" altLang="zh-TW" b="1" dirty="0">
                <a:latin typeface="微軟正黑體" panose="020B0604030504040204" pitchFamily="34" charset="-120"/>
                <a:ea typeface="微軟正黑體" panose="020B0604030504040204" pitchFamily="34" charset="-120"/>
              </a:rPr>
              <a:t>迴歸分析。</a:t>
            </a:r>
            <a:endParaRPr lang="zh-TW" altLang="en-US" dirty="0">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C68121D2-9246-4B52-9877-10E6A7AF0C69}" type="slidenum">
              <a:rPr lang="zh-TW" altLang="en-US" smtClean="0"/>
              <a:pPr/>
              <a:t>15</a:t>
            </a:fld>
            <a:endParaRPr lang="zh-TW" altLang="en-US"/>
          </a:p>
        </p:txBody>
      </p:sp>
    </p:spTree>
    <p:extLst>
      <p:ext uri="{BB962C8B-B14F-4D97-AF65-F5344CB8AC3E}">
        <p14:creationId xmlns:p14="http://schemas.microsoft.com/office/powerpoint/2010/main" val="35681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467544" y="620688"/>
            <a:ext cx="8208912" cy="6336704"/>
          </a:xfrm>
        </p:spPr>
        <p:txBody>
          <a:bodyPr>
            <a:normAutofit/>
          </a:bodyPr>
          <a:lstStyle/>
          <a:p>
            <a:pPr>
              <a:lnSpc>
                <a:spcPct val="150000"/>
              </a:lnSpc>
            </a:pPr>
            <a:r>
              <a:rPr lang="zh-TW" altLang="zh-TW" dirty="0">
                <a:latin typeface="微軟正黑體" panose="020B0604030504040204" pitchFamily="34" charset="-120"/>
                <a:ea typeface="微軟正黑體" panose="020B0604030504040204" pitchFamily="34" charset="-120"/>
              </a:rPr>
              <a:t>以點選方式選用路徑： </a:t>
            </a:r>
            <a:r>
              <a:rPr lang="en-US" altLang="zh-TW" dirty="0">
                <a:latin typeface="微軟正黑體" panose="020B0604030504040204" pitchFamily="34" charset="-120"/>
                <a:ea typeface="微軟正黑體" panose="020B0604030504040204" pitchFamily="34" charset="-120"/>
              </a:rPr>
              <a:t>“</a:t>
            </a:r>
            <a:r>
              <a:rPr lang="en-US" altLang="zh-TW" b="1"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dirty="0">
                <a:latin typeface="微軟正黑體" panose="020B0604030504040204" pitchFamily="34" charset="-120"/>
                <a:ea typeface="微軟正黑體" panose="020B0604030504040204" pitchFamily="34" charset="-120"/>
              </a:rPr>
              <a:t>分析</a:t>
            </a:r>
            <a:r>
              <a:rPr lang="en-US" altLang="zh-TW" b="1" dirty="0">
                <a:latin typeface="微軟正黑體" panose="020B0604030504040204" pitchFamily="34" charset="-120"/>
                <a:ea typeface="微軟正黑體" panose="020B0604030504040204" pitchFamily="34" charset="-120"/>
                <a:sym typeface="Wingdings" panose="05000000000000000000" pitchFamily="2" charset="2"/>
              </a:rPr>
              <a:t></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迴歸</a:t>
            </a:r>
            <a:r>
              <a:rPr lang="en-US" altLang="zh-TW" b="1"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dirty="0">
                <a:latin typeface="微軟正黑體" panose="020B0604030504040204" pitchFamily="34" charset="-120"/>
                <a:ea typeface="微軟正黑體" panose="020B0604030504040204" pitchFamily="34" charset="-120"/>
              </a:rPr>
              <a:t>線性</a:t>
            </a:r>
            <a:r>
              <a:rPr lang="zh-TW" altLang="zh-TW" dirty="0">
                <a:latin typeface="微軟正黑體" panose="020B0604030504040204" pitchFamily="34" charset="-120"/>
                <a:ea typeface="微軟正黑體" panose="020B0604030504040204" pitchFamily="34" charset="-120"/>
              </a:rPr>
              <a:t>：選擇依變數：依變數</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腰圍</a:t>
            </a:r>
            <a:r>
              <a:rPr lang="zh-TW" altLang="zh-TW" dirty="0">
                <a:latin typeface="微軟正黑體" panose="020B0604030504040204" pitchFamily="34" charset="-120"/>
                <a:ea typeface="微軟正黑體" panose="020B0604030504040204" pitchFamily="34" charset="-120"/>
              </a:rPr>
              <a:t>； 自變數</a:t>
            </a:r>
            <a:r>
              <a:rPr lang="en-US" altLang="zh-TW"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抽菸量</a:t>
            </a:r>
            <a:r>
              <a:rPr lang="en-US" altLang="zh-TW" b="1"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b="1" dirty="0">
                <a:latin typeface="微軟正黑體" panose="020B0604030504040204" pitchFamily="34" charset="-120"/>
                <a:ea typeface="微軟正黑體" panose="020B0604030504040204" pitchFamily="34" charset="-120"/>
              </a:rPr>
              <a:t>開始分析</a:t>
            </a:r>
            <a:endParaRPr lang="en-US" altLang="zh-TW" b="1" dirty="0">
              <a:latin typeface="微軟正黑體" panose="020B0604030504040204" pitchFamily="34" charset="-120"/>
              <a:ea typeface="微軟正黑體" panose="020B0604030504040204" pitchFamily="34" charset="-120"/>
            </a:endParaRPr>
          </a:p>
          <a:p>
            <a:endParaRPr lang="en-US" altLang="zh-TW" b="1" dirty="0">
              <a:latin typeface="微軟正黑體" panose="020B0604030504040204" pitchFamily="34" charset="-120"/>
              <a:ea typeface="微軟正黑體" panose="020B0604030504040204" pitchFamily="34" charset="-120"/>
            </a:endParaRPr>
          </a:p>
          <a:p>
            <a:endParaRPr lang="en-US" altLang="zh-TW" b="1" dirty="0">
              <a:latin typeface="微軟正黑體" panose="020B0604030504040204" pitchFamily="34" charset="-120"/>
              <a:ea typeface="微軟正黑體" panose="020B0604030504040204" pitchFamily="34" charset="-120"/>
            </a:endParaRPr>
          </a:p>
          <a:p>
            <a:endParaRPr lang="en-US" altLang="zh-TW" b="1" dirty="0">
              <a:latin typeface="微軟正黑體" panose="020B0604030504040204" pitchFamily="34" charset="-120"/>
              <a:ea typeface="微軟正黑體" panose="020B0604030504040204" pitchFamily="34" charset="-120"/>
            </a:endParaRPr>
          </a:p>
          <a:p>
            <a:endParaRPr lang="en-US" altLang="zh-TW" b="1" dirty="0">
              <a:latin typeface="微軟正黑體" panose="020B0604030504040204" pitchFamily="34" charset="-120"/>
              <a:ea typeface="微軟正黑體" panose="020B0604030504040204" pitchFamily="34" charset="-120"/>
            </a:endParaRPr>
          </a:p>
          <a:p>
            <a:pPr>
              <a:lnSpc>
                <a:spcPct val="160000"/>
              </a:lnSpc>
            </a:pPr>
            <a:r>
              <a:rPr lang="zh-TW" altLang="zh-TW" dirty="0">
                <a:latin typeface="微軟正黑體" panose="020B0604030504040204" pitchFamily="34" charset="-120"/>
                <a:ea typeface="微軟正黑體" panose="020B0604030504040204" pitchFamily="34" charset="-120"/>
              </a:rPr>
              <a:t>抽菸量</a:t>
            </a: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包以上的人</a:t>
            </a:r>
            <a:r>
              <a:rPr lang="zh-TW" altLang="en-US" dirty="0">
                <a:latin typeface="微軟正黑體" panose="020B0604030504040204" pitchFamily="34" charset="-120"/>
                <a:ea typeface="微軟正黑體" panose="020B0604030504040204" pitchFamily="34" charset="-120"/>
              </a:rPr>
              <a:t>的腰圍</a:t>
            </a:r>
            <a:r>
              <a:rPr lang="zh-TW" altLang="zh-TW" dirty="0">
                <a:latin typeface="微軟正黑體" panose="020B0604030504040204" pitchFamily="34" charset="-120"/>
                <a:ea typeface="微軟正黑體" panose="020B0604030504040204" pitchFamily="34" charset="-120"/>
              </a:rPr>
              <a:t>和抽菸量</a:t>
            </a: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包以下的人勝算相比較，</a:t>
            </a:r>
            <a:r>
              <a:rPr lang="zh-TW" altLang="zh-TW" b="1" dirty="0">
                <a:latin typeface="微軟正黑體" panose="020B0604030504040204" pitchFamily="34" charset="-120"/>
                <a:ea typeface="微軟正黑體" panose="020B0604030504040204" pitchFamily="34" charset="-120"/>
              </a:rPr>
              <a:t>粗估</a:t>
            </a:r>
            <a:r>
              <a:rPr lang="zh-TW" altLang="zh-TW" dirty="0">
                <a:latin typeface="微軟正黑體" panose="020B0604030504040204" pitchFamily="34" charset="-120"/>
                <a:ea typeface="微軟正黑體" panose="020B0604030504040204" pitchFamily="34" charset="-120"/>
              </a:rPr>
              <a:t>為</a:t>
            </a:r>
            <a:r>
              <a:rPr lang="en-US" altLang="zh-TW" dirty="0">
                <a:latin typeface="微軟正黑體" panose="020B0604030504040204" pitchFamily="34" charset="-120"/>
                <a:ea typeface="微軟正黑體" panose="020B0604030504040204" pitchFamily="34" charset="-120"/>
              </a:rPr>
              <a:t>0.235</a:t>
            </a:r>
            <a:r>
              <a:rPr lang="zh-TW" altLang="zh-TW" dirty="0">
                <a:latin typeface="微軟正黑體" panose="020B0604030504040204" pitchFamily="34" charset="-120"/>
                <a:ea typeface="微軟正黑體" panose="020B0604030504040204" pitchFamily="34" charset="-120"/>
              </a:rPr>
              <a:t>，統計檢定的結論是抽菸量是顯著的風險因子（</a:t>
            </a:r>
            <a:r>
              <a:rPr lang="en-US" altLang="zh-TW" dirty="0">
                <a:latin typeface="微軟正黑體" panose="020B0604030504040204" pitchFamily="34" charset="-120"/>
                <a:ea typeface="微軟正黑體" panose="020B0604030504040204" pitchFamily="34" charset="-120"/>
              </a:rPr>
              <a:t>p</a:t>
            </a:r>
            <a:r>
              <a:rPr lang="zh-TW" altLang="zh-TW" dirty="0">
                <a:latin typeface="微軟正黑體" panose="020B0604030504040204" pitchFamily="34" charset="-120"/>
                <a:ea typeface="微軟正黑體" panose="020B0604030504040204" pitchFamily="34" charset="-120"/>
              </a:rPr>
              <a:t>值為</a:t>
            </a:r>
            <a:r>
              <a:rPr lang="en-US" altLang="zh-TW" dirty="0">
                <a:latin typeface="微軟正黑體" panose="020B0604030504040204" pitchFamily="34" charset="-120"/>
                <a:ea typeface="微軟正黑體" panose="020B0604030504040204" pitchFamily="34" charset="-120"/>
              </a:rPr>
              <a:t>&lt;0.001</a:t>
            </a:r>
            <a:r>
              <a:rPr lang="zh-TW" altLang="zh-TW" dirty="0">
                <a:latin typeface="微軟正黑體" panose="020B0604030504040204" pitchFamily="34" charset="-120"/>
                <a:ea typeface="微軟正黑體" panose="020B0604030504040204" pitchFamily="34" charset="-120"/>
              </a:rPr>
              <a:t>）</a:t>
            </a:r>
            <a:r>
              <a:rPr lang="zh-TW" altLang="zh-TW" b="1"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C68121D2-9246-4B52-9877-10E6A7AF0C69}" type="slidenum">
              <a:rPr lang="zh-TW" altLang="en-US" smtClean="0"/>
              <a:pPr/>
              <a:t>16</a:t>
            </a:fld>
            <a:endParaRPr lang="zh-TW" altLang="en-US"/>
          </a:p>
        </p:txBody>
      </p:sp>
      <p:sp>
        <p:nvSpPr>
          <p:cNvPr id="19" name="Rectangle 14"/>
          <p:cNvSpPr>
            <a:spLocks noChangeArrowheads="1"/>
          </p:cNvSpPr>
          <p:nvPr/>
        </p:nvSpPr>
        <p:spPr bwMode="auto">
          <a:xfrm>
            <a:off x="2972590" y="1700808"/>
            <a:ext cx="272382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en-US" b="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cs typeface="Times New Roman" panose="02020603050405020304" pitchFamily="18" charset="0"/>
              </a:rPr>
              <a:t>抽菸對心血管疾病的影響</a:t>
            </a:r>
            <a:endParaRPr kumimoji="0" lang="zh-TW"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TW" altLang="en-US" sz="1800" b="0" i="0" u="none" strike="noStrike" cap="none" normalizeH="0" baseline="0" dirty="0">
              <a:ln>
                <a:noFill/>
              </a:ln>
              <a:solidFill>
                <a:schemeClr val="tx1"/>
              </a:solidFill>
              <a:effectLst/>
              <a:latin typeface="Arial" panose="020B0604020202020204" pitchFamily="34" charset="0"/>
            </a:endParaRPr>
          </a:p>
        </p:txBody>
      </p:sp>
      <p:pic>
        <p:nvPicPr>
          <p:cNvPr id="5" name="圖片 4" descr="一張含有 文字, 螢幕擷取畫面, 字型, 數字 的圖片&#10;&#10;自動產生的描述">
            <a:extLst>
              <a:ext uri="{FF2B5EF4-FFF2-40B4-BE49-F238E27FC236}">
                <a16:creationId xmlns:a16="http://schemas.microsoft.com/office/drawing/2014/main" id="{30A239D2-5A29-9C09-3FB2-DFD8819AEB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3728" y="2051694"/>
            <a:ext cx="4639322" cy="1267002"/>
          </a:xfrm>
          <a:prstGeom prst="rect">
            <a:avLst/>
          </a:prstGeom>
        </p:spPr>
      </p:pic>
    </p:spTree>
    <p:extLst>
      <p:ext uri="{BB962C8B-B14F-4D97-AF65-F5344CB8AC3E}">
        <p14:creationId xmlns:p14="http://schemas.microsoft.com/office/powerpoint/2010/main" val="1818443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300066" y="188640"/>
            <a:ext cx="8555832" cy="6075288"/>
          </a:xfrm>
        </p:spPr>
        <p:txBody>
          <a:bodyPr>
            <a:noAutofit/>
          </a:bodyPr>
          <a:lstStyle/>
          <a:p>
            <a:pPr marL="109728" indent="0">
              <a:lnSpc>
                <a:spcPct val="150000"/>
              </a:lnSpc>
              <a:buNone/>
            </a:pPr>
            <a:r>
              <a:rPr lang="zh-TW" altLang="zh-TW" dirty="0">
                <a:latin typeface="微軟正黑體" panose="020B0604030504040204" pitchFamily="34" charset="-120"/>
                <a:ea typeface="微軟正黑體" panose="020B0604030504040204" pitchFamily="34" charset="-120"/>
              </a:rPr>
              <a:t>我們用年齡來調整，</a:t>
            </a:r>
            <a:r>
              <a:rPr lang="zh-TW" altLang="en-US" dirty="0">
                <a:latin typeface="微軟正黑體" panose="020B0604030504040204" pitchFamily="34" charset="-120"/>
                <a:ea typeface="微軟正黑體" panose="020B0604030504040204" pitchFamily="34" charset="-120"/>
              </a:rPr>
              <a:t>並</a:t>
            </a:r>
            <a:r>
              <a:rPr lang="zh-TW" altLang="zh-TW" dirty="0">
                <a:latin typeface="微軟正黑體" panose="020B0604030504040204" pitchFamily="34" charset="-120"/>
                <a:ea typeface="微軟正黑體" panose="020B0604030504040204" pitchFamily="34" charset="-120"/>
              </a:rPr>
              <a:t>檢視年齡是否為干擾因子</a:t>
            </a:r>
            <a:r>
              <a:rPr lang="en-US" altLang="zh-TW" dirty="0">
                <a:latin typeface="微軟正黑體" panose="020B0604030504040204" pitchFamily="34" charset="-120"/>
                <a:ea typeface="微軟正黑體" panose="020B0604030504040204" pitchFamily="34" charset="-120"/>
              </a:rPr>
              <a:t>:</a:t>
            </a:r>
          </a:p>
          <a:p>
            <a:pPr>
              <a:lnSpc>
                <a:spcPct val="150000"/>
              </a:lnSpc>
            </a:pPr>
            <a:r>
              <a:rPr lang="zh-TW" altLang="zh-TW" dirty="0">
                <a:latin typeface="微軟正黑體" panose="020B0604030504040204" pitchFamily="34" charset="-120"/>
                <a:ea typeface="微軟正黑體" panose="020B0604030504040204" pitchFamily="34" charset="-120"/>
              </a:rPr>
              <a:t>以點選方式選用路徑</a:t>
            </a:r>
            <a:r>
              <a:rPr lang="en-US" altLang="zh-TW" dirty="0">
                <a:latin typeface="微軟正黑體" panose="020B0604030504040204" pitchFamily="34" charset="-120"/>
                <a:ea typeface="微軟正黑體" panose="020B0604030504040204" pitchFamily="34" charset="-120"/>
              </a:rPr>
              <a:t>: </a:t>
            </a:r>
            <a:r>
              <a:rPr lang="en-US" altLang="zh-TW" b="1"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dirty="0">
                <a:latin typeface="微軟正黑體" panose="020B0604030504040204" pitchFamily="34" charset="-120"/>
                <a:ea typeface="微軟正黑體" panose="020B0604030504040204" pitchFamily="34" charset="-120"/>
              </a:rPr>
              <a:t>分析</a:t>
            </a:r>
            <a:r>
              <a:rPr lang="en-US" altLang="zh-TW" b="1" dirty="0">
                <a:latin typeface="微軟正黑體" panose="020B0604030504040204" pitchFamily="34" charset="-120"/>
                <a:ea typeface="微軟正黑體" panose="020B0604030504040204" pitchFamily="34" charset="-120"/>
                <a:sym typeface="Wingdings" panose="05000000000000000000" pitchFamily="2" charset="2"/>
              </a:rPr>
              <a:t></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迴歸</a:t>
            </a:r>
            <a:r>
              <a:rPr lang="en-US" altLang="zh-TW" b="1"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b="1" dirty="0">
                <a:latin typeface="微軟正黑體" panose="020B0604030504040204" pitchFamily="34" charset="-120"/>
                <a:ea typeface="微軟正黑體" panose="020B0604030504040204" pitchFamily="34" charset="-120"/>
                <a:sym typeface="Wingdings" panose="05000000000000000000" pitchFamily="2" charset="2"/>
              </a:rPr>
              <a:t>線性</a:t>
            </a:r>
            <a:r>
              <a:rPr lang="zh-TW" altLang="zh-TW"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選擇依變數</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腰圍</a:t>
            </a:r>
            <a:r>
              <a:rPr lang="zh-TW" altLang="zh-TW" dirty="0">
                <a:latin typeface="微軟正黑體" panose="020B0604030504040204" pitchFamily="34" charset="-120"/>
                <a:ea typeface="微軟正黑體" panose="020B0604030504040204" pitchFamily="34" charset="-120"/>
              </a:rPr>
              <a:t>； 自變數</a:t>
            </a:r>
            <a:r>
              <a:rPr lang="en-US" altLang="zh-TW" dirty="0">
                <a:latin typeface="微軟正黑體" panose="020B0604030504040204" pitchFamily="34" charset="-120"/>
                <a:ea typeface="微軟正黑體" panose="020B0604030504040204" pitchFamily="34" charset="-120"/>
              </a:rPr>
              <a:t>: </a:t>
            </a:r>
            <a:r>
              <a:rPr lang="zh-TW" altLang="zh-TW" dirty="0">
                <a:latin typeface="微軟正黑體" panose="020B0604030504040204" pitchFamily="34" charset="-120"/>
                <a:ea typeface="微軟正黑體" panose="020B0604030504040204" pitchFamily="34" charset="-120"/>
              </a:rPr>
              <a:t>抽菸量，年齡</a:t>
            </a:r>
            <a:r>
              <a:rPr lang="zh-TW" altLang="en-US" dirty="0">
                <a:latin typeface="微軟正黑體" panose="020B0604030504040204" pitchFamily="34" charset="-120"/>
                <a:ea typeface="微軟正黑體" panose="020B0604030504040204" pitchFamily="34" charset="-120"/>
              </a:rPr>
              <a:t>分組</a:t>
            </a:r>
            <a:r>
              <a:rPr lang="zh-TW" altLang="zh-TW" dirty="0">
                <a:latin typeface="微軟正黑體" panose="020B0604030504040204" pitchFamily="34" charset="-120"/>
                <a:ea typeface="微軟正黑體" panose="020B0604030504040204" pitchFamily="34" charset="-120"/>
              </a:rPr>
              <a:t> </a:t>
            </a:r>
            <a:r>
              <a:rPr lang="en-US" altLang="zh-TW" b="1"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b="1" dirty="0">
                <a:latin typeface="微軟正黑體" panose="020B0604030504040204" pitchFamily="34" charset="-120"/>
                <a:ea typeface="微軟正黑體" panose="020B0604030504040204" pitchFamily="34" charset="-120"/>
              </a:rPr>
              <a:t>開始分析“</a:t>
            </a:r>
            <a:endParaRPr lang="en-US" altLang="zh-TW" b="1" dirty="0">
              <a:latin typeface="微軟正黑體" panose="020B0604030504040204" pitchFamily="34" charset="-120"/>
              <a:ea typeface="微軟正黑體" panose="020B0604030504040204" pitchFamily="34" charset="-120"/>
            </a:endParaRPr>
          </a:p>
          <a:p>
            <a:pPr>
              <a:lnSpc>
                <a:spcPct val="150000"/>
              </a:lnSpc>
            </a:pPr>
            <a:endParaRPr lang="en-US" altLang="zh-TW" dirty="0">
              <a:latin typeface="微軟正黑體" panose="020B0604030504040204" pitchFamily="34" charset="-120"/>
              <a:ea typeface="微軟正黑體" panose="020B0604030504040204" pitchFamily="34" charset="-120"/>
            </a:endParaRPr>
          </a:p>
          <a:p>
            <a:pPr marL="109728" indent="0" algn="ctr">
              <a:lnSpc>
                <a:spcPct val="150000"/>
              </a:lnSpc>
              <a:buNone/>
            </a:pPr>
            <a:r>
              <a:rPr lang="zh-TW" altLang="zh-TW" dirty="0">
                <a:latin typeface="微軟正黑體" panose="020B0604030504040204" pitchFamily="34" charset="-120"/>
                <a:ea typeface="微軟正黑體" panose="020B0604030504040204" pitchFamily="34" charset="-120"/>
              </a:rPr>
              <a:t>調整年齡後抽菸量對心血管疾病的影響</a:t>
            </a:r>
            <a:endParaRPr lang="en-US" altLang="zh-TW" dirty="0">
              <a:latin typeface="微軟正黑體" panose="020B0604030504040204" pitchFamily="34" charset="-120"/>
              <a:ea typeface="微軟正黑體" panose="020B0604030504040204" pitchFamily="34" charset="-120"/>
            </a:endParaRPr>
          </a:p>
          <a:p>
            <a:pPr marL="109728" indent="0" algn="ctr">
              <a:lnSpc>
                <a:spcPct val="150000"/>
              </a:lnSpc>
              <a:buNone/>
            </a:pPr>
            <a:endParaRPr lang="en-US" altLang="zh-TW" dirty="0">
              <a:latin typeface="微軟正黑體" panose="020B0604030504040204" pitchFamily="34" charset="-120"/>
              <a:ea typeface="微軟正黑體" panose="020B0604030504040204" pitchFamily="34" charset="-120"/>
            </a:endParaRPr>
          </a:p>
          <a:p>
            <a:pPr marL="109728" indent="0" algn="ctr">
              <a:lnSpc>
                <a:spcPct val="150000"/>
              </a:lnSpc>
              <a:buNone/>
            </a:pPr>
            <a:endParaRPr lang="en-US" altLang="zh-TW" dirty="0">
              <a:latin typeface="微軟正黑體" panose="020B0604030504040204" pitchFamily="34" charset="-120"/>
              <a:ea typeface="微軟正黑體" panose="020B0604030504040204" pitchFamily="34" charset="-120"/>
            </a:endParaRPr>
          </a:p>
          <a:p>
            <a:pPr marL="109728" indent="0" algn="ctr">
              <a:lnSpc>
                <a:spcPct val="150000"/>
              </a:lnSpc>
              <a:buNone/>
            </a:pPr>
            <a:endParaRPr lang="en-US" altLang="zh-TW" dirty="0">
              <a:latin typeface="微軟正黑體" panose="020B0604030504040204" pitchFamily="34" charset="-120"/>
              <a:ea typeface="微軟正黑體" panose="020B0604030504040204" pitchFamily="34" charset="-120"/>
            </a:endParaRPr>
          </a:p>
          <a:p>
            <a:pPr marL="109728" indent="0">
              <a:lnSpc>
                <a:spcPct val="150000"/>
              </a:lnSpc>
              <a:buNone/>
            </a:pPr>
            <a:r>
              <a:rPr lang="zh-TW" altLang="en-US" dirty="0">
                <a:latin typeface="微軟正黑體" panose="020B0604030504040204" pitchFamily="34" charset="-120"/>
                <a:ea typeface="微軟正黑體" panose="020B0604030504040204" pitchFamily="34" charset="-120"/>
              </a:rPr>
              <a:t>報表</a:t>
            </a:r>
            <a:r>
              <a:rPr lang="zh-TW" altLang="zh-TW" dirty="0">
                <a:latin typeface="微軟正黑體" panose="020B0604030504040204" pitchFamily="34" charset="-120"/>
                <a:ea typeface="微軟正黑體" panose="020B0604030504040204" pitchFamily="34" charset="-120"/>
              </a:rPr>
              <a:t>結果顯示：年齡及抽菸量都是心血管疾病的風險因子；他們的</a:t>
            </a:r>
            <a:r>
              <a:rPr lang="zh-TW" altLang="en-US" dirty="0">
                <a:latin typeface="微軟正黑體" panose="020B0604030504040204" pitchFamily="34" charset="-120"/>
                <a:ea typeface="微軟正黑體" panose="020B0604030504040204" pitchFamily="34" charset="-120"/>
              </a:rPr>
              <a:t>估計值分別為</a:t>
            </a:r>
            <a:r>
              <a:rPr lang="en-US" altLang="zh-TW" dirty="0">
                <a:latin typeface="微軟正黑體" panose="020B0604030504040204" pitchFamily="34" charset="-120"/>
                <a:ea typeface="微軟正黑體" panose="020B0604030504040204" pitchFamily="34" charset="-120"/>
              </a:rPr>
              <a:t>0.235</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0.286</a:t>
            </a:r>
            <a:r>
              <a:rPr lang="zh-TW" altLang="en-US" dirty="0">
                <a:latin typeface="微軟正黑體" panose="020B0604030504040204" pitchFamily="34" charset="-120"/>
                <a:ea typeface="微軟正黑體" panose="020B0604030504040204" pitchFamily="34" charset="-120"/>
              </a:rPr>
              <a:t>。</a:t>
            </a:r>
          </a:p>
        </p:txBody>
      </p:sp>
      <p:sp>
        <p:nvSpPr>
          <p:cNvPr id="3" name="投影片編號版面配置區 2"/>
          <p:cNvSpPr>
            <a:spLocks noGrp="1"/>
          </p:cNvSpPr>
          <p:nvPr>
            <p:ph type="sldNum" sz="quarter" idx="12"/>
          </p:nvPr>
        </p:nvSpPr>
        <p:spPr/>
        <p:txBody>
          <a:bodyPr/>
          <a:lstStyle/>
          <a:p>
            <a:fld id="{C68121D2-9246-4B52-9877-10E6A7AF0C69}" type="slidenum">
              <a:rPr lang="zh-TW" altLang="en-US" smtClean="0"/>
              <a:pPr/>
              <a:t>17</a:t>
            </a:fld>
            <a:endParaRPr lang="zh-TW" altLang="en-US"/>
          </a:p>
        </p:txBody>
      </p:sp>
      <p:pic>
        <p:nvPicPr>
          <p:cNvPr id="6" name="圖片 5" descr="一張含有 文字, 螢幕擷取畫面, 字型, 數字 的圖片&#10;&#10;自動產生的描述">
            <a:extLst>
              <a:ext uri="{FF2B5EF4-FFF2-40B4-BE49-F238E27FC236}">
                <a16:creationId xmlns:a16="http://schemas.microsoft.com/office/drawing/2014/main" id="{1E70A944-9E54-E6C3-8432-5FF4DA96F0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7575" y="3068960"/>
            <a:ext cx="4648849" cy="1448002"/>
          </a:xfrm>
          <a:prstGeom prst="rect">
            <a:avLst/>
          </a:prstGeom>
        </p:spPr>
      </p:pic>
    </p:spTree>
    <p:extLst>
      <p:ext uri="{BB962C8B-B14F-4D97-AF65-F5344CB8AC3E}">
        <p14:creationId xmlns:p14="http://schemas.microsoft.com/office/powerpoint/2010/main" val="17848272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457200" y="1988840"/>
            <a:ext cx="8229600" cy="5602627"/>
          </a:xfrm>
        </p:spPr>
        <p:txBody>
          <a:bodyPr/>
          <a:lstStyle/>
          <a:p>
            <a:pPr>
              <a:lnSpc>
                <a:spcPct val="150000"/>
              </a:lnSpc>
            </a:pPr>
            <a:r>
              <a:rPr lang="zh-TW" altLang="zh-TW" dirty="0">
                <a:latin typeface="微軟正黑體" panose="020B0604030504040204" pitchFamily="34" charset="-120"/>
                <a:ea typeface="微軟正黑體" panose="020B0604030504040204" pitchFamily="34" charset="-120"/>
              </a:rPr>
              <a:t>調整年齡後的</a:t>
            </a:r>
            <a:r>
              <a:rPr lang="zh-TW" altLang="en-US" dirty="0">
                <a:latin typeface="微軟正黑體" panose="020B0604030504040204" pitchFamily="34" charset="-120"/>
                <a:ea typeface="微軟正黑體" panose="020B0604030504040204" pitchFamily="34" charset="-120"/>
              </a:rPr>
              <a:t>估計值</a:t>
            </a:r>
            <a:r>
              <a:rPr lang="zh-TW" altLang="zh-TW" dirty="0">
                <a:latin typeface="微軟正黑體" panose="020B0604030504040204" pitchFamily="34" charset="-120"/>
                <a:ea typeface="微軟正黑體" panose="020B0604030504040204" pitchFamily="34" charset="-120"/>
              </a:rPr>
              <a:t>和未調整的</a:t>
            </a:r>
            <a:r>
              <a:rPr lang="zh-TW" altLang="en-US" dirty="0">
                <a:latin typeface="微軟正黑體" panose="020B0604030504040204" pitchFamily="34" charset="-120"/>
                <a:ea typeface="微軟正黑體" panose="020B0604030504040204" pitchFamily="34" charset="-120"/>
              </a:rPr>
              <a:t>估計值</a:t>
            </a:r>
            <a:r>
              <a:rPr lang="zh-TW" altLang="zh-TW" dirty="0">
                <a:latin typeface="微軟正黑體" panose="020B0604030504040204" pitchFamily="34" charset="-120"/>
                <a:ea typeface="微軟正黑體" panose="020B0604030504040204" pitchFamily="34" charset="-120"/>
              </a:rPr>
              <a:t>相較，顯示有</a:t>
            </a:r>
            <a:r>
              <a:rPr lang="zh-TW" altLang="en-US" dirty="0">
                <a:latin typeface="微軟正黑體" panose="020B0604030504040204" pitchFamily="34" charset="-120"/>
                <a:ea typeface="微軟正黑體" panose="020B0604030504040204" pitchFamily="34" charset="-120"/>
              </a:rPr>
              <a:t>沒有</a:t>
            </a:r>
            <a:r>
              <a:rPr lang="zh-TW" altLang="zh-TW" dirty="0">
                <a:latin typeface="微軟正黑體" panose="020B0604030504040204" pitchFamily="34" charset="-120"/>
                <a:ea typeface="微軟正黑體" panose="020B0604030504040204" pitchFamily="34" charset="-120"/>
              </a:rPr>
              <a:t>落差；在高或低年齡層中，高抽菸量的人相對於低抽菸量的人</a:t>
            </a:r>
            <a:r>
              <a:rPr lang="zh-TW" altLang="en-US" dirty="0">
                <a:latin typeface="微軟正黑體" panose="020B0604030504040204" pitchFamily="34" charset="-120"/>
                <a:ea typeface="微軟正黑體" panose="020B0604030504040204" pitchFamily="34" charset="-120"/>
              </a:rPr>
              <a:t>在腰圍的數值上並沒有較</a:t>
            </a:r>
            <a:r>
              <a:rPr lang="zh-TW" altLang="zh-TW" dirty="0">
                <a:latin typeface="微軟正黑體" panose="020B0604030504040204" pitchFamily="34" charset="-120"/>
                <a:ea typeface="微軟正黑體" panose="020B0604030504040204" pitchFamily="34" charset="-120"/>
              </a:rPr>
              <a:t>高</a:t>
            </a:r>
            <a:r>
              <a:rPr lang="zh-TW" altLang="en-US" dirty="0">
                <a:latin typeface="微軟正黑體" panose="020B0604030504040204" pitchFamily="34" charset="-120"/>
                <a:ea typeface="微軟正黑體" panose="020B0604030504040204" pitchFamily="34" charset="-120"/>
              </a:rPr>
              <a:t>或較低。</a:t>
            </a:r>
            <a:endParaRPr lang="en-US" altLang="zh-TW" dirty="0">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C68121D2-9246-4B52-9877-10E6A7AF0C69}" type="slidenum">
              <a:rPr lang="zh-TW" altLang="en-US" smtClean="0"/>
              <a:pPr/>
              <a:t>18</a:t>
            </a:fld>
            <a:endParaRPr lang="zh-TW" altLang="en-US"/>
          </a:p>
        </p:txBody>
      </p:sp>
    </p:spTree>
    <p:extLst>
      <p:ext uri="{BB962C8B-B14F-4D97-AF65-F5344CB8AC3E}">
        <p14:creationId xmlns:p14="http://schemas.microsoft.com/office/powerpoint/2010/main" val="2644287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564771" y="836712"/>
            <a:ext cx="8229600" cy="778098"/>
          </a:xfrm>
        </p:spPr>
        <p:txBody>
          <a:bodyPr/>
          <a:lstStyle/>
          <a:p>
            <a:r>
              <a:rPr lang="zh-TW" altLang="zh-TW" dirty="0">
                <a:effectLst/>
                <a:latin typeface="微軟正黑體" panose="020B0604030504040204" pitchFamily="34" charset="-120"/>
                <a:ea typeface="微軟正黑體" panose="020B0604030504040204" pitchFamily="34" charset="-120"/>
              </a:rPr>
              <a:t>多變項迴歸模型中的交互作用</a:t>
            </a:r>
            <a:endParaRPr lang="zh-TW" altLang="en-US" dirty="0">
              <a:latin typeface="微軟正黑體" panose="020B0604030504040204" pitchFamily="34" charset="-120"/>
              <a:ea typeface="微軟正黑體" panose="020B0604030504040204" pitchFamily="34" charset="-120"/>
            </a:endParaRPr>
          </a:p>
        </p:txBody>
      </p:sp>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539552" y="2060848"/>
                <a:ext cx="8229600" cy="4954555"/>
              </a:xfrm>
            </p:spPr>
            <p:txBody>
              <a:bodyPr>
                <a:normAutofit/>
              </a:bodyPr>
              <a:lstStyle/>
              <a:p>
                <a:pPr>
                  <a:lnSpc>
                    <a:spcPct val="150000"/>
                  </a:lnSpc>
                </a:pPr>
                <a:r>
                  <a:rPr lang="zh-TW" altLang="zh-TW" dirty="0">
                    <a:latin typeface="微軟正黑體" panose="020B0604030504040204" pitchFamily="34" charset="-120"/>
                    <a:ea typeface="微軟正黑體" panose="020B0604030504040204" pitchFamily="34" charset="-120"/>
                  </a:rPr>
                  <a:t>迴歸模型的結果顯示不論在何種年齡層下，抽菸對心血管疾病的效應是固定，不會隨著年齡層的不同而有差異。但是這種作法有時和臨床的觀察有時會有相當程度的落差。</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臨床研究經常發現</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1</m:t>
                        </m:r>
                      </m:sub>
                    </m:sSub>
                  </m:oMath>
                </a14:m>
                <a:r>
                  <a:rPr lang="zh-TW" altLang="zh-TW" dirty="0">
                    <a:latin typeface="微軟正黑體" panose="020B0604030504040204" pitchFamily="34" charset="-120"/>
                    <a:ea typeface="微軟正黑體" panose="020B0604030504040204" pitchFamily="34" charset="-120"/>
                  </a:rPr>
                  <a:t>因子對疾病發生的效應會隨著</a:t>
                </a:r>
                <a14:m>
                  <m:oMath xmlns:m="http://schemas.openxmlformats.org/officeDocument/2006/math">
                    <m:sSub>
                      <m:sSubPr>
                        <m:ctrlPr>
                          <a:rPr lang="en-US" altLang="zh-TW" i="1">
                            <a:latin typeface="+mn-lt"/>
                          </a:rPr>
                        </m:ctrlPr>
                      </m:sSubPr>
                      <m:e>
                        <m:r>
                          <a:rPr lang="en-US" altLang="zh-TW" i="1">
                            <a:latin typeface="+mn-lt"/>
                          </a:rPr>
                          <m:t>𝑥</m:t>
                        </m:r>
                      </m:e>
                      <m:sub>
                        <m:r>
                          <a:rPr lang="en-US" altLang="zh-TW" b="0" i="1" smtClean="0">
                            <a:latin typeface="+mn-lt"/>
                          </a:rPr>
                          <m:t>2</m:t>
                        </m:r>
                      </m:sub>
                    </m:sSub>
                  </m:oMath>
                </a14:m>
                <a:r>
                  <a:rPr lang="zh-TW" altLang="zh-TW" dirty="0">
                    <a:latin typeface="微軟正黑體" panose="020B0604030504040204" pitchFamily="34" charset="-120"/>
                    <a:ea typeface="微軟正黑體" panose="020B0604030504040204" pitchFamily="34" charset="-120"/>
                  </a:rPr>
                  <a:t>（例如年齡） 值的變化而變化。這時候我們就說因子</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2</m:t>
                        </m:r>
                      </m:sub>
                    </m:sSub>
                  </m:oMath>
                </a14:m>
                <a:r>
                  <a:rPr lang="zh-TW" altLang="zh-TW" dirty="0">
                    <a:latin typeface="微軟正黑體" panose="020B0604030504040204" pitchFamily="34" charset="-120"/>
                    <a:ea typeface="微軟正黑體" panose="020B0604030504040204" pitchFamily="34" charset="-120"/>
                  </a:rPr>
                  <a:t>的值會修改（</a:t>
                </a:r>
                <a:r>
                  <a:rPr lang="en-US" altLang="zh-TW" dirty="0">
                    <a:latin typeface="微軟正黑體" panose="020B0604030504040204" pitchFamily="34" charset="-120"/>
                    <a:ea typeface="微軟正黑體" panose="020B0604030504040204" pitchFamily="34" charset="-120"/>
                  </a:rPr>
                  <a:t>modify</a:t>
                </a:r>
                <a:r>
                  <a:rPr lang="zh-TW" altLang="zh-TW"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1</m:t>
                        </m:r>
                      </m:sub>
                    </m:sSub>
                  </m:oMath>
                </a14:m>
                <a:r>
                  <a:rPr lang="zh-TW" altLang="zh-TW" dirty="0">
                    <a:latin typeface="微軟正黑體" panose="020B0604030504040204" pitchFamily="34" charset="-120"/>
                    <a:ea typeface="微軟正黑體" panose="020B0604030504040204" pitchFamily="34" charset="-120"/>
                  </a:rPr>
                  <a:t>因子影響疾病發生的效應。處理這種情形，使用前面的迴歸模型就顯得不適當。</a:t>
                </a:r>
                <a:endParaRPr lang="zh-TW" altLang="en-US"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539552" y="2060848"/>
                <a:ext cx="8229600" cy="4954555"/>
              </a:xfrm>
              <a:blipFill>
                <a:blip r:embed="rId2"/>
                <a:stretch>
                  <a:fillRect l="-815" r="-1852"/>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C68121D2-9246-4B52-9877-10E6A7AF0C69}" type="slidenum">
              <a:rPr lang="zh-TW" altLang="en-US" smtClean="0"/>
              <a:pPr/>
              <a:t>19</a:t>
            </a:fld>
            <a:endParaRPr lang="zh-TW" altLang="en-US"/>
          </a:p>
        </p:txBody>
      </p:sp>
    </p:spTree>
    <p:extLst>
      <p:ext uri="{BB962C8B-B14F-4D97-AF65-F5344CB8AC3E}">
        <p14:creationId xmlns:p14="http://schemas.microsoft.com/office/powerpoint/2010/main" val="36261717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251520" y="454576"/>
                <a:ext cx="8435280" cy="6214784"/>
              </a:xfrm>
            </p:spPr>
            <p:txBody>
              <a:bodyPr>
                <a:noAutofit/>
              </a:bodyPr>
              <a:lstStyle/>
              <a:p>
                <a:pPr>
                  <a:lnSpc>
                    <a:spcPct val="150000"/>
                  </a:lnSpc>
                </a:pPr>
                <a:r>
                  <a:rPr lang="zh-TW" altLang="zh-TW" dirty="0">
                    <a:latin typeface="微軟正黑體" panose="020B0604030504040204" pitchFamily="34" charset="-120"/>
                    <a:ea typeface="微軟正黑體" panose="020B0604030504040204" pitchFamily="34" charset="-120"/>
                  </a:rPr>
                  <a:t>簡單又經常被使用的迴歸模型是：</a:t>
                </a:r>
                <a:endParaRPr lang="en-US" altLang="zh-TW" dirty="0">
                  <a:latin typeface="微軟正黑體" panose="020B0604030504040204" pitchFamily="34" charset="-120"/>
                  <a:ea typeface="微軟正黑體" panose="020B0604030504040204" pitchFamily="34" charset="-120"/>
                </a:endParaRPr>
              </a:p>
              <a:p>
                <a:pPr marL="109728" indent="0" algn="ctr">
                  <a:lnSpc>
                    <a:spcPct val="150000"/>
                  </a:lnSpc>
                  <a:buNone/>
                </a:pPr>
                <a14:m>
                  <m:oMath xmlns:m="http://schemas.openxmlformats.org/officeDocument/2006/math">
                    <m:r>
                      <m:rPr>
                        <m:sty m:val="p"/>
                      </m:rPr>
                      <a:rPr lang="en-US" altLang="zh-TW" b="0" i="0" smtClean="0">
                        <a:latin typeface="+mn-lt"/>
                      </a:rPr>
                      <m:t>y</m:t>
                    </m:r>
                    <m:r>
                      <a:rPr lang="en-US" altLang="zh-TW" b="0" i="0" smtClean="0">
                        <a:latin typeface="+mn-lt"/>
                      </a:rPr>
                      <m:t>=</m:t>
                    </m:r>
                    <m:sSub>
                      <m:sSubPr>
                        <m:ctrlPr>
                          <a:rPr lang="en-US" altLang="zh-TW" i="1">
                            <a:latin typeface="+mn-lt"/>
                          </a:rPr>
                        </m:ctrlPr>
                      </m:sSubPr>
                      <m:e>
                        <m:r>
                          <a:rPr lang="zh-TW" altLang="en-US" i="1">
                            <a:latin typeface="+mn-lt"/>
                          </a:rPr>
                          <m:t>𝛽</m:t>
                        </m:r>
                      </m:e>
                      <m:sub>
                        <m:r>
                          <a:rPr lang="en-US" altLang="zh-TW" i="1">
                            <a:latin typeface="+mn-lt"/>
                          </a:rPr>
                          <m:t>0</m:t>
                        </m:r>
                      </m:sub>
                    </m:sSub>
                    <m:r>
                      <a:rPr lang="en-US" altLang="zh-TW" i="1">
                        <a:latin typeface="+mn-lt"/>
                      </a:rPr>
                      <m:t>+</m:t>
                    </m:r>
                    <m:sSub>
                      <m:sSubPr>
                        <m:ctrlPr>
                          <a:rPr lang="en-US" altLang="zh-TW" i="1">
                            <a:latin typeface="+mn-lt"/>
                          </a:rPr>
                        </m:ctrlPr>
                      </m:sSubPr>
                      <m:e>
                        <m:r>
                          <a:rPr lang="zh-TW" altLang="en-US" i="1">
                            <a:latin typeface="+mn-lt"/>
                          </a:rPr>
                          <m:t>𝛽</m:t>
                        </m:r>
                      </m:e>
                      <m:sub>
                        <m:r>
                          <a:rPr lang="en-US" altLang="zh-TW" i="1">
                            <a:latin typeface="+mn-lt"/>
                          </a:rPr>
                          <m:t>1</m:t>
                        </m:r>
                      </m:sub>
                    </m:sSub>
                    <m:sSub>
                      <m:sSubPr>
                        <m:ctrlPr>
                          <a:rPr lang="en-US" altLang="zh-TW" i="1">
                            <a:latin typeface="+mn-lt"/>
                          </a:rPr>
                        </m:ctrlPr>
                      </m:sSubPr>
                      <m:e>
                        <m:r>
                          <a:rPr lang="en-US" altLang="zh-TW" i="1">
                            <a:latin typeface="+mn-lt"/>
                          </a:rPr>
                          <m:t>𝑥</m:t>
                        </m:r>
                      </m:e>
                      <m:sub>
                        <m:r>
                          <a:rPr lang="en-US" altLang="zh-TW" i="1">
                            <a:latin typeface="+mn-lt"/>
                          </a:rPr>
                          <m:t>1</m:t>
                        </m:r>
                      </m:sub>
                    </m:sSub>
                  </m:oMath>
                </a14:m>
                <a:r>
                  <a:rPr lang="en-US" altLang="zh-TW"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i="1">
                            <a:latin typeface="+mn-lt"/>
                          </a:rPr>
                        </m:ctrlPr>
                      </m:sSubPr>
                      <m:e>
                        <m:r>
                          <a:rPr lang="zh-TW" altLang="en-US" i="1">
                            <a:latin typeface="+mn-lt"/>
                          </a:rPr>
                          <m:t>𝛽</m:t>
                        </m:r>
                      </m:e>
                      <m:sub>
                        <m:r>
                          <a:rPr lang="en-US" altLang="zh-TW" i="1">
                            <a:latin typeface="+mn-lt"/>
                          </a:rPr>
                          <m:t>2</m:t>
                        </m:r>
                      </m:sub>
                    </m:sSub>
                    <m:sSub>
                      <m:sSubPr>
                        <m:ctrlPr>
                          <a:rPr lang="en-US" altLang="zh-TW" i="1">
                            <a:latin typeface="+mn-lt"/>
                          </a:rPr>
                        </m:ctrlPr>
                      </m:sSubPr>
                      <m:e>
                        <m:r>
                          <a:rPr lang="en-US" altLang="zh-TW" i="1">
                            <a:latin typeface="+mn-lt"/>
                          </a:rPr>
                          <m:t>𝑥</m:t>
                        </m:r>
                      </m:e>
                      <m:sub>
                        <m:r>
                          <a:rPr lang="en-US" altLang="zh-TW" i="1">
                            <a:latin typeface="+mn-lt"/>
                          </a:rPr>
                          <m:t>2</m:t>
                        </m:r>
                      </m:sub>
                    </m:sSub>
                  </m:oMath>
                </a14:m>
                <a:r>
                  <a:rPr lang="en-US" altLang="zh-TW"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i="1">
                            <a:latin typeface="+mn-lt"/>
                          </a:rPr>
                        </m:ctrlPr>
                      </m:sSubPr>
                      <m:e>
                        <m:r>
                          <a:rPr lang="zh-TW" altLang="en-US" i="1">
                            <a:latin typeface="+mn-lt"/>
                          </a:rPr>
                          <m:t>𝛽</m:t>
                        </m:r>
                      </m:e>
                      <m:sub>
                        <m:r>
                          <a:rPr lang="en-US" altLang="zh-TW" b="0" i="1" smtClean="0">
                            <a:latin typeface="+mn-lt"/>
                          </a:rPr>
                          <m:t>3</m:t>
                        </m:r>
                      </m:sub>
                    </m:sSub>
                    <m:sSub>
                      <m:sSubPr>
                        <m:ctrlPr>
                          <a:rPr lang="en-US" altLang="zh-TW" i="1">
                            <a:latin typeface="+mn-lt"/>
                          </a:rPr>
                        </m:ctrlPr>
                      </m:sSubPr>
                      <m:e>
                        <m:r>
                          <a:rPr lang="en-US" altLang="zh-TW" i="1">
                            <a:latin typeface="+mn-lt"/>
                          </a:rPr>
                          <m:t>𝑥</m:t>
                        </m:r>
                      </m:e>
                      <m:sub>
                        <m:r>
                          <a:rPr lang="en-US" altLang="zh-TW" b="0" i="1" smtClean="0">
                            <a:latin typeface="+mn-lt"/>
                          </a:rPr>
                          <m:t>3</m:t>
                        </m:r>
                      </m:sub>
                    </m:sSub>
                  </m:oMath>
                </a14:m>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109728" indent="0">
                  <a:lnSpc>
                    <a:spcPct val="150000"/>
                  </a:lnSpc>
                  <a:buNone/>
                </a:pPr>
                <a:r>
                  <a:rPr lang="zh-TW" altLang="zh-TW" dirty="0">
                    <a:latin typeface="微軟正黑體" panose="020B0604030504040204" pitchFamily="34" charset="-120"/>
                    <a:ea typeface="微軟正黑體" panose="020B0604030504040204" pitchFamily="34" charset="-120"/>
                  </a:rPr>
                  <a:t>其中</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3</m:t>
                        </m:r>
                      </m:sub>
                    </m:sSub>
                    <m:r>
                      <a:rPr lang="en-US" altLang="zh-TW" b="0" i="1" smtClean="0">
                        <a:latin typeface="+mn-lt"/>
                      </a:rPr>
                      <m:t>=</m:t>
                    </m:r>
                    <m:sSub>
                      <m:sSubPr>
                        <m:ctrlPr>
                          <a:rPr lang="en-US" altLang="zh-TW" i="1">
                            <a:latin typeface="+mn-lt"/>
                          </a:rPr>
                        </m:ctrlPr>
                      </m:sSubPr>
                      <m:e>
                        <m:r>
                          <a:rPr lang="en-US" altLang="zh-TW" i="1">
                            <a:latin typeface="+mn-lt"/>
                          </a:rPr>
                          <m:t>𝑥</m:t>
                        </m:r>
                      </m:e>
                      <m:sub>
                        <m:r>
                          <a:rPr lang="en-US" altLang="zh-TW" i="1">
                            <a:latin typeface="+mn-lt"/>
                          </a:rPr>
                          <m:t>1</m:t>
                        </m:r>
                      </m:sub>
                    </m:sSub>
                    <m:r>
                      <a:rPr lang="en-US" altLang="zh-TW" i="1" smtClean="0">
                        <a:latin typeface="+mn-lt"/>
                        <a:ea typeface="Cambria Math" panose="02040503050406030204" pitchFamily="18" charset="0"/>
                      </a:rPr>
                      <m:t>×</m:t>
                    </m:r>
                    <m:sSub>
                      <m:sSubPr>
                        <m:ctrlPr>
                          <a:rPr lang="en-US" altLang="zh-TW" i="1">
                            <a:latin typeface="+mn-lt"/>
                          </a:rPr>
                        </m:ctrlPr>
                      </m:sSubPr>
                      <m:e>
                        <m:r>
                          <a:rPr lang="en-US" altLang="zh-TW" i="1">
                            <a:latin typeface="+mn-lt"/>
                          </a:rPr>
                          <m:t>𝑥</m:t>
                        </m:r>
                      </m:e>
                      <m:sub>
                        <m:r>
                          <a:rPr lang="en-US" altLang="zh-TW" i="1">
                            <a:latin typeface="+mn-lt"/>
                          </a:rPr>
                          <m:t>2</m:t>
                        </m:r>
                      </m:sub>
                    </m:sSub>
                  </m:oMath>
                </a14:m>
                <a:r>
                  <a:rPr lang="zh-TW" altLang="en-US"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i="1">
                            <a:latin typeface="+mn-lt"/>
                          </a:rPr>
                        </m:ctrlPr>
                      </m:sSubPr>
                      <m:e>
                        <m:r>
                          <a:rPr lang="zh-TW" altLang="en-US" i="1">
                            <a:latin typeface="+mn-lt"/>
                          </a:rPr>
                          <m:t>𝛽</m:t>
                        </m:r>
                      </m:e>
                      <m:sub>
                        <m:r>
                          <a:rPr lang="en-US" altLang="zh-TW" i="1">
                            <a:latin typeface="+mn-lt"/>
                          </a:rPr>
                          <m:t>3</m:t>
                        </m:r>
                      </m:sub>
                    </m:sSub>
                  </m:oMath>
                </a14:m>
                <a:r>
                  <a:rPr lang="zh-TW" altLang="zh-TW" dirty="0">
                    <a:latin typeface="微軟正黑體" panose="020B0604030504040204" pitchFamily="34" charset="-120"/>
                    <a:ea typeface="微軟正黑體" panose="020B0604030504040204" pitchFamily="34" charset="-120"/>
                  </a:rPr>
                  <a:t>稱為因子</a:t>
                </a:r>
                <a14:m>
                  <m:oMath xmlns:m="http://schemas.openxmlformats.org/officeDocument/2006/math">
                    <m:sSub>
                      <m:sSubPr>
                        <m:ctrlPr>
                          <a:rPr lang="en-US" altLang="zh-TW" i="1">
                            <a:latin typeface="+mn-lt"/>
                          </a:rPr>
                        </m:ctrlPr>
                      </m:sSubPr>
                      <m:e>
                        <m:r>
                          <a:rPr lang="en-US" altLang="zh-TW">
                            <a:latin typeface="+mn-lt"/>
                          </a:rPr>
                          <m:t>𝑥</m:t>
                        </m:r>
                      </m:e>
                      <m:sub>
                        <m:r>
                          <a:rPr lang="en-US" altLang="zh-TW">
                            <a:latin typeface="+mn-lt"/>
                          </a:rPr>
                          <m:t>1</m:t>
                        </m:r>
                      </m:sub>
                    </m:sSub>
                    <m:r>
                      <a:rPr lang="zh-TW" altLang="en-US">
                        <a:latin typeface="+mn-lt"/>
                      </a:rPr>
                      <m:t>及</m:t>
                    </m:r>
                    <m:sSub>
                      <m:sSubPr>
                        <m:ctrlPr>
                          <a:rPr lang="en-US" altLang="zh-TW" i="1">
                            <a:latin typeface="+mn-lt"/>
                          </a:rPr>
                        </m:ctrlPr>
                      </m:sSubPr>
                      <m:e>
                        <m:r>
                          <a:rPr lang="en-US" altLang="zh-TW">
                            <a:latin typeface="+mn-lt"/>
                          </a:rPr>
                          <m:t>𝑥</m:t>
                        </m:r>
                      </m:e>
                      <m:sub>
                        <m:r>
                          <a:rPr lang="en-US" altLang="zh-TW">
                            <a:latin typeface="+mn-lt"/>
                          </a:rPr>
                          <m:t>2</m:t>
                        </m:r>
                      </m:sub>
                    </m:sSub>
                  </m:oMath>
                </a14:m>
                <a:r>
                  <a:rPr lang="zh-TW" altLang="zh-TW" dirty="0">
                    <a:latin typeface="微軟正黑體" panose="020B0604030504040204" pitchFamily="34" charset="-120"/>
                    <a:ea typeface="微軟正黑體" panose="020B0604030504040204" pitchFamily="34" charset="-120"/>
                  </a:rPr>
                  <a:t>交互作用的係數。</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en-US" dirty="0">
                    <a:latin typeface="微軟正黑體" panose="020B0604030504040204" pitchFamily="34" charset="-120"/>
                    <a:ea typeface="微軟正黑體" panose="020B0604030504040204" pitchFamily="34" charset="-120"/>
                  </a:rPr>
                  <a:t>以廻歸為例：</a:t>
                </a:r>
                <a:r>
                  <a:rPr lang="zh-TW" altLang="zh-TW" dirty="0">
                    <a:latin typeface="微軟正黑體" panose="020B0604030504040204" pitchFamily="34" charset="-120"/>
                    <a:ea typeface="微軟正黑體" panose="020B0604030504040204" pitchFamily="34" charset="-120"/>
                  </a:rPr>
                  <a:t>抽菸對心血管疾病的研究</a:t>
                </a:r>
                <a:r>
                  <a:rPr lang="zh-TW" altLang="en-US"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給定任何</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2</m:t>
                        </m:r>
                      </m:sub>
                    </m:sSub>
                  </m:oMath>
                </a14:m>
                <a:r>
                  <a:rPr lang="zh-TW" altLang="en-US" dirty="0">
                    <a:latin typeface="微軟正黑體" panose="020B0604030504040204" pitchFamily="34" charset="-120"/>
                    <a:ea typeface="微軟正黑體" panose="020B0604030504040204" pitchFamily="34" charset="-120"/>
                  </a:rPr>
                  <a:t>（年齡）的情況下，</a:t>
                </a:r>
                <a:endParaRPr lang="en-US" altLang="zh-TW" dirty="0">
                  <a:latin typeface="微軟正黑體" panose="020B0604030504040204" pitchFamily="34" charset="-120"/>
                  <a:ea typeface="微軟正黑體" panose="020B0604030504040204" pitchFamily="34" charset="-120"/>
                </a:endParaRPr>
              </a:p>
              <a:p>
                <a:pPr marL="109728" indent="0">
                  <a:lnSpc>
                    <a:spcPct val="120000"/>
                  </a:lnSpc>
                  <a:buNone/>
                </a:pPr>
                <a:r>
                  <a:rPr lang="en-US" altLang="zh-TW" dirty="0">
                    <a:latin typeface="微軟正黑體" panose="020B0604030504040204" pitchFamily="34" charset="-120"/>
                    <a:ea typeface="微軟正黑體" panose="020B0604030504040204" pitchFamily="34" charset="-120"/>
                  </a:rPr>
                  <a:t>  </a:t>
                </a:r>
                <a14:m>
                  <m:oMath xmlns:m="http://schemas.openxmlformats.org/officeDocument/2006/math">
                    <m:sSub>
                      <m:sSubPr>
                        <m:ctrlPr>
                          <a:rPr lang="en-US" altLang="zh-TW" i="1">
                            <a:latin typeface="+mn-lt"/>
                          </a:rPr>
                        </m:ctrlPr>
                      </m:sSubPr>
                      <m:e>
                        <m:r>
                          <a:rPr lang="en-US" altLang="zh-TW">
                            <a:latin typeface="+mn-lt"/>
                          </a:rPr>
                          <m:t>𝑥</m:t>
                        </m:r>
                      </m:e>
                      <m:sub>
                        <m:r>
                          <a:rPr lang="en-US" altLang="zh-TW">
                            <a:latin typeface="+mn-lt"/>
                          </a:rPr>
                          <m:t>1</m:t>
                        </m:r>
                      </m:sub>
                    </m:sSub>
                  </m:oMath>
                </a14:m>
                <a:r>
                  <a:rPr lang="zh-TW" altLang="en-US" dirty="0">
                    <a:latin typeface="微軟正黑體" panose="020B0604030504040204" pitchFamily="34" charset="-120"/>
                    <a:ea typeface="微軟正黑體" panose="020B0604030504040204" pitchFamily="34" charset="-120"/>
                  </a:rPr>
                  <a:t>＝１</a:t>
                </a:r>
                <a:r>
                  <a:rPr lang="zh-TW" altLang="zh-TW" dirty="0">
                    <a:latin typeface="微軟正黑體" panose="020B0604030504040204" pitchFamily="34" charset="-120"/>
                    <a:ea typeface="微軟正黑體" panose="020B0604030504040204" pitchFamily="34" charset="-120"/>
                  </a:rPr>
                  <a:t>（抽菸量</a:t>
                </a: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包</a:t>
                </a:r>
                <a:r>
                  <a:rPr lang="zh-TW" altLang="en-US" dirty="0">
                    <a:latin typeface="微軟正黑體" panose="020B0604030504040204" pitchFamily="34" charset="-120"/>
                    <a:ea typeface="微軟正黑體" panose="020B0604030504040204" pitchFamily="34" charset="-120"/>
                  </a:rPr>
                  <a:t>（含）</a:t>
                </a:r>
                <a:r>
                  <a:rPr lang="zh-TW" altLang="zh-TW" dirty="0">
                    <a:latin typeface="微軟正黑體" panose="020B0604030504040204" pitchFamily="34" charset="-120"/>
                    <a:ea typeface="微軟正黑體" panose="020B0604030504040204" pitchFamily="34" charset="-120"/>
                  </a:rPr>
                  <a:t>以上）</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109728" indent="0">
                  <a:lnSpc>
                    <a:spcPct val="120000"/>
                  </a:lnSpc>
                  <a:buNone/>
                </a:pPr>
                <a:r>
                  <a:rPr lang="en-US" altLang="zh-TW" dirty="0">
                    <a:latin typeface="微軟正黑體" panose="020B0604030504040204" pitchFamily="34" charset="-120"/>
                    <a:ea typeface="微軟正黑體" panose="020B0604030504040204" pitchFamily="34" charset="-120"/>
                  </a:rPr>
                  <a:t>                 </a:t>
                </a:r>
                <a14:m>
                  <m:oMath xmlns:m="http://schemas.openxmlformats.org/officeDocument/2006/math">
                    <m:r>
                      <m:rPr>
                        <m:sty m:val="p"/>
                      </m:rPr>
                      <a:rPr lang="en-US" altLang="zh-TW" b="0" i="0" smtClean="0">
                        <a:latin typeface="+mn-lt"/>
                      </a:rPr>
                      <m:t>y</m:t>
                    </m:r>
                    <m:r>
                      <a:rPr lang="en-US" altLang="zh-TW" b="0" i="0" smtClean="0">
                        <a:latin typeface="+mn-lt"/>
                      </a:rPr>
                      <m:t>=</m:t>
                    </m:r>
                    <m:sSub>
                      <m:sSubPr>
                        <m:ctrlPr>
                          <a:rPr lang="en-US" altLang="zh-TW" i="1">
                            <a:latin typeface="+mn-lt"/>
                          </a:rPr>
                        </m:ctrlPr>
                      </m:sSubPr>
                      <m:e>
                        <m:r>
                          <a:rPr lang="zh-TW" altLang="en-US" i="1">
                            <a:latin typeface="+mn-lt"/>
                          </a:rPr>
                          <m:t>𝛽</m:t>
                        </m:r>
                      </m:e>
                      <m:sub>
                        <m:r>
                          <a:rPr lang="en-US" altLang="zh-TW" i="1">
                            <a:latin typeface="+mn-lt"/>
                          </a:rPr>
                          <m:t>0</m:t>
                        </m:r>
                      </m:sub>
                    </m:sSub>
                    <m:r>
                      <a:rPr lang="en-US" altLang="zh-TW" i="1">
                        <a:latin typeface="+mn-lt"/>
                      </a:rPr>
                      <m:t>+</m:t>
                    </m:r>
                    <m:sSub>
                      <m:sSubPr>
                        <m:ctrlPr>
                          <a:rPr lang="en-US" altLang="zh-TW" i="1">
                            <a:latin typeface="+mn-lt"/>
                          </a:rPr>
                        </m:ctrlPr>
                      </m:sSubPr>
                      <m:e>
                        <m:r>
                          <a:rPr lang="zh-TW" altLang="en-US" i="1">
                            <a:latin typeface="+mn-lt"/>
                          </a:rPr>
                          <m:t>𝛽</m:t>
                        </m:r>
                      </m:e>
                      <m:sub>
                        <m:r>
                          <a:rPr lang="en-US" altLang="zh-TW" i="1">
                            <a:latin typeface="+mn-lt"/>
                          </a:rPr>
                          <m:t>1</m:t>
                        </m:r>
                      </m:sub>
                    </m:sSub>
                  </m:oMath>
                </a14:m>
                <a:r>
                  <a:rPr lang="en-US" altLang="zh-TW"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i="1">
                            <a:latin typeface="+mn-lt"/>
                          </a:rPr>
                        </m:ctrlPr>
                      </m:sSubPr>
                      <m:e>
                        <m:r>
                          <a:rPr lang="zh-TW" altLang="en-US" i="1">
                            <a:latin typeface="+mn-lt"/>
                          </a:rPr>
                          <m:t>𝛽</m:t>
                        </m:r>
                      </m:e>
                      <m:sub>
                        <m:r>
                          <a:rPr lang="en-US" altLang="zh-TW" i="1">
                            <a:latin typeface="+mn-lt"/>
                          </a:rPr>
                          <m:t>2</m:t>
                        </m:r>
                      </m:sub>
                    </m:sSub>
                    <m:sSub>
                      <m:sSubPr>
                        <m:ctrlPr>
                          <a:rPr lang="en-US" altLang="zh-TW" i="1">
                            <a:latin typeface="+mn-lt"/>
                          </a:rPr>
                        </m:ctrlPr>
                      </m:sSubPr>
                      <m:e>
                        <m:r>
                          <a:rPr lang="en-US" altLang="zh-TW" i="1">
                            <a:latin typeface="+mn-lt"/>
                          </a:rPr>
                          <m:t>𝑥</m:t>
                        </m:r>
                      </m:e>
                      <m:sub>
                        <m:r>
                          <a:rPr lang="en-US" altLang="zh-TW" i="1">
                            <a:latin typeface="+mn-lt"/>
                          </a:rPr>
                          <m:t>2</m:t>
                        </m:r>
                      </m:sub>
                    </m:sSub>
                  </m:oMath>
                </a14:m>
                <a:r>
                  <a:rPr lang="en-US" altLang="zh-TW"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i="1">
                            <a:latin typeface="+mn-lt"/>
                          </a:rPr>
                        </m:ctrlPr>
                      </m:sSubPr>
                      <m:e>
                        <m:r>
                          <a:rPr lang="zh-TW" altLang="en-US" i="1">
                            <a:latin typeface="+mn-lt"/>
                          </a:rPr>
                          <m:t>𝛽</m:t>
                        </m:r>
                      </m:e>
                      <m:sub>
                        <m:r>
                          <a:rPr lang="en-US" altLang="zh-TW" i="1">
                            <a:latin typeface="+mn-lt"/>
                          </a:rPr>
                          <m:t>3</m:t>
                        </m:r>
                      </m:sub>
                    </m:sSub>
                    <m:sSub>
                      <m:sSubPr>
                        <m:ctrlPr>
                          <a:rPr lang="en-US" altLang="zh-TW" i="1">
                            <a:latin typeface="+mn-lt"/>
                          </a:rPr>
                        </m:ctrlPr>
                      </m:sSubPr>
                      <m:e>
                        <m:r>
                          <a:rPr lang="en-US" altLang="zh-TW" i="1">
                            <a:latin typeface="+mn-lt"/>
                          </a:rPr>
                          <m:t>𝑥</m:t>
                        </m:r>
                      </m:e>
                      <m:sub>
                        <m:r>
                          <a:rPr lang="en-US" altLang="zh-TW" b="0" i="1" smtClean="0">
                            <a:latin typeface="+mn-lt"/>
                          </a:rPr>
                          <m:t>2</m:t>
                        </m:r>
                      </m:sub>
                    </m:sSub>
                  </m:oMath>
                </a14:m>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marL="109728" indent="0">
                  <a:lnSpc>
                    <a:spcPct val="120000"/>
                  </a:lnSpc>
                  <a:buNone/>
                </a:pPr>
                <a:r>
                  <a:rPr lang="en-US" altLang="zh-TW" dirty="0">
                    <a:latin typeface="微軟正黑體" panose="020B0604030504040204" pitchFamily="34" charset="-120"/>
                    <a:ea typeface="微軟正黑體" panose="020B0604030504040204" pitchFamily="34" charset="-120"/>
                  </a:rPr>
                  <a:t>  </a:t>
                </a:r>
                <a14:m>
                  <m:oMath xmlns:m="http://schemas.openxmlformats.org/officeDocument/2006/math">
                    <m:sSub>
                      <m:sSubPr>
                        <m:ctrlPr>
                          <a:rPr lang="en-US" altLang="zh-TW" i="1">
                            <a:latin typeface="+mn-lt"/>
                          </a:rPr>
                        </m:ctrlPr>
                      </m:sSubPr>
                      <m:e>
                        <m:r>
                          <a:rPr lang="en-US" altLang="zh-TW">
                            <a:latin typeface="+mn-lt"/>
                          </a:rPr>
                          <m:t>𝑥</m:t>
                        </m:r>
                      </m:e>
                      <m:sub>
                        <m:r>
                          <a:rPr lang="en-US" altLang="zh-TW">
                            <a:latin typeface="+mn-lt"/>
                          </a:rPr>
                          <m:t>1</m:t>
                        </m:r>
                      </m:sub>
                    </m:sSub>
                  </m:oMath>
                </a14:m>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（抽菸量</a:t>
                </a: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包以</a:t>
                </a:r>
                <a:r>
                  <a:rPr lang="zh-TW" altLang="en-US" dirty="0">
                    <a:latin typeface="微軟正黑體" panose="020B0604030504040204" pitchFamily="34" charset="-120"/>
                    <a:ea typeface="微軟正黑體" panose="020B0604030504040204" pitchFamily="34" charset="-120"/>
                  </a:rPr>
                  <a:t>下</a:t>
                </a:r>
                <a:r>
                  <a:rPr lang="zh-TW"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a:t>
                </a:r>
                <a14:m>
                  <m:oMath xmlns:m="http://schemas.openxmlformats.org/officeDocument/2006/math">
                    <m:r>
                      <m:rPr>
                        <m:sty m:val="p"/>
                      </m:rPr>
                      <a:rPr lang="en-US" altLang="zh-TW" b="0" i="0" smtClean="0">
                        <a:latin typeface="+mn-lt"/>
                      </a:rPr>
                      <m:t>y</m:t>
                    </m:r>
                    <m:r>
                      <a:rPr lang="en-US" altLang="zh-TW" b="0" i="0" smtClean="0">
                        <a:latin typeface="+mn-lt"/>
                      </a:rPr>
                      <m:t>=</m:t>
                    </m:r>
                    <m:sSub>
                      <m:sSubPr>
                        <m:ctrlPr>
                          <a:rPr lang="en-US" altLang="zh-TW" i="1">
                            <a:latin typeface="+mn-lt"/>
                          </a:rPr>
                        </m:ctrlPr>
                      </m:sSubPr>
                      <m:e>
                        <m:r>
                          <a:rPr lang="zh-TW" altLang="en-US" i="1">
                            <a:latin typeface="+mn-lt"/>
                          </a:rPr>
                          <m:t>𝛽</m:t>
                        </m:r>
                      </m:e>
                      <m:sub>
                        <m:r>
                          <a:rPr lang="en-US" altLang="zh-TW" i="1">
                            <a:latin typeface="+mn-lt"/>
                          </a:rPr>
                          <m:t>0</m:t>
                        </m:r>
                      </m:sub>
                    </m:sSub>
                  </m:oMath>
                </a14:m>
                <a:r>
                  <a:rPr lang="en-US" altLang="zh-TW"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i="1">
                            <a:latin typeface="+mn-lt"/>
                          </a:rPr>
                        </m:ctrlPr>
                      </m:sSubPr>
                      <m:e>
                        <m:r>
                          <a:rPr lang="zh-TW" altLang="en-US" i="1">
                            <a:latin typeface="+mn-lt"/>
                          </a:rPr>
                          <m:t>𝛽</m:t>
                        </m:r>
                      </m:e>
                      <m:sub>
                        <m:r>
                          <a:rPr lang="en-US" altLang="zh-TW" i="1">
                            <a:latin typeface="+mn-lt"/>
                          </a:rPr>
                          <m:t>2</m:t>
                        </m:r>
                      </m:sub>
                    </m:sSub>
                    <m:sSub>
                      <m:sSubPr>
                        <m:ctrlPr>
                          <a:rPr lang="en-US" altLang="zh-TW" i="1">
                            <a:latin typeface="+mn-lt"/>
                          </a:rPr>
                        </m:ctrlPr>
                      </m:sSubPr>
                      <m:e>
                        <m:r>
                          <a:rPr lang="en-US" altLang="zh-TW" i="1">
                            <a:latin typeface="+mn-lt"/>
                          </a:rPr>
                          <m:t>𝑥</m:t>
                        </m:r>
                      </m:e>
                      <m:sub>
                        <m:r>
                          <a:rPr lang="en-US" altLang="zh-TW" i="1">
                            <a:latin typeface="+mn-lt"/>
                          </a:rPr>
                          <m:t>2</m:t>
                        </m:r>
                      </m:sub>
                    </m:sSub>
                  </m:oMath>
                </a14:m>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a:lnSpc>
                    <a:spcPct val="120000"/>
                  </a:lnSpc>
                </a:pPr>
                <a:endParaRPr lang="zh-TW" altLang="en-US"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251520" y="454576"/>
                <a:ext cx="8435280" cy="6214784"/>
              </a:xfrm>
              <a:blipFill>
                <a:blip r:embed="rId3"/>
                <a:stretch>
                  <a:fillRect l="-723"/>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C68121D2-9246-4B52-9877-10E6A7AF0C69}" type="slidenum">
              <a:rPr lang="zh-TW" altLang="en-US" smtClean="0"/>
              <a:pPr/>
              <a:t>20</a:t>
            </a:fld>
            <a:endParaRPr lang="zh-TW" altLang="en-US"/>
          </a:p>
        </p:txBody>
      </p:sp>
    </p:spTree>
    <p:extLst>
      <p:ext uri="{BB962C8B-B14F-4D97-AF65-F5344CB8AC3E}">
        <p14:creationId xmlns:p14="http://schemas.microsoft.com/office/powerpoint/2010/main" val="28921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457200" y="1844824"/>
                <a:ext cx="8229600" cy="6192688"/>
              </a:xfrm>
            </p:spPr>
            <p:txBody>
              <a:bodyPr>
                <a:normAutofit fontScale="92500"/>
              </a:bodyPr>
              <a:lstStyle/>
              <a:p>
                <a:pPr>
                  <a:lnSpc>
                    <a:spcPct val="150000"/>
                  </a:lnSpc>
                </a:pPr>
                <a:r>
                  <a:rPr lang="zh-TW" altLang="zh-TW" dirty="0">
                    <a:latin typeface="微軟正黑體" panose="020B0604030504040204" pitchFamily="34" charset="-120"/>
                    <a:ea typeface="微軟正黑體" panose="020B0604030504040204" pitchFamily="34" charset="-120"/>
                  </a:rPr>
                  <a:t>抽菸量</a:t>
                </a: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包</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含</a:t>
                </a:r>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以上</a:t>
                </a:r>
                <a:r>
                  <a:rPr lang="en-US" altLang="zh-TW"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i="1">
                            <a:latin typeface="+mn-lt"/>
                          </a:rPr>
                        </m:ctrlPr>
                      </m:sSubPr>
                      <m:e>
                        <m:r>
                          <a:rPr lang="en-US" altLang="zh-TW">
                            <a:latin typeface="+mn-lt"/>
                          </a:rPr>
                          <m:t>𝑥</m:t>
                        </m:r>
                      </m:e>
                      <m:sub>
                        <m:r>
                          <a:rPr lang="en-US" altLang="zh-TW">
                            <a:latin typeface="+mn-lt"/>
                          </a:rPr>
                          <m:t>1</m:t>
                        </m:r>
                      </m:sub>
                    </m:sSub>
                  </m:oMath>
                </a14:m>
                <a:r>
                  <a:rPr lang="zh-TW" altLang="en-US" dirty="0">
                    <a:latin typeface="微軟正黑體" panose="020B0604030504040204" pitchFamily="34" charset="-120"/>
                    <a:ea typeface="微軟正黑體" panose="020B0604030504040204" pitchFamily="34" charset="-120"/>
                  </a:rPr>
                  <a:t>＝１</a:t>
                </a:r>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相對於抽菸量</a:t>
                </a:r>
                <a:r>
                  <a:rPr lang="en-US" altLang="zh-TW" dirty="0">
                    <a:latin typeface="微軟正黑體" panose="020B0604030504040204" pitchFamily="34" charset="-120"/>
                    <a:ea typeface="微軟正黑體" panose="020B0604030504040204" pitchFamily="34" charset="-120"/>
                  </a:rPr>
                  <a:t>1</a:t>
                </a:r>
                <a:r>
                  <a:rPr lang="zh-TW" altLang="zh-TW" dirty="0">
                    <a:latin typeface="微軟正黑體" panose="020B0604030504040204" pitchFamily="34" charset="-120"/>
                    <a:ea typeface="微軟正黑體" panose="020B0604030504040204" pitchFamily="34" charset="-120"/>
                  </a:rPr>
                  <a:t>包以</a:t>
                </a:r>
                <a:r>
                  <a:rPr lang="zh-TW" altLang="en-US" dirty="0">
                    <a:latin typeface="微軟正黑體" panose="020B0604030504040204" pitchFamily="34" charset="-120"/>
                    <a:ea typeface="微軟正黑體" panose="020B0604030504040204" pitchFamily="34" charset="-120"/>
                  </a:rPr>
                  <a:t>下</a:t>
                </a:r>
                <a:r>
                  <a:rPr lang="en-US" altLang="zh-TW"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i="1">
                            <a:latin typeface="+mn-lt"/>
                          </a:rPr>
                        </m:ctrlPr>
                      </m:sSubPr>
                      <m:e>
                        <m:r>
                          <a:rPr lang="en-US" altLang="zh-TW">
                            <a:latin typeface="+mn-lt"/>
                          </a:rPr>
                          <m:t>𝑥</m:t>
                        </m:r>
                      </m:e>
                      <m:sub>
                        <m:r>
                          <a:rPr lang="en-US" altLang="zh-TW">
                            <a:latin typeface="+mn-lt"/>
                          </a:rPr>
                          <m:t>1</m:t>
                        </m:r>
                      </m:sub>
                    </m:sSub>
                  </m:oMath>
                </a14:m>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0)</a:t>
                </a:r>
                <a:r>
                  <a:rPr lang="zh-TW" altLang="zh-TW" dirty="0">
                    <a:latin typeface="微軟正黑體" panose="020B0604030504040204" pitchFamily="34" charset="-120"/>
                    <a:ea typeface="微軟正黑體" panose="020B0604030504040204" pitchFamily="34" charset="-120"/>
                  </a:rPr>
                  <a:t>的</a:t>
                </a:r>
                <a:r>
                  <a:rPr lang="zh-TW" altLang="en-US" dirty="0">
                    <a:latin typeface="微軟正黑體" panose="020B0604030504040204" pitchFamily="34" charset="-120"/>
                    <a:ea typeface="微軟正黑體" panose="020B0604030504040204" pitchFamily="34" charset="-120"/>
                  </a:rPr>
                  <a:t>估計值</a:t>
                </a:r>
                <a:r>
                  <a:rPr lang="zh-TW" altLang="zh-TW" dirty="0">
                    <a:latin typeface="微軟正黑體" panose="020B0604030504040204" pitchFamily="34" charset="-120"/>
                    <a:ea typeface="微軟正黑體" panose="020B0604030504040204" pitchFamily="34" charset="-120"/>
                  </a:rPr>
                  <a:t>是</a:t>
                </a:r>
                <a:endParaRPr lang="en-US" altLang="zh-TW" dirty="0">
                  <a:latin typeface="微軟正黑體" panose="020B0604030504040204" pitchFamily="34" charset="-120"/>
                  <a:ea typeface="微軟正黑體" panose="020B0604030504040204" pitchFamily="34" charset="-120"/>
                </a:endParaRPr>
              </a:p>
              <a:p>
                <a:pPr marL="109728" indent="0" algn="ctr">
                  <a:lnSpc>
                    <a:spcPct val="150000"/>
                  </a:lnSpc>
                  <a:buNone/>
                </a:pPr>
                <a14:m>
                  <m:oMathPara xmlns:m="http://schemas.openxmlformats.org/officeDocument/2006/math">
                    <m:oMathParaPr>
                      <m:jc m:val="centerGroup"/>
                    </m:oMathParaPr>
                    <m:oMath xmlns:m="http://schemas.openxmlformats.org/officeDocument/2006/math">
                      <m:sSub>
                        <m:sSubPr>
                          <m:ctrlPr>
                            <a:rPr lang="en-US" altLang="zh-TW" i="1" smtClean="0">
                              <a:latin typeface="+mn-lt"/>
                            </a:rPr>
                          </m:ctrlPr>
                        </m:sSubPr>
                        <m:e>
                          <m:r>
                            <a:rPr lang="zh-TW" altLang="en-US" i="1">
                              <a:latin typeface="+mn-lt"/>
                            </a:rPr>
                            <m:t>𝛽</m:t>
                          </m:r>
                        </m:e>
                        <m:sub>
                          <m:r>
                            <a:rPr lang="en-US" altLang="zh-TW" i="1">
                              <a:latin typeface="+mn-lt"/>
                            </a:rPr>
                            <m:t>1</m:t>
                          </m:r>
                        </m:sub>
                      </m:sSub>
                      <m:r>
                        <m:rPr>
                          <m:nor/>
                        </m:rPr>
                        <a:rPr lang="en-US" altLang="zh-TW" dirty="0">
                          <a:latin typeface="微軟正黑體" panose="020B0604030504040204" pitchFamily="34" charset="-120"/>
                          <a:ea typeface="微軟正黑體" panose="020B0604030504040204" pitchFamily="34" charset="-120"/>
                        </a:rPr>
                        <m:t>+</m:t>
                      </m:r>
                      <m:sSub>
                        <m:sSubPr>
                          <m:ctrlPr>
                            <a:rPr lang="en-US" altLang="zh-TW" i="1">
                              <a:latin typeface="+mn-lt"/>
                            </a:rPr>
                          </m:ctrlPr>
                        </m:sSubPr>
                        <m:e>
                          <m:r>
                            <a:rPr lang="zh-TW" altLang="en-US" i="1">
                              <a:latin typeface="+mn-lt"/>
                            </a:rPr>
                            <m:t>𝛽</m:t>
                          </m:r>
                        </m:e>
                        <m:sub>
                          <m:r>
                            <a:rPr lang="en-US" altLang="zh-TW" i="1">
                              <a:latin typeface="+mn-lt"/>
                            </a:rPr>
                            <m:t>3</m:t>
                          </m:r>
                        </m:sub>
                      </m:sSub>
                      <m:sSub>
                        <m:sSubPr>
                          <m:ctrlPr>
                            <a:rPr lang="en-US" altLang="zh-TW" i="1">
                              <a:latin typeface="+mn-lt"/>
                            </a:rPr>
                          </m:ctrlPr>
                        </m:sSubPr>
                        <m:e>
                          <m:r>
                            <a:rPr lang="en-US" altLang="zh-TW" i="1">
                              <a:latin typeface="+mn-lt"/>
                            </a:rPr>
                            <m:t>𝑥</m:t>
                          </m:r>
                        </m:e>
                        <m:sub>
                          <m:r>
                            <a:rPr lang="en-US" altLang="zh-TW" i="1">
                              <a:latin typeface="+mn-lt"/>
                            </a:rPr>
                            <m:t>2</m:t>
                          </m:r>
                        </m:sub>
                      </m:sSub>
                    </m:oMath>
                  </m:oMathPara>
                </a14:m>
                <a:endParaRPr lang="en-US" altLang="zh-TW" i="1" dirty="0">
                  <a:latin typeface="微軟正黑體" panose="020B0604030504040204" pitchFamily="34" charset="-120"/>
                  <a:ea typeface="微軟正黑體" panose="020B0604030504040204" pitchFamily="34" charset="-120"/>
                </a:endParaRPr>
              </a:p>
              <a:p>
                <a:pPr marL="109728" indent="0">
                  <a:lnSpc>
                    <a:spcPct val="150000"/>
                  </a:lnSpc>
                  <a:buNone/>
                </a:pPr>
                <a14:m>
                  <m:oMath xmlns:m="http://schemas.openxmlformats.org/officeDocument/2006/math">
                    <m:r>
                      <a:rPr lang="en-US" altLang="zh-TW" b="0" i="1" dirty="0" smtClean="0">
                        <a:latin typeface="+mn-lt"/>
                      </a:rPr>
                      <m:t>   </m:t>
                    </m:r>
                    <m:r>
                      <a:rPr lang="zh-TW" altLang="en-US" i="1" dirty="0">
                        <a:latin typeface="+mn-lt"/>
                      </a:rPr>
                      <m:t>此值</m:t>
                    </m:r>
                    <m:r>
                      <a:rPr lang="zh-TW" altLang="en-US" i="1">
                        <a:latin typeface="+mn-lt"/>
                      </a:rPr>
                      <m:t>受</m:t>
                    </m:r>
                    <m:sSub>
                      <m:sSubPr>
                        <m:ctrlPr>
                          <a:rPr lang="en-US" altLang="zh-TW" i="1">
                            <a:latin typeface="+mn-lt"/>
                          </a:rPr>
                        </m:ctrlPr>
                      </m:sSubPr>
                      <m:e>
                        <m:r>
                          <a:rPr lang="en-US" altLang="zh-TW" i="1">
                            <a:latin typeface="+mn-lt"/>
                          </a:rPr>
                          <m:t>𝑥</m:t>
                        </m:r>
                      </m:e>
                      <m:sub>
                        <m:r>
                          <a:rPr lang="en-US" altLang="zh-TW" i="1">
                            <a:latin typeface="+mn-lt"/>
                          </a:rPr>
                          <m:t>2</m:t>
                        </m:r>
                      </m:sub>
                    </m:sSub>
                  </m:oMath>
                </a14:m>
                <a:r>
                  <a:rPr lang="zh-TW" altLang="en-US" dirty="0">
                    <a:latin typeface="微軟正黑體" panose="020B0604030504040204" pitchFamily="34" charset="-120"/>
                    <a:ea typeface="微軟正黑體" panose="020B0604030504040204" pitchFamily="34" charset="-120"/>
                  </a:rPr>
                  <a:t>影響。</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使用這種迴歸模型，我們在分析上可以反應</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2</m:t>
                        </m:r>
                      </m:sub>
                    </m:sSub>
                  </m:oMath>
                </a14:m>
                <a:r>
                  <a:rPr lang="en-US" altLang="zh-TW"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修改</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1</m:t>
                        </m:r>
                      </m:sub>
                    </m:sSub>
                  </m:oMath>
                </a14:m>
                <a:r>
                  <a:rPr lang="zh-TW" altLang="zh-TW" dirty="0">
                    <a:latin typeface="微軟正黑體" panose="020B0604030504040204" pitchFamily="34" charset="-120"/>
                    <a:ea typeface="微軟正黑體" panose="020B0604030504040204" pitchFamily="34" charset="-120"/>
                  </a:rPr>
                  <a:t>效應”的實務現象。</a:t>
                </a:r>
                <a:r>
                  <a:rPr lang="zh-TW" altLang="en-US" dirty="0">
                    <a:latin typeface="微軟正黑體" panose="020B0604030504040204" pitchFamily="34" charset="-120"/>
                    <a:ea typeface="微軟正黑體" panose="020B0604030504040204" pitchFamily="34" charset="-120"/>
                  </a:rPr>
                  <a:t>即抽菸量</a:t>
                </a:r>
                <a:r>
                  <a:rPr lang="en-US" altLang="zh-TW"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i="1">
                            <a:latin typeface="+mn-lt"/>
                          </a:rPr>
                        </m:ctrlPr>
                      </m:sSubPr>
                      <m:e>
                        <m:r>
                          <a:rPr lang="en-US" altLang="zh-TW">
                            <a:latin typeface="+mn-lt"/>
                          </a:rPr>
                          <m:t>𝑥</m:t>
                        </m:r>
                      </m:e>
                      <m:sub>
                        <m:r>
                          <a:rPr lang="en-US" altLang="zh-TW">
                            <a:latin typeface="+mn-lt"/>
                          </a:rPr>
                          <m:t>1</m:t>
                        </m:r>
                      </m:sub>
                    </m:sSub>
                  </m:oMath>
                </a14:m>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和腰圍之相關性和年齡</a:t>
                </a:r>
                <a:r>
                  <a:rPr lang="en-US" altLang="zh-TW" dirty="0">
                    <a:latin typeface="微軟正黑體" panose="020B0604030504040204" pitchFamily="34" charset="-120"/>
                    <a:ea typeface="微軟正黑體" panose="020B0604030504040204" pitchFamily="34" charset="-120"/>
                  </a:rPr>
                  <a:t>(</a:t>
                </a:r>
                <a14:m>
                  <m:oMath xmlns:m="http://schemas.openxmlformats.org/officeDocument/2006/math">
                    <m:sSub>
                      <m:sSubPr>
                        <m:ctrlPr>
                          <a:rPr lang="en-US" altLang="zh-TW" i="1">
                            <a:latin typeface="+mn-lt"/>
                          </a:rPr>
                        </m:ctrlPr>
                      </m:sSubPr>
                      <m:e>
                        <m:r>
                          <a:rPr lang="en-US" altLang="zh-TW" i="1">
                            <a:latin typeface="+mn-lt"/>
                          </a:rPr>
                          <m:t>𝑥</m:t>
                        </m:r>
                      </m:e>
                      <m:sub>
                        <m:r>
                          <a:rPr lang="en-US" altLang="zh-TW" i="1">
                            <a:latin typeface="+mn-lt"/>
                          </a:rPr>
                          <m:t>2</m:t>
                        </m:r>
                      </m:sub>
                    </m:sSub>
                  </m:oMath>
                </a14:m>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有關。稱抽菸量和年齡具交互作用。</a:t>
                </a: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457200" y="1844824"/>
                <a:ext cx="8229600" cy="6192688"/>
              </a:xfrm>
              <a:blipFill>
                <a:blip r:embed="rId2"/>
                <a:stretch>
                  <a:fillRect l="-667" r="-519"/>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C68121D2-9246-4B52-9877-10E6A7AF0C69}" type="slidenum">
              <a:rPr lang="zh-TW" altLang="en-US" smtClean="0"/>
              <a:pPr/>
              <a:t>21</a:t>
            </a:fld>
            <a:endParaRPr lang="zh-TW" altLang="en-US"/>
          </a:p>
        </p:txBody>
      </p:sp>
    </p:spTree>
    <p:extLst>
      <p:ext uri="{BB962C8B-B14F-4D97-AF65-F5344CB8AC3E}">
        <p14:creationId xmlns:p14="http://schemas.microsoft.com/office/powerpoint/2010/main" val="3813645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40885"/>
            <a:ext cx="8229600" cy="562074"/>
          </a:xfrm>
        </p:spPr>
        <p:txBody>
          <a:bodyPr>
            <a:normAutofit fontScale="90000"/>
          </a:bodyPr>
          <a:lstStyle/>
          <a:p>
            <a:r>
              <a:rPr lang="en-US" altLang="zh-TW" dirty="0">
                <a:latin typeface="微軟正黑體" panose="020B0604030504040204" pitchFamily="34" charset="-120"/>
                <a:ea typeface="微軟正黑體" panose="020B0604030504040204" pitchFamily="34" charset="-120"/>
              </a:rPr>
              <a:t>SPSS</a:t>
            </a:r>
            <a:endParaRPr lang="zh-TW" altLang="en-US" dirty="0">
              <a:latin typeface="微軟正黑體" panose="020B0604030504040204" pitchFamily="34" charset="-120"/>
              <a:ea typeface="微軟正黑體" panose="020B0604030504040204" pitchFamily="34" charset="-120"/>
            </a:endParaRPr>
          </a:p>
        </p:txBody>
      </p:sp>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457200" y="836712"/>
                <a:ext cx="8229600" cy="5170579"/>
              </a:xfrm>
            </p:spPr>
            <p:txBody>
              <a:bodyPr/>
              <a:lstStyle/>
              <a:p>
                <a:pPr marL="109728" indent="0">
                  <a:lnSpc>
                    <a:spcPct val="120000"/>
                  </a:lnSpc>
                  <a:buNone/>
                </a:pPr>
                <a:r>
                  <a:rPr lang="zh-TW" altLang="zh-TW" b="1" dirty="0">
                    <a:latin typeface="微軟正黑體" panose="020B0604030504040204" pitchFamily="34" charset="-120"/>
                    <a:ea typeface="微軟正黑體" panose="020B0604030504040204" pitchFamily="34" charset="-120"/>
                  </a:rPr>
                  <a:t>探討是否存在抽菸及年齡的交互作用</a:t>
                </a:r>
                <a:r>
                  <a:rPr lang="en-US" altLang="zh-TW" b="1" dirty="0">
                    <a:latin typeface="微軟正黑體" panose="020B0604030504040204" pitchFamily="34" charset="-120"/>
                    <a:ea typeface="微軟正黑體" panose="020B0604030504040204" pitchFamily="34" charset="-120"/>
                  </a:rPr>
                  <a:t>?</a:t>
                </a:r>
              </a:p>
              <a:p>
                <a:pPr>
                  <a:lnSpc>
                    <a:spcPct val="120000"/>
                  </a:lnSpc>
                </a:pPr>
                <a:r>
                  <a:rPr lang="zh-TW" altLang="zh-TW" dirty="0">
                    <a:latin typeface="微軟正黑體" panose="020B0604030504040204" pitchFamily="34" charset="-120"/>
                    <a:ea typeface="微軟正黑體" panose="020B0604030504040204" pitchFamily="34" charset="-120"/>
                  </a:rPr>
                  <a:t>以點選方式選用路徑</a:t>
                </a:r>
                <a:r>
                  <a:rPr lang="en-US" altLang="zh-TW" dirty="0">
                    <a:latin typeface="微軟正黑體" panose="020B0604030504040204" pitchFamily="34" charset="-120"/>
                    <a:ea typeface="微軟正黑體" panose="020B0604030504040204" pitchFamily="34" charset="-120"/>
                  </a:rPr>
                  <a:t>:  “</a:t>
                </a:r>
                <a:r>
                  <a:rPr lang="en-US" altLang="zh-TW" b="1"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b="1" dirty="0">
                    <a:latin typeface="微軟正黑體" panose="020B0604030504040204" pitchFamily="34" charset="-120"/>
                    <a:ea typeface="微軟正黑體" panose="020B0604030504040204" pitchFamily="34" charset="-120"/>
                  </a:rPr>
                  <a:t>分析</a:t>
                </a:r>
                <a:r>
                  <a:rPr lang="en-US" altLang="zh-TW" b="1" dirty="0">
                    <a:latin typeface="微軟正黑體" panose="020B0604030504040204" pitchFamily="34" charset="-120"/>
                    <a:ea typeface="微軟正黑體" panose="020B0604030504040204" pitchFamily="34" charset="-120"/>
                    <a:sym typeface="Wingdings" panose="05000000000000000000" pitchFamily="2" charset="2"/>
                  </a:rPr>
                  <a:t></a:t>
                </a:r>
                <a:r>
                  <a:rPr lang="en-US" altLang="zh-TW" b="1" dirty="0">
                    <a:latin typeface="微軟正黑體" panose="020B0604030504040204" pitchFamily="34" charset="-120"/>
                    <a:ea typeface="微軟正黑體" panose="020B0604030504040204" pitchFamily="34" charset="-120"/>
                  </a:rPr>
                  <a:t> </a:t>
                </a:r>
                <a:r>
                  <a:rPr lang="zh-TW" altLang="en-US" b="1" dirty="0">
                    <a:latin typeface="微軟正黑體" panose="020B0604030504040204" pitchFamily="34" charset="-120"/>
                    <a:ea typeface="微軟正黑體" panose="020B0604030504040204" pitchFamily="34" charset="-120"/>
                  </a:rPr>
                  <a:t>一般線性模式</a:t>
                </a:r>
                <a:r>
                  <a:rPr lang="en-US" altLang="zh-TW" b="1"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b="1" dirty="0">
                    <a:latin typeface="微軟正黑體" panose="020B0604030504040204" pitchFamily="34" charset="-120"/>
                    <a:ea typeface="微軟正黑體" panose="020B0604030504040204" pitchFamily="34" charset="-120"/>
                  </a:rPr>
                  <a:t>單變量</a:t>
                </a:r>
                <a:r>
                  <a:rPr lang="zh-TW" altLang="zh-TW" b="1" dirty="0">
                    <a:latin typeface="微軟正黑體" panose="020B0604030504040204" pitchFamily="34" charset="-120"/>
                    <a:ea typeface="微軟正黑體" panose="020B0604030504040204" pitchFamily="34" charset="-120"/>
                  </a:rPr>
                  <a:t>：選擇依變數</a:t>
                </a:r>
                <a:r>
                  <a:rPr lang="en-US" altLang="zh-TW" b="1" dirty="0">
                    <a:latin typeface="微軟正黑體" panose="020B0604030504040204" pitchFamily="34" charset="-120"/>
                    <a:ea typeface="微軟正黑體" panose="020B0604030504040204" pitchFamily="34" charset="-120"/>
                  </a:rPr>
                  <a:t>: </a:t>
                </a:r>
                <a:r>
                  <a:rPr lang="zh-TW" altLang="en-US" b="1" dirty="0">
                    <a:latin typeface="微軟正黑體" panose="020B0604030504040204" pitchFamily="34" charset="-120"/>
                    <a:ea typeface="微軟正黑體" panose="020B0604030504040204" pitchFamily="34" charset="-120"/>
                  </a:rPr>
                  <a:t>腰圍</a:t>
                </a:r>
                <a:r>
                  <a:rPr lang="zh-TW" altLang="zh-TW" b="1" dirty="0">
                    <a:latin typeface="微軟正黑體" panose="020B0604030504040204" pitchFamily="34" charset="-120"/>
                    <a:ea typeface="微軟正黑體" panose="020B0604030504040204" pitchFamily="34" charset="-120"/>
                  </a:rPr>
                  <a:t>；自變數：抽菸量，年齡；</a:t>
                </a:r>
                <a:r>
                  <a:rPr lang="zh-TW" altLang="en-US" b="1" dirty="0">
                    <a:latin typeface="微軟正黑體" panose="020B0604030504040204" pitchFamily="34" charset="-120"/>
                    <a:ea typeface="微軟正黑體" panose="020B0604030504040204" pitchFamily="34" charset="-120"/>
                  </a:rPr>
                  <a:t>模型</a:t>
                </a:r>
                <a:r>
                  <a:rPr lang="en-US" altLang="zh-TW" b="1" dirty="0">
                    <a:latin typeface="微軟正黑體" panose="020B0604030504040204" pitchFamily="34" charset="-120"/>
                    <a:ea typeface="微軟正黑體" panose="020B0604030504040204" pitchFamily="34" charset="-120"/>
                  </a:rPr>
                  <a:t>: </a:t>
                </a:r>
                <a:r>
                  <a:rPr lang="zh-TW" altLang="en-US" b="1" dirty="0">
                    <a:latin typeface="微軟正黑體" panose="020B0604030504040204" pitchFamily="34" charset="-120"/>
                    <a:ea typeface="微軟正黑體" panose="020B0604030504040204" pitchFamily="34" charset="-120"/>
                  </a:rPr>
                  <a:t>主效果</a:t>
                </a:r>
                <a:r>
                  <a:rPr lang="en-US" altLang="zh-TW" b="1" dirty="0">
                    <a:latin typeface="微軟正黑體" panose="020B0604030504040204" pitchFamily="34" charset="-120"/>
                    <a:ea typeface="微軟正黑體" panose="020B0604030504040204" pitchFamily="34" charset="-120"/>
                  </a:rPr>
                  <a:t>+</a:t>
                </a:r>
                <a:r>
                  <a:rPr lang="zh-TW" altLang="zh-TW" b="1" dirty="0">
                    <a:latin typeface="微軟正黑體" panose="020B0604030504040204" pitchFamily="34" charset="-120"/>
                    <a:ea typeface="微軟正黑體" panose="020B0604030504040204" pitchFamily="34" charset="-120"/>
                  </a:rPr>
                  <a:t>交互作用項</a:t>
                </a:r>
                <a:r>
                  <a:rPr lang="en-US" altLang="zh-TW" b="1" dirty="0">
                    <a:latin typeface="微軟正黑體" panose="020B0604030504040204" pitchFamily="34" charset="-120"/>
                    <a:ea typeface="微軟正黑體" panose="020B0604030504040204" pitchFamily="34" charset="-120"/>
                  </a:rPr>
                  <a:t>: </a:t>
                </a:r>
                <a:r>
                  <a:rPr lang="zh-TW" altLang="zh-TW" b="1" dirty="0">
                    <a:latin typeface="微軟正黑體" panose="020B0604030504040204" pitchFamily="34" charset="-120"/>
                    <a:ea typeface="微軟正黑體" panose="020B0604030504040204" pitchFamily="34" charset="-120"/>
                  </a:rPr>
                  <a:t>抽菸量</a:t>
                </a:r>
                <a14:m>
                  <m:oMath xmlns:m="http://schemas.openxmlformats.org/officeDocument/2006/math">
                    <m:r>
                      <a:rPr lang="en-US" altLang="zh-TW" b="1">
                        <a:latin typeface="+mn-lt"/>
                      </a:rPr>
                      <m:t>×</m:t>
                    </m:r>
                  </m:oMath>
                </a14:m>
                <a:r>
                  <a:rPr lang="zh-TW" altLang="zh-TW" b="1" dirty="0">
                    <a:latin typeface="微軟正黑體" panose="020B0604030504040204" pitchFamily="34" charset="-120"/>
                    <a:ea typeface="微軟正黑體" panose="020B0604030504040204" pitchFamily="34" charset="-120"/>
                  </a:rPr>
                  <a:t>年齡</a:t>
                </a:r>
                <a:r>
                  <a:rPr lang="en-US" altLang="zh-TW" b="1"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b="1" dirty="0">
                    <a:latin typeface="微軟正黑體" panose="020B0604030504040204" pitchFamily="34" charset="-120"/>
                    <a:ea typeface="微軟正黑體" panose="020B0604030504040204" pitchFamily="34" charset="-120"/>
                  </a:rPr>
                  <a:t>開始分析＂，</a:t>
                </a:r>
                <a:r>
                  <a:rPr lang="zh-TW" altLang="zh-TW" dirty="0">
                    <a:latin typeface="微軟正黑體" panose="020B0604030504040204" pitchFamily="34" charset="-120"/>
                    <a:ea typeface="微軟正黑體" panose="020B0604030504040204" pitchFamily="34" charset="-120"/>
                  </a:rPr>
                  <a:t>得下列分析結果表</a:t>
                </a:r>
                <a:r>
                  <a:rPr lang="en-US" altLang="zh-TW" dirty="0">
                    <a:latin typeface="微軟正黑體" panose="020B0604030504040204" pitchFamily="34" charset="-120"/>
                    <a:ea typeface="微軟正黑體" panose="020B0604030504040204" pitchFamily="34" charset="-120"/>
                  </a:rPr>
                  <a:t>:</a:t>
                </a:r>
              </a:p>
              <a:p>
                <a:pPr marL="109728" indent="0" algn="ctr">
                  <a:lnSpc>
                    <a:spcPct val="150000"/>
                  </a:lnSpc>
                  <a:buNone/>
                </a:pPr>
                <a:r>
                  <a:rPr lang="zh-TW" altLang="zh-TW" sz="2000" dirty="0">
                    <a:latin typeface="微軟正黑體" panose="020B0604030504040204" pitchFamily="34" charset="-120"/>
                    <a:ea typeface="微軟正黑體" panose="020B0604030504040204" pitchFamily="34" charset="-120"/>
                  </a:rPr>
                  <a:t>年齡和抽菸量交互作用對</a:t>
                </a:r>
                <a:r>
                  <a:rPr lang="zh-TW" altLang="en-US" sz="2000" dirty="0">
                    <a:latin typeface="微軟正黑體" panose="020B0604030504040204" pitchFamily="34" charset="-120"/>
                    <a:ea typeface="微軟正黑體" panose="020B0604030504040204" pitchFamily="34" charset="-120"/>
                  </a:rPr>
                  <a:t>腰圍</a:t>
                </a:r>
                <a:r>
                  <a:rPr lang="zh-TW" altLang="zh-TW" sz="2000" dirty="0">
                    <a:latin typeface="微軟正黑體" panose="020B0604030504040204" pitchFamily="34" charset="-120"/>
                    <a:ea typeface="微軟正黑體" panose="020B0604030504040204" pitchFamily="34" charset="-120"/>
                  </a:rPr>
                  <a:t>的影響</a:t>
                </a:r>
              </a:p>
              <a:p>
                <a:endParaRPr lang="zh-TW" altLang="zh-TW" sz="2400"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457200" y="836712"/>
                <a:ext cx="8229600" cy="5170579"/>
              </a:xfrm>
              <a:blipFill>
                <a:blip r:embed="rId2"/>
                <a:stretch>
                  <a:fillRect l="-741" r="-222"/>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C68121D2-9246-4B52-9877-10E6A7AF0C69}" type="slidenum">
              <a:rPr lang="zh-TW" altLang="en-US" smtClean="0"/>
              <a:pPr/>
              <a:t>22</a:t>
            </a:fld>
            <a:endParaRPr lang="zh-TW" altLang="en-US"/>
          </a:p>
        </p:txBody>
      </p:sp>
      <p:pic>
        <p:nvPicPr>
          <p:cNvPr id="6" name="圖片 5" descr="一張含有 文字, 螢幕擷取畫面, 數字, 字型 的圖片&#10;&#10;自動產生的描述">
            <a:extLst>
              <a:ext uri="{FF2B5EF4-FFF2-40B4-BE49-F238E27FC236}">
                <a16:creationId xmlns:a16="http://schemas.microsoft.com/office/drawing/2014/main" id="{DCC73890-9739-1F55-4877-B6B93E067C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5736" y="3429000"/>
            <a:ext cx="4972744" cy="2800741"/>
          </a:xfrm>
          <a:prstGeom prst="rect">
            <a:avLst/>
          </a:prstGeom>
        </p:spPr>
      </p:pic>
    </p:spTree>
    <p:extLst>
      <p:ext uri="{BB962C8B-B14F-4D97-AF65-F5344CB8AC3E}">
        <p14:creationId xmlns:p14="http://schemas.microsoft.com/office/powerpoint/2010/main" val="4175884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395536" y="1071266"/>
            <a:ext cx="8229600" cy="562074"/>
          </a:xfrm>
        </p:spPr>
        <p:txBody>
          <a:bodyPr>
            <a:normAutofit fontScale="90000"/>
          </a:bodyPr>
          <a:lstStyle/>
          <a:p>
            <a:r>
              <a:rPr lang="zh-TW" altLang="zh-TW" dirty="0">
                <a:effectLst/>
                <a:latin typeface="微軟正黑體" panose="020B0604030504040204" pitchFamily="34" charset="-120"/>
                <a:ea typeface="微軟正黑體" panose="020B0604030504040204" pitchFamily="34" charset="-120"/>
              </a:rPr>
              <a:t>分層分析</a:t>
            </a:r>
          </a:p>
        </p:txBody>
      </p:sp>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457200" y="1844824"/>
                <a:ext cx="8229600" cy="5472608"/>
              </a:xfrm>
            </p:spPr>
            <p:txBody>
              <a:bodyPr>
                <a:normAutofit/>
              </a:bodyPr>
              <a:lstStyle/>
              <a:p>
                <a:pPr>
                  <a:lnSpc>
                    <a:spcPct val="150000"/>
                  </a:lnSpc>
                </a:pPr>
                <a:r>
                  <a:rPr lang="zh-TW" altLang="zh-TW" dirty="0">
                    <a:latin typeface="微軟正黑體" panose="020B0604030504040204" pitchFamily="34" charset="-120"/>
                    <a:ea typeface="微軟正黑體" panose="020B0604030504040204" pitchFamily="34" charset="-120"/>
                  </a:rPr>
                  <a:t>自變數</a:t>
                </a:r>
                <a14:m>
                  <m:oMath xmlns:m="http://schemas.openxmlformats.org/officeDocument/2006/math">
                    <m:sSub>
                      <m:sSubPr>
                        <m:ctrlPr>
                          <a:rPr lang="zh-TW" altLang="zh-TW" i="1">
                            <a:latin typeface="+mn-lt"/>
                          </a:rPr>
                        </m:ctrlPr>
                      </m:sSubPr>
                      <m:e>
                        <m:r>
                          <a:rPr lang="en-US" altLang="zh-TW" i="1">
                            <a:latin typeface="+mn-lt"/>
                          </a:rPr>
                          <m:t>𝑥</m:t>
                        </m:r>
                      </m:e>
                      <m:sub>
                        <m:r>
                          <a:rPr lang="en-US" altLang="zh-TW" i="1">
                            <a:latin typeface="+mn-lt"/>
                          </a:rPr>
                          <m:t>2</m:t>
                        </m:r>
                      </m:sub>
                    </m:sSub>
                  </m:oMath>
                </a14:m>
                <a:r>
                  <a:rPr lang="zh-TW" altLang="zh-TW" dirty="0">
                    <a:latin typeface="微軟正黑體" panose="020B0604030504040204" pitchFamily="34" charset="-120"/>
                    <a:ea typeface="微軟正黑體" panose="020B0604030504040204" pitchFamily="34" charset="-120"/>
                  </a:rPr>
                  <a:t>為干擾因子或有交互作用現象的前題是</a:t>
                </a:r>
                <a14:m>
                  <m:oMath xmlns:m="http://schemas.openxmlformats.org/officeDocument/2006/math">
                    <m:sSub>
                      <m:sSubPr>
                        <m:ctrlPr>
                          <a:rPr lang="zh-TW" altLang="zh-TW" i="1" smtClean="0">
                            <a:solidFill>
                              <a:schemeClr val="tx1"/>
                            </a:solidFill>
                            <a:latin typeface="+mn-lt"/>
                          </a:rPr>
                        </m:ctrlPr>
                      </m:sSubPr>
                      <m:e>
                        <m:r>
                          <a:rPr lang="en-US" altLang="zh-TW" i="1">
                            <a:solidFill>
                              <a:schemeClr val="tx1"/>
                            </a:solidFill>
                            <a:latin typeface="+mn-lt"/>
                          </a:rPr>
                          <m:t>𝑥</m:t>
                        </m:r>
                      </m:e>
                      <m:sub>
                        <m:r>
                          <a:rPr lang="en-US" altLang="zh-TW" i="1">
                            <a:solidFill>
                              <a:schemeClr val="tx1"/>
                            </a:solidFill>
                            <a:latin typeface="+mn-lt"/>
                          </a:rPr>
                          <m:t>2</m:t>
                        </m:r>
                      </m:sub>
                    </m:sSub>
                  </m:oMath>
                </a14:m>
                <a:r>
                  <a:rPr lang="zh-TW" altLang="zh-TW" dirty="0">
                    <a:solidFill>
                      <a:schemeClr val="tx1"/>
                    </a:solidFill>
                    <a:latin typeface="微軟正黑體" panose="020B0604030504040204" pitchFamily="34" charset="-120"/>
                    <a:ea typeface="微軟正黑體" panose="020B0604030504040204" pitchFamily="34" charset="-120"/>
                  </a:rPr>
                  <a:t>必須對疾病的發生而言是風險因子</a:t>
                </a:r>
                <a:r>
                  <a:rPr lang="zh-TW" altLang="zh-TW" dirty="0">
                    <a:latin typeface="微軟正黑體" panose="020B0604030504040204" pitchFamily="34" charset="-120"/>
                    <a:ea typeface="微軟正黑體" panose="020B0604030504040204" pitchFamily="34" charset="-120"/>
                  </a:rPr>
                  <a:t>（即對應的迴歸係數顯著的不為零），</a:t>
                </a:r>
                <a:r>
                  <a:rPr lang="zh-TW" altLang="zh-TW" dirty="0">
                    <a:solidFill>
                      <a:srgbClr val="C00000"/>
                    </a:solidFill>
                    <a:latin typeface="微軟正黑體" panose="020B0604030504040204" pitchFamily="34" charset="-120"/>
                    <a:ea typeface="微軟正黑體" panose="020B0604030504040204" pitchFamily="34" charset="-120"/>
                  </a:rPr>
                  <a:t>但影響疾病發生的風險因子決不會只有一個</a:t>
                </a:r>
                <a:r>
                  <a:rPr lang="zh-TW" altLang="zh-TW"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多變項迴歸分析的模型可以使用一個以上的干擾因子或交互作用，分析二個因子的交互作（如：抽菸量</a:t>
                </a:r>
                <a14:m>
                  <m:oMath xmlns:m="http://schemas.openxmlformats.org/officeDocument/2006/math">
                    <m:r>
                      <a:rPr lang="en-US" altLang="zh-TW">
                        <a:latin typeface="+mn-lt"/>
                      </a:rPr>
                      <m:t>×</m:t>
                    </m:r>
                  </m:oMath>
                </a14:m>
                <a:r>
                  <a:rPr lang="zh-TW" altLang="zh-TW" dirty="0">
                    <a:latin typeface="微軟正黑體" panose="020B0604030504040204" pitchFamily="34" charset="-120"/>
                    <a:ea typeface="微軟正黑體" panose="020B0604030504040204" pitchFamily="34" charset="-120"/>
                  </a:rPr>
                  <a:t>年齡）也可以擴大分析三個因子的交互作用（如：抽菸量</a:t>
                </a:r>
                <a14:m>
                  <m:oMath xmlns:m="http://schemas.openxmlformats.org/officeDocument/2006/math">
                    <m:r>
                      <a:rPr lang="en-US" altLang="zh-TW">
                        <a:latin typeface="+mn-lt"/>
                      </a:rPr>
                      <m:t>×</m:t>
                    </m:r>
                  </m:oMath>
                </a14:m>
                <a:r>
                  <a:rPr lang="zh-TW" altLang="zh-TW" dirty="0">
                    <a:latin typeface="微軟正黑體" panose="020B0604030504040204" pitchFamily="34" charset="-120"/>
                    <a:ea typeface="微軟正黑體" panose="020B0604030504040204" pitchFamily="34" charset="-120"/>
                  </a:rPr>
                  <a:t>年齡</a:t>
                </a:r>
                <a14:m>
                  <m:oMath xmlns:m="http://schemas.openxmlformats.org/officeDocument/2006/math">
                    <m:r>
                      <a:rPr lang="en-US" altLang="zh-TW">
                        <a:latin typeface="+mn-lt"/>
                      </a:rPr>
                      <m:t>×</m:t>
                    </m:r>
                  </m:oMath>
                </a14:m>
                <a:r>
                  <a:rPr lang="zh-TW" altLang="zh-TW" dirty="0">
                    <a:latin typeface="微軟正黑體" panose="020B0604030504040204" pitchFamily="34" charset="-120"/>
                    <a:ea typeface="微軟正黑體" panose="020B0604030504040204" pitchFamily="34" charset="-120"/>
                  </a:rPr>
                  <a:t>性別），等等。</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solidFill>
                      <a:srgbClr val="C00000"/>
                    </a:solidFill>
                    <a:latin typeface="微軟正黑體" panose="020B0604030504040204" pitchFamily="34" charset="-120"/>
                    <a:ea typeface="微軟正黑體" panose="020B0604030504040204" pitchFamily="34" charset="-120"/>
                  </a:rPr>
                  <a:t>三個</a:t>
                </a:r>
                <a:r>
                  <a:rPr lang="zh-TW" altLang="en-US" dirty="0">
                    <a:solidFill>
                      <a:srgbClr val="C00000"/>
                    </a:solidFill>
                    <a:latin typeface="微軟正黑體" panose="020B0604030504040204" pitchFamily="34" charset="-120"/>
                    <a:ea typeface="微軟正黑體" panose="020B0604030504040204" pitchFamily="34" charset="-120"/>
                  </a:rPr>
                  <a:t>以上</a:t>
                </a:r>
                <a:r>
                  <a:rPr lang="zh-TW" altLang="zh-TW" dirty="0">
                    <a:solidFill>
                      <a:srgbClr val="C00000"/>
                    </a:solidFill>
                    <a:latin typeface="微軟正黑體" panose="020B0604030504040204" pitchFamily="34" charset="-120"/>
                    <a:ea typeface="微軟正黑體" panose="020B0604030504040204" pitchFamily="34" charset="-120"/>
                  </a:rPr>
                  <a:t>因子的交互作用的解釋相當複雜</a:t>
                </a:r>
                <a:r>
                  <a:rPr lang="zh-TW" altLang="zh-TW" dirty="0">
                    <a:latin typeface="微軟正黑體" panose="020B0604030504040204" pitchFamily="34" charset="-120"/>
                    <a:ea typeface="微軟正黑體" panose="020B0604030504040204" pitchFamily="34" charset="-120"/>
                  </a:rPr>
                  <a:t>，通常替代的方法是使用</a:t>
                </a:r>
                <a:r>
                  <a:rPr lang="zh-TW" altLang="zh-TW" b="1" dirty="0">
                    <a:latin typeface="微軟正黑體" panose="020B0604030504040204" pitchFamily="34" charset="-120"/>
                    <a:ea typeface="微軟正黑體" panose="020B0604030504040204" pitchFamily="34" charset="-120"/>
                  </a:rPr>
                  <a:t>分層分析</a:t>
                </a:r>
                <a:r>
                  <a:rPr lang="zh-TW"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457200" y="1844824"/>
                <a:ext cx="8229600" cy="5472608"/>
              </a:xfrm>
              <a:blipFill>
                <a:blip r:embed="rId2"/>
                <a:stretch>
                  <a:fillRect l="-741" r="-1852"/>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C68121D2-9246-4B52-9877-10E6A7AF0C69}" type="slidenum">
              <a:rPr lang="zh-TW" altLang="en-US" smtClean="0"/>
              <a:pPr/>
              <a:t>23</a:t>
            </a:fld>
            <a:endParaRPr lang="zh-TW" altLang="en-US"/>
          </a:p>
        </p:txBody>
      </p:sp>
    </p:spTree>
    <p:extLst>
      <p:ext uri="{BB962C8B-B14F-4D97-AF65-F5344CB8AC3E}">
        <p14:creationId xmlns:p14="http://schemas.microsoft.com/office/powerpoint/2010/main" val="14196979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457200" y="1988840"/>
            <a:ext cx="8229600" cy="5458611"/>
          </a:xfrm>
        </p:spPr>
        <p:txBody>
          <a:bodyPr>
            <a:normAutofit/>
          </a:bodyPr>
          <a:lstStyle/>
          <a:p>
            <a:pPr>
              <a:lnSpc>
                <a:spcPct val="150000"/>
              </a:lnSpc>
            </a:pPr>
            <a:r>
              <a:rPr lang="zh-TW" altLang="zh-TW" dirty="0">
                <a:latin typeface="微軟正黑體" panose="020B0604030504040204" pitchFamily="34" charset="-120"/>
                <a:ea typeface="微軟正黑體" panose="020B0604030504040204" pitchFamily="34" charset="-120"/>
              </a:rPr>
              <a:t>以</a:t>
            </a:r>
            <a:r>
              <a:rPr lang="zh-TW" altLang="en-US" dirty="0">
                <a:latin typeface="微軟正黑體" panose="020B0604030504040204" pitchFamily="34" charset="-120"/>
                <a:ea typeface="微軟正黑體" panose="020B0604030504040204" pitchFamily="34" charset="-120"/>
              </a:rPr>
              <a:t>腰圍</a:t>
            </a:r>
            <a:r>
              <a:rPr lang="zh-TW" altLang="zh-TW" dirty="0">
                <a:latin typeface="微軟正黑體" panose="020B0604030504040204" pitchFamily="34" charset="-120"/>
                <a:ea typeface="微軟正黑體" panose="020B0604030504040204" pitchFamily="34" charset="-120"/>
              </a:rPr>
              <a:t>的研究為例，</a:t>
            </a:r>
            <a:r>
              <a:rPr lang="zh-TW" altLang="zh-TW" dirty="0">
                <a:solidFill>
                  <a:srgbClr val="002060"/>
                </a:solidFill>
                <a:latin typeface="微軟正黑體" panose="020B0604030504040204" pitchFamily="34" charset="-120"/>
                <a:ea typeface="微軟正黑體" panose="020B0604030504040204" pitchFamily="34" charset="-120"/>
              </a:rPr>
              <a:t>可將分析的資料分成男女二層</a:t>
            </a:r>
            <a:r>
              <a:rPr lang="zh-TW" altLang="zh-TW" dirty="0">
                <a:latin typeface="微軟正黑體" panose="020B0604030504040204" pitchFamily="34" charset="-120"/>
                <a:ea typeface="微軟正黑體" panose="020B0604030504040204" pitchFamily="34" charset="-120"/>
              </a:rPr>
              <a:t>，然後使用廻歸模型個別分析層內資料並下結論。</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這種作法的</a:t>
            </a:r>
            <a:r>
              <a:rPr lang="zh-TW" altLang="zh-TW" b="1" dirty="0">
                <a:solidFill>
                  <a:srgbClr val="002060"/>
                </a:solidFill>
                <a:latin typeface="微軟正黑體" panose="020B0604030504040204" pitchFamily="34" charset="-120"/>
                <a:ea typeface="微軟正黑體" panose="020B0604030504040204" pitchFamily="34" charset="-120"/>
              </a:rPr>
              <a:t>好處</a:t>
            </a:r>
            <a:r>
              <a:rPr lang="zh-TW" altLang="zh-TW" dirty="0">
                <a:latin typeface="微軟正黑體" panose="020B0604030504040204" pitchFamily="34" charset="-120"/>
                <a:ea typeface="微軟正黑體" panose="020B0604030504040204" pitchFamily="34" charset="-120"/>
              </a:rPr>
              <a:t>是分析模型中不必考慮複雜的交互作用，但</a:t>
            </a:r>
            <a:r>
              <a:rPr lang="zh-TW" altLang="zh-TW" b="1" dirty="0">
                <a:solidFill>
                  <a:srgbClr val="002060"/>
                </a:solidFill>
                <a:latin typeface="微軟正黑體" panose="020B0604030504040204" pitchFamily="34" charset="-120"/>
                <a:ea typeface="微軟正黑體" panose="020B0604030504040204" pitchFamily="34" charset="-120"/>
              </a:rPr>
              <a:t>缺點</a:t>
            </a:r>
            <a:r>
              <a:rPr lang="zh-TW" altLang="zh-TW" dirty="0">
                <a:latin typeface="微軟正黑體" panose="020B0604030504040204" pitchFamily="34" charset="-120"/>
                <a:ea typeface="微軟正黑體" panose="020B0604030504040204" pitchFamily="34" charset="-120"/>
              </a:rPr>
              <a:t>是層內資料會變少檢定力會變低，風險因子有可能得不到顯著的分析結果。因此，若是某一層的資料明顯的不足時，分層分析可能就不適合。</a:t>
            </a:r>
            <a:endParaRPr lang="en-US" altLang="zh-TW" dirty="0">
              <a:latin typeface="微軟正黑體" panose="020B0604030504040204" pitchFamily="34" charset="-120"/>
              <a:ea typeface="微軟正黑體" panose="020B0604030504040204" pitchFamily="34" charset="-120"/>
            </a:endParaRPr>
          </a:p>
          <a:p>
            <a:pPr>
              <a:lnSpc>
                <a:spcPct val="150000"/>
              </a:lnSpc>
            </a:pPr>
            <a:r>
              <a:rPr lang="zh-TW" altLang="zh-TW" dirty="0">
                <a:latin typeface="微軟正黑體" panose="020B0604030504040204" pitchFamily="34" charset="-120"/>
                <a:ea typeface="微軟正黑體" panose="020B0604030504040204" pitchFamily="34" charset="-120"/>
              </a:rPr>
              <a:t>以下我們用性別分層</a:t>
            </a:r>
            <a:r>
              <a:rPr lang="zh-TW" altLang="en-US" dirty="0">
                <a:latin typeface="微軟正黑體" panose="020B0604030504040204" pitchFamily="34" charset="-120"/>
                <a:ea typeface="微軟正黑體" panose="020B0604030504040204" pitchFamily="34" charset="-120"/>
              </a:rPr>
              <a:t>，</a:t>
            </a:r>
            <a:r>
              <a:rPr lang="zh-TW" altLang="zh-TW" dirty="0">
                <a:latin typeface="微軟正黑體" panose="020B0604030504040204" pitchFamily="34" charset="-120"/>
                <a:ea typeface="微軟正黑體" panose="020B0604030504040204" pitchFamily="34" charset="-120"/>
              </a:rPr>
              <a:t>將資料分成男女二層， 分別有</a:t>
            </a:r>
            <a:r>
              <a:rPr lang="en-US" altLang="zh-TW" dirty="0">
                <a:latin typeface="微軟正黑體" panose="020B0604030504040204" pitchFamily="34" charset="-120"/>
                <a:ea typeface="微軟正黑體" panose="020B0604030504040204" pitchFamily="34" charset="-120"/>
              </a:rPr>
              <a:t> 24051</a:t>
            </a:r>
            <a:r>
              <a:rPr lang="zh-TW" altLang="zh-TW" dirty="0">
                <a:latin typeface="微軟正黑體" panose="020B0604030504040204" pitchFamily="34" charset="-120"/>
                <a:ea typeface="微軟正黑體" panose="020B0604030504040204" pitchFamily="34" charset="-120"/>
              </a:rPr>
              <a:t>及</a:t>
            </a:r>
            <a:r>
              <a:rPr lang="en-US" altLang="zh-TW" dirty="0">
                <a:latin typeface="微軟正黑體" panose="020B0604030504040204" pitchFamily="34" charset="-120"/>
                <a:ea typeface="微軟正黑體" panose="020B0604030504040204" pitchFamily="34" charset="-120"/>
              </a:rPr>
              <a:t> 40438</a:t>
            </a:r>
            <a:r>
              <a:rPr lang="zh-TW" altLang="zh-TW" dirty="0">
                <a:latin typeface="微軟正黑體" panose="020B0604030504040204" pitchFamily="34" charset="-120"/>
                <a:ea typeface="微軟正黑體" panose="020B0604030504040204" pitchFamily="34" charset="-120"/>
              </a:rPr>
              <a:t>筆資料。 </a:t>
            </a:r>
            <a:endParaRPr lang="zh-TW" altLang="en-US" dirty="0">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C68121D2-9246-4B52-9877-10E6A7AF0C69}" type="slidenum">
              <a:rPr lang="zh-TW" altLang="en-US" smtClean="0"/>
              <a:pPr/>
              <a:t>24</a:t>
            </a:fld>
            <a:endParaRPr lang="zh-TW" altLang="en-US"/>
          </a:p>
        </p:txBody>
      </p:sp>
    </p:spTree>
    <p:extLst>
      <p:ext uri="{BB962C8B-B14F-4D97-AF65-F5344CB8AC3E}">
        <p14:creationId xmlns:p14="http://schemas.microsoft.com/office/powerpoint/2010/main" val="1899551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457200" y="274639"/>
            <a:ext cx="8229600" cy="490066"/>
          </a:xfrm>
        </p:spPr>
        <p:txBody>
          <a:bodyPr>
            <a:normAutofit fontScale="90000"/>
          </a:bodyPr>
          <a:lstStyle/>
          <a:p>
            <a:r>
              <a:rPr lang="en-US" altLang="zh-TW" dirty="0">
                <a:latin typeface="微軟正黑體" panose="020B0604030504040204" pitchFamily="34" charset="-120"/>
                <a:ea typeface="微軟正黑體" panose="020B0604030504040204" pitchFamily="34" charset="-120"/>
              </a:rPr>
              <a:t>SPSS</a:t>
            </a:r>
            <a:endParaRPr lang="zh-TW" altLang="en-US" dirty="0">
              <a:latin typeface="微軟正黑體" panose="020B0604030504040204" pitchFamily="34" charset="-120"/>
              <a:ea typeface="微軟正黑體" panose="020B0604030504040204" pitchFamily="34" charset="-120"/>
            </a:endParaRPr>
          </a:p>
        </p:txBody>
      </p:sp>
      <mc:AlternateContent xmlns:mc="http://schemas.openxmlformats.org/markup-compatibility/2006">
        <mc:Choice xmlns:a14="http://schemas.microsoft.com/office/drawing/2010/main" Requires="a14">
          <p:sp>
            <p:nvSpPr>
              <p:cNvPr id="2" name="內容版面配置區 1"/>
              <p:cNvSpPr>
                <a:spLocks noGrp="1"/>
              </p:cNvSpPr>
              <p:nvPr>
                <p:ph idx="1"/>
              </p:nvPr>
            </p:nvSpPr>
            <p:spPr>
              <a:xfrm>
                <a:off x="457200" y="521519"/>
                <a:ext cx="8229600" cy="5242587"/>
              </a:xfrm>
            </p:spPr>
            <p:txBody>
              <a:bodyPr>
                <a:normAutofit/>
              </a:bodyPr>
              <a:lstStyle/>
              <a:p>
                <a:pPr>
                  <a:lnSpc>
                    <a:spcPct val="150000"/>
                  </a:lnSpc>
                </a:pPr>
                <a:r>
                  <a:rPr lang="zh-TW" altLang="en-US" sz="2200" dirty="0">
                    <a:latin typeface="微軟正黑體" panose="020B0604030504040204" pitchFamily="34" charset="-120"/>
                    <a:ea typeface="微軟正黑體" panose="020B0604030504040204" pitchFamily="34" charset="-120"/>
                  </a:rPr>
                  <a:t>檔案分割</a:t>
                </a:r>
                <a:r>
                  <a:rPr lang="en-US" altLang="zh-TW" sz="2200" dirty="0">
                    <a:latin typeface="微軟正黑體" panose="020B0604030504040204" pitchFamily="34" charset="-120"/>
                    <a:ea typeface="微軟正黑體" panose="020B0604030504040204" pitchFamily="34" charset="-120"/>
                  </a:rPr>
                  <a:t>-&gt;</a:t>
                </a:r>
                <a:r>
                  <a:rPr lang="zh-TW" altLang="en-US" sz="2200" dirty="0">
                    <a:latin typeface="微軟正黑體" panose="020B0604030504040204" pitchFamily="34" charset="-120"/>
                    <a:ea typeface="微軟正黑體" panose="020B0604030504040204" pitchFamily="34" charset="-120"/>
                  </a:rPr>
                  <a:t>性別為分組變數輸出結果</a:t>
                </a:r>
                <a:endParaRPr lang="en-US" altLang="zh-TW" sz="2200" dirty="0">
                  <a:latin typeface="微軟正黑體" panose="020B0604030504040204" pitchFamily="34" charset="-120"/>
                  <a:ea typeface="微軟正黑體" panose="020B0604030504040204" pitchFamily="34" charset="-120"/>
                </a:endParaRPr>
              </a:p>
              <a:p>
                <a:pPr>
                  <a:lnSpc>
                    <a:spcPct val="150000"/>
                  </a:lnSpc>
                </a:pPr>
                <a:r>
                  <a:rPr lang="zh-TW" altLang="zh-TW" sz="2200" dirty="0">
                    <a:latin typeface="微軟正黑體" panose="020B0604030504040204" pitchFamily="34" charset="-120"/>
                    <a:ea typeface="微軟正黑體" panose="020B0604030504040204" pitchFamily="34" charset="-120"/>
                  </a:rPr>
                  <a:t>以點選方式選用路徑</a:t>
                </a:r>
                <a:r>
                  <a:rPr lang="en-US" altLang="zh-TW" sz="2200" b="1"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sz="2200" dirty="0">
                    <a:latin typeface="微軟正黑體" panose="020B0604030504040204" pitchFamily="34" charset="-120"/>
                    <a:ea typeface="微軟正黑體" panose="020B0604030504040204" pitchFamily="34" charset="-120"/>
                  </a:rPr>
                  <a:t>分析</a:t>
                </a:r>
                <a:r>
                  <a:rPr lang="en-US" altLang="zh-TW" sz="2200" b="1" dirty="0">
                    <a:latin typeface="微軟正黑體" panose="020B0604030504040204" pitchFamily="34" charset="-120"/>
                    <a:ea typeface="微軟正黑體" panose="020B0604030504040204" pitchFamily="34" charset="-120"/>
                    <a:sym typeface="Wingdings" panose="05000000000000000000" pitchFamily="2" charset="2"/>
                  </a:rPr>
                  <a:t></a:t>
                </a:r>
                <a:r>
                  <a:rPr lang="en-US" altLang="zh-TW" sz="2200" dirty="0">
                    <a:latin typeface="微軟正黑體" panose="020B0604030504040204" pitchFamily="34" charset="-120"/>
                    <a:ea typeface="微軟正黑體" panose="020B0604030504040204" pitchFamily="34" charset="-120"/>
                  </a:rPr>
                  <a:t> </a:t>
                </a:r>
                <a:r>
                  <a:rPr lang="zh-TW" altLang="en-US" sz="2200" dirty="0">
                    <a:latin typeface="微軟正黑體" panose="020B0604030504040204" pitchFamily="34" charset="-120"/>
                    <a:ea typeface="微軟正黑體" panose="020B0604030504040204" pitchFamily="34" charset="-120"/>
                  </a:rPr>
                  <a:t>迴歸</a:t>
                </a:r>
                <a:r>
                  <a:rPr lang="en-US" altLang="zh-TW" sz="2200" b="1"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2200" dirty="0">
                    <a:latin typeface="微軟正黑體" panose="020B0604030504040204" pitchFamily="34" charset="-120"/>
                    <a:ea typeface="微軟正黑體" panose="020B0604030504040204" pitchFamily="34" charset="-120"/>
                  </a:rPr>
                  <a:t>線性</a:t>
                </a:r>
                <a:r>
                  <a:rPr lang="zh-TW" altLang="zh-TW" sz="2200" dirty="0">
                    <a:latin typeface="微軟正黑體" panose="020B0604030504040204" pitchFamily="34" charset="-120"/>
                    <a:ea typeface="微軟正黑體" panose="020B0604030504040204" pitchFamily="34" charset="-120"/>
                  </a:rPr>
                  <a:t>：選擇依變數</a:t>
                </a:r>
                <a:r>
                  <a:rPr lang="en-US" altLang="zh-TW" sz="2200" dirty="0">
                    <a:latin typeface="微軟正黑體" panose="020B0604030504040204" pitchFamily="34" charset="-120"/>
                    <a:ea typeface="微軟正黑體" panose="020B0604030504040204" pitchFamily="34" charset="-120"/>
                  </a:rPr>
                  <a:t>: </a:t>
                </a:r>
                <a:r>
                  <a:rPr lang="zh-TW" altLang="en-US" sz="2200" dirty="0">
                    <a:latin typeface="微軟正黑體" panose="020B0604030504040204" pitchFamily="34" charset="-120"/>
                    <a:ea typeface="微軟正黑體" panose="020B0604030504040204" pitchFamily="34" charset="-120"/>
                  </a:rPr>
                  <a:t>腰圍</a:t>
                </a:r>
                <a:r>
                  <a:rPr lang="zh-TW" altLang="zh-TW" sz="2200" dirty="0">
                    <a:latin typeface="微軟正黑體" panose="020B0604030504040204" pitchFamily="34" charset="-120"/>
                    <a:ea typeface="微軟正黑體" panose="020B0604030504040204" pitchFamily="34" charset="-120"/>
                  </a:rPr>
                  <a:t>；自變數：抽菸量，年齡</a:t>
                </a:r>
                <a:r>
                  <a:rPr lang="zh-TW" altLang="zh-TW" sz="2200" b="1" dirty="0">
                    <a:latin typeface="微軟正黑體" panose="020B0604030504040204" pitchFamily="34" charset="-120"/>
                    <a:ea typeface="微軟正黑體" panose="020B0604030504040204" pitchFamily="34" charset="-120"/>
                  </a:rPr>
                  <a:t>；</a:t>
                </a:r>
                <a:r>
                  <a:rPr lang="zh-TW" altLang="en-US" sz="2200" b="1" dirty="0">
                    <a:latin typeface="微軟正黑體" panose="020B0604030504040204" pitchFamily="34" charset="-120"/>
                    <a:ea typeface="微軟正黑體" panose="020B0604030504040204" pitchFamily="34" charset="-120"/>
                  </a:rPr>
                  <a:t>模型</a:t>
                </a:r>
                <a:r>
                  <a:rPr lang="en-US" altLang="zh-TW" sz="2200" b="1" dirty="0">
                    <a:latin typeface="微軟正黑體" panose="020B0604030504040204" pitchFamily="34" charset="-120"/>
                    <a:ea typeface="微軟正黑體" panose="020B0604030504040204" pitchFamily="34" charset="-120"/>
                  </a:rPr>
                  <a:t>: </a:t>
                </a:r>
                <a:r>
                  <a:rPr lang="zh-TW" altLang="en-US" sz="2200" b="1" dirty="0">
                    <a:latin typeface="微軟正黑體" panose="020B0604030504040204" pitchFamily="34" charset="-120"/>
                    <a:ea typeface="微軟正黑體" panose="020B0604030504040204" pitchFamily="34" charset="-120"/>
                  </a:rPr>
                  <a:t>主效果</a:t>
                </a:r>
                <a:r>
                  <a:rPr lang="en-US" altLang="zh-TW" sz="2200" b="1" dirty="0">
                    <a:latin typeface="微軟正黑體" panose="020B0604030504040204" pitchFamily="34" charset="-120"/>
                    <a:ea typeface="微軟正黑體" panose="020B0604030504040204" pitchFamily="34" charset="-120"/>
                  </a:rPr>
                  <a:t>+</a:t>
                </a:r>
                <a:r>
                  <a:rPr lang="zh-TW" altLang="zh-TW" sz="2200" b="1" dirty="0">
                    <a:latin typeface="微軟正黑體" panose="020B0604030504040204" pitchFamily="34" charset="-120"/>
                    <a:ea typeface="微軟正黑體" panose="020B0604030504040204" pitchFamily="34" charset="-120"/>
                  </a:rPr>
                  <a:t>交互作用項</a:t>
                </a:r>
                <a:r>
                  <a:rPr lang="en-US" altLang="zh-TW" sz="2200" dirty="0">
                    <a:latin typeface="微軟正黑體" panose="020B0604030504040204" pitchFamily="34" charset="-120"/>
                    <a:ea typeface="微軟正黑體" panose="020B0604030504040204" pitchFamily="34" charset="-120"/>
                  </a:rPr>
                  <a:t>: </a:t>
                </a:r>
                <a:r>
                  <a:rPr lang="zh-TW" altLang="zh-TW" sz="2200" dirty="0">
                    <a:latin typeface="微軟正黑體" panose="020B0604030504040204" pitchFamily="34" charset="-120"/>
                    <a:ea typeface="微軟正黑體" panose="020B0604030504040204" pitchFamily="34" charset="-120"/>
                  </a:rPr>
                  <a:t>抽菸量</a:t>
                </a:r>
                <a14:m>
                  <m:oMath xmlns:m="http://schemas.openxmlformats.org/officeDocument/2006/math">
                    <m:r>
                      <a:rPr lang="en-US" altLang="zh-TW" sz="2200">
                        <a:latin typeface="+mn-lt"/>
                      </a:rPr>
                      <m:t>×</m:t>
                    </m:r>
                  </m:oMath>
                </a14:m>
                <a:r>
                  <a:rPr lang="zh-TW" altLang="zh-TW" sz="2200" dirty="0">
                    <a:latin typeface="微軟正黑體" panose="020B0604030504040204" pitchFamily="34" charset="-120"/>
                    <a:ea typeface="微軟正黑體" panose="020B0604030504040204" pitchFamily="34" charset="-120"/>
                  </a:rPr>
                  <a:t>年齡</a:t>
                </a:r>
                <a:r>
                  <a:rPr lang="en-US" altLang="zh-TW" sz="2200" b="1" dirty="0">
                    <a:latin typeface="微軟正黑體" panose="020B0604030504040204" pitchFamily="34" charset="-120"/>
                    <a:ea typeface="微軟正黑體" panose="020B0604030504040204" pitchFamily="34" charset="-120"/>
                    <a:sym typeface="Wingdings" panose="05000000000000000000" pitchFamily="2" charset="2"/>
                  </a:rPr>
                  <a:t></a:t>
                </a:r>
                <a:r>
                  <a:rPr lang="zh-TW" altLang="zh-TW" sz="2200" b="1" dirty="0">
                    <a:latin typeface="微軟正黑體" panose="020B0604030504040204" pitchFamily="34" charset="-120"/>
                    <a:ea typeface="微軟正黑體" panose="020B0604030504040204" pitchFamily="34" charset="-120"/>
                  </a:rPr>
                  <a:t>開始分析</a:t>
                </a:r>
                <a:endParaRPr lang="en-US" altLang="zh-TW" sz="2200" b="1" dirty="0">
                  <a:latin typeface="微軟正黑體" panose="020B0604030504040204" pitchFamily="34" charset="-120"/>
                  <a:ea typeface="微軟正黑體" panose="020B0604030504040204" pitchFamily="34" charset="-120"/>
                </a:endParaRPr>
              </a:p>
              <a:p>
                <a:pPr marL="109728" indent="0" algn="ctr">
                  <a:lnSpc>
                    <a:spcPct val="150000"/>
                  </a:lnSpc>
                  <a:buNone/>
                </a:pPr>
                <a:r>
                  <a:rPr lang="zh-TW" altLang="zh-TW" sz="2200" dirty="0">
                    <a:latin typeface="微軟正黑體" panose="020B0604030504040204" pitchFamily="34" charset="-120"/>
                    <a:ea typeface="微軟正黑體" panose="020B0604030504040204" pitchFamily="34" charset="-120"/>
                  </a:rPr>
                  <a:t>年齡和抽菸量交互作用對心血管疾病的影響 （女性）</a:t>
                </a:r>
              </a:p>
              <a:p>
                <a:endParaRPr lang="zh-TW" altLang="en-US" dirty="0">
                  <a:latin typeface="微軟正黑體" panose="020B0604030504040204" pitchFamily="34" charset="-120"/>
                  <a:ea typeface="微軟正黑體" panose="020B0604030504040204" pitchFamily="34" charset="-120"/>
                </a:endParaRPr>
              </a:p>
            </p:txBody>
          </p:sp>
        </mc:Choice>
        <mc:Fallback>
          <p:sp>
            <p:nvSpPr>
              <p:cNvPr id="2" name="內容版面配置區 1"/>
              <p:cNvSpPr>
                <a:spLocks noGrp="1" noRot="1" noChangeAspect="1" noMove="1" noResize="1" noEditPoints="1" noAdjustHandles="1" noChangeArrowheads="1" noChangeShapeType="1" noTextEdit="1"/>
              </p:cNvSpPr>
              <p:nvPr>
                <p:ph idx="1"/>
              </p:nvPr>
            </p:nvSpPr>
            <p:spPr>
              <a:xfrm>
                <a:off x="457200" y="521519"/>
                <a:ext cx="8229600" cy="5242587"/>
              </a:xfrm>
              <a:blipFill>
                <a:blip r:embed="rId2"/>
                <a:stretch>
                  <a:fillRect l="-963" r="-519"/>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C68121D2-9246-4B52-9877-10E6A7AF0C69}" type="slidenum">
              <a:rPr lang="zh-TW" altLang="en-US" smtClean="0"/>
              <a:pPr/>
              <a:t>25</a:t>
            </a:fld>
            <a:endParaRPr lang="zh-TW" altLang="en-US"/>
          </a:p>
        </p:txBody>
      </p:sp>
      <p:pic>
        <p:nvPicPr>
          <p:cNvPr id="6" name="圖片 5" descr="一張含有 文字, 螢幕擷取畫面, 數字, 字型 的圖片&#10;&#10;自動產生的描述">
            <a:extLst>
              <a:ext uri="{FF2B5EF4-FFF2-40B4-BE49-F238E27FC236}">
                <a16:creationId xmlns:a16="http://schemas.microsoft.com/office/drawing/2014/main" id="{92E36A6B-9057-D748-FB21-C37C417868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7744" y="3494449"/>
            <a:ext cx="4887007" cy="2742863"/>
          </a:xfrm>
          <a:prstGeom prst="rect">
            <a:avLst/>
          </a:prstGeom>
        </p:spPr>
      </p:pic>
      <p:sp>
        <p:nvSpPr>
          <p:cNvPr id="9" name="文字方塊 8">
            <a:extLst>
              <a:ext uri="{FF2B5EF4-FFF2-40B4-BE49-F238E27FC236}">
                <a16:creationId xmlns:a16="http://schemas.microsoft.com/office/drawing/2014/main" id="{8238E773-01CF-3D09-5687-B5797A2AF71E}"/>
              </a:ext>
            </a:extLst>
          </p:cNvPr>
          <p:cNvSpPr txBox="1"/>
          <p:nvPr/>
        </p:nvSpPr>
        <p:spPr>
          <a:xfrm>
            <a:off x="3419872" y="6218984"/>
            <a:ext cx="6912768" cy="473206"/>
          </a:xfrm>
          <a:prstGeom prst="rect">
            <a:avLst/>
          </a:prstGeom>
          <a:noFill/>
        </p:spPr>
        <p:txBody>
          <a:bodyPr wrap="square">
            <a:spAutoFit/>
          </a:bodyPr>
          <a:lstStyle/>
          <a:p>
            <a:pPr>
              <a:lnSpc>
                <a:spcPct val="150000"/>
              </a:lnSpc>
            </a:pPr>
            <a:r>
              <a:rPr lang="zh-TW" altLang="zh-TW" dirty="0"/>
              <a:t>針對女性而言，</a:t>
            </a:r>
            <a:r>
              <a:rPr lang="zh-TW" altLang="en-US" dirty="0"/>
              <a:t>交互作用不</a:t>
            </a:r>
            <a:r>
              <a:rPr lang="zh-TW" altLang="zh-TW" dirty="0"/>
              <a:t>是風險因子</a:t>
            </a:r>
            <a:endParaRPr lang="en-US" altLang="zh-TW" dirty="0">
              <a:solidFill>
                <a:srgbClr val="002060"/>
              </a:solidFill>
            </a:endParaRPr>
          </a:p>
        </p:txBody>
      </p:sp>
    </p:spTree>
    <p:extLst>
      <p:ext uri="{BB962C8B-B14F-4D97-AF65-F5344CB8AC3E}">
        <p14:creationId xmlns:p14="http://schemas.microsoft.com/office/powerpoint/2010/main" val="18817455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457200" y="476672"/>
            <a:ext cx="8435280" cy="5832648"/>
          </a:xfrm>
        </p:spPr>
        <p:txBody>
          <a:bodyPr>
            <a:normAutofit/>
          </a:bodyPr>
          <a:lstStyle/>
          <a:p>
            <a:pPr marL="109728" indent="0" algn="ctr">
              <a:buNone/>
            </a:pPr>
            <a:r>
              <a:rPr lang="zh-TW" altLang="zh-TW" sz="2000" dirty="0">
                <a:latin typeface="微軟正黑體" panose="020B0604030504040204" pitchFamily="34" charset="-120"/>
                <a:ea typeface="微軟正黑體" panose="020B0604030504040204" pitchFamily="34" charset="-120"/>
              </a:rPr>
              <a:t>年齡和抽菸量交互作用對心血管疾病的影響 （男性）</a:t>
            </a:r>
            <a:endParaRPr lang="en-US" altLang="zh-TW" sz="2000" dirty="0">
              <a:latin typeface="微軟正黑體" panose="020B0604030504040204" pitchFamily="34" charset="-120"/>
              <a:ea typeface="微軟正黑體" panose="020B0604030504040204" pitchFamily="34" charset="-120"/>
            </a:endParaRPr>
          </a:p>
          <a:p>
            <a:pPr marL="109728" indent="0" algn="ctr">
              <a:buNone/>
            </a:pPr>
            <a:endParaRPr lang="en-US" altLang="zh-TW" sz="2000" dirty="0">
              <a:latin typeface="微軟正黑體" panose="020B0604030504040204" pitchFamily="34" charset="-120"/>
              <a:ea typeface="微軟正黑體" panose="020B0604030504040204" pitchFamily="34" charset="-120"/>
            </a:endParaRPr>
          </a:p>
          <a:p>
            <a:pPr marL="109728" indent="0" algn="ctr">
              <a:buNone/>
            </a:pPr>
            <a:endParaRPr lang="en-US" altLang="zh-TW" sz="2000" dirty="0">
              <a:latin typeface="微軟正黑體" panose="020B0604030504040204" pitchFamily="34" charset="-120"/>
              <a:ea typeface="微軟正黑體" panose="020B0604030504040204" pitchFamily="34" charset="-120"/>
            </a:endParaRPr>
          </a:p>
          <a:p>
            <a:pPr marL="109728" indent="0" algn="ctr">
              <a:buNone/>
            </a:pPr>
            <a:endParaRPr lang="en-US" altLang="zh-TW" sz="2000" dirty="0">
              <a:latin typeface="微軟正黑體" panose="020B0604030504040204" pitchFamily="34" charset="-120"/>
              <a:ea typeface="微軟正黑體" panose="020B0604030504040204" pitchFamily="34" charset="-120"/>
            </a:endParaRPr>
          </a:p>
          <a:p>
            <a:pPr marL="109728" indent="0" algn="ctr">
              <a:buNone/>
            </a:pPr>
            <a:endParaRPr lang="en-US" altLang="zh-TW" sz="2000" dirty="0">
              <a:latin typeface="微軟正黑體" panose="020B0604030504040204" pitchFamily="34" charset="-120"/>
              <a:ea typeface="微軟正黑體" panose="020B0604030504040204" pitchFamily="34" charset="-120"/>
            </a:endParaRPr>
          </a:p>
          <a:p>
            <a:pPr marL="109728" indent="0" algn="ctr">
              <a:buNone/>
            </a:pPr>
            <a:endParaRPr lang="en-US" altLang="zh-TW" sz="2000" dirty="0">
              <a:latin typeface="微軟正黑體" panose="020B0604030504040204" pitchFamily="34" charset="-120"/>
              <a:ea typeface="微軟正黑體" panose="020B0604030504040204" pitchFamily="34" charset="-120"/>
            </a:endParaRPr>
          </a:p>
          <a:p>
            <a:pPr marL="109728" indent="0" algn="ctr">
              <a:buNone/>
            </a:pPr>
            <a:endParaRPr lang="en-US" altLang="zh-TW" sz="2000" dirty="0">
              <a:latin typeface="微軟正黑體" panose="020B0604030504040204" pitchFamily="34" charset="-120"/>
              <a:ea typeface="微軟正黑體" panose="020B0604030504040204" pitchFamily="34" charset="-120"/>
            </a:endParaRPr>
          </a:p>
          <a:p>
            <a:pPr marL="109728" indent="0" algn="ctr">
              <a:buNone/>
            </a:pPr>
            <a:endParaRPr lang="en-US" altLang="zh-TW" sz="2000" dirty="0">
              <a:latin typeface="微軟正黑體" panose="020B0604030504040204" pitchFamily="34" charset="-120"/>
              <a:ea typeface="微軟正黑體" panose="020B0604030504040204" pitchFamily="34" charset="-120"/>
            </a:endParaRPr>
          </a:p>
          <a:p>
            <a:pPr marL="109728" indent="0" algn="ctr">
              <a:buNone/>
            </a:pPr>
            <a:endParaRPr lang="en-US" altLang="zh-TW" sz="2000" dirty="0">
              <a:latin typeface="微軟正黑體" panose="020B0604030504040204" pitchFamily="34" charset="-120"/>
              <a:ea typeface="微軟正黑體" panose="020B0604030504040204" pitchFamily="34" charset="-120"/>
            </a:endParaRPr>
          </a:p>
          <a:p>
            <a:pPr>
              <a:lnSpc>
                <a:spcPct val="150000"/>
              </a:lnSpc>
            </a:pPr>
            <a:endParaRPr lang="en-US" altLang="zh-TW" sz="2400" dirty="0">
              <a:latin typeface="微軟正黑體" panose="020B0604030504040204" pitchFamily="34" charset="-120"/>
              <a:ea typeface="微軟正黑體" panose="020B0604030504040204" pitchFamily="34" charset="-120"/>
            </a:endParaRPr>
          </a:p>
          <a:p>
            <a:pPr>
              <a:lnSpc>
                <a:spcPct val="150000"/>
              </a:lnSpc>
            </a:pPr>
            <a:r>
              <a:rPr lang="zh-TW" altLang="zh-TW" sz="2400" dirty="0">
                <a:latin typeface="微軟正黑體" panose="020B0604030504040204" pitchFamily="34" charset="-120"/>
                <a:ea typeface="微軟正黑體" panose="020B0604030504040204" pitchFamily="34" charset="-120"/>
              </a:rPr>
              <a:t>針對男性而言：年齡</a:t>
            </a:r>
            <a:r>
              <a:rPr lang="zh-TW" altLang="en-US" sz="2400" dirty="0">
                <a:latin typeface="微軟正黑體" panose="020B0604030504040204" pitchFamily="34" charset="-120"/>
                <a:ea typeface="微軟正黑體" panose="020B0604030504040204" pitchFamily="34" charset="-120"/>
              </a:rPr>
              <a:t>和交互作用</a:t>
            </a:r>
            <a:r>
              <a:rPr lang="zh-TW" altLang="zh-TW" sz="2400" dirty="0">
                <a:latin typeface="微軟正黑體" panose="020B0604030504040204" pitchFamily="34" charset="-120"/>
                <a:ea typeface="微軟正黑體" panose="020B0604030504040204" pitchFamily="34" charset="-120"/>
              </a:rPr>
              <a:t>是</a:t>
            </a:r>
            <a:r>
              <a:rPr lang="zh-TW" altLang="en-US" sz="2400" dirty="0">
                <a:latin typeface="微軟正黑體" panose="020B0604030504040204" pitchFamily="34" charset="-120"/>
                <a:ea typeface="微軟正黑體" panose="020B0604030504040204" pitchFamily="34" charset="-120"/>
              </a:rPr>
              <a:t>腰圍的影響</a:t>
            </a:r>
            <a:r>
              <a:rPr lang="zh-TW" altLang="zh-TW" sz="2400" dirty="0">
                <a:latin typeface="微軟正黑體" panose="020B0604030504040204" pitchFamily="34" charset="-120"/>
                <a:ea typeface="微軟正黑體" panose="020B0604030504040204" pitchFamily="34" charset="-120"/>
              </a:rPr>
              <a:t>因子；</a:t>
            </a:r>
            <a:endParaRPr lang="zh-TW" altLang="en-US" sz="2400" dirty="0">
              <a:latin typeface="微軟正黑體" panose="020B0604030504040204" pitchFamily="34" charset="-120"/>
              <a:ea typeface="微軟正黑體" panose="020B0604030504040204" pitchFamily="34" charset="-120"/>
            </a:endParaRPr>
          </a:p>
          <a:p>
            <a:endParaRPr lang="en-US" altLang="zh-TW" sz="2000" dirty="0">
              <a:latin typeface="微軟正黑體" panose="020B0604030504040204" pitchFamily="34" charset="-120"/>
              <a:ea typeface="微軟正黑體" panose="020B0604030504040204" pitchFamily="34" charset="-120"/>
            </a:endParaRPr>
          </a:p>
          <a:p>
            <a:endParaRPr lang="zh-TW" altLang="en-US" dirty="0">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C68121D2-9246-4B52-9877-10E6A7AF0C69}" type="slidenum">
              <a:rPr lang="zh-TW" altLang="en-US" smtClean="0"/>
              <a:pPr/>
              <a:t>26</a:t>
            </a:fld>
            <a:endParaRPr lang="zh-TW" altLang="en-US"/>
          </a:p>
        </p:txBody>
      </p:sp>
      <p:pic>
        <p:nvPicPr>
          <p:cNvPr id="6" name="圖片 5" descr="一張含有 文字, 螢幕擷取畫面, 數字, 字型 的圖片&#10;&#10;自動產生的描述">
            <a:extLst>
              <a:ext uri="{FF2B5EF4-FFF2-40B4-BE49-F238E27FC236}">
                <a16:creationId xmlns:a16="http://schemas.microsoft.com/office/drawing/2014/main" id="{982684FE-6E31-E8F0-C4DB-2301A6E7EC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2286" y="1916832"/>
            <a:ext cx="5039428" cy="3248478"/>
          </a:xfrm>
          <a:prstGeom prst="rect">
            <a:avLst/>
          </a:prstGeom>
        </p:spPr>
      </p:pic>
    </p:spTree>
    <p:extLst>
      <p:ext uri="{BB962C8B-B14F-4D97-AF65-F5344CB8AC3E}">
        <p14:creationId xmlns:p14="http://schemas.microsoft.com/office/powerpoint/2010/main" val="29656518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a:xfrm>
            <a:off x="514616" y="0"/>
            <a:ext cx="8229600" cy="980728"/>
          </a:xfrm>
        </p:spPr>
        <p:txBody>
          <a:bodyPr/>
          <a:lstStyle/>
          <a:p>
            <a:r>
              <a:rPr lang="zh-TW" altLang="en-US" dirty="0">
                <a:latin typeface="微軟正黑體" panose="020B0604030504040204" pitchFamily="34" charset="-120"/>
                <a:ea typeface="微軟正黑體" panose="020B0604030504040204" pitchFamily="34" charset="-120"/>
              </a:rPr>
              <a:t>作業</a:t>
            </a:r>
            <a:r>
              <a:rPr lang="en-US" altLang="zh-TW" dirty="0">
                <a:latin typeface="微軟正黑體" panose="020B0604030504040204" pitchFamily="34" charset="-120"/>
                <a:ea typeface="微軟正黑體" panose="020B0604030504040204" pitchFamily="34" charset="-120"/>
              </a:rPr>
              <a:t>	</a:t>
            </a:r>
            <a:endParaRPr lang="zh-TW" altLang="en-US" dirty="0">
              <a:latin typeface="微軟正黑體" panose="020B0604030504040204" pitchFamily="34" charset="-120"/>
              <a:ea typeface="微軟正黑體" panose="020B0604030504040204" pitchFamily="34" charset="-120"/>
            </a:endParaRPr>
          </a:p>
        </p:txBody>
      </p:sp>
      <p:sp>
        <p:nvSpPr>
          <p:cNvPr id="3" name="投影片編號版面配置區 2"/>
          <p:cNvSpPr>
            <a:spLocks noGrp="1"/>
          </p:cNvSpPr>
          <p:nvPr>
            <p:ph type="sldNum" sz="quarter" idx="12"/>
          </p:nvPr>
        </p:nvSpPr>
        <p:spPr/>
        <p:txBody>
          <a:bodyPr/>
          <a:lstStyle/>
          <a:p>
            <a:fld id="{C68121D2-9246-4B52-9877-10E6A7AF0C69}" type="slidenum">
              <a:rPr lang="zh-TW" altLang="en-US" smtClean="0"/>
              <a:pPr/>
              <a:t>27</a:t>
            </a:fld>
            <a:endParaRPr lang="zh-TW" altLang="en-US"/>
          </a:p>
        </p:txBody>
      </p:sp>
      <p:sp>
        <p:nvSpPr>
          <p:cNvPr id="8" name="矩形 7"/>
          <p:cNvSpPr/>
          <p:nvPr/>
        </p:nvSpPr>
        <p:spPr>
          <a:xfrm>
            <a:off x="251520" y="836712"/>
            <a:ext cx="8640960" cy="4498283"/>
          </a:xfrm>
          <a:prstGeom prst="rect">
            <a:avLst/>
          </a:prstGeom>
        </p:spPr>
        <p:txBody>
          <a:bodyPr wrap="square">
            <a:spAutoFit/>
          </a:bodyPr>
          <a:lstStyle/>
          <a:p>
            <a:pPr>
              <a:lnSpc>
                <a:spcPct val="120000"/>
              </a:lnSpc>
            </a:pPr>
            <a:r>
              <a:rPr lang="en-US" altLang="zh-TW" sz="2000" dirty="0" err="1"/>
              <a:t>CVD_All</a:t>
            </a:r>
            <a:r>
              <a:rPr lang="zh-TW" altLang="zh-TW" sz="2000" dirty="0"/>
              <a:t>資料中包含</a:t>
            </a:r>
            <a:r>
              <a:rPr lang="en-US" altLang="zh-TW" sz="2000" dirty="0"/>
              <a:t>66,489</a:t>
            </a:r>
            <a:r>
              <a:rPr lang="zh-TW" altLang="zh-TW" sz="2000" dirty="0"/>
              <a:t>人的臨床檢驗數據、家族、行為數據、及是否罹患</a:t>
            </a:r>
            <a:r>
              <a:rPr lang="en-US" altLang="zh-TW" sz="2000" dirty="0"/>
              <a:t>CVD</a:t>
            </a:r>
            <a:r>
              <a:rPr lang="zh-TW" altLang="zh-TW" sz="2000" dirty="0"/>
              <a:t>的數據。</a:t>
            </a:r>
            <a:endParaRPr lang="en-US" altLang="zh-TW" sz="2000" dirty="0"/>
          </a:p>
          <a:p>
            <a:pPr marL="457200" lvl="0" indent="-457200">
              <a:lnSpc>
                <a:spcPct val="120000"/>
              </a:lnSpc>
              <a:buFont typeface="+mj-lt"/>
              <a:buAutoNum type="arabicParenR"/>
            </a:pPr>
            <a:r>
              <a:rPr lang="zh-TW" altLang="zh-TW" sz="2000" dirty="0"/>
              <a:t>請將＂壓差</a:t>
            </a:r>
            <a:r>
              <a:rPr lang="en-US" altLang="zh-TW" sz="2000" dirty="0"/>
              <a:t>=</a:t>
            </a:r>
            <a:r>
              <a:rPr lang="zh-TW" altLang="zh-TW" sz="2000" dirty="0"/>
              <a:t>收縮壓減舒張壓＂當成應變數，年齡當成自變數，做線性迴歸分析，並檢定年齡是否為壓差的風險因子</a:t>
            </a:r>
            <a:r>
              <a:rPr lang="en-US" altLang="zh-TW" sz="2000" dirty="0"/>
              <a:t>?</a:t>
            </a:r>
            <a:endParaRPr lang="zh-TW" altLang="zh-TW" sz="2000" dirty="0"/>
          </a:p>
          <a:p>
            <a:pPr marL="457200" indent="-457200">
              <a:lnSpc>
                <a:spcPct val="120000"/>
              </a:lnSpc>
              <a:buFont typeface="+mj-lt"/>
              <a:buAutoNum type="arabicParenR"/>
            </a:pPr>
            <a:r>
              <a:rPr lang="zh-TW" altLang="zh-TW" sz="2000" dirty="0"/>
              <a:t>接續第</a:t>
            </a:r>
            <a:r>
              <a:rPr lang="en-US" altLang="zh-TW" sz="2000" dirty="0"/>
              <a:t>1</a:t>
            </a:r>
            <a:r>
              <a:rPr lang="zh-TW" altLang="zh-TW" sz="2000" dirty="0"/>
              <a:t>題，將性別當成做線性迴歸分析的干擾因子，分析年齡是否為風險因子？性別是否真的是干擾因子？針對壓差這個應變數，年齡和性別是否存有交互作用？</a:t>
            </a:r>
            <a:endParaRPr lang="en-US" altLang="zh-TW" sz="2000" dirty="0"/>
          </a:p>
          <a:p>
            <a:pPr marL="457200" lvl="0" indent="-457200">
              <a:lnSpc>
                <a:spcPct val="120000"/>
              </a:lnSpc>
              <a:buFont typeface="+mj-lt"/>
              <a:buAutoNum type="arabicParenR"/>
            </a:pPr>
            <a:r>
              <a:rPr lang="en-US" altLang="zh-TW" sz="2000" dirty="0" err="1"/>
              <a:t>CVD_All</a:t>
            </a:r>
            <a:r>
              <a:rPr lang="zh-TW" altLang="zh-TW" sz="2000" dirty="0"/>
              <a:t>資料中有追蹤時間的紀錄，請使用這個資料及卜瓦松模型估計</a:t>
            </a:r>
            <a:r>
              <a:rPr lang="en-US" altLang="zh-TW" sz="2000" dirty="0"/>
              <a:t>CVD</a:t>
            </a:r>
            <a:r>
              <a:rPr lang="zh-TW" altLang="zh-TW" sz="2000" dirty="0"/>
              <a:t>的每年發生率為何？</a:t>
            </a:r>
          </a:p>
          <a:p>
            <a:pPr marL="457200" lvl="0" indent="-457200">
              <a:lnSpc>
                <a:spcPct val="120000"/>
              </a:lnSpc>
              <a:buFont typeface="+mj-lt"/>
              <a:buAutoNum type="arabicParenR"/>
            </a:pPr>
            <a:r>
              <a:rPr lang="zh-TW" altLang="zh-TW" sz="2000" dirty="0"/>
              <a:t>請檢定壓差是否為</a:t>
            </a:r>
            <a:r>
              <a:rPr lang="en-US" altLang="zh-TW" sz="2000" dirty="0"/>
              <a:t>CVD</a:t>
            </a:r>
            <a:r>
              <a:rPr lang="zh-TW" altLang="zh-TW" sz="2000" dirty="0"/>
              <a:t>發生的風險因子？年齡（或性別）是否為干擾因子？年齡（或性別）和壓差是否存在交互作用？</a:t>
            </a:r>
          </a:p>
          <a:p>
            <a:pPr marL="457200" indent="-457200">
              <a:lnSpc>
                <a:spcPct val="120000"/>
              </a:lnSpc>
              <a:buFont typeface="+mj-lt"/>
              <a:buAutoNum type="arabicParenR"/>
            </a:pPr>
            <a:r>
              <a:rPr lang="zh-TW" altLang="zh-TW" sz="2000" dirty="0"/>
              <a:t>接續第</a:t>
            </a:r>
            <a:r>
              <a:rPr lang="en-US" altLang="zh-TW" sz="2000" dirty="0"/>
              <a:t>4</a:t>
            </a:r>
            <a:r>
              <a:rPr lang="zh-TW" altLang="zh-TW" sz="2000" dirty="0"/>
              <a:t>個問題，針對性別做分層分析，並比較</a:t>
            </a:r>
            <a:r>
              <a:rPr lang="en-US" altLang="zh-TW" sz="2000" dirty="0"/>
              <a:t>3</a:t>
            </a:r>
            <a:r>
              <a:rPr lang="zh-TW" altLang="zh-TW" sz="2000" dirty="0"/>
              <a:t>和</a:t>
            </a:r>
            <a:r>
              <a:rPr lang="en-US" altLang="zh-TW" sz="2000" dirty="0"/>
              <a:t>4</a:t>
            </a:r>
            <a:r>
              <a:rPr lang="zh-TW" altLang="zh-TW" sz="2000" dirty="0"/>
              <a:t>的結論？</a:t>
            </a:r>
            <a:endParaRPr lang="zh-TW" altLang="en-US" sz="2000" dirty="0"/>
          </a:p>
        </p:txBody>
      </p:sp>
    </p:spTree>
    <p:extLst>
      <p:ext uri="{BB962C8B-B14F-4D97-AF65-F5344CB8AC3E}">
        <p14:creationId xmlns:p14="http://schemas.microsoft.com/office/powerpoint/2010/main" val="3689031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7418" name="Rectangle 17417">
            <a:extLst>
              <a:ext uri="{FF2B5EF4-FFF2-40B4-BE49-F238E27FC236}">
                <a16:creationId xmlns:a16="http://schemas.microsoft.com/office/drawing/2014/main" id="{4086E084-587B-4477-9A16-20D88E90A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17420" name="Rectangle 17419">
            <a:extLst>
              <a:ext uri="{FF2B5EF4-FFF2-40B4-BE49-F238E27FC236}">
                <a16:creationId xmlns:a16="http://schemas.microsoft.com/office/drawing/2014/main" id="{E917005F-BBD6-4572-AA66-5B53DE761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cxnSp>
        <p:nvCxnSpPr>
          <p:cNvPr id="17422" name="Straight Connector 17421">
            <a:extLst>
              <a:ext uri="{FF2B5EF4-FFF2-40B4-BE49-F238E27FC236}">
                <a16:creationId xmlns:a16="http://schemas.microsoft.com/office/drawing/2014/main" id="{2CFCD635-C557-491A-B373-CA044B7303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7424" name="Rectangle 17423">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4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426" name="Rectangle 17425">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414" name="Picture 17413" descr="人行道跳房子遊戲特寫">
            <a:extLst>
              <a:ext uri="{FF2B5EF4-FFF2-40B4-BE49-F238E27FC236}">
                <a16:creationId xmlns:a16="http://schemas.microsoft.com/office/drawing/2014/main" id="{A30C57F9-7C8B-9B08-59A7-73CE68AE1F21}"/>
              </a:ext>
            </a:extLst>
          </p:cNvPr>
          <p:cNvPicPr>
            <a:picLocks noChangeAspect="1"/>
          </p:cNvPicPr>
          <p:nvPr/>
        </p:nvPicPr>
        <p:blipFill>
          <a:blip r:embed="rId2"/>
          <a:srcRect l="33759" r="32325" b="1"/>
          <a:stretch/>
        </p:blipFill>
        <p:spPr>
          <a:xfrm>
            <a:off x="20" y="-12128"/>
            <a:ext cx="3490702" cy="6870127"/>
          </a:xfrm>
          <a:prstGeom prst="rect">
            <a:avLst/>
          </a:prstGeom>
        </p:spPr>
      </p:pic>
      <p:cxnSp>
        <p:nvCxnSpPr>
          <p:cNvPr id="17428" name="Straight Connector 17427">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965712" y="2085703"/>
            <a:ext cx="4628015"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useBgFill="1">
        <p:nvSpPr>
          <p:cNvPr id="17412" name="Text Box 4"/>
          <p:cNvSpPr txBox="1">
            <a:spLocks noChangeArrowheads="1"/>
          </p:cNvSpPr>
          <p:nvPr/>
        </p:nvSpPr>
        <p:spPr bwMode="auto">
          <a:xfrm>
            <a:off x="3886200" y="2198914"/>
            <a:ext cx="4776107" cy="3670180"/>
          </a:xfrm>
          <a:prstGeom prst="rect">
            <a:avLst/>
          </a:prstGeom>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0" tIns="45720" rIns="0" bIns="45720" rtlCol="0">
            <a:normAutofit/>
          </a:bodyPr>
          <a:lstStyle>
            <a:lvl1pPr eaLnBrk="0" hangingPunct="0">
              <a:defRPr sz="2400">
                <a:solidFill>
                  <a:schemeClr val="tx1"/>
                </a:solidFill>
                <a:latin typeface="Times New Roman" pitchFamily="18" charset="0"/>
                <a:ea typeface="新細明體" pitchFamily="18" charset="-120"/>
              </a:defRPr>
            </a:lvl1pPr>
            <a:lvl2pPr marL="742950" indent="-285750" eaLnBrk="0" hangingPunct="0">
              <a:defRPr sz="2400">
                <a:solidFill>
                  <a:schemeClr val="tx1"/>
                </a:solidFill>
                <a:latin typeface="Times New Roman" pitchFamily="18" charset="0"/>
                <a:ea typeface="新細明體" pitchFamily="18" charset="-120"/>
              </a:defRPr>
            </a:lvl2pPr>
            <a:lvl3pPr marL="1143000" indent="-228600" eaLnBrk="0" hangingPunct="0">
              <a:defRPr sz="2400">
                <a:solidFill>
                  <a:schemeClr val="tx1"/>
                </a:solidFill>
                <a:latin typeface="Times New Roman" pitchFamily="18" charset="0"/>
                <a:ea typeface="新細明體" pitchFamily="18" charset="-120"/>
              </a:defRPr>
            </a:lvl3pPr>
            <a:lvl4pPr marL="1600200" indent="-228600" eaLnBrk="0" hangingPunct="0">
              <a:defRPr sz="2400">
                <a:solidFill>
                  <a:schemeClr val="tx1"/>
                </a:solidFill>
                <a:latin typeface="Times New Roman" pitchFamily="18" charset="0"/>
                <a:ea typeface="新細明體" pitchFamily="18" charset="-120"/>
              </a:defRPr>
            </a:lvl4pPr>
            <a:lvl5pPr marL="2057400" indent="-228600" eaLnBrk="0" hangingPunct="0">
              <a:defRPr sz="2400">
                <a:solidFill>
                  <a:schemeClr val="tx1"/>
                </a:solidFill>
                <a:latin typeface="Times New Roman" pitchFamily="18" charset="0"/>
                <a:ea typeface="新細明體" pitchFamily="18" charset="-120"/>
              </a:defRPr>
            </a:lvl5pPr>
            <a:lvl6pPr marL="25146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6pPr>
            <a:lvl7pPr marL="29718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7pPr>
            <a:lvl8pPr marL="34290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8pPr>
            <a:lvl9pPr marL="3886200" indent="-228600" eaLnBrk="0" fontAlgn="base" hangingPunct="0">
              <a:spcBef>
                <a:spcPct val="0"/>
              </a:spcBef>
              <a:spcAft>
                <a:spcPct val="0"/>
              </a:spcAft>
              <a:defRPr sz="2400">
                <a:solidFill>
                  <a:schemeClr val="tx1"/>
                </a:solidFill>
                <a:latin typeface="Times New Roman" pitchFamily="18" charset="0"/>
                <a:ea typeface="新細明體" pitchFamily="18" charset="-120"/>
              </a:defRPr>
            </a:lvl9pPr>
          </a:lstStyle>
          <a:p>
            <a:pPr eaLnBrk="1" hangingPunct="1">
              <a:lnSpc>
                <a:spcPct val="90000"/>
              </a:lnSpc>
              <a:spcAft>
                <a:spcPts val="600"/>
              </a:spcAft>
              <a:buClr>
                <a:schemeClr val="accent1"/>
              </a:buClr>
              <a:buFont typeface="Calibri" panose="020F0502020204030204" pitchFamily="34" charset="0"/>
            </a:pPr>
            <a:r>
              <a:rPr kumimoji="1" lang="en-US" altLang="zh-TW">
                <a:solidFill>
                  <a:schemeClr val="tx1">
                    <a:lumMod val="75000"/>
                    <a:lumOff val="25000"/>
                  </a:schemeClr>
                </a:solidFill>
                <a:latin typeface="+mn-lt"/>
                <a:ea typeface="+mn-ea"/>
              </a:rPr>
              <a:t>The End</a:t>
            </a:r>
          </a:p>
        </p:txBody>
      </p:sp>
      <p:sp>
        <p:nvSpPr>
          <p:cNvPr id="5" name="投影片編號版面配置區 4"/>
          <p:cNvSpPr>
            <a:spLocks noGrp="1"/>
          </p:cNvSpPr>
          <p:nvPr>
            <p:ph type="sldNum" sz="quarter" idx="12"/>
          </p:nvPr>
        </p:nvSpPr>
        <p:spPr>
          <a:xfrm>
            <a:off x="7425343" y="6459785"/>
            <a:ext cx="984019" cy="365125"/>
          </a:xfrm>
        </p:spPr>
        <p:txBody>
          <a:bodyPr vert="horz" lIns="91440" tIns="45720" rIns="91440" bIns="45720" rtlCol="0" anchor="ctr">
            <a:normAutofit/>
          </a:bodyPr>
          <a:lstStyle/>
          <a:p>
            <a:pPr>
              <a:spcAft>
                <a:spcPts val="600"/>
              </a:spcAft>
              <a:defRPr/>
            </a:pPr>
            <a:r>
              <a:rPr lang="en-US" altLang="zh-TW">
                <a:solidFill>
                  <a:schemeClr val="tx1">
                    <a:lumMod val="75000"/>
                    <a:lumOff val="25000"/>
                  </a:schemeClr>
                </a:solidFill>
              </a:rPr>
              <a:t>35</a:t>
            </a:r>
          </a:p>
        </p:txBody>
      </p:sp>
    </p:spTree>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回顧">
  <a:themeElements>
    <a:clrScheme name="回顧">
      <a:dk1>
        <a:sysClr val="windowText" lastClr="000000"/>
      </a:dk1>
      <a:lt1>
        <a:sysClr val="window" lastClr="FFFFFF"/>
      </a:lt1>
      <a:dk2>
        <a:srgbClr val="514949"/>
      </a:dk2>
      <a:lt2>
        <a:srgbClr val="E1E1DB"/>
      </a:lt2>
      <a:accent1>
        <a:srgbClr val="9DBFBE"/>
      </a:accent1>
      <a:accent2>
        <a:srgbClr val="DB8631"/>
      </a:accent2>
      <a:accent3>
        <a:srgbClr val="E3CC5A"/>
      </a:accent3>
      <a:accent4>
        <a:srgbClr val="ACADA8"/>
      </a:accent4>
      <a:accent5>
        <a:srgbClr val="927C61"/>
      </a:accent5>
      <a:accent6>
        <a:srgbClr val="B3B435"/>
      </a:accent6>
      <a:hlink>
        <a:srgbClr val="0000FF"/>
      </a:hlink>
      <a:folHlink>
        <a:srgbClr val="800080"/>
      </a:folHlink>
    </a:clrScheme>
    <a:fontScheme name="回顧">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顧">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19A0953-16CD-4AD6-9551-0108E5BC5B4B}">
  <we:reference id="wa200003157" version="1.0.0.0" store="zh-TW" storeType="OMEX"/>
  <we:alternateReferences>
    <we:reference id="wa200003157" version="1.0.0.0" store="WA200003157"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TM02900720[[fn=要素]]</Template>
  <TotalTime>0</TotalTime>
  <Words>2344</Words>
  <Application>Microsoft Office PowerPoint</Application>
  <PresentationFormat>如螢幕大小 (4:3)</PresentationFormat>
  <Paragraphs>212</Paragraphs>
  <Slides>28</Slides>
  <Notes>2</Notes>
  <HiddenSlides>0</HiddenSlides>
  <MMClips>0</MMClips>
  <ScaleCrop>false</ScaleCrop>
  <HeadingPairs>
    <vt:vector size="6" baseType="variant">
      <vt:variant>
        <vt:lpstr>使用字型</vt:lpstr>
      </vt:variant>
      <vt:variant>
        <vt:i4>7</vt:i4>
      </vt:variant>
      <vt:variant>
        <vt:lpstr>佈景主題</vt:lpstr>
      </vt:variant>
      <vt:variant>
        <vt:i4>2</vt:i4>
      </vt:variant>
      <vt:variant>
        <vt:lpstr>投影片標題</vt:lpstr>
      </vt:variant>
      <vt:variant>
        <vt:i4>28</vt:i4>
      </vt:variant>
    </vt:vector>
  </HeadingPairs>
  <TitlesOfParts>
    <vt:vector size="37" baseType="lpstr">
      <vt:lpstr>微軟正黑體</vt:lpstr>
      <vt:lpstr>標楷體</vt:lpstr>
      <vt:lpstr>Arial</vt:lpstr>
      <vt:lpstr>Calibri</vt:lpstr>
      <vt:lpstr>Calibri Light</vt:lpstr>
      <vt:lpstr>Wingdings</vt:lpstr>
      <vt:lpstr>Wingdings 2</vt:lpstr>
      <vt:lpstr>HDOfficeLightV0</vt:lpstr>
      <vt:lpstr>回顧</vt:lpstr>
      <vt:lpstr> 多變項迴歸分析</vt:lpstr>
      <vt:lpstr>Key words</vt:lpstr>
      <vt:lpstr>PowerPoint 簡報</vt:lpstr>
      <vt:lpstr>PowerPoint 簡報</vt:lpstr>
      <vt:lpstr>辛普森詭論</vt:lpstr>
      <vt:lpstr>辛普森詭論</vt:lpstr>
      <vt:lpstr>賀爾蒙治療　VS　冠狀動脈性心臟病</vt:lpstr>
      <vt:lpstr>PowerPoint 簡報</vt:lpstr>
      <vt:lpstr>多變項迴歸模型</vt:lpstr>
      <vt:lpstr>PowerPoint 簡報</vt:lpstr>
      <vt:lpstr>二個自變數以上的迴歸模型</vt:lpstr>
      <vt:lpstr>PowerPoint 簡報</vt:lpstr>
      <vt:lpstr>PowerPoint 簡報</vt:lpstr>
      <vt:lpstr>PowerPoint 簡報</vt:lpstr>
      <vt:lpstr>SPSS</vt:lpstr>
      <vt:lpstr>PowerPoint 簡報</vt:lpstr>
      <vt:lpstr>PowerPoint 簡報</vt:lpstr>
      <vt:lpstr>PowerPoint 簡報</vt:lpstr>
      <vt:lpstr>多變項迴歸模型中的交互作用</vt:lpstr>
      <vt:lpstr>PowerPoint 簡報</vt:lpstr>
      <vt:lpstr>PowerPoint 簡報</vt:lpstr>
      <vt:lpstr>SPSS</vt:lpstr>
      <vt:lpstr>分層分析</vt:lpstr>
      <vt:lpstr>PowerPoint 簡報</vt:lpstr>
      <vt:lpstr>SPSS</vt:lpstr>
      <vt:lpstr>PowerPoint 簡報</vt:lpstr>
      <vt:lpstr>作業 </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描述資料特徵的統計量及圖表</dc:title>
  <dc:creator>user</dc:creator>
  <cp:lastModifiedBy>YK Lin</cp:lastModifiedBy>
  <cp:revision>250</cp:revision>
  <cp:lastPrinted>2014-10-22T08:17:32Z</cp:lastPrinted>
  <dcterms:created xsi:type="dcterms:W3CDTF">2014-07-25T05:28:55Z</dcterms:created>
  <dcterms:modified xsi:type="dcterms:W3CDTF">2024-11-28T15:01:20Z</dcterms:modified>
</cp:coreProperties>
</file>