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20"/>
  </p:notesMasterIdLst>
  <p:handoutMasterIdLst>
    <p:handoutMasterId r:id="rId21"/>
  </p:handoutMasterIdLst>
  <p:sldIdLst>
    <p:sldId id="307" r:id="rId2"/>
    <p:sldId id="329" r:id="rId3"/>
    <p:sldId id="309" r:id="rId4"/>
    <p:sldId id="308" r:id="rId5"/>
    <p:sldId id="310" r:id="rId6"/>
    <p:sldId id="311" r:id="rId7"/>
    <p:sldId id="312" r:id="rId8"/>
    <p:sldId id="333" r:id="rId9"/>
    <p:sldId id="313" r:id="rId10"/>
    <p:sldId id="314" r:id="rId11"/>
    <p:sldId id="316" r:id="rId12"/>
    <p:sldId id="317" r:id="rId13"/>
    <p:sldId id="334" r:id="rId14"/>
    <p:sldId id="318" r:id="rId15"/>
    <p:sldId id="324" r:id="rId16"/>
    <p:sldId id="335" r:id="rId17"/>
    <p:sldId id="336" r:id="rId18"/>
    <p:sldId id="303" r:id="rId19"/>
  </p:sldIdLst>
  <p:sldSz cx="9144000" cy="6858000" type="screen4x3"/>
  <p:notesSz cx="6802438" cy="99345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027B1F43-7272-4910-990C-A018359827C3}">
          <p14:sldIdLst>
            <p14:sldId id="307"/>
            <p14:sldId id="329"/>
            <p14:sldId id="309"/>
            <p14:sldId id="308"/>
            <p14:sldId id="310"/>
            <p14:sldId id="311"/>
            <p14:sldId id="312"/>
          </p14:sldIdLst>
        </p14:section>
        <p14:section name="未命名的章節" id="{2B6A674F-C3E7-4AAC-A1E1-D683035E7874}">
          <p14:sldIdLst>
            <p14:sldId id="333"/>
            <p14:sldId id="313"/>
            <p14:sldId id="314"/>
            <p14:sldId id="316"/>
            <p14:sldId id="317"/>
            <p14:sldId id="334"/>
            <p14:sldId id="318"/>
            <p14:sldId id="324"/>
            <p14:sldId id="335"/>
            <p14:sldId id="336"/>
            <p14:sldId id="30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3" d="100"/>
          <a:sy n="53" d="100"/>
        </p:scale>
        <p:origin x="507" y="4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2947723" cy="498454"/>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53141" y="1"/>
            <a:ext cx="2947723" cy="498454"/>
          </a:xfrm>
          <a:prstGeom prst="rect">
            <a:avLst/>
          </a:prstGeom>
        </p:spPr>
        <p:txBody>
          <a:bodyPr vert="horz" lIns="91440" tIns="45720" rIns="91440" bIns="45720" rtlCol="0"/>
          <a:lstStyle>
            <a:lvl1pPr algn="r">
              <a:defRPr sz="1200"/>
            </a:lvl1pPr>
          </a:lstStyle>
          <a:p>
            <a:fld id="{12F06A88-CB4F-40C9-B387-77A5984A66C9}" type="datetimeFigureOut">
              <a:rPr lang="zh-TW" altLang="en-US" smtClean="0"/>
              <a:t>2022/5/20</a:t>
            </a:fld>
            <a:endParaRPr lang="zh-TW" altLang="en-US"/>
          </a:p>
        </p:txBody>
      </p:sp>
      <p:sp>
        <p:nvSpPr>
          <p:cNvPr id="4" name="頁尾版面配置區 3"/>
          <p:cNvSpPr>
            <a:spLocks noGrp="1"/>
          </p:cNvSpPr>
          <p:nvPr>
            <p:ph type="ftr" sz="quarter" idx="2"/>
          </p:nvPr>
        </p:nvSpPr>
        <p:spPr>
          <a:xfrm>
            <a:off x="0" y="9436123"/>
            <a:ext cx="2947723" cy="498453"/>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3141" y="9436123"/>
            <a:ext cx="2947723" cy="498453"/>
          </a:xfrm>
          <a:prstGeom prst="rect">
            <a:avLst/>
          </a:prstGeom>
        </p:spPr>
        <p:txBody>
          <a:bodyPr vert="horz" lIns="91440" tIns="45720" rIns="91440" bIns="45720" rtlCol="0" anchor="b"/>
          <a:lstStyle>
            <a:lvl1pPr algn="r">
              <a:defRPr sz="1200"/>
            </a:lvl1pPr>
          </a:lstStyle>
          <a:p>
            <a:fld id="{15237A30-6EEF-4982-BC4D-02EEF3876DCF}" type="slidenum">
              <a:rPr lang="zh-TW" altLang="en-US" smtClean="0"/>
              <a:t>‹#›</a:t>
            </a:fld>
            <a:endParaRPr lang="zh-TW" altLang="en-US"/>
          </a:p>
        </p:txBody>
      </p:sp>
    </p:spTree>
    <p:extLst>
      <p:ext uri="{BB962C8B-B14F-4D97-AF65-F5344CB8AC3E}">
        <p14:creationId xmlns:p14="http://schemas.microsoft.com/office/powerpoint/2010/main" val="35338223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7723" cy="496729"/>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3141" y="0"/>
            <a:ext cx="2947723" cy="496729"/>
          </a:xfrm>
          <a:prstGeom prst="rect">
            <a:avLst/>
          </a:prstGeom>
        </p:spPr>
        <p:txBody>
          <a:bodyPr vert="horz" lIns="91440" tIns="45720" rIns="91440" bIns="45720" rtlCol="0"/>
          <a:lstStyle>
            <a:lvl1pPr algn="r">
              <a:defRPr sz="1200"/>
            </a:lvl1pPr>
          </a:lstStyle>
          <a:p>
            <a:fld id="{A1D626F1-FBD8-493A-9CA1-DD5D47278114}" type="datetimeFigureOut">
              <a:rPr lang="zh-TW" altLang="en-US" smtClean="0"/>
              <a:pPr/>
              <a:t>2022/5/20</a:t>
            </a:fld>
            <a:endParaRPr lang="zh-TW" altLang="en-US"/>
          </a:p>
        </p:txBody>
      </p:sp>
      <p:sp>
        <p:nvSpPr>
          <p:cNvPr id="4" name="投影片圖像版面配置區 3"/>
          <p:cNvSpPr>
            <a:spLocks noGrp="1" noRot="1" noChangeAspect="1"/>
          </p:cNvSpPr>
          <p:nvPr>
            <p:ph type="sldImg" idx="2"/>
          </p:nvPr>
        </p:nvSpPr>
        <p:spPr>
          <a:xfrm>
            <a:off x="917575" y="744538"/>
            <a:ext cx="4967288" cy="3725862"/>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0244" y="4718923"/>
            <a:ext cx="5441950" cy="4470559"/>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36122"/>
            <a:ext cx="2947723" cy="496729"/>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3141" y="9436122"/>
            <a:ext cx="2947723" cy="496729"/>
          </a:xfrm>
          <a:prstGeom prst="rect">
            <a:avLst/>
          </a:prstGeom>
        </p:spPr>
        <p:txBody>
          <a:bodyPr vert="horz" lIns="91440" tIns="45720" rIns="91440" bIns="45720" rtlCol="0" anchor="b"/>
          <a:lstStyle>
            <a:lvl1pPr algn="r">
              <a:defRPr sz="1200"/>
            </a:lvl1pPr>
          </a:lstStyle>
          <a:p>
            <a:fld id="{9B7D1DB4-53FC-4FFB-A815-5EE85BC9630F}" type="slidenum">
              <a:rPr lang="zh-TW" altLang="en-US" smtClean="0"/>
              <a:pPr/>
              <a:t>‹#›</a:t>
            </a:fld>
            <a:endParaRPr lang="zh-TW" altLang="en-US"/>
          </a:p>
        </p:txBody>
      </p:sp>
    </p:spTree>
    <p:extLst>
      <p:ext uri="{BB962C8B-B14F-4D97-AF65-F5344CB8AC3E}">
        <p14:creationId xmlns:p14="http://schemas.microsoft.com/office/powerpoint/2010/main" val="1590312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B7D1DB4-53FC-4FFB-A815-5EE85BC9630F}" type="slidenum">
              <a:rPr lang="zh-TW" altLang="en-US" smtClean="0"/>
              <a:pPr/>
              <a:t>12</a:t>
            </a:fld>
            <a:endParaRPr lang="zh-TW" altLang="en-US"/>
          </a:p>
        </p:txBody>
      </p:sp>
    </p:spTree>
    <p:extLst>
      <p:ext uri="{BB962C8B-B14F-4D97-AF65-F5344CB8AC3E}">
        <p14:creationId xmlns:p14="http://schemas.microsoft.com/office/powerpoint/2010/main" val="2559017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443491" y="796631"/>
            <a:ext cx="6251304" cy="2700706"/>
          </a:xfrm>
        </p:spPr>
        <p:txBody>
          <a:bodyPr bIns="0" anchor="b">
            <a:normAutofit/>
          </a:bodyPr>
          <a:lstStyle>
            <a:lvl1pPr algn="ctr">
              <a:defRPr sz="5400"/>
            </a:lvl1pPr>
          </a:lstStyle>
          <a:p>
            <a:r>
              <a:rPr lang="zh-TW" altLang="en-US"/>
              <a:t>按一下以編輯母片標題樣式</a:t>
            </a:r>
            <a:endParaRPr lang="en-US" dirty="0"/>
          </a:p>
        </p:txBody>
      </p:sp>
      <p:sp>
        <p:nvSpPr>
          <p:cNvPr id="3" name="Subtitle 2"/>
          <p:cNvSpPr>
            <a:spLocks noGrp="1"/>
          </p:cNvSpPr>
          <p:nvPr>
            <p:ph type="subTitle" idx="1"/>
          </p:nvPr>
        </p:nvSpPr>
        <p:spPr>
          <a:xfrm>
            <a:off x="1443491" y="3497337"/>
            <a:ext cx="6251304" cy="1011489"/>
          </a:xfrm>
        </p:spPr>
        <p:txBody>
          <a:bodyPr tIns="91440" bIns="91440">
            <a:normAutofit/>
          </a:bodyPr>
          <a:lstStyle>
            <a:lvl1pPr marL="0" indent="0" algn="ctr">
              <a:buNone/>
              <a:defRPr sz="16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C24635E5-66BE-4E0D-9F21-5253C4F4758A}" type="datetime1">
              <a:rPr lang="zh-TW" altLang="en-US" smtClean="0"/>
              <a:t>2022/5/20</a:t>
            </a:fld>
            <a:endParaRPr lang="zh-TW" altLang="en-US"/>
          </a:p>
        </p:txBody>
      </p:sp>
      <p:sp>
        <p:nvSpPr>
          <p:cNvPr id="5" name="Footer Placeholder 4"/>
          <p:cNvSpPr>
            <a:spLocks noGrp="1"/>
          </p:cNvSpPr>
          <p:nvPr>
            <p:ph type="ftr" sz="quarter" idx="11"/>
          </p:nvPr>
        </p:nvSpPr>
        <p:spPr>
          <a:xfrm>
            <a:off x="1443490" y="329308"/>
            <a:ext cx="3719283" cy="309201"/>
          </a:xfrm>
        </p:spPr>
        <p:txBody>
          <a:bodyPr/>
          <a:lstStyle/>
          <a:p>
            <a:endParaRPr lang="zh-TW" altLang="en-US"/>
          </a:p>
        </p:txBody>
      </p:sp>
      <p:sp>
        <p:nvSpPr>
          <p:cNvPr id="6" name="Slide Number Placeholder 5"/>
          <p:cNvSpPr>
            <a:spLocks noGrp="1"/>
          </p:cNvSpPr>
          <p:nvPr>
            <p:ph type="sldNum" sz="quarter" idx="12"/>
          </p:nvPr>
        </p:nvSpPr>
        <p:spPr>
          <a:xfrm>
            <a:off x="477760" y="798973"/>
            <a:ext cx="802005" cy="503578"/>
          </a:xfrm>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2899143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F2A128E-1718-4F04-8697-D7F2A33239AC}" type="datetime1">
              <a:rPr lang="zh-TW" altLang="en-US" smtClean="0"/>
              <a:t>2022/5/20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320730739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443492" y="1756130"/>
            <a:ext cx="6251302" cy="1952270"/>
          </a:xfrm>
        </p:spPr>
        <p:txBody>
          <a:bodyPr anchor="b">
            <a:normAutofit/>
          </a:bodyPr>
          <a:lstStyle>
            <a:lvl1pPr algn="ctr">
              <a:defRPr sz="3200"/>
            </a:lvl1pPr>
          </a:lstStyle>
          <a:p>
            <a:r>
              <a:rPr lang="zh-TW" altLang="en-US"/>
              <a:t>按一下以編輯母片標題樣式</a:t>
            </a:r>
            <a:endParaRPr lang="en-US" dirty="0"/>
          </a:p>
        </p:txBody>
      </p:sp>
      <p:sp>
        <p:nvSpPr>
          <p:cNvPr id="3" name="Text Placeholder 2"/>
          <p:cNvSpPr>
            <a:spLocks noGrp="1"/>
          </p:cNvSpPr>
          <p:nvPr>
            <p:ph type="body" idx="1"/>
          </p:nvPr>
        </p:nvSpPr>
        <p:spPr>
          <a:xfrm>
            <a:off x="1434318" y="3708400"/>
            <a:ext cx="6251302" cy="1110725"/>
          </a:xfrm>
        </p:spPr>
        <p:txBody>
          <a:bodyPr tIns="91440">
            <a:normAutofit/>
          </a:bodyPr>
          <a:lstStyle>
            <a:lvl1pPr marL="0" indent="0" algn="ctr">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54E69E94-0F6C-4B62-8BDF-06A0F1FA1CAC}" type="datetime1">
              <a:rPr lang="zh-TW" altLang="en-US" smtClean="0"/>
              <a:t>2022/5/20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2294161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251303" cy="1059305"/>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443491" y="2013936"/>
            <a:ext cx="2965632" cy="343756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729162" y="2013936"/>
            <a:ext cx="2965424" cy="3437559"/>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BF2A128E-1718-4F04-8697-D7F2A33239AC}" type="datetime1">
              <a:rPr lang="zh-TW" altLang="en-US" smtClean="0"/>
              <a:t>2022/5/20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330732381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164"/>
            <a:ext cx="6251303" cy="1056319"/>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443491" y="2019550"/>
            <a:ext cx="2965631"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a:t>
            </a:r>
          </a:p>
        </p:txBody>
      </p:sp>
      <p:sp>
        <p:nvSpPr>
          <p:cNvPr id="4" name="Content Placeholder 3"/>
          <p:cNvSpPr>
            <a:spLocks noGrp="1"/>
          </p:cNvSpPr>
          <p:nvPr>
            <p:ph sz="half" idx="2"/>
          </p:nvPr>
        </p:nvSpPr>
        <p:spPr>
          <a:xfrm>
            <a:off x="1443491" y="2824270"/>
            <a:ext cx="2965631" cy="2644457"/>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729270" y="2023004"/>
            <a:ext cx="2965523"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編輯母片文字樣式</a:t>
            </a:r>
          </a:p>
        </p:txBody>
      </p:sp>
      <p:sp>
        <p:nvSpPr>
          <p:cNvPr id="6" name="Content Placeholder 5"/>
          <p:cNvSpPr>
            <a:spLocks noGrp="1"/>
          </p:cNvSpPr>
          <p:nvPr>
            <p:ph sz="quarter" idx="4"/>
          </p:nvPr>
        </p:nvSpPr>
        <p:spPr>
          <a:xfrm>
            <a:off x="4729270" y="2821491"/>
            <a:ext cx="2965523" cy="2637371"/>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BF2A128E-1718-4F04-8697-D7F2A33239AC}" type="datetime1">
              <a:rPr lang="zh-TW" altLang="en-US" smtClean="0"/>
              <a:t>2022/5/20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64424706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8BFFE44E-2251-4F06-9D4F-3279CB874D3A}" type="datetime1">
              <a:rPr lang="zh-TW" altLang="en-US" smtClean="0"/>
              <a:t>2022/5/20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4246226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B23E35-4CC9-4DFF-A03D-75E3E043585E}" type="datetime1">
              <a:rPr lang="zh-TW" altLang="en-US" smtClean="0"/>
              <a:t>2022/5/20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2314909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406519"/>
          </a:xfrm>
        </p:spPr>
        <p:txBody>
          <a:bodyPr anchor="b">
            <a:normAutofit/>
          </a:bodyPr>
          <a:lstStyle>
            <a:lvl1pPr algn="l">
              <a:defRPr sz="2400"/>
            </a:lvl1pPr>
          </a:lstStyle>
          <a:p>
            <a:r>
              <a:rPr lang="zh-TW" altLang="en-US"/>
              <a:t>按一下以編輯母片標題樣式</a:t>
            </a:r>
            <a:endParaRPr lang="en-US" dirty="0"/>
          </a:p>
        </p:txBody>
      </p:sp>
      <p:sp>
        <p:nvSpPr>
          <p:cNvPr id="3" name="Content Placeholder 2"/>
          <p:cNvSpPr>
            <a:spLocks noGrp="1"/>
          </p:cNvSpPr>
          <p:nvPr>
            <p:ph idx="1"/>
          </p:nvPr>
        </p:nvSpPr>
        <p:spPr>
          <a:xfrm>
            <a:off x="4186656" y="798974"/>
            <a:ext cx="3506719" cy="4658826"/>
          </a:xfrm>
        </p:spPr>
        <p:txBody>
          <a:bodyPr anchor="ct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439042" y="3205492"/>
            <a:ext cx="2421501"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a:t>編輯母片文字樣式</a:t>
            </a:r>
          </a:p>
        </p:txBody>
      </p:sp>
      <p:sp>
        <p:nvSpPr>
          <p:cNvPr id="5" name="Date Placeholder 4"/>
          <p:cNvSpPr>
            <a:spLocks noGrp="1"/>
          </p:cNvSpPr>
          <p:nvPr>
            <p:ph type="dt" sz="half" idx="10"/>
          </p:nvPr>
        </p:nvSpPr>
        <p:spPr/>
        <p:txBody>
          <a:bodyPr/>
          <a:lstStyle/>
          <a:p>
            <a:fld id="{597E7D46-59C1-4E61-867F-EF2696701FE3}" type="datetime1">
              <a:rPr lang="zh-TW" altLang="en-US" smtClean="0"/>
              <a:t>2022/5/20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45644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grpSp>
        <p:nvGrpSpPr>
          <p:cNvPr id="8" name="Group 7"/>
          <p:cNvGrpSpPr/>
          <p:nvPr/>
        </p:nvGrpSpPr>
        <p:grpSpPr>
          <a:xfrm>
            <a:off x="4996501" y="482171"/>
            <a:ext cx="3511387" cy="5149101"/>
            <a:chOff x="4996501" y="482171"/>
            <a:chExt cx="3511387" cy="5149101"/>
          </a:xfrm>
        </p:grpSpPr>
        <p:sp>
          <p:nvSpPr>
            <p:cNvPr id="14" name="Rectangle 13"/>
            <p:cNvSpPr/>
            <p:nvPr/>
          </p:nvSpPr>
          <p:spPr>
            <a:xfrm>
              <a:off x="4996501" y="482171"/>
              <a:ext cx="3511387"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5312152" y="812506"/>
              <a:ext cx="2883013" cy="4479361"/>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9" y="1129513"/>
            <a:ext cx="3080490" cy="1830584"/>
          </a:xfrm>
        </p:spPr>
        <p:txBody>
          <a:bodyPr anchor="b">
            <a:normAutofit/>
          </a:bodyPr>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defTabSz="914400">
              <a:spcBef>
                <a:spcPts val="1800"/>
              </a:spcBef>
            </a:pPr>
            <a:r>
              <a:rPr lang="zh-TW" altLang="en-US"/>
              <a:t>按一下圖示以新增圖片</a:t>
            </a:r>
            <a:endParaRPr lang="en-US" dirty="0"/>
          </a:p>
        </p:txBody>
      </p:sp>
      <p:sp>
        <p:nvSpPr>
          <p:cNvPr id="4" name="Text Placeholder 3"/>
          <p:cNvSpPr>
            <a:spLocks noGrp="1"/>
          </p:cNvSpPr>
          <p:nvPr>
            <p:ph type="body" sz="half" idx="2"/>
          </p:nvPr>
        </p:nvSpPr>
        <p:spPr>
          <a:xfrm>
            <a:off x="1443492" y="3145992"/>
            <a:ext cx="3076077"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a:t>編輯母片文字樣式</a:t>
            </a:r>
          </a:p>
        </p:txBody>
      </p:sp>
      <p:sp>
        <p:nvSpPr>
          <p:cNvPr id="5" name="Date Placeholder 4"/>
          <p:cNvSpPr>
            <a:spLocks noGrp="1"/>
          </p:cNvSpPr>
          <p:nvPr>
            <p:ph type="dt" sz="half" idx="10"/>
          </p:nvPr>
        </p:nvSpPr>
        <p:spPr>
          <a:xfrm>
            <a:off x="1436664" y="5469857"/>
            <a:ext cx="3082905" cy="320123"/>
          </a:xfrm>
        </p:spPr>
        <p:txBody>
          <a:bodyPr/>
          <a:lstStyle>
            <a:lvl1pPr algn="l">
              <a:defRPr/>
            </a:lvl1pPr>
          </a:lstStyle>
          <a:p>
            <a:fld id="{E3A8FAD2-7441-49B4-BB83-B93CCD6DC674}" type="datetime1">
              <a:rPr lang="zh-TW" altLang="en-US" smtClean="0"/>
              <a:t>2022/5/20</a:t>
            </a:fld>
            <a:endParaRPr lang="zh-TW" altLang="en-US"/>
          </a:p>
        </p:txBody>
      </p:sp>
      <p:sp>
        <p:nvSpPr>
          <p:cNvPr id="6" name="Footer Placeholder 5"/>
          <p:cNvSpPr>
            <a:spLocks noGrp="1"/>
          </p:cNvSpPr>
          <p:nvPr>
            <p:ph type="ftr" sz="quarter" idx="11"/>
          </p:nvPr>
        </p:nvSpPr>
        <p:spPr>
          <a:xfrm>
            <a:off x="1437530" y="318641"/>
            <a:ext cx="3082083" cy="320931"/>
          </a:xfrm>
        </p:spPr>
        <p:txBody>
          <a:bodyPr/>
          <a:lstStyle/>
          <a:p>
            <a:endParaRPr lang="zh-TW" altLang="en-US"/>
          </a:p>
        </p:txBody>
      </p:sp>
      <p:sp>
        <p:nvSpPr>
          <p:cNvPr id="7" name="Slide Number Placeholder 6"/>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1091259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0E3534B-CAFE-4B34-AD6F-E0CF9F02273A}" type="datetime1">
              <a:rPr lang="zh-TW" altLang="en-US" smtClean="0"/>
              <a:t>2022/5/20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1713671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2373" y="798974"/>
            <a:ext cx="1103027" cy="4659889"/>
          </a:xfrm>
        </p:spPr>
        <p:txBody>
          <a:bodyPr vert="eaVert"/>
          <a:lstStyle>
            <a:lvl1pPr algn="l">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443492" y="798974"/>
            <a:ext cx="4985762" cy="4659889"/>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050E82B-ED45-4E27-AE31-D1E4089550F1}" type="datetime1">
              <a:rPr lang="zh-TW" altLang="en-US" smtClean="0"/>
              <a:t>2022/5/20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2896562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0" name="Rectangle 9"/>
          <p:cNvSpPr/>
          <p:nvPr/>
        </p:nvSpPr>
        <p:spPr>
          <a:xfrm>
            <a:off x="0" y="3622291"/>
            <a:ext cx="9144000" cy="2512271"/>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1" name="Picture 10"/>
          <p:cNvPicPr>
            <a:picLocks noChangeAspect="1"/>
          </p:cNvPicPr>
          <p:nvPr/>
        </p:nvPicPr>
        <p:blipFill rotWithShape="1">
          <a:blip r:embed="rId13">
            <a:extLst>
              <a:ext uri="{28A0092B-C50C-407E-A947-70E740481C1C}">
                <a14:useLocalDpi xmlns:a14="http://schemas.microsoft.com/office/drawing/2010/main" val="0"/>
              </a:ext>
            </a:extLst>
          </a:blip>
          <a:srcRect t="2769" b="-2769"/>
          <a:stretch/>
        </p:blipFill>
        <p:spPr>
          <a:xfrm>
            <a:off x="0" y="6135624"/>
            <a:ext cx="9144000" cy="742950"/>
          </a:xfrm>
          <a:prstGeom prst="rect">
            <a:avLst/>
          </a:prstGeom>
        </p:spPr>
      </p:pic>
      <p:sp>
        <p:nvSpPr>
          <p:cNvPr id="2" name="Title Placeholder 1"/>
          <p:cNvSpPr>
            <a:spLocks noGrp="1"/>
          </p:cNvSpPr>
          <p:nvPr>
            <p:ph type="title"/>
          </p:nvPr>
        </p:nvSpPr>
        <p:spPr>
          <a:xfrm>
            <a:off x="1443491" y="804520"/>
            <a:ext cx="6251303" cy="1049235"/>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443491" y="2015733"/>
            <a:ext cx="6251303" cy="345061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2650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F2A128E-1718-4F04-8697-D7F2A33239AC}" type="datetime1">
              <a:rPr lang="zh-TW" altLang="en-US" smtClean="0"/>
              <a:t>2022/5/20</a:t>
            </a:fld>
            <a:endParaRPr lang="zh-TW" altLang="en-US"/>
          </a:p>
        </p:txBody>
      </p:sp>
      <p:sp>
        <p:nvSpPr>
          <p:cNvPr id="5" name="Footer Placeholder 4"/>
          <p:cNvSpPr>
            <a:spLocks noGrp="1"/>
          </p:cNvSpPr>
          <p:nvPr>
            <p:ph type="ftr" sz="quarter" idx="3"/>
          </p:nvPr>
        </p:nvSpPr>
        <p:spPr>
          <a:xfrm>
            <a:off x="1443491" y="329308"/>
            <a:ext cx="3719283"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68121D2-9246-4B52-9877-10E6A7AF0C69}" type="slidenum">
              <a:rPr lang="zh-TW" altLang="en-US" smtClean="0"/>
              <a:pPr/>
              <a:t>‹#›</a:t>
            </a:fld>
            <a:endParaRPr lang="zh-TW" altLang="en-US"/>
          </a:p>
        </p:txBody>
      </p:sp>
      <p:cxnSp>
        <p:nvCxnSpPr>
          <p:cNvPr id="12" name="Straight Connector 11"/>
          <p:cNvCxnSpPr/>
          <p:nvPr/>
        </p:nvCxnSpPr>
        <p:spPr>
          <a:xfrm>
            <a:off x="0" y="6144768"/>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1861763"/>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ctr" defTabSz="6858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cfh.com.tw/ClassifyByDisease/%e5%b0%8f%e5%85%92%e7%a7%91/Apr--2011.aspx" TargetMode="External"/><Relationship Id="rId2" Type="http://schemas.openxmlformats.org/officeDocument/2006/relationships/hyperlink" Target="http://www.cfh.com.tw/ClassifyByDisease.aspx"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1628800"/>
            <a:ext cx="7772400" cy="1829761"/>
          </a:xfrm>
        </p:spPr>
        <p:txBody>
          <a:bodyPr/>
          <a:lstStyle/>
          <a:p>
            <a:pPr algn="ctr"/>
            <a:r>
              <a:rPr lang="zh-TW" altLang="zh-TW" dirty="0">
                <a:effectLst/>
                <a:latin typeface="Agency FB" panose="020B0503020202020204" pitchFamily="34" charset="0"/>
                <a:cs typeface="Arial" panose="020B0604020202020204" pitchFamily="34" charset="0"/>
              </a:rPr>
              <a:t>第六章 </a:t>
            </a:r>
            <a:r>
              <a:rPr lang="en-US" altLang="zh-TW" dirty="0">
                <a:effectLst/>
                <a:latin typeface="Agency FB" panose="020B0503020202020204" pitchFamily="34" charset="0"/>
                <a:cs typeface="Arial" panose="020B0604020202020204" pitchFamily="34" charset="0"/>
              </a:rPr>
              <a:t/>
            </a:r>
            <a:br>
              <a:rPr lang="en-US" altLang="zh-TW" dirty="0">
                <a:effectLst/>
                <a:latin typeface="Agency FB" panose="020B0503020202020204" pitchFamily="34" charset="0"/>
                <a:cs typeface="Arial" panose="020B0604020202020204" pitchFamily="34" charset="0"/>
              </a:rPr>
            </a:br>
            <a:r>
              <a:rPr lang="zh-TW" altLang="zh-TW" dirty="0">
                <a:effectLst/>
                <a:latin typeface="Agency FB" panose="020B0503020202020204" pitchFamily="34" charset="0"/>
                <a:cs typeface="Arial" panose="020B0604020202020204" pitchFamily="34" charset="0"/>
              </a:rPr>
              <a:t>兩個類別變數之檢定</a:t>
            </a:r>
            <a:endParaRPr lang="zh-TW" altLang="en-US" dirty="0">
              <a:latin typeface="Agency FB" panose="020B0503020202020204" pitchFamily="34" charset="0"/>
              <a:cs typeface="Arial" panose="020B0604020202020204" pitchFamily="34" charset="0"/>
            </a:endParaRPr>
          </a:p>
        </p:txBody>
      </p:sp>
    </p:spTree>
    <p:extLst>
      <p:ext uri="{BB962C8B-B14F-4D97-AF65-F5344CB8AC3E}">
        <p14:creationId xmlns:p14="http://schemas.microsoft.com/office/powerpoint/2010/main" val="699851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Key words</a:t>
            </a:r>
            <a:endParaRPr lang="zh-TW" altLang="en-US" dirty="0"/>
          </a:p>
        </p:txBody>
      </p:sp>
      <p:sp>
        <p:nvSpPr>
          <p:cNvPr id="2" name="內容版面配置區 1"/>
          <p:cNvSpPr>
            <a:spLocks noGrp="1"/>
          </p:cNvSpPr>
          <p:nvPr>
            <p:ph idx="1"/>
          </p:nvPr>
        </p:nvSpPr>
        <p:spPr>
          <a:xfrm>
            <a:off x="755576" y="1481329"/>
            <a:ext cx="7931224" cy="4395944"/>
          </a:xfrm>
        </p:spPr>
        <p:txBody>
          <a:bodyPr>
            <a:normAutofit/>
          </a:bodyPr>
          <a:lstStyle/>
          <a:p>
            <a:pPr>
              <a:lnSpc>
                <a:spcPct val="150000"/>
              </a:lnSpc>
            </a:pPr>
            <a:r>
              <a:rPr lang="zh-TW" altLang="zh-TW" dirty="0"/>
              <a:t>卡方檢定</a:t>
            </a:r>
            <a:endParaRPr lang="en-US" altLang="zh-TW" dirty="0"/>
          </a:p>
          <a:p>
            <a:pPr>
              <a:lnSpc>
                <a:spcPct val="150000"/>
              </a:lnSpc>
            </a:pPr>
            <a:r>
              <a:rPr lang="zh-TW" altLang="zh-TW" dirty="0"/>
              <a:t>獨立性檢定</a:t>
            </a:r>
            <a:endParaRPr lang="en-US" altLang="zh-TW" dirty="0"/>
          </a:p>
          <a:p>
            <a:pPr>
              <a:lnSpc>
                <a:spcPct val="150000"/>
              </a:lnSpc>
            </a:pPr>
            <a:r>
              <a:rPr lang="zh-TW" altLang="zh-TW" dirty="0"/>
              <a:t>列聯表</a:t>
            </a:r>
            <a:endParaRPr lang="en-US" altLang="zh-TW" dirty="0"/>
          </a:p>
          <a:p>
            <a:pPr>
              <a:lnSpc>
                <a:spcPct val="150000"/>
              </a:lnSpc>
            </a:pPr>
            <a:r>
              <a:rPr lang="zh-TW" altLang="zh-TW" dirty="0"/>
              <a:t>葉氏連續性校正卡方檢定</a:t>
            </a:r>
            <a:endParaRPr lang="en-US" altLang="zh-TW" dirty="0"/>
          </a:p>
          <a:p>
            <a:pPr>
              <a:lnSpc>
                <a:spcPct val="150000"/>
              </a:lnSpc>
            </a:pPr>
            <a:r>
              <a:rPr lang="zh-TW" altLang="zh-TW" dirty="0"/>
              <a:t>費雪精確性檢定</a:t>
            </a:r>
            <a:endParaRPr lang="en-US" altLang="zh-TW" dirty="0"/>
          </a:p>
          <a:p>
            <a:pPr>
              <a:lnSpc>
                <a:spcPct val="150000"/>
              </a:lnSpc>
            </a:pPr>
            <a:r>
              <a:rPr lang="zh-TW" altLang="zh-TW" dirty="0"/>
              <a:t>超幾何分佈</a:t>
            </a:r>
            <a:endParaRPr lang="en-US" altLang="zh-TW" dirty="0"/>
          </a:p>
          <a:p>
            <a:pPr>
              <a:lnSpc>
                <a:spcPct val="150000"/>
              </a:lnSpc>
            </a:pPr>
            <a:r>
              <a:rPr lang="en-US" altLang="zh-TW" dirty="0" err="1"/>
              <a:t>McNemar</a:t>
            </a:r>
            <a:r>
              <a:rPr lang="en-US" altLang="zh-TW" dirty="0"/>
              <a:t> </a:t>
            </a:r>
            <a:r>
              <a:rPr lang="zh-TW" altLang="zh-TW" dirty="0"/>
              <a:t>檢定</a:t>
            </a:r>
            <a:endParaRPr lang="zh-TW" altLang="en-US" dirty="0"/>
          </a:p>
        </p:txBody>
      </p:sp>
    </p:spTree>
    <p:extLst>
      <p:ext uri="{BB962C8B-B14F-4D97-AF65-F5344CB8AC3E}">
        <p14:creationId xmlns:p14="http://schemas.microsoft.com/office/powerpoint/2010/main" val="3035163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457200" y="548680"/>
            <a:ext cx="8229600" cy="5458611"/>
          </a:xfrm>
        </p:spPr>
        <p:txBody>
          <a:bodyPr/>
          <a:lstStyle/>
          <a:p>
            <a:pPr>
              <a:lnSpc>
                <a:spcPct val="150000"/>
              </a:lnSpc>
            </a:pPr>
            <a:r>
              <a:rPr lang="zh-TW" altLang="zh-TW" dirty="0"/>
              <a:t>以下案例為關於血清鉀濃度是否會影響健康人日後糖尿病罹患率的研究</a:t>
            </a:r>
            <a:r>
              <a:rPr lang="zh-TW" altLang="en-US" dirty="0"/>
              <a:t>。</a:t>
            </a:r>
            <a:r>
              <a:rPr lang="zh-TW" altLang="zh-TW" dirty="0"/>
              <a:t>本文章提出數據證明當一般健康人血清鉀濃度偏低時，其日後也較容易罹患糖尿病。研究者利用他們</a:t>
            </a:r>
            <a:r>
              <a:rPr lang="en-US" altLang="zh-TW" dirty="0"/>
              <a:t>1986</a:t>
            </a:r>
            <a:r>
              <a:rPr lang="zh-TW" altLang="zh-TW" dirty="0"/>
              <a:t>年開始的臨床研究，蒐集到</a:t>
            </a:r>
            <a:r>
              <a:rPr lang="en-US" altLang="zh-TW" dirty="0"/>
              <a:t>12,209</a:t>
            </a:r>
            <a:r>
              <a:rPr lang="zh-TW" altLang="zh-TW" dirty="0"/>
              <a:t>位受試者的血清鉀濃度資料，並在之後的</a:t>
            </a:r>
            <a:r>
              <a:rPr lang="en-US" altLang="zh-TW" dirty="0"/>
              <a:t>9</a:t>
            </a:r>
            <a:r>
              <a:rPr lang="zh-TW" altLang="zh-TW" dirty="0"/>
              <a:t>年內以面談的方式追蹤受試者是否罹患糖尿病。</a:t>
            </a:r>
            <a:endParaRPr lang="en-US" altLang="zh-TW" dirty="0"/>
          </a:p>
        </p:txBody>
      </p:sp>
    </p:spTree>
    <p:extLst>
      <p:ext uri="{BB962C8B-B14F-4D97-AF65-F5344CB8AC3E}">
        <p14:creationId xmlns:p14="http://schemas.microsoft.com/office/powerpoint/2010/main" val="2217946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272582" y="798973"/>
            <a:ext cx="8383693" cy="3744416"/>
          </a:xfrm>
        </p:spPr>
        <p:txBody>
          <a:bodyPr>
            <a:normAutofit/>
          </a:bodyPr>
          <a:lstStyle/>
          <a:p>
            <a:pPr>
              <a:lnSpc>
                <a:spcPct val="120000"/>
              </a:lnSpc>
            </a:pPr>
            <a:r>
              <a:rPr lang="zh-TW" altLang="zh-TW" dirty="0"/>
              <a:t>在</a:t>
            </a:r>
            <a:r>
              <a:rPr lang="en-US" altLang="zh-TW" dirty="0"/>
              <a:t>9</a:t>
            </a:r>
            <a:r>
              <a:rPr lang="zh-TW" altLang="zh-TW" dirty="0"/>
              <a:t>年內共有</a:t>
            </a:r>
            <a:r>
              <a:rPr lang="en-US" altLang="zh-TW" dirty="0"/>
              <a:t>1,475</a:t>
            </a:r>
            <a:r>
              <a:rPr lang="zh-TW" altLang="zh-TW" dirty="0"/>
              <a:t>位受試者被診斷出糖尿病</a:t>
            </a:r>
            <a:r>
              <a:rPr lang="en-US" altLang="zh-TW" dirty="0"/>
              <a:t>;</a:t>
            </a:r>
            <a:r>
              <a:rPr lang="zh-TW" altLang="zh-TW" dirty="0"/>
              <a:t>當研究者把受試者依照血清鉀濃度分成</a:t>
            </a:r>
            <a:r>
              <a:rPr lang="en-US" altLang="zh-TW" dirty="0"/>
              <a:t>4</a:t>
            </a:r>
            <a:r>
              <a:rPr lang="zh-TW" altLang="zh-TW" dirty="0"/>
              <a:t>組（低於</a:t>
            </a:r>
            <a:r>
              <a:rPr lang="en-US" altLang="zh-TW" dirty="0"/>
              <a:t>4.0 </a:t>
            </a:r>
            <a:r>
              <a:rPr lang="en-US" altLang="zh-TW" dirty="0" err="1"/>
              <a:t>mEq</a:t>
            </a:r>
            <a:r>
              <a:rPr lang="en-US" altLang="zh-TW" dirty="0"/>
              <a:t>/L</a:t>
            </a:r>
            <a:r>
              <a:rPr lang="zh-TW" altLang="zh-TW" dirty="0"/>
              <a:t>、</a:t>
            </a:r>
            <a:r>
              <a:rPr lang="en-US" altLang="zh-TW" dirty="0"/>
              <a:t>4.0~4.5 </a:t>
            </a:r>
            <a:r>
              <a:rPr lang="en-US" altLang="zh-TW" dirty="0" err="1"/>
              <a:t>mEq</a:t>
            </a:r>
            <a:r>
              <a:rPr lang="en-US" altLang="zh-TW" dirty="0"/>
              <a:t>/L</a:t>
            </a:r>
            <a:r>
              <a:rPr lang="zh-TW" altLang="zh-TW" dirty="0"/>
              <a:t>、</a:t>
            </a:r>
            <a:r>
              <a:rPr lang="en-US" altLang="zh-TW" dirty="0"/>
              <a:t>4.5~5.0 </a:t>
            </a:r>
            <a:r>
              <a:rPr lang="en-US" altLang="zh-TW" dirty="0" err="1"/>
              <a:t>mEq</a:t>
            </a:r>
            <a:r>
              <a:rPr lang="en-US" altLang="zh-TW" dirty="0"/>
              <a:t>/L</a:t>
            </a:r>
            <a:r>
              <a:rPr lang="zh-TW" altLang="zh-TW" dirty="0"/>
              <a:t>、</a:t>
            </a:r>
            <a:r>
              <a:rPr lang="en-US" altLang="zh-TW" dirty="0"/>
              <a:t>5.0~5.5 </a:t>
            </a:r>
            <a:r>
              <a:rPr lang="en-US" altLang="zh-TW" dirty="0" err="1"/>
              <a:t>mEq</a:t>
            </a:r>
            <a:r>
              <a:rPr lang="en-US" altLang="zh-TW" dirty="0"/>
              <a:t>/L</a:t>
            </a:r>
            <a:r>
              <a:rPr lang="zh-TW" altLang="zh-TW" dirty="0"/>
              <a:t>）時，發現濃度較低前三組的糖尿病罹患率，分別是濃度最高第四組的</a:t>
            </a:r>
            <a:r>
              <a:rPr lang="en-US" altLang="zh-TW" dirty="0"/>
              <a:t>1.64</a:t>
            </a:r>
            <a:r>
              <a:rPr lang="zh-TW" altLang="zh-TW" dirty="0"/>
              <a:t>、</a:t>
            </a:r>
            <a:r>
              <a:rPr lang="en-US" altLang="zh-TW" dirty="0"/>
              <a:t>1.64</a:t>
            </a:r>
            <a:r>
              <a:rPr lang="zh-TW" altLang="zh-TW" dirty="0"/>
              <a:t>、和</a:t>
            </a:r>
            <a:r>
              <a:rPr lang="en-US" altLang="zh-TW" dirty="0"/>
              <a:t>1.39</a:t>
            </a:r>
            <a:r>
              <a:rPr lang="zh-TW" altLang="zh-TW" dirty="0"/>
              <a:t>倍。</a:t>
            </a:r>
            <a:endParaRPr lang="en-US" altLang="zh-TW" dirty="0"/>
          </a:p>
          <a:p>
            <a:pPr>
              <a:lnSpc>
                <a:spcPct val="120000"/>
              </a:lnSpc>
            </a:pPr>
            <a:r>
              <a:rPr lang="zh-TW" altLang="zh-TW" dirty="0"/>
              <a:t>即使在</a:t>
            </a:r>
            <a:r>
              <a:rPr lang="en-US" altLang="zh-TW" dirty="0"/>
              <a:t>9</a:t>
            </a:r>
            <a:r>
              <a:rPr lang="zh-TW" altLang="zh-TW" dirty="0"/>
              <a:t>年之後，當研究者以電話繼續追蹤時仍發現，從前血清鉀濃度較低者，其糖尿病罹患率在第</a:t>
            </a:r>
            <a:r>
              <a:rPr lang="en-US" altLang="zh-TW" dirty="0"/>
              <a:t>9~17</a:t>
            </a:r>
            <a:r>
              <a:rPr lang="zh-TW" altLang="zh-TW" dirty="0"/>
              <a:t>年間仍然較高。</a:t>
            </a:r>
            <a:endParaRPr lang="en-US" altLang="zh-TW" dirty="0"/>
          </a:p>
          <a:p>
            <a:pPr>
              <a:lnSpc>
                <a:spcPct val="120000"/>
              </a:lnSpc>
            </a:pPr>
            <a:r>
              <a:rPr lang="zh-TW" altLang="zh-TW" dirty="0"/>
              <a:t>如何利用統計檢定的方式來比較血清鉀濃度會影響健康人日後的糖尿病罹患率而得到結論便是</a:t>
            </a:r>
            <a:r>
              <a:rPr lang="zh-TW" altLang="en-US" dirty="0"/>
              <a:t>本章</a:t>
            </a:r>
            <a:r>
              <a:rPr lang="zh-TW" altLang="zh-TW" dirty="0"/>
              <a:t>重點。</a:t>
            </a:r>
            <a:endParaRPr lang="zh-TW" altLang="en-US" dirty="0"/>
          </a:p>
          <a:p>
            <a:endParaRPr lang="zh-TW" altLang="en-US" dirty="0"/>
          </a:p>
        </p:txBody>
      </p:sp>
      <p:sp>
        <p:nvSpPr>
          <p:cNvPr id="4" name="矩形 3">
            <a:extLst>
              <a:ext uri="{FF2B5EF4-FFF2-40B4-BE49-F238E27FC236}">
                <a16:creationId xmlns:a16="http://schemas.microsoft.com/office/drawing/2014/main" id="{2E4538D8-A720-4B42-8575-76C1881BF4AF}"/>
              </a:ext>
            </a:extLst>
          </p:cNvPr>
          <p:cNvSpPr/>
          <p:nvPr/>
        </p:nvSpPr>
        <p:spPr>
          <a:xfrm>
            <a:off x="683568" y="5013176"/>
            <a:ext cx="8208912" cy="523220"/>
          </a:xfrm>
          <a:prstGeom prst="rect">
            <a:avLst/>
          </a:prstGeom>
          <a:solidFill>
            <a:schemeClr val="bg1"/>
          </a:solidFill>
        </p:spPr>
        <p:txBody>
          <a:bodyPr wrap="square">
            <a:spAutoFit/>
          </a:bodyPr>
          <a:lstStyle/>
          <a:p>
            <a:r>
              <a:rPr lang="zh-TW" altLang="zh-TW" sz="1400" dirty="0">
                <a:latin typeface="+mj-ea"/>
                <a:ea typeface="+mj-ea"/>
                <a:cs typeface="Times New Roman" panose="02020603050405020304" pitchFamily="18" charset="0"/>
              </a:rPr>
              <a:t>（</a:t>
            </a:r>
            <a:r>
              <a:rPr lang="zh-TW" altLang="zh-TW" sz="1400" kern="0" dirty="0">
                <a:latin typeface="+mj-ea"/>
                <a:ea typeface="+mj-ea"/>
                <a:cs typeface="Times New Roman" panose="02020603050405020304" pitchFamily="18" charset="0"/>
              </a:rPr>
              <a:t>資料來源：康活健康知識網</a:t>
            </a:r>
            <a:r>
              <a:rPr lang="en-US" altLang="zh-TW" sz="1400" kern="0" dirty="0">
                <a:latin typeface="+mj-ea"/>
                <a:ea typeface="+mj-ea"/>
              </a:rPr>
              <a:t>—</a:t>
            </a:r>
            <a:r>
              <a:rPr lang="en-US" altLang="zh-TW" sz="1400" kern="0" dirty="0" err="1">
                <a:latin typeface="+mj-ea"/>
                <a:ea typeface="+mj-ea"/>
                <a:cs typeface="Times New Roman" panose="02020603050405020304" pitchFamily="18" charset="0"/>
                <a:hlinkClick r:id="rId2"/>
              </a:rPr>
              <a:t>醫學疾病類科</a:t>
            </a:r>
            <a:r>
              <a:rPr lang="zh-TW" altLang="zh-TW" sz="1400" kern="0" dirty="0">
                <a:latin typeface="+mj-ea"/>
                <a:ea typeface="+mj-ea"/>
                <a:cs typeface="Times New Roman" panose="02020603050405020304" pitchFamily="18" charset="0"/>
              </a:rPr>
              <a:t>，分泌及新陳代謝科，</a:t>
            </a:r>
            <a:r>
              <a:rPr lang="en-US" altLang="zh-TW" sz="1400" kern="0" dirty="0">
                <a:latin typeface="+mj-ea"/>
                <a:ea typeface="+mj-ea"/>
                <a:cs typeface="Times New Roman" panose="02020603050405020304" pitchFamily="18" charset="0"/>
                <a:hlinkClick r:id="rId3"/>
              </a:rPr>
              <a:t>Apr. 2011</a:t>
            </a:r>
            <a:r>
              <a:rPr lang="zh-TW" altLang="zh-TW" sz="1400" kern="0" dirty="0">
                <a:latin typeface="+mj-ea"/>
                <a:ea typeface="+mj-ea"/>
                <a:cs typeface="Times New Roman" panose="02020603050405020304" pitchFamily="18" charset="0"/>
              </a:rPr>
              <a:t>，糖尿病增加可能與缺鉀有關，節錄部份）</a:t>
            </a:r>
            <a:endParaRPr lang="zh-TW" altLang="en-US" sz="1400" dirty="0">
              <a:latin typeface="+mj-ea"/>
              <a:ea typeface="+mj-ea"/>
            </a:endParaRPr>
          </a:p>
        </p:txBody>
      </p:sp>
    </p:spTree>
    <p:extLst>
      <p:ext uri="{BB962C8B-B14F-4D97-AF65-F5344CB8AC3E}">
        <p14:creationId xmlns:p14="http://schemas.microsoft.com/office/powerpoint/2010/main" val="1976615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333872" y="260648"/>
            <a:ext cx="8352928" cy="1049235"/>
          </a:xfrm>
        </p:spPr>
        <p:txBody>
          <a:bodyPr>
            <a:normAutofit/>
          </a:bodyPr>
          <a:lstStyle/>
          <a:p>
            <a:r>
              <a:rPr lang="zh-TW" altLang="zh-TW" dirty="0">
                <a:effectLst/>
              </a:rPr>
              <a:t>獨立性檢定（</a:t>
            </a:r>
            <a:r>
              <a:rPr lang="en-US" altLang="zh-TW" dirty="0">
                <a:effectLst/>
              </a:rPr>
              <a:t>Test of independence</a:t>
            </a:r>
            <a:r>
              <a:rPr lang="zh-TW" altLang="zh-TW" dirty="0">
                <a:effectLst/>
              </a:rPr>
              <a:t>）</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57200" y="1481328"/>
                <a:ext cx="8229600" cy="4755984"/>
              </a:xfrm>
            </p:spPr>
            <p:txBody>
              <a:bodyPr>
                <a:normAutofit/>
              </a:bodyPr>
              <a:lstStyle/>
              <a:p>
                <a:pPr>
                  <a:lnSpc>
                    <a:spcPct val="120000"/>
                  </a:lnSpc>
                </a:pPr>
                <a:r>
                  <a:rPr lang="zh-TW" altLang="zh-TW" dirty="0"/>
                  <a:t>上例中探討血清鉀濃度的類別變項</a:t>
                </a:r>
                <a:r>
                  <a:rPr lang="en-US" altLang="zh-TW" dirty="0"/>
                  <a:t>(4</a:t>
                </a:r>
                <a:r>
                  <a:rPr lang="zh-TW" altLang="zh-TW" dirty="0"/>
                  <a:t>類</a:t>
                </a:r>
                <a:r>
                  <a:rPr lang="en-US" altLang="zh-TW" dirty="0"/>
                  <a:t>) </a:t>
                </a:r>
                <a:r>
                  <a:rPr lang="zh-TW" altLang="zh-TW" dirty="0"/>
                  <a:t>與罹患糖尿病</a:t>
                </a:r>
                <a:r>
                  <a:rPr lang="en-US" altLang="zh-TW" dirty="0"/>
                  <a:t>(2</a:t>
                </a:r>
                <a:r>
                  <a:rPr lang="zh-TW" altLang="zh-TW" dirty="0"/>
                  <a:t>類</a:t>
                </a:r>
                <a:r>
                  <a:rPr lang="en-US" altLang="zh-TW" dirty="0"/>
                  <a:t>) </a:t>
                </a:r>
                <a:r>
                  <a:rPr lang="zh-TW" altLang="zh-TW" dirty="0"/>
                  <a:t>是否有關</a:t>
                </a:r>
                <a:r>
                  <a:rPr lang="en-US" altLang="zh-TW" dirty="0"/>
                  <a:t>; </a:t>
                </a:r>
                <a:r>
                  <a:rPr lang="zh-TW" altLang="zh-TW" dirty="0"/>
                  <a:t>虛無假設（</a:t>
                </a:r>
                <a:r>
                  <a:rPr lang="en-US" altLang="zh-TW" dirty="0"/>
                  <a:t>H</a:t>
                </a:r>
                <a:r>
                  <a:rPr lang="en-US" altLang="zh-TW" baseline="-25000" dirty="0"/>
                  <a:t>0</a:t>
                </a:r>
                <a:r>
                  <a:rPr lang="zh-TW" altLang="zh-TW" dirty="0"/>
                  <a:t>）為兩變數獨立無關，而對立假設（</a:t>
                </a:r>
                <a:r>
                  <a:rPr lang="en-US" altLang="zh-TW" dirty="0"/>
                  <a:t>H</a:t>
                </a:r>
                <a:r>
                  <a:rPr lang="en-US" altLang="zh-TW" baseline="-25000" dirty="0"/>
                  <a:t>a</a:t>
                </a:r>
                <a:r>
                  <a:rPr lang="zh-TW" altLang="zh-TW" dirty="0"/>
                  <a:t>）為兩變數間有相關。研究這種問題時經常將資料整理成列聯表</a:t>
                </a:r>
                <a:r>
                  <a:rPr lang="en-US" altLang="zh-TW" dirty="0"/>
                  <a:t>(contingency table</a:t>
                </a:r>
                <a:r>
                  <a:rPr lang="zh-TW" altLang="zh-TW" dirty="0"/>
                  <a:t>）的形態。</a:t>
                </a:r>
                <a:endParaRPr lang="en-US" altLang="zh-TW" dirty="0"/>
              </a:p>
              <a:p>
                <a:pPr>
                  <a:lnSpc>
                    <a:spcPct val="120000"/>
                  </a:lnSpc>
                </a:pPr>
                <a:endParaRPr lang="en-US" altLang="zh-TW" dirty="0"/>
              </a:p>
              <a:p>
                <a:pPr>
                  <a:lnSpc>
                    <a:spcPct val="120000"/>
                  </a:lnSpc>
                </a:pPr>
                <a:r>
                  <a:rPr lang="zh-TW" altLang="zh-TW" dirty="0"/>
                  <a:t>假設一類別變數有</a:t>
                </a:r>
                <a:r>
                  <a:rPr lang="en-US" altLang="zh-TW" dirty="0"/>
                  <a:t>r</a:t>
                </a:r>
                <a:r>
                  <a:rPr lang="zh-TW" altLang="zh-TW" dirty="0"/>
                  <a:t>個分組，而另一類別變數有</a:t>
                </a:r>
                <a:r>
                  <a:rPr lang="en-US" altLang="zh-TW" dirty="0"/>
                  <a:t>c</a:t>
                </a:r>
                <a:r>
                  <a:rPr lang="zh-TW" altLang="zh-TW" dirty="0"/>
                  <a:t>個分組，依據這兩個變數共可產生</a:t>
                </a:r>
                <a14:m>
                  <m:oMath xmlns:m="http://schemas.openxmlformats.org/officeDocument/2006/math">
                    <m:r>
                      <a:rPr lang="en-US" altLang="zh-TW" i="1">
                        <a:latin typeface="Cambria Math" panose="02040503050406030204" pitchFamily="18" charset="0"/>
                      </a:rPr>
                      <m:t>𝑟</m:t>
                    </m:r>
                    <m:r>
                      <a:rPr lang="en-US" altLang="zh-TW" i="1">
                        <a:latin typeface="Cambria Math" panose="02040503050406030204" pitchFamily="18" charset="0"/>
                      </a:rPr>
                      <m:t>×</m:t>
                    </m:r>
                    <m:r>
                      <a:rPr lang="en-US" altLang="zh-TW" i="1">
                        <a:latin typeface="Cambria Math" panose="02040503050406030204" pitchFamily="18" charset="0"/>
                      </a:rPr>
                      <m:t>𝑐</m:t>
                    </m:r>
                  </m:oMath>
                </a14:m>
                <a:r>
                  <a:rPr lang="en-US" altLang="zh-TW" dirty="0"/>
                  <a:t> </a:t>
                </a:r>
                <a:r>
                  <a:rPr lang="zh-TW" altLang="zh-TW" dirty="0"/>
                  <a:t>個類別組合，計數樣本資料落在每種組合的次數，下表為兩個類別變數的 </a:t>
                </a:r>
                <a14:m>
                  <m:oMath xmlns:m="http://schemas.openxmlformats.org/officeDocument/2006/math">
                    <m:r>
                      <a:rPr lang="en-US" altLang="zh-TW" i="1">
                        <a:latin typeface="Cambria Math" panose="02040503050406030204" pitchFamily="18" charset="0"/>
                      </a:rPr>
                      <m:t>𝑟</m:t>
                    </m:r>
                    <m:r>
                      <a:rPr lang="en-US" altLang="zh-TW" i="1">
                        <a:latin typeface="Cambria Math" panose="02040503050406030204" pitchFamily="18" charset="0"/>
                      </a:rPr>
                      <m:t>×</m:t>
                    </m:r>
                    <m:r>
                      <a:rPr lang="en-US" altLang="zh-TW" i="1">
                        <a:latin typeface="Cambria Math" panose="02040503050406030204" pitchFamily="18" charset="0"/>
                      </a:rPr>
                      <m:t>𝑐</m:t>
                    </m:r>
                  </m:oMath>
                </a14:m>
                <a:r>
                  <a:rPr lang="en-US" altLang="zh-TW" dirty="0"/>
                  <a:t> </a:t>
                </a:r>
                <a:r>
                  <a:rPr lang="zh-TW" altLang="zh-TW" dirty="0"/>
                  <a:t>列聯表：</a:t>
                </a:r>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57200" y="1481328"/>
                <a:ext cx="8229600" cy="4755984"/>
              </a:xfrm>
              <a:blipFill>
                <a:blip r:embed="rId2"/>
                <a:stretch>
                  <a:fillRect l="-667" r="-2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93317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標題 3"/>
              <p:cNvSpPr>
                <a:spLocks noGrp="1"/>
              </p:cNvSpPr>
              <p:nvPr>
                <p:ph type="title"/>
              </p:nvPr>
            </p:nvSpPr>
            <p:spPr>
              <a:xfrm>
                <a:off x="1443490" y="240082"/>
                <a:ext cx="6251303" cy="1049235"/>
              </a:xfrm>
            </p:spPr>
            <p:txBody>
              <a:bodyPr/>
              <a:lstStyle/>
              <a:p>
                <a:pPr algn="ctr"/>
                <a14:m>
                  <m:oMath xmlns:m="http://schemas.openxmlformats.org/officeDocument/2006/math">
                    <m:r>
                      <a:rPr lang="en-US" altLang="zh-TW" b="0" i="1" smtClean="0">
                        <a:latin typeface="Cambria Math" panose="02040503050406030204" pitchFamily="18" charset="0"/>
                      </a:rPr>
                      <m:t>𝑅</m:t>
                    </m:r>
                    <m:r>
                      <a:rPr lang="en-US" altLang="zh-TW" i="1">
                        <a:latin typeface="Cambria Math" panose="02040503050406030204" pitchFamily="18" charset="0"/>
                      </a:rPr>
                      <m:t>×</m:t>
                    </m:r>
                    <m:r>
                      <a:rPr lang="en-US" altLang="zh-TW" b="0" i="1" smtClean="0">
                        <a:latin typeface="Cambria Math" panose="02040503050406030204" pitchFamily="18" charset="0"/>
                      </a:rPr>
                      <m:t>𝐶</m:t>
                    </m:r>
                  </m:oMath>
                </a14:m>
                <a:r>
                  <a:rPr lang="en-US" altLang="zh-TW" dirty="0"/>
                  <a:t> </a:t>
                </a:r>
                <a:r>
                  <a:rPr lang="zh-TW" altLang="zh-TW" dirty="0"/>
                  <a:t>列聯表</a:t>
                </a:r>
                <a:endParaRPr lang="zh-TW" altLang="en-US" dirty="0"/>
              </a:p>
            </p:txBody>
          </p:sp>
        </mc:Choice>
        <mc:Fallback xmlns="">
          <p:sp>
            <p:nvSpPr>
              <p:cNvPr id="4" name="標題 3"/>
              <p:cNvSpPr>
                <a:spLocks noGrp="1" noRot="1" noChangeAspect="1" noMove="1" noResize="1" noEditPoints="1" noAdjustHandles="1" noChangeArrowheads="1" noChangeShapeType="1" noTextEdit="1"/>
              </p:cNvSpPr>
              <p:nvPr>
                <p:ph type="title"/>
              </p:nvPr>
            </p:nvSpPr>
            <p:spPr>
              <a:xfrm>
                <a:off x="1443490" y="240082"/>
                <a:ext cx="6251303" cy="1049235"/>
              </a:xfr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graphicFrame>
            <p:nvGraphicFramePr>
              <p:cNvPr id="5" name="內容版面配置區 4"/>
              <p:cNvGraphicFramePr>
                <a:graphicFrameLocks noGrp="1"/>
              </p:cNvGraphicFramePr>
              <p:nvPr>
                <p:ph idx="1"/>
                <p:extLst>
                  <p:ext uri="{D42A27DB-BD31-4B8C-83A1-F6EECF244321}">
                    <p14:modId xmlns:p14="http://schemas.microsoft.com/office/powerpoint/2010/main" val="4049353328"/>
                  </p:ext>
                </p:extLst>
              </p:nvPr>
            </p:nvGraphicFramePr>
            <p:xfrm>
              <a:off x="1619672" y="2636912"/>
              <a:ext cx="6120682" cy="3456388"/>
            </p:xfrm>
            <a:graphic>
              <a:graphicData uri="http://schemas.openxmlformats.org/drawingml/2006/table">
                <a:tbl>
                  <a:tblPr firstRow="1" firstCol="1" bandRow="1">
                    <a:tableStyleId>{5C22544A-7EE6-4342-B048-85BDC9FD1C3A}</a:tableStyleId>
                  </a:tblPr>
                  <a:tblGrid>
                    <a:gridCol w="764528">
                      <a:extLst>
                        <a:ext uri="{9D8B030D-6E8A-4147-A177-3AD203B41FA5}">
                          <a16:colId xmlns:a16="http://schemas.microsoft.com/office/drawing/2014/main" val="20000"/>
                        </a:ext>
                      </a:extLst>
                    </a:gridCol>
                    <a:gridCol w="764528">
                      <a:extLst>
                        <a:ext uri="{9D8B030D-6E8A-4147-A177-3AD203B41FA5}">
                          <a16:colId xmlns:a16="http://schemas.microsoft.com/office/drawing/2014/main" val="20001"/>
                        </a:ext>
                      </a:extLst>
                    </a:gridCol>
                    <a:gridCol w="764528">
                      <a:extLst>
                        <a:ext uri="{9D8B030D-6E8A-4147-A177-3AD203B41FA5}">
                          <a16:colId xmlns:a16="http://schemas.microsoft.com/office/drawing/2014/main" val="20002"/>
                        </a:ext>
                      </a:extLst>
                    </a:gridCol>
                    <a:gridCol w="764528">
                      <a:extLst>
                        <a:ext uri="{9D8B030D-6E8A-4147-A177-3AD203B41FA5}">
                          <a16:colId xmlns:a16="http://schemas.microsoft.com/office/drawing/2014/main" val="20003"/>
                        </a:ext>
                      </a:extLst>
                    </a:gridCol>
                    <a:gridCol w="764528">
                      <a:extLst>
                        <a:ext uri="{9D8B030D-6E8A-4147-A177-3AD203B41FA5}">
                          <a16:colId xmlns:a16="http://schemas.microsoft.com/office/drawing/2014/main" val="20004"/>
                        </a:ext>
                      </a:extLst>
                    </a:gridCol>
                    <a:gridCol w="765419">
                      <a:extLst>
                        <a:ext uri="{9D8B030D-6E8A-4147-A177-3AD203B41FA5}">
                          <a16:colId xmlns:a16="http://schemas.microsoft.com/office/drawing/2014/main" val="20005"/>
                        </a:ext>
                      </a:extLst>
                    </a:gridCol>
                    <a:gridCol w="765419">
                      <a:extLst>
                        <a:ext uri="{9D8B030D-6E8A-4147-A177-3AD203B41FA5}">
                          <a16:colId xmlns:a16="http://schemas.microsoft.com/office/drawing/2014/main" val="20006"/>
                        </a:ext>
                      </a:extLst>
                    </a:gridCol>
                    <a:gridCol w="767204">
                      <a:extLst>
                        <a:ext uri="{9D8B030D-6E8A-4147-A177-3AD203B41FA5}">
                          <a16:colId xmlns:a16="http://schemas.microsoft.com/office/drawing/2014/main" val="20007"/>
                        </a:ext>
                      </a:extLst>
                    </a:gridCol>
                  </a:tblGrid>
                  <a:tr h="383150">
                    <a:tc rowSpan="2">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Row</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b"/>
                    </a:tc>
                    <a:tc gridSpan="6">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Column</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pPr algn="ctr">
                            <a:spcAft>
                              <a:spcPts val="0"/>
                            </a:spcAft>
                          </a:pPr>
                          <a:r>
                            <a:rPr lang="zh-TW" sz="1800" kern="0">
                              <a:effectLst/>
                              <a:latin typeface="Times New Roman" panose="02020603050405020304" pitchFamily="18" charset="0"/>
                              <a:ea typeface="+mj-ea"/>
                              <a:cs typeface="Times New Roman" panose="02020603050405020304" pitchFamily="18" charset="0"/>
                            </a:rPr>
                            <a:t>合計</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b"/>
                    </a:tc>
                    <a:extLst>
                      <a:ext uri="{0D108BD9-81ED-4DB2-BD59-A6C34878D82A}">
                        <a16:rowId xmlns:a16="http://schemas.microsoft.com/office/drawing/2014/main" val="10000"/>
                      </a:ext>
                    </a:extLst>
                  </a:tr>
                  <a:tr h="383150">
                    <a:tc vMerge="1">
                      <a:txBody>
                        <a:bodyPr/>
                        <a:lstStyle/>
                        <a:p>
                          <a:endParaRPr lang="zh-TW" altLang="en-US"/>
                        </a:p>
                      </a:txBody>
                      <a:tcP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1</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2</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j</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c</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vMerge="1">
                      <a:txBody>
                        <a:bodyPr/>
                        <a:lstStyle/>
                        <a:p>
                          <a:endParaRPr lang="zh-TW" altLang="en-US"/>
                        </a:p>
                      </a:txBody>
                      <a:tcPr/>
                    </a:tc>
                    <a:extLst>
                      <a:ext uri="{0D108BD9-81ED-4DB2-BD59-A6C34878D82A}">
                        <a16:rowId xmlns:a16="http://schemas.microsoft.com/office/drawing/2014/main" val="10001"/>
                      </a:ext>
                    </a:extLst>
                  </a:tr>
                  <a:tr h="383150">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1</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11</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12</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1</m:t>
                                    </m:r>
                                    <m:r>
                                      <a:rPr lang="en-US" sz="1800" kern="0">
                                        <a:effectLst/>
                                        <a:latin typeface="Cambria Math" panose="02040503050406030204" pitchFamily="18" charset="0"/>
                                        <a:ea typeface="+mj-ea"/>
                                      </a:rPr>
                                      <m:t>𝑗</m:t>
                                    </m:r>
                                  </m:sub>
                                </m:sSub>
                              </m:oMath>
                            </m:oMathPara>
                          </a14:m>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1</m:t>
                                    </m:r>
                                    <m:r>
                                      <a:rPr lang="en-US" sz="1800" kern="0">
                                        <a:effectLst/>
                                        <a:latin typeface="Cambria Math" panose="02040503050406030204" pitchFamily="18" charset="0"/>
                                        <a:ea typeface="+mj-ea"/>
                                      </a:rPr>
                                      <m:t>𝑐</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𝑅</m:t>
                                    </m:r>
                                  </m:e>
                                  <m:sub>
                                    <m:r>
                                      <a:rPr lang="en-US" sz="1800" kern="0">
                                        <a:effectLst/>
                                        <a:latin typeface="Cambria Math" panose="02040503050406030204" pitchFamily="18" charset="0"/>
                                        <a:ea typeface="+mj-ea"/>
                                      </a:rPr>
                                      <m:t>1</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83150">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2</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21</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22</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2</m:t>
                                    </m:r>
                                    <m:r>
                                      <a:rPr lang="en-US" sz="1800" kern="0">
                                        <a:effectLst/>
                                        <a:latin typeface="Cambria Math" panose="02040503050406030204" pitchFamily="18" charset="0"/>
                                        <a:ea typeface="+mj-ea"/>
                                      </a:rPr>
                                      <m:t>𝑗</m:t>
                                    </m:r>
                                  </m:sub>
                                </m:sSub>
                              </m:oMath>
                            </m:oMathPara>
                          </a14:m>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2</m:t>
                                    </m:r>
                                    <m:r>
                                      <a:rPr lang="en-US" sz="1800" kern="0">
                                        <a:effectLst/>
                                        <a:latin typeface="Cambria Math" panose="02040503050406030204" pitchFamily="18" charset="0"/>
                                        <a:ea typeface="+mj-ea"/>
                                      </a:rPr>
                                      <m:t>𝑐</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𝑅</m:t>
                                    </m:r>
                                  </m:e>
                                  <m:sub>
                                    <m:r>
                                      <a:rPr lang="en-US" sz="1800" kern="0">
                                        <a:effectLst/>
                                        <a:latin typeface="Cambria Math" panose="02040503050406030204" pitchFamily="18" charset="0"/>
                                        <a:ea typeface="+mj-ea"/>
                                      </a:rPr>
                                      <m:t>2</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383150">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 </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 </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383150">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i</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𝑖</m:t>
                                    </m:r>
                                    <m:r>
                                      <a:rPr lang="en-US" sz="1800" kern="0">
                                        <a:effectLst/>
                                        <a:latin typeface="Cambria Math" panose="02040503050406030204" pitchFamily="18" charset="0"/>
                                        <a:ea typeface="+mj-ea"/>
                                      </a:rPr>
                                      <m:t>1</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𝑖</m:t>
                                    </m:r>
                                    <m:r>
                                      <a:rPr lang="en-US" sz="1800" kern="0">
                                        <a:effectLst/>
                                        <a:latin typeface="Cambria Math" panose="02040503050406030204" pitchFamily="18" charset="0"/>
                                        <a:ea typeface="+mj-ea"/>
                                      </a:rPr>
                                      <m:t>2</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𝑖𝑗</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𝑖𝑐</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𝑅</m:t>
                                    </m:r>
                                  </m:e>
                                  <m:sub>
                                    <m:r>
                                      <a:rPr lang="en-US" sz="1800" kern="0">
                                        <a:effectLst/>
                                        <a:latin typeface="Cambria Math" panose="02040503050406030204" pitchFamily="18" charset="0"/>
                                        <a:ea typeface="+mj-ea"/>
                                      </a:rPr>
                                      <m:t>𝑖</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383150">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 </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 </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r h="383150">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r</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𝑟</m:t>
                                    </m:r>
                                    <m:r>
                                      <a:rPr lang="en-US" sz="1800" kern="0">
                                        <a:effectLst/>
                                        <a:latin typeface="Cambria Math" panose="02040503050406030204" pitchFamily="18" charset="0"/>
                                        <a:ea typeface="+mj-ea"/>
                                      </a:rPr>
                                      <m:t>1</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𝑟</m:t>
                                    </m:r>
                                    <m:r>
                                      <a:rPr lang="en-US" sz="1800" kern="0">
                                        <a:effectLst/>
                                        <a:latin typeface="Cambria Math" panose="02040503050406030204" pitchFamily="18" charset="0"/>
                                        <a:ea typeface="+mj-ea"/>
                                      </a:rPr>
                                      <m:t>2</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𝑟𝑗</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𝑁</m:t>
                                    </m:r>
                                  </m:e>
                                  <m:sub>
                                    <m:r>
                                      <a:rPr lang="en-US" sz="1800" kern="0">
                                        <a:effectLst/>
                                        <a:latin typeface="Cambria Math" panose="02040503050406030204" pitchFamily="18" charset="0"/>
                                        <a:ea typeface="+mj-ea"/>
                                      </a:rPr>
                                      <m:t>𝑟𝑐</m:t>
                                    </m:r>
                                  </m:sub>
                                </m:sSub>
                              </m:oMath>
                            </m:oMathPara>
                          </a14:m>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𝑅</m:t>
                                    </m:r>
                                  </m:e>
                                  <m:sub>
                                    <m:r>
                                      <a:rPr lang="en-US" sz="1800" kern="0">
                                        <a:effectLst/>
                                        <a:latin typeface="Cambria Math" panose="02040503050406030204" pitchFamily="18" charset="0"/>
                                        <a:ea typeface="+mj-ea"/>
                                      </a:rPr>
                                      <m:t>𝑟</m:t>
                                    </m:r>
                                  </m:sub>
                                </m:sSub>
                              </m:oMath>
                            </m:oMathPara>
                          </a14:m>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0007"/>
                      </a:ext>
                    </a:extLst>
                  </a:tr>
                  <a:tr h="391188">
                    <a:tc>
                      <a:txBody>
                        <a:bodyPr/>
                        <a:lstStyle/>
                        <a:p>
                          <a:pPr algn="ctr">
                            <a:spcAft>
                              <a:spcPts val="0"/>
                            </a:spcAft>
                          </a:pPr>
                          <a:r>
                            <a:rPr lang="zh-TW" sz="1800" kern="0">
                              <a:effectLst/>
                              <a:latin typeface="Times New Roman" panose="02020603050405020304" pitchFamily="18" charset="0"/>
                              <a:ea typeface="+mj-ea"/>
                              <a:cs typeface="Times New Roman" panose="02020603050405020304" pitchFamily="18" charset="0"/>
                            </a:rPr>
                            <a:t>合計</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𝐶</m:t>
                                    </m:r>
                                  </m:e>
                                  <m:sub>
                                    <m:r>
                                      <a:rPr lang="en-US" sz="1800" kern="0">
                                        <a:effectLst/>
                                        <a:latin typeface="Cambria Math" panose="02040503050406030204" pitchFamily="18" charset="0"/>
                                        <a:ea typeface="+mj-ea"/>
                                      </a:rPr>
                                      <m:t>1</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𝐶</m:t>
                                    </m:r>
                                  </m:e>
                                  <m:sub>
                                    <m:r>
                                      <a:rPr lang="en-US" sz="1800" kern="0">
                                        <a:effectLst/>
                                        <a:latin typeface="Cambria Math" panose="02040503050406030204" pitchFamily="18" charset="0"/>
                                        <a:ea typeface="+mj-ea"/>
                                      </a:rPr>
                                      <m:t>2</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𝐶</m:t>
                                    </m:r>
                                  </m:e>
                                  <m:sub>
                                    <m:r>
                                      <a:rPr lang="en-US" sz="1800" kern="0">
                                        <a:effectLst/>
                                        <a:latin typeface="Cambria Math" panose="02040503050406030204" pitchFamily="18" charset="0"/>
                                        <a:ea typeface="+mj-ea"/>
                                      </a:rPr>
                                      <m:t>𝑗</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m:t>
                                </m:r>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sSub>
                                  <m:sSubPr>
                                    <m:ctrlPr>
                                      <a:rPr lang="zh-TW" sz="1800" i="1" kern="0">
                                        <a:effectLst/>
                                        <a:latin typeface="Cambria Math" panose="02040503050406030204" pitchFamily="18" charset="0"/>
                                        <a:ea typeface="+mj-ea"/>
                                      </a:rPr>
                                    </m:ctrlPr>
                                  </m:sSubPr>
                                  <m:e>
                                    <m:r>
                                      <a:rPr lang="en-US" sz="1800" kern="0">
                                        <a:effectLst/>
                                        <a:latin typeface="Cambria Math" panose="02040503050406030204" pitchFamily="18" charset="0"/>
                                        <a:ea typeface="+mj-ea"/>
                                      </a:rPr>
                                      <m:t>𝐶</m:t>
                                    </m:r>
                                  </m:e>
                                  <m:sub>
                                    <m:r>
                                      <a:rPr lang="en-US" sz="1800" kern="0">
                                        <a:effectLst/>
                                        <a:latin typeface="Cambria Math" panose="02040503050406030204" pitchFamily="18" charset="0"/>
                                        <a:ea typeface="+mj-ea"/>
                                      </a:rPr>
                                      <m:t>𝑐</m:t>
                                    </m:r>
                                  </m:sub>
                                </m:sSub>
                              </m:oMath>
                            </m:oMathPara>
                          </a14:m>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1800" kern="0">
                                    <a:effectLst/>
                                    <a:latin typeface="Cambria Math" panose="02040503050406030204" pitchFamily="18" charset="0"/>
                                    <a:ea typeface="+mj-ea"/>
                                  </a:rPr>
                                  <m:t>𝑛</m:t>
                                </m:r>
                              </m:oMath>
                            </m:oMathPara>
                          </a14:m>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extLst>
                      <a:ext uri="{0D108BD9-81ED-4DB2-BD59-A6C34878D82A}">
                        <a16:rowId xmlns:a16="http://schemas.microsoft.com/office/drawing/2014/main" val="10008"/>
                      </a:ext>
                    </a:extLst>
                  </a:tr>
                </a:tbl>
              </a:graphicData>
            </a:graphic>
          </p:graphicFrame>
        </mc:Choice>
        <mc:Fallback xmlns="">
          <p:graphicFrame>
            <p:nvGraphicFramePr>
              <p:cNvPr id="5" name="內容版面配置區 4"/>
              <p:cNvGraphicFramePr>
                <a:graphicFrameLocks noGrp="1"/>
              </p:cNvGraphicFramePr>
              <p:nvPr>
                <p:ph idx="1"/>
                <p:extLst>
                  <p:ext uri="{D42A27DB-BD31-4B8C-83A1-F6EECF244321}">
                    <p14:modId xmlns:p14="http://schemas.microsoft.com/office/powerpoint/2010/main" val="4049353328"/>
                  </p:ext>
                </p:extLst>
              </p:nvPr>
            </p:nvGraphicFramePr>
            <p:xfrm>
              <a:off x="1619672" y="2636912"/>
              <a:ext cx="6120682" cy="3456388"/>
            </p:xfrm>
            <a:graphic>
              <a:graphicData uri="http://schemas.openxmlformats.org/drawingml/2006/table">
                <a:tbl>
                  <a:tblPr firstRow="1" firstCol="1" bandRow="1">
                    <a:tableStyleId>{5C22544A-7EE6-4342-B048-85BDC9FD1C3A}</a:tableStyleId>
                  </a:tblPr>
                  <a:tblGrid>
                    <a:gridCol w="764528">
                      <a:extLst>
                        <a:ext uri="{9D8B030D-6E8A-4147-A177-3AD203B41FA5}">
                          <a16:colId xmlns:a16="http://schemas.microsoft.com/office/drawing/2014/main" val="20000"/>
                        </a:ext>
                      </a:extLst>
                    </a:gridCol>
                    <a:gridCol w="764528">
                      <a:extLst>
                        <a:ext uri="{9D8B030D-6E8A-4147-A177-3AD203B41FA5}">
                          <a16:colId xmlns:a16="http://schemas.microsoft.com/office/drawing/2014/main" val="20001"/>
                        </a:ext>
                      </a:extLst>
                    </a:gridCol>
                    <a:gridCol w="764528">
                      <a:extLst>
                        <a:ext uri="{9D8B030D-6E8A-4147-A177-3AD203B41FA5}">
                          <a16:colId xmlns:a16="http://schemas.microsoft.com/office/drawing/2014/main" val="20002"/>
                        </a:ext>
                      </a:extLst>
                    </a:gridCol>
                    <a:gridCol w="764528">
                      <a:extLst>
                        <a:ext uri="{9D8B030D-6E8A-4147-A177-3AD203B41FA5}">
                          <a16:colId xmlns:a16="http://schemas.microsoft.com/office/drawing/2014/main" val="20003"/>
                        </a:ext>
                      </a:extLst>
                    </a:gridCol>
                    <a:gridCol w="764528">
                      <a:extLst>
                        <a:ext uri="{9D8B030D-6E8A-4147-A177-3AD203B41FA5}">
                          <a16:colId xmlns:a16="http://schemas.microsoft.com/office/drawing/2014/main" val="20004"/>
                        </a:ext>
                      </a:extLst>
                    </a:gridCol>
                    <a:gridCol w="765419">
                      <a:extLst>
                        <a:ext uri="{9D8B030D-6E8A-4147-A177-3AD203B41FA5}">
                          <a16:colId xmlns:a16="http://schemas.microsoft.com/office/drawing/2014/main" val="20005"/>
                        </a:ext>
                      </a:extLst>
                    </a:gridCol>
                    <a:gridCol w="765419">
                      <a:extLst>
                        <a:ext uri="{9D8B030D-6E8A-4147-A177-3AD203B41FA5}">
                          <a16:colId xmlns:a16="http://schemas.microsoft.com/office/drawing/2014/main" val="20006"/>
                        </a:ext>
                      </a:extLst>
                    </a:gridCol>
                    <a:gridCol w="767204">
                      <a:extLst>
                        <a:ext uri="{9D8B030D-6E8A-4147-A177-3AD203B41FA5}">
                          <a16:colId xmlns:a16="http://schemas.microsoft.com/office/drawing/2014/main" val="20007"/>
                        </a:ext>
                      </a:extLst>
                    </a:gridCol>
                  </a:tblGrid>
                  <a:tr h="383150">
                    <a:tc rowSpan="2">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Row</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b"/>
                    </a:tc>
                    <a:tc gridSpan="6">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Column</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rowSpan="2">
                      <a:txBody>
                        <a:bodyPr/>
                        <a:lstStyle/>
                        <a:p>
                          <a:pPr algn="ctr">
                            <a:spcAft>
                              <a:spcPts val="0"/>
                            </a:spcAft>
                          </a:pPr>
                          <a:r>
                            <a:rPr lang="zh-TW" sz="1800" kern="0">
                              <a:effectLst/>
                              <a:latin typeface="Times New Roman" panose="02020603050405020304" pitchFamily="18" charset="0"/>
                              <a:ea typeface="+mj-ea"/>
                              <a:cs typeface="Times New Roman" panose="02020603050405020304" pitchFamily="18" charset="0"/>
                            </a:rPr>
                            <a:t>合計</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b"/>
                    </a:tc>
                    <a:extLst>
                      <a:ext uri="{0D108BD9-81ED-4DB2-BD59-A6C34878D82A}">
                        <a16:rowId xmlns:a16="http://schemas.microsoft.com/office/drawing/2014/main" val="10000"/>
                      </a:ext>
                    </a:extLst>
                  </a:tr>
                  <a:tr h="383150">
                    <a:tc vMerge="1">
                      <a:txBody>
                        <a:bodyPr/>
                        <a:lstStyle/>
                        <a:p>
                          <a:endParaRPr lang="zh-TW" altLang="en-US"/>
                        </a:p>
                      </a:txBody>
                      <a:tcP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1</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2</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302400" t="-106349" r="-405600" b="-723810"/>
                          </a:stretch>
                        </a:blipFill>
                      </a:tcP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j</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503200" t="-106349" r="-204800" b="-723810"/>
                          </a:stretch>
                        </a:blipFill>
                      </a:tcP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c</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vMerge="1">
                      <a:txBody>
                        <a:bodyPr/>
                        <a:lstStyle/>
                        <a:p>
                          <a:endParaRPr lang="zh-TW" altLang="en-US"/>
                        </a:p>
                      </a:txBody>
                      <a:tcPr/>
                    </a:tc>
                    <a:extLst>
                      <a:ext uri="{0D108BD9-81ED-4DB2-BD59-A6C34878D82A}">
                        <a16:rowId xmlns:a16="http://schemas.microsoft.com/office/drawing/2014/main" val="10001"/>
                      </a:ext>
                    </a:extLst>
                  </a:tr>
                  <a:tr h="383150">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1</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101600" t="-206349" r="-606400" b="-623810"/>
                          </a:stretch>
                        </a:blipFill>
                      </a:tcPr>
                    </a:tc>
                    <a:tc>
                      <a:txBody>
                        <a:bodyPr/>
                        <a:lstStyle/>
                        <a:p>
                          <a:endParaRPr lang="zh-TW"/>
                        </a:p>
                      </a:txBody>
                      <a:tcPr marL="68580" marR="68580" marT="0" marB="0" anchor="ctr">
                        <a:blipFill>
                          <a:blip r:embed="rId3"/>
                          <a:stretch>
                            <a:fillRect l="-200000" t="-206349" r="-501587" b="-623810"/>
                          </a:stretch>
                        </a:blipFill>
                      </a:tcPr>
                    </a:tc>
                    <a:tc>
                      <a:txBody>
                        <a:bodyPr/>
                        <a:lstStyle/>
                        <a:p>
                          <a:endParaRPr lang="zh-TW"/>
                        </a:p>
                      </a:txBody>
                      <a:tcPr marL="68580" marR="68580" marT="0" marB="0" anchor="ctr">
                        <a:blipFill>
                          <a:blip r:embed="rId3"/>
                          <a:stretch>
                            <a:fillRect l="-302400" t="-206349" r="-405600" b="-623810"/>
                          </a:stretch>
                        </a:blipFill>
                      </a:tcPr>
                    </a:tc>
                    <a:tc>
                      <a:txBody>
                        <a:bodyPr/>
                        <a:lstStyle/>
                        <a:p>
                          <a:endParaRPr lang="zh-TW"/>
                        </a:p>
                      </a:txBody>
                      <a:tcPr marL="68580" marR="68580" marT="0" marB="0" anchor="ctr">
                        <a:blipFill>
                          <a:blip r:embed="rId3"/>
                          <a:stretch>
                            <a:fillRect l="-399206" t="-206349" r="-302381" b="-623810"/>
                          </a:stretch>
                        </a:blipFill>
                      </a:tcPr>
                    </a:tc>
                    <a:tc>
                      <a:txBody>
                        <a:bodyPr/>
                        <a:lstStyle/>
                        <a:p>
                          <a:endParaRPr lang="zh-TW"/>
                        </a:p>
                      </a:txBody>
                      <a:tcPr marL="68580" marR="68580" marT="0" marB="0" anchor="ctr">
                        <a:blipFill>
                          <a:blip r:embed="rId3"/>
                          <a:stretch>
                            <a:fillRect l="-503200" t="-206349" r="-204800" b="-623810"/>
                          </a:stretch>
                        </a:blipFill>
                      </a:tcPr>
                    </a:tc>
                    <a:tc>
                      <a:txBody>
                        <a:bodyPr/>
                        <a:lstStyle/>
                        <a:p>
                          <a:endParaRPr lang="zh-TW"/>
                        </a:p>
                      </a:txBody>
                      <a:tcPr marL="68580" marR="68580" marT="0" marB="0" anchor="ctr">
                        <a:blipFill>
                          <a:blip r:embed="rId3"/>
                          <a:stretch>
                            <a:fillRect l="-598413" t="-206349" r="-103175" b="-623810"/>
                          </a:stretch>
                        </a:blipFill>
                      </a:tcPr>
                    </a:tc>
                    <a:tc>
                      <a:txBody>
                        <a:bodyPr/>
                        <a:lstStyle/>
                        <a:p>
                          <a:endParaRPr lang="zh-TW"/>
                        </a:p>
                      </a:txBody>
                      <a:tcPr marL="68580" marR="68580" marT="0" marB="0" anchor="ctr">
                        <a:blipFill>
                          <a:blip r:embed="rId3"/>
                          <a:stretch>
                            <a:fillRect l="-698413" t="-206349" r="-3175" b="-623810"/>
                          </a:stretch>
                        </a:blipFill>
                      </a:tcPr>
                    </a:tc>
                    <a:extLst>
                      <a:ext uri="{0D108BD9-81ED-4DB2-BD59-A6C34878D82A}">
                        <a16:rowId xmlns:a16="http://schemas.microsoft.com/office/drawing/2014/main" val="10002"/>
                      </a:ext>
                    </a:extLst>
                  </a:tr>
                  <a:tr h="383150">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2</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101600" t="-306349" r="-606400" b="-523810"/>
                          </a:stretch>
                        </a:blipFill>
                      </a:tcPr>
                    </a:tc>
                    <a:tc>
                      <a:txBody>
                        <a:bodyPr/>
                        <a:lstStyle/>
                        <a:p>
                          <a:endParaRPr lang="zh-TW"/>
                        </a:p>
                      </a:txBody>
                      <a:tcPr marL="68580" marR="68580" marT="0" marB="0" anchor="ctr">
                        <a:blipFill>
                          <a:blip r:embed="rId3"/>
                          <a:stretch>
                            <a:fillRect l="-200000" t="-306349" r="-501587" b="-523810"/>
                          </a:stretch>
                        </a:blipFill>
                      </a:tcPr>
                    </a:tc>
                    <a:tc>
                      <a:txBody>
                        <a:bodyPr/>
                        <a:lstStyle/>
                        <a:p>
                          <a:endParaRPr lang="zh-TW"/>
                        </a:p>
                      </a:txBody>
                      <a:tcPr marL="68580" marR="68580" marT="0" marB="0" anchor="ctr">
                        <a:blipFill>
                          <a:blip r:embed="rId3"/>
                          <a:stretch>
                            <a:fillRect l="-302400" t="-306349" r="-405600" b="-523810"/>
                          </a:stretch>
                        </a:blipFill>
                      </a:tcPr>
                    </a:tc>
                    <a:tc>
                      <a:txBody>
                        <a:bodyPr/>
                        <a:lstStyle/>
                        <a:p>
                          <a:endParaRPr lang="zh-TW"/>
                        </a:p>
                      </a:txBody>
                      <a:tcPr marL="68580" marR="68580" marT="0" marB="0" anchor="ctr">
                        <a:blipFill>
                          <a:blip r:embed="rId3"/>
                          <a:stretch>
                            <a:fillRect l="-399206" t="-306349" r="-302381" b="-523810"/>
                          </a:stretch>
                        </a:blipFill>
                      </a:tcPr>
                    </a:tc>
                    <a:tc>
                      <a:txBody>
                        <a:bodyPr/>
                        <a:lstStyle/>
                        <a:p>
                          <a:endParaRPr lang="zh-TW"/>
                        </a:p>
                      </a:txBody>
                      <a:tcPr marL="68580" marR="68580" marT="0" marB="0" anchor="ctr">
                        <a:blipFill>
                          <a:blip r:embed="rId3"/>
                          <a:stretch>
                            <a:fillRect l="-503200" t="-306349" r="-204800" b="-523810"/>
                          </a:stretch>
                        </a:blipFill>
                      </a:tcPr>
                    </a:tc>
                    <a:tc>
                      <a:txBody>
                        <a:bodyPr/>
                        <a:lstStyle/>
                        <a:p>
                          <a:endParaRPr lang="zh-TW"/>
                        </a:p>
                      </a:txBody>
                      <a:tcPr marL="68580" marR="68580" marT="0" marB="0" anchor="ctr">
                        <a:blipFill>
                          <a:blip r:embed="rId3"/>
                          <a:stretch>
                            <a:fillRect l="-598413" t="-306349" r="-103175" b="-523810"/>
                          </a:stretch>
                        </a:blipFill>
                      </a:tcPr>
                    </a:tc>
                    <a:tc>
                      <a:txBody>
                        <a:bodyPr/>
                        <a:lstStyle/>
                        <a:p>
                          <a:endParaRPr lang="zh-TW"/>
                        </a:p>
                      </a:txBody>
                      <a:tcPr marL="68580" marR="68580" marT="0" marB="0" anchor="ctr">
                        <a:blipFill>
                          <a:blip r:embed="rId3"/>
                          <a:stretch>
                            <a:fillRect l="-698413" t="-306349" r="-3175" b="-523810"/>
                          </a:stretch>
                        </a:blipFill>
                      </a:tcPr>
                    </a:tc>
                    <a:extLst>
                      <a:ext uri="{0D108BD9-81ED-4DB2-BD59-A6C34878D82A}">
                        <a16:rowId xmlns:a16="http://schemas.microsoft.com/office/drawing/2014/main" val="10003"/>
                      </a:ext>
                    </a:extLst>
                  </a:tr>
                  <a:tr h="383150">
                    <a:tc>
                      <a:txBody>
                        <a:bodyPr/>
                        <a:lstStyle/>
                        <a:p>
                          <a:endParaRPr lang="zh-TW"/>
                        </a:p>
                      </a:txBody>
                      <a:tcPr marL="68580" marR="68580" marT="0" marB="0" anchor="ctr">
                        <a:blipFill>
                          <a:blip r:embed="rId3"/>
                          <a:stretch>
                            <a:fillRect l="-794" t="-406349" r="-700794" b="-423810"/>
                          </a:stretch>
                        </a:blipFill>
                      </a:tcPr>
                    </a:tc>
                    <a:tc>
                      <a:txBody>
                        <a:bodyPr/>
                        <a:lstStyle/>
                        <a:p>
                          <a:endParaRPr lang="zh-TW"/>
                        </a:p>
                      </a:txBody>
                      <a:tcPr marL="68580" marR="68580" marT="0" marB="0" anchor="ctr">
                        <a:blipFill>
                          <a:blip r:embed="rId3"/>
                          <a:stretch>
                            <a:fillRect l="-101600" t="-406349" r="-606400" b="-423810"/>
                          </a:stretch>
                        </a:blipFill>
                      </a:tcPr>
                    </a:tc>
                    <a:tc>
                      <a:txBody>
                        <a:bodyPr/>
                        <a:lstStyle/>
                        <a:p>
                          <a:endParaRPr lang="zh-TW"/>
                        </a:p>
                      </a:txBody>
                      <a:tcPr marL="68580" marR="68580" marT="0" marB="0" anchor="ctr">
                        <a:blipFill>
                          <a:blip r:embed="rId3"/>
                          <a:stretch>
                            <a:fillRect l="-200000" t="-406349" r="-501587" b="-423810"/>
                          </a:stretch>
                        </a:blipFill>
                      </a:tcP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 </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399206" t="-406349" r="-302381" b="-423810"/>
                          </a:stretch>
                        </a:blipFill>
                      </a:tcPr>
                    </a:tc>
                    <a:tc>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 </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598413" t="-406349" r="-103175" b="-423810"/>
                          </a:stretch>
                        </a:blipFill>
                      </a:tcPr>
                    </a:tc>
                    <a:tc>
                      <a:txBody>
                        <a:bodyPr/>
                        <a:lstStyle/>
                        <a:p>
                          <a:endParaRPr lang="zh-TW"/>
                        </a:p>
                      </a:txBody>
                      <a:tcPr marL="68580" marR="68580" marT="0" marB="0" anchor="ctr">
                        <a:blipFill>
                          <a:blip r:embed="rId3"/>
                          <a:stretch>
                            <a:fillRect l="-698413" t="-406349" r="-3175" b="-423810"/>
                          </a:stretch>
                        </a:blipFill>
                      </a:tcPr>
                    </a:tc>
                    <a:extLst>
                      <a:ext uri="{0D108BD9-81ED-4DB2-BD59-A6C34878D82A}">
                        <a16:rowId xmlns:a16="http://schemas.microsoft.com/office/drawing/2014/main" val="10004"/>
                      </a:ext>
                    </a:extLst>
                  </a:tr>
                  <a:tr h="383150">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i</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101600" t="-506349" r="-606400" b="-323810"/>
                          </a:stretch>
                        </a:blipFill>
                      </a:tcPr>
                    </a:tc>
                    <a:tc>
                      <a:txBody>
                        <a:bodyPr/>
                        <a:lstStyle/>
                        <a:p>
                          <a:endParaRPr lang="zh-TW"/>
                        </a:p>
                      </a:txBody>
                      <a:tcPr marL="68580" marR="68580" marT="0" marB="0" anchor="ctr">
                        <a:blipFill>
                          <a:blip r:embed="rId3"/>
                          <a:stretch>
                            <a:fillRect l="-200000" t="-506349" r="-501587" b="-323810"/>
                          </a:stretch>
                        </a:blipFill>
                      </a:tcPr>
                    </a:tc>
                    <a:tc>
                      <a:txBody>
                        <a:bodyPr/>
                        <a:lstStyle/>
                        <a:p>
                          <a:endParaRPr lang="zh-TW"/>
                        </a:p>
                      </a:txBody>
                      <a:tcPr marL="68580" marR="68580" marT="0" marB="0" anchor="ctr">
                        <a:blipFill>
                          <a:blip r:embed="rId3"/>
                          <a:stretch>
                            <a:fillRect l="-302400" t="-506349" r="-405600" b="-323810"/>
                          </a:stretch>
                        </a:blipFill>
                      </a:tcPr>
                    </a:tc>
                    <a:tc>
                      <a:txBody>
                        <a:bodyPr/>
                        <a:lstStyle/>
                        <a:p>
                          <a:endParaRPr lang="zh-TW"/>
                        </a:p>
                      </a:txBody>
                      <a:tcPr marL="68580" marR="68580" marT="0" marB="0" anchor="ctr">
                        <a:blipFill>
                          <a:blip r:embed="rId3"/>
                          <a:stretch>
                            <a:fillRect l="-399206" t="-506349" r="-302381" b="-323810"/>
                          </a:stretch>
                        </a:blipFill>
                      </a:tcPr>
                    </a:tc>
                    <a:tc>
                      <a:txBody>
                        <a:bodyPr/>
                        <a:lstStyle/>
                        <a:p>
                          <a:endParaRPr lang="zh-TW"/>
                        </a:p>
                      </a:txBody>
                      <a:tcPr marL="68580" marR="68580" marT="0" marB="0" anchor="ctr">
                        <a:blipFill>
                          <a:blip r:embed="rId3"/>
                          <a:stretch>
                            <a:fillRect l="-503200" t="-506349" r="-204800" b="-323810"/>
                          </a:stretch>
                        </a:blipFill>
                      </a:tcPr>
                    </a:tc>
                    <a:tc>
                      <a:txBody>
                        <a:bodyPr/>
                        <a:lstStyle/>
                        <a:p>
                          <a:endParaRPr lang="zh-TW"/>
                        </a:p>
                      </a:txBody>
                      <a:tcPr marL="68580" marR="68580" marT="0" marB="0" anchor="ctr">
                        <a:blipFill>
                          <a:blip r:embed="rId3"/>
                          <a:stretch>
                            <a:fillRect l="-598413" t="-506349" r="-103175" b="-323810"/>
                          </a:stretch>
                        </a:blipFill>
                      </a:tcPr>
                    </a:tc>
                    <a:tc>
                      <a:txBody>
                        <a:bodyPr/>
                        <a:lstStyle/>
                        <a:p>
                          <a:endParaRPr lang="zh-TW"/>
                        </a:p>
                      </a:txBody>
                      <a:tcPr marL="68580" marR="68580" marT="0" marB="0" anchor="ctr">
                        <a:blipFill>
                          <a:blip r:embed="rId3"/>
                          <a:stretch>
                            <a:fillRect l="-698413" t="-506349" r="-3175" b="-323810"/>
                          </a:stretch>
                        </a:blipFill>
                      </a:tcPr>
                    </a:tc>
                    <a:extLst>
                      <a:ext uri="{0D108BD9-81ED-4DB2-BD59-A6C34878D82A}">
                        <a16:rowId xmlns:a16="http://schemas.microsoft.com/office/drawing/2014/main" val="10005"/>
                      </a:ext>
                    </a:extLst>
                  </a:tr>
                  <a:tr h="383150">
                    <a:tc>
                      <a:txBody>
                        <a:bodyPr/>
                        <a:lstStyle/>
                        <a:p>
                          <a:endParaRPr lang="zh-TW"/>
                        </a:p>
                      </a:txBody>
                      <a:tcPr marL="68580" marR="68580" marT="0" marB="0" anchor="ctr">
                        <a:blipFill>
                          <a:blip r:embed="rId3"/>
                          <a:stretch>
                            <a:fillRect l="-794" t="-606349" r="-700794" b="-223810"/>
                          </a:stretch>
                        </a:blipFill>
                      </a:tcPr>
                    </a:tc>
                    <a:tc>
                      <a:txBody>
                        <a:bodyPr/>
                        <a:lstStyle/>
                        <a:p>
                          <a:endParaRPr lang="zh-TW"/>
                        </a:p>
                      </a:txBody>
                      <a:tcPr marL="68580" marR="68580" marT="0" marB="0" anchor="ctr">
                        <a:blipFill>
                          <a:blip r:embed="rId3"/>
                          <a:stretch>
                            <a:fillRect l="-101600" t="-606349" r="-606400" b="-223810"/>
                          </a:stretch>
                        </a:blipFill>
                      </a:tcPr>
                    </a:tc>
                    <a:tc>
                      <a:txBody>
                        <a:bodyPr/>
                        <a:lstStyle/>
                        <a:p>
                          <a:endParaRPr lang="zh-TW"/>
                        </a:p>
                      </a:txBody>
                      <a:tcPr marL="68580" marR="68580" marT="0" marB="0" anchor="ctr">
                        <a:blipFill>
                          <a:blip r:embed="rId3"/>
                          <a:stretch>
                            <a:fillRect l="-200000" t="-606349" r="-501587" b="-223810"/>
                          </a:stretch>
                        </a:blipFill>
                      </a:tcPr>
                    </a:tc>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 </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399206" t="-606349" r="-302381" b="-223810"/>
                          </a:stretch>
                        </a:blipFill>
                      </a:tcPr>
                    </a:tc>
                    <a:tc>
                      <a:txBody>
                        <a:bodyPr/>
                        <a:lstStyle/>
                        <a:p>
                          <a:pPr algn="ctr">
                            <a:spcAft>
                              <a:spcPts val="0"/>
                            </a:spcAft>
                          </a:pPr>
                          <a:r>
                            <a:rPr lang="en-US" sz="1800" kern="0" dirty="0">
                              <a:effectLst/>
                              <a:latin typeface="Times New Roman" panose="02020603050405020304" pitchFamily="18" charset="0"/>
                              <a:ea typeface="+mj-ea"/>
                              <a:cs typeface="Times New Roman" panose="02020603050405020304" pitchFamily="18" charset="0"/>
                            </a:rPr>
                            <a:t> </a:t>
                          </a:r>
                          <a:endParaRPr lang="zh-TW" sz="1800" kern="100" dirty="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598413" t="-606349" r="-103175" b="-223810"/>
                          </a:stretch>
                        </a:blipFill>
                      </a:tcPr>
                    </a:tc>
                    <a:tc>
                      <a:txBody>
                        <a:bodyPr/>
                        <a:lstStyle/>
                        <a:p>
                          <a:endParaRPr lang="zh-TW"/>
                        </a:p>
                      </a:txBody>
                      <a:tcPr marL="68580" marR="68580" marT="0" marB="0" anchor="ctr">
                        <a:blipFill>
                          <a:blip r:embed="rId3"/>
                          <a:stretch>
                            <a:fillRect l="-698413" t="-606349" r="-3175" b="-223810"/>
                          </a:stretch>
                        </a:blipFill>
                      </a:tcPr>
                    </a:tc>
                    <a:extLst>
                      <a:ext uri="{0D108BD9-81ED-4DB2-BD59-A6C34878D82A}">
                        <a16:rowId xmlns:a16="http://schemas.microsoft.com/office/drawing/2014/main" val="10006"/>
                      </a:ext>
                    </a:extLst>
                  </a:tr>
                  <a:tr h="383150">
                    <a:tc>
                      <a:txBody>
                        <a:bodyPr/>
                        <a:lstStyle/>
                        <a:p>
                          <a:pPr algn="ctr">
                            <a:spcAft>
                              <a:spcPts val="0"/>
                            </a:spcAft>
                          </a:pPr>
                          <a:r>
                            <a:rPr lang="en-US" sz="1800" kern="0">
                              <a:effectLst/>
                              <a:latin typeface="Times New Roman" panose="02020603050405020304" pitchFamily="18" charset="0"/>
                              <a:ea typeface="+mj-ea"/>
                              <a:cs typeface="Times New Roman" panose="02020603050405020304" pitchFamily="18" charset="0"/>
                            </a:rPr>
                            <a:t>r</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101600" t="-706349" r="-606400" b="-123810"/>
                          </a:stretch>
                        </a:blipFill>
                      </a:tcPr>
                    </a:tc>
                    <a:tc>
                      <a:txBody>
                        <a:bodyPr/>
                        <a:lstStyle/>
                        <a:p>
                          <a:endParaRPr lang="zh-TW"/>
                        </a:p>
                      </a:txBody>
                      <a:tcPr marL="68580" marR="68580" marT="0" marB="0" anchor="ctr">
                        <a:blipFill>
                          <a:blip r:embed="rId3"/>
                          <a:stretch>
                            <a:fillRect l="-200000" t="-706349" r="-501587" b="-123810"/>
                          </a:stretch>
                        </a:blipFill>
                      </a:tcPr>
                    </a:tc>
                    <a:tc>
                      <a:txBody>
                        <a:bodyPr/>
                        <a:lstStyle/>
                        <a:p>
                          <a:endParaRPr lang="zh-TW"/>
                        </a:p>
                      </a:txBody>
                      <a:tcPr marL="68580" marR="68580" marT="0" marB="0" anchor="ctr">
                        <a:blipFill>
                          <a:blip r:embed="rId3"/>
                          <a:stretch>
                            <a:fillRect l="-302400" t="-706349" r="-405600" b="-123810"/>
                          </a:stretch>
                        </a:blipFill>
                      </a:tcPr>
                    </a:tc>
                    <a:tc>
                      <a:txBody>
                        <a:bodyPr/>
                        <a:lstStyle/>
                        <a:p>
                          <a:endParaRPr lang="zh-TW"/>
                        </a:p>
                      </a:txBody>
                      <a:tcPr marL="68580" marR="68580" marT="0" marB="0" anchor="ctr">
                        <a:blipFill>
                          <a:blip r:embed="rId3"/>
                          <a:stretch>
                            <a:fillRect l="-399206" t="-706349" r="-302381" b="-123810"/>
                          </a:stretch>
                        </a:blipFill>
                      </a:tcPr>
                    </a:tc>
                    <a:tc>
                      <a:txBody>
                        <a:bodyPr/>
                        <a:lstStyle/>
                        <a:p>
                          <a:endParaRPr lang="zh-TW"/>
                        </a:p>
                      </a:txBody>
                      <a:tcPr marL="68580" marR="68580" marT="0" marB="0" anchor="ctr">
                        <a:blipFill>
                          <a:blip r:embed="rId3"/>
                          <a:stretch>
                            <a:fillRect l="-503200" t="-706349" r="-204800" b="-123810"/>
                          </a:stretch>
                        </a:blipFill>
                      </a:tcPr>
                    </a:tc>
                    <a:tc>
                      <a:txBody>
                        <a:bodyPr/>
                        <a:lstStyle/>
                        <a:p>
                          <a:endParaRPr lang="zh-TW"/>
                        </a:p>
                      </a:txBody>
                      <a:tcPr marL="68580" marR="68580" marT="0" marB="0" anchor="ctr">
                        <a:blipFill>
                          <a:blip r:embed="rId3"/>
                          <a:stretch>
                            <a:fillRect l="-598413" t="-706349" r="-103175" b="-123810"/>
                          </a:stretch>
                        </a:blipFill>
                      </a:tcPr>
                    </a:tc>
                    <a:tc>
                      <a:txBody>
                        <a:bodyPr/>
                        <a:lstStyle/>
                        <a:p>
                          <a:endParaRPr lang="zh-TW"/>
                        </a:p>
                      </a:txBody>
                      <a:tcPr marL="68580" marR="68580" marT="0" marB="0" anchor="ctr">
                        <a:blipFill>
                          <a:blip r:embed="rId3"/>
                          <a:stretch>
                            <a:fillRect l="-698413" t="-706349" r="-3175" b="-123810"/>
                          </a:stretch>
                        </a:blipFill>
                      </a:tcPr>
                    </a:tc>
                    <a:extLst>
                      <a:ext uri="{0D108BD9-81ED-4DB2-BD59-A6C34878D82A}">
                        <a16:rowId xmlns:a16="http://schemas.microsoft.com/office/drawing/2014/main" val="10007"/>
                      </a:ext>
                    </a:extLst>
                  </a:tr>
                  <a:tr h="391188">
                    <a:tc>
                      <a:txBody>
                        <a:bodyPr/>
                        <a:lstStyle/>
                        <a:p>
                          <a:pPr algn="ctr">
                            <a:spcAft>
                              <a:spcPts val="0"/>
                            </a:spcAft>
                          </a:pPr>
                          <a:r>
                            <a:rPr lang="zh-TW" sz="1800" kern="0">
                              <a:effectLst/>
                              <a:latin typeface="Times New Roman" panose="02020603050405020304" pitchFamily="18" charset="0"/>
                              <a:ea typeface="+mj-ea"/>
                              <a:cs typeface="Times New Roman" panose="02020603050405020304" pitchFamily="18" charset="0"/>
                            </a:rPr>
                            <a:t>合計</a:t>
                          </a:r>
                          <a:endParaRPr lang="zh-TW" sz="1800" kern="100">
                            <a:effectLst/>
                            <a:latin typeface="Times New Roman" panose="02020603050405020304" pitchFamily="18" charset="0"/>
                            <a:ea typeface="+mj-ea"/>
                            <a:cs typeface="Times New Roman" panose="02020603050405020304" pitchFamily="18" charset="0"/>
                          </a:endParaRPr>
                        </a:p>
                      </a:txBody>
                      <a:tcPr marL="68580" marR="68580" marT="0" marB="0" anchor="ctr"/>
                    </a:tc>
                    <a:tc>
                      <a:txBody>
                        <a:bodyPr/>
                        <a:lstStyle/>
                        <a:p>
                          <a:endParaRPr lang="zh-TW"/>
                        </a:p>
                      </a:txBody>
                      <a:tcPr marL="68580" marR="68580" marT="0" marB="0" anchor="ctr">
                        <a:blipFill>
                          <a:blip r:embed="rId3"/>
                          <a:stretch>
                            <a:fillRect l="-101600" t="-793750" r="-606400" b="-21875"/>
                          </a:stretch>
                        </a:blipFill>
                      </a:tcPr>
                    </a:tc>
                    <a:tc>
                      <a:txBody>
                        <a:bodyPr/>
                        <a:lstStyle/>
                        <a:p>
                          <a:endParaRPr lang="zh-TW"/>
                        </a:p>
                      </a:txBody>
                      <a:tcPr marL="68580" marR="68580" marT="0" marB="0" anchor="ctr">
                        <a:blipFill>
                          <a:blip r:embed="rId3"/>
                          <a:stretch>
                            <a:fillRect l="-200000" t="-793750" r="-501587" b="-21875"/>
                          </a:stretch>
                        </a:blipFill>
                      </a:tcPr>
                    </a:tc>
                    <a:tc>
                      <a:txBody>
                        <a:bodyPr/>
                        <a:lstStyle/>
                        <a:p>
                          <a:endParaRPr lang="zh-TW"/>
                        </a:p>
                      </a:txBody>
                      <a:tcPr marL="68580" marR="68580" marT="0" marB="0" anchor="ctr">
                        <a:blipFill>
                          <a:blip r:embed="rId3"/>
                          <a:stretch>
                            <a:fillRect l="-302400" t="-793750" r="-405600" b="-21875"/>
                          </a:stretch>
                        </a:blipFill>
                      </a:tcPr>
                    </a:tc>
                    <a:tc>
                      <a:txBody>
                        <a:bodyPr/>
                        <a:lstStyle/>
                        <a:p>
                          <a:endParaRPr lang="zh-TW"/>
                        </a:p>
                      </a:txBody>
                      <a:tcPr marL="68580" marR="68580" marT="0" marB="0" anchor="ctr">
                        <a:blipFill>
                          <a:blip r:embed="rId3"/>
                          <a:stretch>
                            <a:fillRect l="-399206" t="-793750" r="-302381" b="-21875"/>
                          </a:stretch>
                        </a:blipFill>
                      </a:tcPr>
                    </a:tc>
                    <a:tc>
                      <a:txBody>
                        <a:bodyPr/>
                        <a:lstStyle/>
                        <a:p>
                          <a:endParaRPr lang="zh-TW"/>
                        </a:p>
                      </a:txBody>
                      <a:tcPr marL="68580" marR="68580" marT="0" marB="0" anchor="ctr">
                        <a:blipFill>
                          <a:blip r:embed="rId3"/>
                          <a:stretch>
                            <a:fillRect l="-503200" t="-793750" r="-204800" b="-21875"/>
                          </a:stretch>
                        </a:blipFill>
                      </a:tcPr>
                    </a:tc>
                    <a:tc>
                      <a:txBody>
                        <a:bodyPr/>
                        <a:lstStyle/>
                        <a:p>
                          <a:endParaRPr lang="zh-TW"/>
                        </a:p>
                      </a:txBody>
                      <a:tcPr marL="68580" marR="68580" marT="0" marB="0" anchor="ctr">
                        <a:blipFill>
                          <a:blip r:embed="rId3"/>
                          <a:stretch>
                            <a:fillRect l="-598413" t="-793750" r="-103175" b="-21875"/>
                          </a:stretch>
                        </a:blipFill>
                      </a:tcPr>
                    </a:tc>
                    <a:tc>
                      <a:txBody>
                        <a:bodyPr/>
                        <a:lstStyle/>
                        <a:p>
                          <a:endParaRPr lang="zh-TW"/>
                        </a:p>
                      </a:txBody>
                      <a:tcPr marL="68580" marR="68580" marT="0" marB="0" anchor="ctr">
                        <a:blipFill>
                          <a:blip r:embed="rId3"/>
                          <a:stretch>
                            <a:fillRect l="-698413" t="-793750" r="-3175" b="-21875"/>
                          </a:stretch>
                        </a:blipFill>
                      </a:tcPr>
                    </a:tc>
                    <a:extLst>
                      <a:ext uri="{0D108BD9-81ED-4DB2-BD59-A6C34878D82A}">
                        <a16:rowId xmlns:a16="http://schemas.microsoft.com/office/drawing/2014/main" val="10008"/>
                      </a:ext>
                    </a:extLst>
                  </a:tr>
                </a:tbl>
              </a:graphicData>
            </a:graphic>
          </p:graphicFrame>
        </mc:Fallback>
      </mc:AlternateContent>
      <mc:AlternateContent xmlns:mc="http://schemas.openxmlformats.org/markup-compatibility/2006" xmlns:a14="http://schemas.microsoft.com/office/drawing/2010/main">
        <mc:Choice Requires="a14">
          <p:sp>
            <p:nvSpPr>
              <p:cNvPr id="6" name="矩形 5"/>
              <p:cNvSpPr/>
              <p:nvPr/>
            </p:nvSpPr>
            <p:spPr>
              <a:xfrm>
                <a:off x="560737" y="1329137"/>
                <a:ext cx="8016810" cy="866006"/>
              </a:xfrm>
              <a:prstGeom prst="rect">
                <a:avLst/>
              </a:prstGeom>
            </p:spPr>
            <p:txBody>
              <a:bodyPr wrap="none">
                <a:spAutoFit/>
              </a:bodyPr>
              <a:lstStyle/>
              <a:p>
                <a:r>
                  <a:rPr lang="zh-TW" altLang="zh-TW" sz="2400" kern="0" dirty="0">
                    <a:latin typeface="Times New Roman" panose="02020603050405020304" pitchFamily="18" charset="0"/>
                    <a:cs typeface="Times New Roman" panose="02020603050405020304" pitchFamily="18" charset="0"/>
                  </a:rPr>
                  <a:t>令</a:t>
                </a:r>
                <a14:m>
                  <m:oMath xmlns:m="http://schemas.openxmlformats.org/officeDocument/2006/math">
                    <m:sSub>
                      <m:sSubPr>
                        <m:ctrlPr>
                          <a:rPr lang="zh-TW" altLang="zh-TW" sz="2400" b="1" i="1" kern="0">
                            <a:effectLst/>
                            <a:latin typeface="Cambria Math" panose="02040503050406030204" pitchFamily="18" charset="0"/>
                            <a:cs typeface="Times New Roman" panose="02020603050405020304" pitchFamily="18" charset="0"/>
                          </a:rPr>
                        </m:ctrlPr>
                      </m:sSubPr>
                      <m:e>
                        <m:r>
                          <a:rPr lang="en-US" altLang="zh-TW" sz="2400" b="1" i="1" kern="0">
                            <a:effectLst/>
                            <a:latin typeface="Cambria Math" panose="02040503050406030204" pitchFamily="18" charset="0"/>
                            <a:cs typeface="Times New Roman" panose="02020603050405020304" pitchFamily="18" charset="0"/>
                          </a:rPr>
                          <m:t>𝑵</m:t>
                        </m:r>
                      </m:e>
                      <m:sub>
                        <m:r>
                          <a:rPr lang="en-US" altLang="zh-TW" sz="2400" b="1" i="1" kern="0">
                            <a:effectLst/>
                            <a:latin typeface="Cambria Math" panose="02040503050406030204" pitchFamily="18" charset="0"/>
                            <a:cs typeface="Times New Roman" panose="02020603050405020304" pitchFamily="18" charset="0"/>
                          </a:rPr>
                          <m:t>𝒊𝒋</m:t>
                        </m:r>
                      </m:sub>
                    </m:sSub>
                  </m:oMath>
                </a14:m>
                <a:r>
                  <a:rPr lang="en-US" altLang="zh-TW" sz="2400" b="1" kern="0" dirty="0">
                    <a:effectLst/>
                    <a:latin typeface="Times New Roman" panose="02020603050405020304" pitchFamily="18" charset="0"/>
                    <a:cs typeface="Times New Roman" panose="02020603050405020304" pitchFamily="18" charset="0"/>
                  </a:rPr>
                  <a:t> </a:t>
                </a:r>
                <a:r>
                  <a:rPr lang="zh-TW" altLang="zh-TW" sz="2400" kern="0" dirty="0">
                    <a:effectLst/>
                    <a:latin typeface="Times New Roman" panose="02020603050405020304" pitchFamily="18" charset="0"/>
                    <a:cs typeface="Times New Roman" panose="02020603050405020304" pitchFamily="18" charset="0"/>
                  </a:rPr>
                  <a:t>為第</a:t>
                </a:r>
                <a:r>
                  <a:rPr lang="en-US" altLang="zh-TW" sz="2400" kern="0" dirty="0" err="1">
                    <a:effectLst/>
                    <a:latin typeface="Times New Roman" panose="02020603050405020304" pitchFamily="18" charset="0"/>
                    <a:cs typeface="Times New Roman" panose="02020603050405020304" pitchFamily="18" charset="0"/>
                  </a:rPr>
                  <a:t>i</a:t>
                </a:r>
                <a:r>
                  <a:rPr lang="zh-TW" altLang="zh-TW" sz="2400" kern="0" dirty="0">
                    <a:effectLst/>
                    <a:latin typeface="Times New Roman" panose="02020603050405020304" pitchFamily="18" charset="0"/>
                    <a:cs typeface="Times New Roman" panose="02020603050405020304" pitchFamily="18" charset="0"/>
                  </a:rPr>
                  <a:t>列及第</a:t>
                </a:r>
                <a:r>
                  <a:rPr lang="en-US" altLang="zh-TW" sz="2400" kern="0" dirty="0">
                    <a:effectLst/>
                    <a:latin typeface="Times New Roman" panose="02020603050405020304" pitchFamily="18" charset="0"/>
                    <a:cs typeface="Times New Roman" panose="02020603050405020304" pitchFamily="18" charset="0"/>
                  </a:rPr>
                  <a:t>j</a:t>
                </a:r>
                <a:r>
                  <a:rPr lang="zh-TW" altLang="zh-TW" sz="2400" kern="0" dirty="0">
                    <a:effectLst/>
                    <a:latin typeface="Times New Roman" panose="02020603050405020304" pitchFamily="18" charset="0"/>
                    <a:cs typeface="Times New Roman" panose="02020603050405020304" pitchFamily="18" charset="0"/>
                  </a:rPr>
                  <a:t>行格子的次數</a:t>
                </a:r>
                <a:r>
                  <a:rPr lang="zh-TW" altLang="en-US" sz="2400" kern="0" dirty="0">
                    <a:latin typeface="Times New Roman" panose="02020603050405020304" pitchFamily="18" charset="0"/>
                    <a:cs typeface="Times New Roman" panose="02020603050405020304" pitchFamily="18" charset="0"/>
                  </a:rPr>
                  <a:t>，</a:t>
                </a:r>
                <a:r>
                  <a:rPr lang="zh-TW" altLang="zh-TW" sz="2400" dirty="0">
                    <a:latin typeface="Times New Roman" panose="02020603050405020304" pitchFamily="18" charset="0"/>
                    <a:cs typeface="Times New Roman" panose="02020603050405020304" pitchFamily="18" charset="0"/>
                  </a:rPr>
                  <a:t>其中 </a:t>
                </a:r>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𝑅</m:t>
                        </m:r>
                      </m:e>
                      <m:sub>
                        <m:r>
                          <a:rPr lang="en-US" altLang="zh-TW" sz="2400" i="1">
                            <a:latin typeface="Cambria Math" panose="02040503050406030204" pitchFamily="18" charset="0"/>
                          </a:rPr>
                          <m:t>1</m:t>
                        </m:r>
                      </m:sub>
                    </m:sSub>
                    <m:r>
                      <a:rPr lang="zh-TW" altLang="zh-TW" sz="2400" b="1" i="1">
                        <a:latin typeface="Cambria Math" panose="02040503050406030204" pitchFamily="18" charset="0"/>
                      </a:rPr>
                      <m:t>，</m:t>
                    </m:r>
                    <m:r>
                      <a:rPr lang="en-US" altLang="zh-TW" sz="2400" b="1" i="1">
                        <a:latin typeface="Cambria Math" panose="02040503050406030204" pitchFamily="18" charset="0"/>
                      </a:rPr>
                      <m:t>⋯</m:t>
                    </m:r>
                    <m:r>
                      <a:rPr lang="zh-TW" altLang="zh-TW" sz="2400" b="1" i="1">
                        <a:latin typeface="Cambria Math" panose="02040503050406030204" pitchFamily="18" charset="0"/>
                      </a:rPr>
                      <m:t>，</m:t>
                    </m:r>
                    <m:sSub>
                      <m:sSubPr>
                        <m:ctrlPr>
                          <a:rPr lang="zh-TW" altLang="zh-TW" sz="2400" b="1" i="1">
                            <a:latin typeface="Cambria Math" panose="02040503050406030204" pitchFamily="18" charset="0"/>
                          </a:rPr>
                        </m:ctrlPr>
                      </m:sSubPr>
                      <m:e>
                        <m:r>
                          <a:rPr lang="en-US" altLang="zh-TW" sz="2400" i="1">
                            <a:latin typeface="Cambria Math" panose="02040503050406030204" pitchFamily="18" charset="0"/>
                          </a:rPr>
                          <m:t>𝑅</m:t>
                        </m:r>
                      </m:e>
                      <m:sub>
                        <m:r>
                          <m:rPr>
                            <m:sty m:val="p"/>
                          </m:rPr>
                          <a:rPr lang="en-US" altLang="zh-TW" sz="2400">
                            <a:latin typeface="Cambria Math" panose="02040503050406030204" pitchFamily="18" charset="0"/>
                          </a:rPr>
                          <m:t>r</m:t>
                        </m:r>
                      </m:sub>
                    </m:sSub>
                  </m:oMath>
                </a14:m>
                <a:r>
                  <a:rPr lang="en-US" altLang="zh-TW" sz="2400" dirty="0">
                    <a:latin typeface="Times New Roman" panose="02020603050405020304" pitchFamily="18" charset="0"/>
                    <a:cs typeface="Times New Roman" panose="02020603050405020304" pitchFamily="18" charset="0"/>
                  </a:rPr>
                  <a:t> </a:t>
                </a:r>
                <a:r>
                  <a:rPr lang="zh-TW" altLang="zh-TW" sz="2400" dirty="0">
                    <a:latin typeface="Times New Roman" panose="02020603050405020304" pitchFamily="18" charset="0"/>
                    <a:cs typeface="Times New Roman" panose="02020603050405020304" pitchFamily="18" charset="0"/>
                  </a:rPr>
                  <a:t>和 </a:t>
                </a:r>
                <a:endParaRPr lang="en-US" altLang="zh-TW" sz="2400" i="1" dirty="0">
                  <a:latin typeface="Times New Roman" panose="02020603050405020304" pitchFamily="18" charset="0"/>
                  <a:cs typeface="Times New Roman" panose="02020603050405020304" pitchFamily="18" charset="0"/>
                </a:endParaRPr>
              </a:p>
              <a:p>
                <a14:m>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1</m:t>
                        </m:r>
                      </m:sub>
                    </m:sSub>
                    <m:r>
                      <a:rPr lang="zh-TW" altLang="zh-TW" sz="2400" b="1" i="1">
                        <a:latin typeface="Cambria Math" panose="02040503050406030204" pitchFamily="18" charset="0"/>
                      </a:rPr>
                      <m:t>，</m:t>
                    </m:r>
                    <m:r>
                      <a:rPr lang="en-US" altLang="zh-TW" sz="2400" b="1" i="1">
                        <a:latin typeface="Cambria Math" panose="02040503050406030204" pitchFamily="18" charset="0"/>
                      </a:rPr>
                      <m:t>⋯</m:t>
                    </m:r>
                    <m:r>
                      <a:rPr lang="zh-TW" altLang="zh-TW" sz="2400" b="1" i="1">
                        <a:latin typeface="Cambria Math" panose="02040503050406030204" pitchFamily="18" charset="0"/>
                      </a:rPr>
                      <m:t>，</m:t>
                    </m:r>
                    <m:sSub>
                      <m:sSubPr>
                        <m:ctrlPr>
                          <a:rPr lang="zh-TW" altLang="zh-TW" sz="2400" b="1" i="1">
                            <a:latin typeface="Cambria Math" panose="02040503050406030204" pitchFamily="18" charset="0"/>
                          </a:rPr>
                        </m:ctrlPr>
                      </m:sSubPr>
                      <m:e>
                        <m:r>
                          <a:rPr lang="en-US" altLang="zh-TW" sz="2400" i="1">
                            <a:latin typeface="Cambria Math" panose="02040503050406030204" pitchFamily="18" charset="0"/>
                          </a:rPr>
                          <m:t>𝐶</m:t>
                        </m:r>
                      </m:e>
                      <m:sub>
                        <m:r>
                          <m:rPr>
                            <m:sty m:val="p"/>
                          </m:rPr>
                          <a:rPr lang="en-US" altLang="zh-TW" sz="2400">
                            <a:latin typeface="Cambria Math" panose="02040503050406030204" pitchFamily="18" charset="0"/>
                          </a:rPr>
                          <m:t>c</m:t>
                        </m:r>
                      </m:sub>
                    </m:sSub>
                  </m:oMath>
                </a14:m>
                <a:r>
                  <a:rPr lang="en-US" altLang="zh-TW" sz="2400" b="1" dirty="0">
                    <a:latin typeface="Times New Roman" panose="02020603050405020304" pitchFamily="18" charset="0"/>
                    <a:cs typeface="Times New Roman" panose="02020603050405020304" pitchFamily="18" charset="0"/>
                  </a:rPr>
                  <a:t> </a:t>
                </a:r>
                <a:r>
                  <a:rPr lang="zh-TW" altLang="zh-TW" sz="2400" dirty="0">
                    <a:latin typeface="Times New Roman" panose="02020603050405020304" pitchFamily="18" charset="0"/>
                    <a:cs typeface="Times New Roman" panose="02020603050405020304" pitchFamily="18" charset="0"/>
                  </a:rPr>
                  <a:t>分別為行列變數的邊際總和， </a:t>
                </a:r>
                <a:r>
                  <a:rPr lang="en-US" altLang="zh-TW" sz="2400" i="1" dirty="0">
                    <a:latin typeface="Times New Roman" panose="02020603050405020304" pitchFamily="18" charset="0"/>
                    <a:cs typeface="Times New Roman" panose="02020603050405020304" pitchFamily="18" charset="0"/>
                  </a:rPr>
                  <a:t>n</a:t>
                </a:r>
                <a:r>
                  <a:rPr lang="en-US" altLang="zh-TW" sz="2400" dirty="0">
                    <a:latin typeface="Times New Roman" panose="02020603050405020304" pitchFamily="18" charset="0"/>
                    <a:cs typeface="Times New Roman" panose="02020603050405020304" pitchFamily="18" charset="0"/>
                  </a:rPr>
                  <a:t> </a:t>
                </a:r>
                <a:r>
                  <a:rPr lang="zh-TW" altLang="zh-TW" sz="2400" dirty="0">
                    <a:latin typeface="Times New Roman" panose="02020603050405020304" pitchFamily="18" charset="0"/>
                    <a:cs typeface="Times New Roman" panose="02020603050405020304" pitchFamily="18" charset="0"/>
                  </a:rPr>
                  <a:t>為總樣本數。</a:t>
                </a:r>
                <a:endParaRPr lang="zh-TW" altLang="en-US" sz="2400" dirty="0">
                  <a:latin typeface="Times New Roman" panose="02020603050405020304" pitchFamily="18" charset="0"/>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560737" y="1329137"/>
                <a:ext cx="8016810" cy="866006"/>
              </a:xfrm>
              <a:prstGeom prst="rect">
                <a:avLst/>
              </a:prstGeom>
              <a:blipFill>
                <a:blip r:embed="rId4"/>
                <a:stretch>
                  <a:fillRect l="-1217" t="-5634" b="-1549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29248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8"/>
            <a:ext cx="8229600" cy="806037"/>
          </a:xfrm>
        </p:spPr>
        <p:txBody>
          <a:bodyPr>
            <a:normAutofit/>
          </a:bodyPr>
          <a:lstStyle/>
          <a:p>
            <a:r>
              <a:rPr lang="zh-TW" altLang="zh-TW" dirty="0">
                <a:effectLst/>
              </a:rPr>
              <a:t>獨立性檢定（</a:t>
            </a:r>
            <a:r>
              <a:rPr lang="en-US" altLang="zh-TW" dirty="0">
                <a:effectLst/>
              </a:rPr>
              <a:t>Test of independence</a:t>
            </a:r>
            <a:r>
              <a:rPr lang="zh-TW" altLang="zh-TW" dirty="0">
                <a:effectLst/>
              </a:rPr>
              <a:t>）</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57200" y="1080676"/>
                <a:ext cx="8229600" cy="4926616"/>
              </a:xfrm>
            </p:spPr>
            <p:txBody>
              <a:bodyPr>
                <a:normAutofit fontScale="70000" lnSpcReduction="20000"/>
              </a:bodyPr>
              <a:lstStyle/>
              <a:p>
                <a:pPr>
                  <a:lnSpc>
                    <a:spcPct val="120000"/>
                  </a:lnSpc>
                </a:pPr>
                <a:r>
                  <a:rPr lang="zh-TW" altLang="en-US" sz="2400" dirty="0"/>
                  <a:t>獨立</a:t>
                </a:r>
                <a:r>
                  <a:rPr lang="en-US" altLang="zh-TW" sz="2400" dirty="0"/>
                  <a:t>: P(A and B)=P(A)*P(B)</a:t>
                </a:r>
              </a:p>
              <a:p>
                <a:pPr>
                  <a:lnSpc>
                    <a:spcPct val="120000"/>
                  </a:lnSpc>
                </a:pPr>
                <a:r>
                  <a:rPr lang="zh-TW" altLang="zh-TW" sz="2400" dirty="0"/>
                  <a:t>當</a:t>
                </a:r>
                <a:r>
                  <a:rPr lang="zh-TW" altLang="zh-TW" sz="2400" dirty="0">
                    <a:solidFill>
                      <a:srgbClr val="FF0000"/>
                    </a:solidFill>
                  </a:rPr>
                  <a:t>虛無假設成立</a:t>
                </a:r>
                <a:r>
                  <a:rPr lang="zh-TW" altLang="zh-TW" sz="2400" dirty="0"/>
                  <a:t>時，即兩變數是獨立，則兩事件會同時發生的機率等於各事件獨立發生機率的相乘，</a:t>
                </a:r>
                <a:endParaRPr lang="en-US" altLang="zh-TW" sz="2400" dirty="0"/>
              </a:p>
              <a:p>
                <a:pPr marL="109728" indent="0">
                  <a:lnSpc>
                    <a:spcPct val="120000"/>
                  </a:lnSpc>
                  <a:buNone/>
                </a:pPr>
                <a14:m>
                  <m:oMathPara xmlns:m="http://schemas.openxmlformats.org/officeDocument/2006/math">
                    <m:oMathParaPr>
                      <m:jc m:val="centerGroup"/>
                    </m:oMathParaPr>
                    <m:oMath xmlns:m="http://schemas.openxmlformats.org/officeDocument/2006/math">
                      <m:sSub>
                        <m:sSubPr>
                          <m:ctrlPr>
                            <a:rPr lang="zh-TW" altLang="zh-TW" sz="2400" i="1">
                              <a:latin typeface="Cambria Math" panose="02040503050406030204" pitchFamily="18" charset="0"/>
                            </a:rPr>
                          </m:ctrlPr>
                        </m:sSubPr>
                        <m:e>
                          <m:r>
                            <a:rPr lang="en-US" altLang="zh-TW" sz="2400" b="0" i="1" smtClean="0">
                              <a:latin typeface="Cambria Math" panose="02040503050406030204" pitchFamily="18" charset="0"/>
                            </a:rPr>
                            <m:t>𝑃</m:t>
                          </m:r>
                        </m:e>
                        <m:sub>
                          <m:r>
                            <a:rPr lang="en-US" altLang="zh-TW" sz="2400" i="1">
                              <a:latin typeface="Cambria Math" panose="02040503050406030204" pitchFamily="18" charset="0"/>
                            </a:rPr>
                            <m:t>𝑖𝑗</m:t>
                          </m:r>
                        </m:sub>
                      </m:sSub>
                      <m:r>
                        <a:rPr lang="en-US" altLang="zh-TW" sz="2400" i="1">
                          <a:latin typeface="Cambria Math" panose="02040503050406030204" pitchFamily="18" charset="0"/>
                        </a:rPr>
                        <m:t>=</m:t>
                      </m:r>
                      <m:f>
                        <m:fPr>
                          <m:ctrlPr>
                            <a:rPr lang="zh-TW" altLang="zh-TW" sz="2400" i="1">
                              <a:latin typeface="Cambria Math" panose="02040503050406030204" pitchFamily="18" charset="0"/>
                            </a:rPr>
                          </m:ctrlPr>
                        </m:fPr>
                        <m:num>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𝑅</m:t>
                              </m:r>
                            </m:e>
                            <m:sub>
                              <m:r>
                                <a:rPr lang="en-US" altLang="zh-TW" sz="2400" i="1">
                                  <a:latin typeface="Cambria Math" panose="02040503050406030204" pitchFamily="18" charset="0"/>
                                </a:rPr>
                                <m:t>𝑖</m:t>
                              </m:r>
                            </m:sub>
                          </m:sSub>
                        </m:num>
                        <m:den>
                          <m:r>
                            <a:rPr lang="en-US" altLang="zh-TW" sz="2400" i="1">
                              <a:latin typeface="Cambria Math" panose="02040503050406030204" pitchFamily="18" charset="0"/>
                            </a:rPr>
                            <m:t>𝑛</m:t>
                          </m:r>
                        </m:den>
                      </m:f>
                      <m:r>
                        <a:rPr lang="en-US" altLang="zh-TW" sz="2400" i="1">
                          <a:latin typeface="Cambria Math" panose="02040503050406030204" pitchFamily="18" charset="0"/>
                        </a:rPr>
                        <m:t>×</m:t>
                      </m:r>
                      <m:f>
                        <m:fPr>
                          <m:ctrlPr>
                            <a:rPr lang="zh-TW" altLang="zh-TW" sz="2400" i="1">
                              <a:latin typeface="Cambria Math" panose="02040503050406030204" pitchFamily="18" charset="0"/>
                            </a:rPr>
                          </m:ctrlPr>
                        </m:fPr>
                        <m:num>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𝑗</m:t>
                              </m:r>
                            </m:sub>
                          </m:sSub>
                        </m:num>
                        <m:den>
                          <m:r>
                            <a:rPr lang="en-US" altLang="zh-TW" sz="2400" i="1">
                              <a:latin typeface="Cambria Math" panose="02040503050406030204" pitchFamily="18" charset="0"/>
                            </a:rPr>
                            <m:t>𝑛</m:t>
                          </m:r>
                        </m:den>
                      </m:f>
                    </m:oMath>
                  </m:oMathPara>
                </a14:m>
                <a:endParaRPr lang="en-US" altLang="zh-TW" sz="2400" dirty="0"/>
              </a:p>
              <a:p>
                <a:pPr>
                  <a:lnSpc>
                    <a:spcPct val="120000"/>
                  </a:lnSpc>
                </a:pPr>
                <a:r>
                  <a:rPr lang="zh-TW" altLang="zh-TW" sz="2400" dirty="0"/>
                  <a:t>所以第</a:t>
                </a:r>
                <a:r>
                  <a:rPr lang="en-US" altLang="zh-TW" sz="2400" dirty="0"/>
                  <a:t> </a:t>
                </a:r>
                <a:r>
                  <a:rPr lang="en-US" altLang="zh-TW" sz="2400" dirty="0" err="1"/>
                  <a:t>ij</a:t>
                </a:r>
                <a:r>
                  <a:rPr lang="en-US" altLang="zh-TW" sz="2400" dirty="0"/>
                  <a:t> </a:t>
                </a:r>
                <a:r>
                  <a:rPr lang="zh-TW" altLang="zh-TW" sz="2400" dirty="0"/>
                  <a:t>格子的平均次數應為</a:t>
                </a:r>
              </a:p>
              <a:p>
                <a:pPr marL="109728" indent="0">
                  <a:lnSpc>
                    <a:spcPct val="120000"/>
                  </a:lnSpc>
                  <a:buNone/>
                </a:pPr>
                <a14:m>
                  <m:oMathPara xmlns:m="http://schemas.openxmlformats.org/officeDocument/2006/math">
                    <m:oMathParaPr>
                      <m:jc m:val="centerGroup"/>
                    </m:oMathParaPr>
                    <m:oMath xmlns:m="http://schemas.openxmlformats.org/officeDocument/2006/math">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𝐸</m:t>
                          </m:r>
                        </m:e>
                        <m:sub>
                          <m:r>
                            <a:rPr lang="en-US" altLang="zh-TW" sz="2400" i="1">
                              <a:latin typeface="Cambria Math" panose="02040503050406030204" pitchFamily="18" charset="0"/>
                            </a:rPr>
                            <m:t>𝑖𝑗</m:t>
                          </m:r>
                        </m:sub>
                      </m:sSub>
                      <m:r>
                        <a:rPr lang="en-US" altLang="zh-TW" sz="2400" i="1">
                          <a:latin typeface="Cambria Math" panose="02040503050406030204" pitchFamily="18" charset="0"/>
                        </a:rPr>
                        <m:t>=</m:t>
                      </m:r>
                      <m:r>
                        <a:rPr lang="en-US" altLang="zh-TW" sz="2400" i="1">
                          <a:latin typeface="Cambria Math" panose="02040503050406030204" pitchFamily="18" charset="0"/>
                        </a:rPr>
                        <m:t>𝑛</m:t>
                      </m:r>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𝑃</m:t>
                          </m:r>
                        </m:e>
                        <m:sub>
                          <m:r>
                            <a:rPr lang="en-US" altLang="zh-TW" sz="2400" i="1">
                              <a:latin typeface="Cambria Math" panose="02040503050406030204" pitchFamily="18" charset="0"/>
                            </a:rPr>
                            <m:t>𝑖𝑗</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𝑛</m:t>
                      </m:r>
                      <m:r>
                        <a:rPr lang="en-US" altLang="zh-TW" sz="2400" i="1">
                          <a:latin typeface="Cambria Math" panose="02040503050406030204" pitchFamily="18" charset="0"/>
                        </a:rPr>
                        <m:t>×</m:t>
                      </m:r>
                      <m:f>
                        <m:fPr>
                          <m:ctrlPr>
                            <a:rPr lang="zh-TW" altLang="zh-TW" sz="2400" i="1">
                              <a:latin typeface="Cambria Math" panose="02040503050406030204" pitchFamily="18" charset="0"/>
                            </a:rPr>
                          </m:ctrlPr>
                        </m:fPr>
                        <m:num>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𝑅</m:t>
                              </m:r>
                            </m:e>
                            <m:sub>
                              <m:r>
                                <a:rPr lang="en-US" altLang="zh-TW" sz="2400" i="1">
                                  <a:latin typeface="Cambria Math" panose="02040503050406030204" pitchFamily="18" charset="0"/>
                                </a:rPr>
                                <m:t>𝑖</m:t>
                              </m:r>
                            </m:sub>
                          </m:sSub>
                        </m:num>
                        <m:den>
                          <m:r>
                            <a:rPr lang="en-US" altLang="zh-TW" sz="2400" i="1">
                              <a:latin typeface="Cambria Math" panose="02040503050406030204" pitchFamily="18" charset="0"/>
                            </a:rPr>
                            <m:t>𝑛</m:t>
                          </m:r>
                        </m:den>
                      </m:f>
                      <m:r>
                        <a:rPr lang="en-US" altLang="zh-TW" sz="2400" i="1">
                          <a:latin typeface="Cambria Math" panose="02040503050406030204" pitchFamily="18" charset="0"/>
                        </a:rPr>
                        <m:t>×</m:t>
                      </m:r>
                      <m:f>
                        <m:fPr>
                          <m:ctrlPr>
                            <a:rPr lang="zh-TW" altLang="zh-TW" sz="2400" i="1">
                              <a:latin typeface="Cambria Math" panose="02040503050406030204" pitchFamily="18" charset="0"/>
                            </a:rPr>
                          </m:ctrlPr>
                        </m:fPr>
                        <m:num>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𝑗</m:t>
                              </m:r>
                            </m:sub>
                          </m:sSub>
                        </m:num>
                        <m:den>
                          <m:r>
                            <a:rPr lang="en-US" altLang="zh-TW" sz="2400" i="1">
                              <a:latin typeface="Cambria Math" panose="02040503050406030204" pitchFamily="18" charset="0"/>
                            </a:rPr>
                            <m:t>𝑛</m:t>
                          </m:r>
                        </m:den>
                      </m:f>
                      <m:r>
                        <a:rPr lang="en-US" altLang="zh-TW" sz="2400" i="1">
                          <a:latin typeface="Cambria Math" panose="02040503050406030204" pitchFamily="18" charset="0"/>
                        </a:rPr>
                        <m:t>=</m:t>
                      </m:r>
                      <m:f>
                        <m:fPr>
                          <m:ctrlPr>
                            <a:rPr lang="zh-TW" altLang="zh-TW" sz="2400" i="1">
                              <a:latin typeface="Cambria Math" panose="02040503050406030204" pitchFamily="18" charset="0"/>
                            </a:rPr>
                          </m:ctrlPr>
                        </m:fPr>
                        <m:num>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𝑅</m:t>
                              </m:r>
                            </m:e>
                            <m:sub>
                              <m:r>
                                <a:rPr lang="en-US" altLang="zh-TW" sz="2400" i="1">
                                  <a:latin typeface="Cambria Math" panose="02040503050406030204" pitchFamily="18" charset="0"/>
                                </a:rPr>
                                <m:t>𝑖</m:t>
                              </m:r>
                            </m:sub>
                          </m:sSub>
                          <m:sSub>
                            <m:sSubPr>
                              <m:ctrlPr>
                                <a:rPr lang="zh-TW"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𝑗</m:t>
                              </m:r>
                            </m:sub>
                          </m:sSub>
                        </m:num>
                        <m:den>
                          <m:r>
                            <a:rPr lang="en-US" altLang="zh-TW" sz="2400" i="1">
                              <a:latin typeface="Cambria Math" panose="02040503050406030204" pitchFamily="18" charset="0"/>
                            </a:rPr>
                            <m:t>𝑛</m:t>
                          </m:r>
                        </m:den>
                      </m:f>
                    </m:oMath>
                  </m:oMathPara>
                </a14:m>
                <a:endParaRPr lang="en-US" altLang="zh-TW" sz="2400" dirty="0"/>
              </a:p>
              <a:p>
                <a:pPr marL="109728" indent="0">
                  <a:lnSpc>
                    <a:spcPct val="120000"/>
                  </a:lnSpc>
                  <a:buNone/>
                </a:pPr>
                <a:r>
                  <a:rPr lang="zh-TW" altLang="zh-TW" sz="2400" dirty="0"/>
                  <a:t>則卡方檢定統計量定義為</a:t>
                </a:r>
                <a:r>
                  <a:rPr lang="en-US" altLang="zh-TW" sz="2400" dirty="0"/>
                  <a:t>:</a:t>
                </a:r>
                <a:endParaRPr lang="zh-TW" altLang="zh-TW" sz="2400" dirty="0"/>
              </a:p>
              <a:p>
                <a:pPr marL="109728" indent="0">
                  <a:lnSpc>
                    <a:spcPct val="120000"/>
                  </a:lnSpc>
                  <a:buNone/>
                </a:pPr>
                <a14:m>
                  <m:oMathPara xmlns:m="http://schemas.openxmlformats.org/officeDocument/2006/math">
                    <m:oMathParaPr>
                      <m:jc m:val="centerGroup"/>
                    </m:oMathParaPr>
                    <m:oMath xmlns:m="http://schemas.openxmlformats.org/officeDocument/2006/math">
                      <m:sSup>
                        <m:sSupPr>
                          <m:ctrlPr>
                            <a:rPr lang="zh-TW" altLang="zh-TW" sz="2400" i="1">
                              <a:latin typeface="Cambria Math" panose="02040503050406030204" pitchFamily="18" charset="0"/>
                            </a:rPr>
                          </m:ctrlPr>
                        </m:sSupPr>
                        <m:e>
                          <m:r>
                            <m:rPr>
                              <m:sty m:val="p"/>
                            </m:rPr>
                            <a:rPr lang="en-US" altLang="zh-TW" sz="2400">
                              <a:latin typeface="Cambria Math" panose="02040503050406030204" pitchFamily="18" charset="0"/>
                            </a:rPr>
                            <m:t>χ</m:t>
                          </m:r>
                        </m:e>
                        <m:sup>
                          <m:r>
                            <a:rPr lang="en-US" altLang="zh-TW" sz="2400">
                              <a:latin typeface="Cambria Math" panose="02040503050406030204" pitchFamily="18" charset="0"/>
                            </a:rPr>
                            <m:t>2</m:t>
                          </m:r>
                        </m:sup>
                      </m:sSup>
                      <m:r>
                        <a:rPr lang="en-US" altLang="zh-TW" sz="2400">
                          <a:latin typeface="Cambria Math" panose="02040503050406030204" pitchFamily="18" charset="0"/>
                        </a:rPr>
                        <m:t>=</m:t>
                      </m:r>
                      <m:nary>
                        <m:naryPr>
                          <m:chr m:val="∑"/>
                          <m:limLoc m:val="undOvr"/>
                          <m:ctrlPr>
                            <a:rPr lang="zh-TW" altLang="zh-TW" sz="2400" i="1">
                              <a:latin typeface="Cambria Math" panose="02040503050406030204" pitchFamily="18" charset="0"/>
                            </a:rPr>
                          </m:ctrlPr>
                        </m:naryPr>
                        <m:sub>
                          <m:r>
                            <m:rPr>
                              <m:sty m:val="p"/>
                            </m:rPr>
                            <a:rPr lang="en-US" altLang="zh-TW" sz="2400">
                              <a:latin typeface="Cambria Math" panose="02040503050406030204" pitchFamily="18" charset="0"/>
                            </a:rPr>
                            <m:t>i</m:t>
                          </m:r>
                          <m:r>
                            <a:rPr lang="en-US" altLang="zh-TW" sz="2400">
                              <a:latin typeface="Cambria Math" panose="02040503050406030204" pitchFamily="18" charset="0"/>
                            </a:rPr>
                            <m:t>=1</m:t>
                          </m:r>
                        </m:sub>
                        <m:sup>
                          <m:r>
                            <m:rPr>
                              <m:sty m:val="p"/>
                            </m:rPr>
                            <a:rPr lang="en-US" altLang="zh-TW" sz="2400">
                              <a:latin typeface="Cambria Math" panose="02040503050406030204" pitchFamily="18" charset="0"/>
                            </a:rPr>
                            <m:t>r</m:t>
                          </m:r>
                        </m:sup>
                        <m:e>
                          <m:nary>
                            <m:naryPr>
                              <m:chr m:val="∑"/>
                              <m:limLoc m:val="undOvr"/>
                              <m:ctrlPr>
                                <a:rPr lang="zh-TW" altLang="zh-TW" sz="2400" i="1">
                                  <a:latin typeface="Cambria Math" panose="02040503050406030204" pitchFamily="18" charset="0"/>
                                </a:rPr>
                              </m:ctrlPr>
                            </m:naryPr>
                            <m:sub>
                              <m:r>
                                <m:rPr>
                                  <m:sty m:val="p"/>
                                </m:rPr>
                                <a:rPr lang="en-US" altLang="zh-TW" sz="2400">
                                  <a:latin typeface="Cambria Math" panose="02040503050406030204" pitchFamily="18" charset="0"/>
                                </a:rPr>
                                <m:t>j</m:t>
                              </m:r>
                              <m:r>
                                <a:rPr lang="en-US" altLang="zh-TW" sz="2400">
                                  <a:latin typeface="Cambria Math" panose="02040503050406030204" pitchFamily="18" charset="0"/>
                                </a:rPr>
                                <m:t>=1</m:t>
                              </m:r>
                            </m:sub>
                            <m:sup>
                              <m:r>
                                <m:rPr>
                                  <m:sty m:val="p"/>
                                </m:rPr>
                                <a:rPr lang="en-US" altLang="zh-TW" sz="2400">
                                  <a:latin typeface="Cambria Math" panose="02040503050406030204" pitchFamily="18" charset="0"/>
                                </a:rPr>
                                <m:t>c</m:t>
                              </m:r>
                            </m:sup>
                            <m:e>
                              <m:f>
                                <m:fPr>
                                  <m:ctrlPr>
                                    <a:rPr lang="zh-TW" altLang="zh-TW" sz="2400" i="1">
                                      <a:latin typeface="Cambria Math" panose="02040503050406030204" pitchFamily="18" charset="0"/>
                                    </a:rPr>
                                  </m:ctrlPr>
                                </m:fPr>
                                <m:num>
                                  <m:sSup>
                                    <m:sSupPr>
                                      <m:ctrlPr>
                                        <a:rPr lang="zh-TW" altLang="zh-TW" sz="2400" i="1">
                                          <a:latin typeface="Cambria Math" panose="02040503050406030204" pitchFamily="18" charset="0"/>
                                        </a:rPr>
                                      </m:ctrlPr>
                                    </m:sSupPr>
                                    <m:e>
                                      <m:d>
                                        <m:dPr>
                                          <m:ctrlPr>
                                            <a:rPr lang="zh-TW" altLang="zh-TW" sz="2400" i="1">
                                              <a:latin typeface="Cambria Math" panose="02040503050406030204" pitchFamily="18" charset="0"/>
                                            </a:rPr>
                                          </m:ctrlPr>
                                        </m:dPr>
                                        <m:e>
                                          <m:sSub>
                                            <m:sSubPr>
                                              <m:ctrlPr>
                                                <a:rPr lang="zh-TW" altLang="zh-TW" sz="2400" i="1">
                                                  <a:latin typeface="Cambria Math" panose="02040503050406030204" pitchFamily="18" charset="0"/>
                                                </a:rPr>
                                              </m:ctrlPr>
                                            </m:sSubPr>
                                            <m:e>
                                              <m:r>
                                                <m:rPr>
                                                  <m:sty m:val="p"/>
                                                </m:rPr>
                                                <a:rPr lang="en-US" altLang="zh-TW" sz="2400">
                                                  <a:latin typeface="Cambria Math" panose="02040503050406030204" pitchFamily="18" charset="0"/>
                                                </a:rPr>
                                                <m:t>N</m:t>
                                              </m:r>
                                            </m:e>
                                            <m:sub>
                                              <m:r>
                                                <m:rPr>
                                                  <m:sty m:val="p"/>
                                                </m:rPr>
                                                <a:rPr lang="en-US" altLang="zh-TW" sz="2400">
                                                  <a:latin typeface="Cambria Math" panose="02040503050406030204" pitchFamily="18" charset="0"/>
                                                </a:rPr>
                                                <m:t>ij</m:t>
                                              </m:r>
                                            </m:sub>
                                          </m:sSub>
                                          <m:r>
                                            <a:rPr lang="en-US" altLang="zh-TW" sz="2400" i="1">
                                              <a:latin typeface="Cambria Math" panose="02040503050406030204" pitchFamily="18" charset="0"/>
                                            </a:rPr>
                                            <m:t>−</m:t>
                                          </m:r>
                                          <m:sSub>
                                            <m:sSubPr>
                                              <m:ctrlPr>
                                                <a:rPr lang="zh-TW" altLang="zh-TW" sz="2400" i="1">
                                                  <a:latin typeface="Cambria Math" panose="02040503050406030204" pitchFamily="18" charset="0"/>
                                                </a:rPr>
                                              </m:ctrlPr>
                                            </m:sSubPr>
                                            <m:e>
                                              <m:r>
                                                <m:rPr>
                                                  <m:sty m:val="p"/>
                                                </m:rPr>
                                                <a:rPr lang="en-US" altLang="zh-TW" sz="2400">
                                                  <a:latin typeface="Cambria Math" panose="02040503050406030204" pitchFamily="18" charset="0"/>
                                                </a:rPr>
                                                <m:t>E</m:t>
                                              </m:r>
                                            </m:e>
                                            <m:sub>
                                              <m:r>
                                                <m:rPr>
                                                  <m:sty m:val="p"/>
                                                </m:rPr>
                                                <a:rPr lang="en-US" altLang="zh-TW" sz="2400">
                                                  <a:latin typeface="Cambria Math" panose="02040503050406030204" pitchFamily="18" charset="0"/>
                                                </a:rPr>
                                                <m:t>ij</m:t>
                                              </m:r>
                                            </m:sub>
                                          </m:sSub>
                                        </m:e>
                                      </m:d>
                                    </m:e>
                                    <m:sup>
                                      <m:r>
                                        <a:rPr lang="en-US" altLang="zh-TW" sz="2400">
                                          <a:latin typeface="Cambria Math" panose="02040503050406030204" pitchFamily="18" charset="0"/>
                                        </a:rPr>
                                        <m:t>2</m:t>
                                      </m:r>
                                    </m:sup>
                                  </m:sSup>
                                </m:num>
                                <m:den>
                                  <m:sSub>
                                    <m:sSubPr>
                                      <m:ctrlPr>
                                        <a:rPr lang="zh-TW" altLang="zh-TW" sz="2400" i="1">
                                          <a:latin typeface="Cambria Math" panose="02040503050406030204" pitchFamily="18" charset="0"/>
                                        </a:rPr>
                                      </m:ctrlPr>
                                    </m:sSubPr>
                                    <m:e>
                                      <m:r>
                                        <m:rPr>
                                          <m:sty m:val="p"/>
                                        </m:rPr>
                                        <a:rPr lang="en-US" altLang="zh-TW" sz="2400">
                                          <a:latin typeface="Cambria Math" panose="02040503050406030204" pitchFamily="18" charset="0"/>
                                        </a:rPr>
                                        <m:t>E</m:t>
                                      </m:r>
                                    </m:e>
                                    <m:sub>
                                      <m:r>
                                        <m:rPr>
                                          <m:sty m:val="p"/>
                                        </m:rPr>
                                        <a:rPr lang="en-US" altLang="zh-TW" sz="2400">
                                          <a:latin typeface="Cambria Math" panose="02040503050406030204" pitchFamily="18" charset="0"/>
                                        </a:rPr>
                                        <m:t>ij</m:t>
                                      </m:r>
                                    </m:sub>
                                  </m:sSub>
                                </m:den>
                              </m:f>
                            </m:e>
                          </m:nary>
                        </m:e>
                      </m:nary>
                    </m:oMath>
                  </m:oMathPara>
                </a14:m>
                <a:endParaRPr lang="zh-TW" altLang="zh-TW" sz="2400" dirty="0"/>
              </a:p>
              <a:p>
                <a:pPr marL="109728" indent="0">
                  <a:lnSpc>
                    <a:spcPct val="120000"/>
                  </a:lnSpc>
                  <a:buNone/>
                </a:pPr>
                <a:r>
                  <a:rPr lang="zh-TW" altLang="zh-TW" sz="2400" dirty="0"/>
                  <a:t>此卡方檢定統計量在虛無假設成立時服從自由度為</a:t>
                </a:r>
                <a14:m>
                  <m:oMath xmlns:m="http://schemas.openxmlformats.org/officeDocument/2006/math">
                    <m:d>
                      <m:dPr>
                        <m:ctrlPr>
                          <a:rPr lang="zh-TW" altLang="zh-TW" sz="2400" i="1">
                            <a:latin typeface="Cambria Math" panose="02040503050406030204" pitchFamily="18" charset="0"/>
                          </a:rPr>
                        </m:ctrlPr>
                      </m:dPr>
                      <m:e>
                        <m:r>
                          <a:rPr lang="en-US" altLang="zh-TW" sz="2400" i="1">
                            <a:latin typeface="Cambria Math" panose="02040503050406030204" pitchFamily="18" charset="0"/>
                          </a:rPr>
                          <m:t>𝑟</m:t>
                        </m:r>
                        <m:r>
                          <a:rPr lang="en-US" altLang="zh-TW" sz="2400" i="1">
                            <a:latin typeface="Cambria Math" panose="02040503050406030204" pitchFamily="18" charset="0"/>
                          </a:rPr>
                          <m:t>−1</m:t>
                        </m:r>
                      </m:e>
                    </m:d>
                    <m:r>
                      <a:rPr lang="en-US" altLang="zh-TW" sz="2400" i="1">
                        <a:latin typeface="Cambria Math" panose="02040503050406030204" pitchFamily="18" charset="0"/>
                      </a:rPr>
                      <m:t>×</m:t>
                    </m:r>
                    <m:r>
                      <a:rPr lang="en-US" altLang="zh-TW" sz="2400">
                        <a:latin typeface="Cambria Math" panose="02040503050406030204" pitchFamily="18" charset="0"/>
                      </a:rPr>
                      <m:t>(</m:t>
                    </m:r>
                    <m:r>
                      <a:rPr lang="en-US" altLang="zh-TW" sz="2400" i="1">
                        <a:latin typeface="Cambria Math" panose="02040503050406030204" pitchFamily="18" charset="0"/>
                      </a:rPr>
                      <m:t>𝑐</m:t>
                    </m:r>
                    <m:r>
                      <a:rPr lang="en-US" altLang="zh-TW" sz="2400" i="1">
                        <a:latin typeface="Cambria Math" panose="02040503050406030204" pitchFamily="18" charset="0"/>
                      </a:rPr>
                      <m:t>−1</m:t>
                    </m:r>
                    <m:r>
                      <a:rPr lang="en-US" altLang="zh-TW" sz="2400">
                        <a:latin typeface="Cambria Math" panose="02040503050406030204" pitchFamily="18" charset="0"/>
                      </a:rPr>
                      <m:t>)</m:t>
                    </m:r>
                  </m:oMath>
                </a14:m>
                <a:r>
                  <a:rPr lang="zh-TW" altLang="zh-TW" sz="2400" dirty="0"/>
                  <a:t>之卡方分配</a:t>
                </a:r>
                <a14:m>
                  <m:oMath xmlns:m="http://schemas.openxmlformats.org/officeDocument/2006/math">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𝜒</m:t>
                        </m:r>
                      </m:e>
                      <m:sub>
                        <m:d>
                          <m:dPr>
                            <m:ctrlPr>
                              <a:rPr lang="zh-TW" altLang="zh-TW" sz="2400" i="1">
                                <a:latin typeface="Cambria Math" panose="02040503050406030204" pitchFamily="18" charset="0"/>
                              </a:rPr>
                            </m:ctrlPr>
                          </m:dPr>
                          <m:e>
                            <m:r>
                              <m:rPr>
                                <m:sty m:val="p"/>
                              </m:rPr>
                              <a:rPr lang="en-US" altLang="zh-TW" sz="2400">
                                <a:latin typeface="Cambria Math" panose="02040503050406030204" pitchFamily="18" charset="0"/>
                              </a:rPr>
                              <m:t>r</m:t>
                            </m:r>
                            <m:r>
                              <a:rPr lang="en-US" altLang="zh-TW" sz="2400" i="1">
                                <a:latin typeface="Cambria Math" panose="02040503050406030204" pitchFamily="18" charset="0"/>
                              </a:rPr>
                              <m:t>−</m:t>
                            </m:r>
                            <m:r>
                              <a:rPr lang="en-US" altLang="zh-TW" sz="2400">
                                <a:latin typeface="Cambria Math" panose="02040503050406030204" pitchFamily="18" charset="0"/>
                              </a:rPr>
                              <m:t>1</m:t>
                            </m:r>
                          </m:e>
                        </m:d>
                        <m:r>
                          <a:rPr lang="en-US" altLang="zh-TW" sz="2400">
                            <a:latin typeface="Cambria Math" panose="02040503050406030204" pitchFamily="18" charset="0"/>
                          </a:rPr>
                          <m:t>(</m:t>
                        </m:r>
                        <m:r>
                          <m:rPr>
                            <m:sty m:val="p"/>
                          </m:rPr>
                          <a:rPr lang="en-US" altLang="zh-TW" sz="2400">
                            <a:latin typeface="Cambria Math" panose="02040503050406030204" pitchFamily="18" charset="0"/>
                          </a:rPr>
                          <m:t>c</m:t>
                        </m:r>
                        <m:r>
                          <a:rPr lang="en-US" altLang="zh-TW" sz="2400" i="1">
                            <a:latin typeface="Cambria Math" panose="02040503050406030204" pitchFamily="18" charset="0"/>
                          </a:rPr>
                          <m:t>−</m:t>
                        </m:r>
                        <m:r>
                          <a:rPr lang="en-US" altLang="zh-TW" sz="2400">
                            <a:latin typeface="Cambria Math" panose="02040503050406030204" pitchFamily="18" charset="0"/>
                          </a:rPr>
                          <m:t>1)</m:t>
                        </m:r>
                      </m:sub>
                      <m:sup>
                        <m:r>
                          <a:rPr lang="en-US" altLang="zh-TW" sz="2400" i="1">
                            <a:latin typeface="Cambria Math" panose="02040503050406030204" pitchFamily="18" charset="0"/>
                          </a:rPr>
                          <m:t>2</m:t>
                        </m:r>
                      </m:sup>
                    </m:sSubSup>
                  </m:oMath>
                </a14:m>
                <a:r>
                  <a:rPr lang="en-US" altLang="zh-TW" sz="2400" dirty="0"/>
                  <a:t>;  p</a:t>
                </a:r>
                <a:r>
                  <a:rPr lang="zh-TW" altLang="zh-TW" sz="2400" dirty="0"/>
                  <a:t>值</a:t>
                </a:r>
                <a:r>
                  <a:rPr lang="en-US" altLang="zh-TW" sz="2400" dirty="0"/>
                  <a:t>= P(</a:t>
                </a:r>
                <a14:m>
                  <m:oMath xmlns:m="http://schemas.openxmlformats.org/officeDocument/2006/math">
                    <m:sSubSup>
                      <m:sSubSupPr>
                        <m:ctrlPr>
                          <a:rPr lang="zh-TW" altLang="zh-TW" sz="2400" i="1">
                            <a:latin typeface="Cambria Math" panose="02040503050406030204" pitchFamily="18" charset="0"/>
                          </a:rPr>
                        </m:ctrlPr>
                      </m:sSubSupPr>
                      <m:e>
                        <m:r>
                          <a:rPr lang="en-US" altLang="zh-TW" sz="2400" i="1">
                            <a:latin typeface="Cambria Math" panose="02040503050406030204" pitchFamily="18" charset="0"/>
                          </a:rPr>
                          <m:t>𝜒</m:t>
                        </m:r>
                      </m:e>
                      <m:sub>
                        <m:d>
                          <m:dPr>
                            <m:ctrlPr>
                              <a:rPr lang="zh-TW" altLang="zh-TW" sz="2400" i="1">
                                <a:latin typeface="Cambria Math" panose="02040503050406030204" pitchFamily="18" charset="0"/>
                              </a:rPr>
                            </m:ctrlPr>
                          </m:dPr>
                          <m:e>
                            <m:r>
                              <m:rPr>
                                <m:sty m:val="p"/>
                              </m:rPr>
                              <a:rPr lang="en-US" altLang="zh-TW" sz="2400">
                                <a:latin typeface="Cambria Math" panose="02040503050406030204" pitchFamily="18" charset="0"/>
                              </a:rPr>
                              <m:t>r</m:t>
                            </m:r>
                            <m:r>
                              <a:rPr lang="en-US" altLang="zh-TW" sz="2400" i="1">
                                <a:latin typeface="Cambria Math" panose="02040503050406030204" pitchFamily="18" charset="0"/>
                              </a:rPr>
                              <m:t>−</m:t>
                            </m:r>
                            <m:r>
                              <a:rPr lang="en-US" altLang="zh-TW" sz="2400">
                                <a:latin typeface="Cambria Math" panose="02040503050406030204" pitchFamily="18" charset="0"/>
                              </a:rPr>
                              <m:t>1</m:t>
                            </m:r>
                          </m:e>
                        </m:d>
                        <m:r>
                          <a:rPr lang="en-US" altLang="zh-TW" sz="2400">
                            <a:latin typeface="Cambria Math" panose="02040503050406030204" pitchFamily="18" charset="0"/>
                          </a:rPr>
                          <m:t>(</m:t>
                        </m:r>
                        <m:r>
                          <m:rPr>
                            <m:sty m:val="p"/>
                          </m:rPr>
                          <a:rPr lang="en-US" altLang="zh-TW" sz="2400">
                            <a:latin typeface="Cambria Math" panose="02040503050406030204" pitchFamily="18" charset="0"/>
                          </a:rPr>
                          <m:t>c</m:t>
                        </m:r>
                        <m:r>
                          <a:rPr lang="en-US" altLang="zh-TW" sz="2400" i="1">
                            <a:latin typeface="Cambria Math" panose="02040503050406030204" pitchFamily="18" charset="0"/>
                          </a:rPr>
                          <m:t>−</m:t>
                        </m:r>
                        <m:r>
                          <a:rPr lang="en-US" altLang="zh-TW" sz="2400">
                            <a:latin typeface="Cambria Math" panose="02040503050406030204" pitchFamily="18" charset="0"/>
                          </a:rPr>
                          <m:t>1)</m:t>
                        </m:r>
                      </m:sub>
                      <m:sup>
                        <m:r>
                          <a:rPr lang="en-US" altLang="zh-TW" sz="2400" i="1">
                            <a:latin typeface="Cambria Math" panose="02040503050406030204" pitchFamily="18" charset="0"/>
                          </a:rPr>
                          <m:t>2</m:t>
                        </m:r>
                      </m:sup>
                    </m:sSubSup>
                    <m:r>
                      <a:rPr lang="en-US" altLang="zh-TW" sz="2400" i="1">
                        <a:latin typeface="Cambria Math" panose="02040503050406030204" pitchFamily="18" charset="0"/>
                      </a:rPr>
                      <m:t>&gt;</m:t>
                    </m:r>
                    <m:sSup>
                      <m:sSupPr>
                        <m:ctrlPr>
                          <a:rPr lang="zh-TW" altLang="zh-TW" sz="2400" i="1">
                            <a:latin typeface="Cambria Math" panose="02040503050406030204" pitchFamily="18" charset="0"/>
                          </a:rPr>
                        </m:ctrlPr>
                      </m:sSupPr>
                      <m:e>
                        <m:r>
                          <m:rPr>
                            <m:sty m:val="p"/>
                          </m:rPr>
                          <a:rPr lang="en-US" altLang="zh-TW" sz="2400">
                            <a:latin typeface="Cambria Math" panose="02040503050406030204" pitchFamily="18" charset="0"/>
                          </a:rPr>
                          <m:t>χ</m:t>
                        </m:r>
                      </m:e>
                      <m:sup>
                        <m:r>
                          <a:rPr lang="en-US" altLang="zh-TW" sz="2400">
                            <a:latin typeface="Cambria Math" panose="02040503050406030204" pitchFamily="18" charset="0"/>
                          </a:rPr>
                          <m:t>2</m:t>
                        </m:r>
                      </m:sup>
                    </m:sSup>
                    <m:r>
                      <a:rPr lang="en-US" altLang="zh-TW" sz="2400" i="1">
                        <a:latin typeface="Cambria Math" panose="02040503050406030204" pitchFamily="18" charset="0"/>
                      </a:rPr>
                      <m:t>)</m:t>
                    </m:r>
                    <m:r>
                      <a:rPr lang="zh-TW" altLang="zh-TW" sz="2400">
                        <a:latin typeface="Cambria Math" panose="02040503050406030204" pitchFamily="18" charset="0"/>
                      </a:rPr>
                      <m:t>。</m:t>
                    </m:r>
                  </m:oMath>
                </a14:m>
                <a:endParaRPr lang="zh-TW" altLang="zh-TW" sz="2400" dirty="0"/>
              </a:p>
              <a:p>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57200" y="1080676"/>
                <a:ext cx="8229600" cy="4926616"/>
              </a:xfrm>
              <a:blipFill>
                <a:blip r:embed="rId2"/>
                <a:stretch>
                  <a:fillRect l="-370" t="-37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2873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2"/>
          <p:cNvSpPr>
            <a:spLocks noGrp="1"/>
          </p:cNvSpPr>
          <p:nvPr>
            <p:ph type="title"/>
          </p:nvPr>
        </p:nvSpPr>
        <p:spPr>
          <a:xfrm>
            <a:off x="1392361" y="526144"/>
            <a:ext cx="6251303" cy="1049235"/>
          </a:xfrm>
          <a:prstGeom prst="rect">
            <a:avLst/>
          </a:prstGeom>
        </p:spPr>
        <p:txBody>
          <a:bodyPr>
            <a:normAutofit/>
          </a:bodyPr>
          <a:lstStyle/>
          <a:p>
            <a:r>
              <a:rPr lang="zh-TW" altLang="en-US" dirty="0">
                <a:latin typeface="微軟正黑體" panose="020B0604030504040204" pitchFamily="34" charset="-120"/>
                <a:ea typeface="微軟正黑體" panose="020B0604030504040204" pitchFamily="34" charset="-120"/>
              </a:rPr>
              <a:t>某公司欲檢定不同職級人員對新式刷卡系統是否有不同反應</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idx="1"/>
          </p:nvPr>
        </p:nvSpPr>
        <p:spPr/>
        <p:txBody>
          <a:bodyPr/>
          <a:lstStyle/>
          <a:p>
            <a:endParaRPr lang="en-US" altLang="zh-TW" dirty="0"/>
          </a:p>
          <a:p>
            <a:endParaRPr lang="en-US" altLang="zh-TW" dirty="0"/>
          </a:p>
          <a:p>
            <a:endParaRPr lang="en-US" altLang="zh-TW" dirty="0"/>
          </a:p>
          <a:p>
            <a:endParaRPr lang="en-US" altLang="zh-TW" dirty="0"/>
          </a:p>
          <a:p>
            <a:r>
              <a:rPr lang="zh-TW" altLang="en-US" dirty="0"/>
              <a:t>若職業與喜好無關</a:t>
            </a:r>
            <a:r>
              <a:rPr lang="en-US" altLang="zh-TW" dirty="0"/>
              <a:t>, </a:t>
            </a:r>
            <a:r>
              <a:rPr lang="zh-TW" altLang="en-US" dirty="0"/>
              <a:t>則</a:t>
            </a:r>
          </a:p>
        </p:txBody>
      </p:sp>
      <p:graphicFrame>
        <p:nvGraphicFramePr>
          <p:cNvPr id="8" name="表格 7"/>
          <p:cNvGraphicFramePr>
            <a:graphicFrameLocks noGrp="1"/>
          </p:cNvGraphicFramePr>
          <p:nvPr>
            <p:extLst>
              <p:ext uri="{D42A27DB-BD31-4B8C-83A1-F6EECF244321}">
                <p14:modId xmlns:p14="http://schemas.microsoft.com/office/powerpoint/2010/main" val="1099879494"/>
              </p:ext>
            </p:extLst>
          </p:nvPr>
        </p:nvGraphicFramePr>
        <p:xfrm>
          <a:off x="1547664" y="1628800"/>
          <a:ext cx="6096000" cy="1555368"/>
        </p:xfrm>
        <a:graphic>
          <a:graphicData uri="http://schemas.openxmlformats.org/drawingml/2006/table">
            <a:tbl>
              <a:tblPr firstRow="1" bandRow="1"/>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42848">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r>
                        <a:rPr lang="zh-TW" altLang="en-US" dirty="0"/>
                        <a:t>觀察值</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48312"/>
                    </a:solidFill>
                  </a:tcPr>
                </a:tc>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r>
                        <a:rPr lang="zh-TW" altLang="en-US" dirty="0"/>
                        <a:t>喜歡新制</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48312"/>
                    </a:solidFill>
                  </a:tcPr>
                </a:tc>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r>
                        <a:rPr lang="zh-TW" altLang="en-US" dirty="0"/>
                        <a:t>喜歡舊制</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48312"/>
                    </a:solidFill>
                  </a:tcPr>
                </a:tc>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r>
                        <a:rPr lang="zh-TW" altLang="en-US" dirty="0"/>
                        <a:t>列總合</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E48312"/>
                    </a:solidFill>
                  </a:tcPr>
                </a:tc>
                <a:extLst>
                  <a:ext uri="{0D108BD9-81ED-4DB2-BD59-A6C34878D82A}">
                    <a16:rowId xmlns:a16="http://schemas.microsoft.com/office/drawing/2014/main" val="10000"/>
                  </a:ext>
                </a:extLst>
              </a:tr>
              <a:tr h="370840">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zh-TW" altLang="en-US" dirty="0"/>
                        <a:t>主管</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55</a:t>
                      </a:r>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45</a:t>
                      </a:r>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100</a:t>
                      </a:r>
                      <a:endParaRPr lang="zh-TW" altLang="en-US"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40000"/>
                      </a:srgbClr>
                    </a:solidFill>
                  </a:tcPr>
                </a:tc>
                <a:extLst>
                  <a:ext uri="{0D108BD9-81ED-4DB2-BD59-A6C34878D82A}">
                    <a16:rowId xmlns:a16="http://schemas.microsoft.com/office/drawing/2014/main" val="10001"/>
                  </a:ext>
                </a:extLst>
              </a:tr>
              <a:tr h="370840">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zh-TW" altLang="en-US" dirty="0"/>
                        <a:t>非主管</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2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70</a:t>
                      </a:r>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2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30</a:t>
                      </a:r>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2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100</a:t>
                      </a:r>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20000"/>
                      </a:srgbClr>
                    </a:solidFill>
                  </a:tcPr>
                </a:tc>
                <a:extLst>
                  <a:ext uri="{0D108BD9-81ED-4DB2-BD59-A6C34878D82A}">
                    <a16:rowId xmlns:a16="http://schemas.microsoft.com/office/drawing/2014/main" val="10002"/>
                  </a:ext>
                </a:extLst>
              </a:tr>
              <a:tr h="370840">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zh-TW" altLang="en-US" dirty="0"/>
                        <a:t>欄總合</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125</a:t>
                      </a:r>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75</a:t>
                      </a:r>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200</a:t>
                      </a:r>
                      <a:endParaRPr lang="zh-TW"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48312">
                        <a:tint val="40000"/>
                      </a:srgbClr>
                    </a:solidFill>
                  </a:tcPr>
                </a:tc>
                <a:extLst>
                  <a:ext uri="{0D108BD9-81ED-4DB2-BD59-A6C34878D82A}">
                    <a16:rowId xmlns:a16="http://schemas.microsoft.com/office/drawing/2014/main" val="10003"/>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2700891762"/>
              </p:ext>
            </p:extLst>
          </p:nvPr>
        </p:nvGraphicFramePr>
        <p:xfrm>
          <a:off x="1547664" y="3933056"/>
          <a:ext cx="6096000" cy="1555368"/>
        </p:xfrm>
        <a:graphic>
          <a:graphicData uri="http://schemas.openxmlformats.org/drawingml/2006/table">
            <a:tbl>
              <a:tblPr firstRow="1" bandRow="1"/>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442848">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r>
                        <a:rPr lang="zh-TW" altLang="en-US" dirty="0">
                          <a:solidFill>
                            <a:schemeClr val="bg1"/>
                          </a:solidFill>
                        </a:rPr>
                        <a:t>期望值</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BD582C"/>
                    </a:solidFill>
                  </a:tcPr>
                </a:tc>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r>
                        <a:rPr lang="zh-TW" altLang="en-US" dirty="0"/>
                        <a:t>喜歡新制</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BD582C"/>
                    </a:solidFill>
                  </a:tcPr>
                </a:tc>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r>
                        <a:rPr lang="zh-TW" altLang="en-US" dirty="0"/>
                        <a:t>喜歡舊制</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BD582C"/>
                    </a:solidFill>
                  </a:tcPr>
                </a:tc>
                <a:tc>
                  <a:txBody>
                    <a:bodyPr/>
                    <a:lstStyle>
                      <a:lvl1pPr marL="0" algn="l" rtl="0" eaLnBrk="1" latinLnBrk="0" hangingPunct="1">
                        <a:defRPr kumimoji="0" b="1" kern="1200">
                          <a:solidFill>
                            <a:schemeClr val="lt1"/>
                          </a:solidFill>
                          <a:latin typeface="Calibri" panose="020F0502020204030204"/>
                        </a:defRPr>
                      </a:lvl1pPr>
                      <a:lvl2pPr marL="457200" algn="l" rtl="0" eaLnBrk="1" latinLnBrk="0" hangingPunct="1">
                        <a:defRPr kumimoji="0" b="1" kern="1200">
                          <a:solidFill>
                            <a:schemeClr val="lt1"/>
                          </a:solidFill>
                          <a:latin typeface="Calibri" panose="020F0502020204030204"/>
                        </a:defRPr>
                      </a:lvl2pPr>
                      <a:lvl3pPr marL="914400" algn="l" rtl="0" eaLnBrk="1" latinLnBrk="0" hangingPunct="1">
                        <a:defRPr kumimoji="0" b="1" kern="1200">
                          <a:solidFill>
                            <a:schemeClr val="lt1"/>
                          </a:solidFill>
                          <a:latin typeface="Calibri" panose="020F0502020204030204"/>
                        </a:defRPr>
                      </a:lvl3pPr>
                      <a:lvl4pPr marL="1371600" algn="l" rtl="0" eaLnBrk="1" latinLnBrk="0" hangingPunct="1">
                        <a:defRPr kumimoji="0" b="1" kern="1200">
                          <a:solidFill>
                            <a:schemeClr val="lt1"/>
                          </a:solidFill>
                          <a:latin typeface="Calibri" panose="020F0502020204030204"/>
                        </a:defRPr>
                      </a:lvl4pPr>
                      <a:lvl5pPr marL="1828800" algn="l" rtl="0" eaLnBrk="1" latinLnBrk="0" hangingPunct="1">
                        <a:defRPr kumimoji="0" b="1" kern="1200">
                          <a:solidFill>
                            <a:schemeClr val="lt1"/>
                          </a:solidFill>
                          <a:latin typeface="Calibri" panose="020F0502020204030204"/>
                        </a:defRPr>
                      </a:lvl5pPr>
                      <a:lvl6pPr marL="2286000" algn="l" rtl="0" eaLnBrk="1" latinLnBrk="0" hangingPunct="1">
                        <a:defRPr kumimoji="0" b="1" kern="1200">
                          <a:solidFill>
                            <a:schemeClr val="lt1"/>
                          </a:solidFill>
                          <a:latin typeface="Calibri" panose="020F0502020204030204"/>
                        </a:defRPr>
                      </a:lvl6pPr>
                      <a:lvl7pPr marL="2743200" algn="l" rtl="0" eaLnBrk="1" latinLnBrk="0" hangingPunct="1">
                        <a:defRPr kumimoji="0" b="1" kern="1200">
                          <a:solidFill>
                            <a:schemeClr val="lt1"/>
                          </a:solidFill>
                          <a:latin typeface="Calibri" panose="020F0502020204030204"/>
                        </a:defRPr>
                      </a:lvl7pPr>
                      <a:lvl8pPr marL="3200400" algn="l" rtl="0" eaLnBrk="1" latinLnBrk="0" hangingPunct="1">
                        <a:defRPr kumimoji="0" b="1" kern="1200">
                          <a:solidFill>
                            <a:schemeClr val="lt1"/>
                          </a:solidFill>
                          <a:latin typeface="Calibri" panose="020F0502020204030204"/>
                        </a:defRPr>
                      </a:lvl8pPr>
                      <a:lvl9pPr marL="3657600" algn="l" rtl="0" eaLnBrk="1" latinLnBrk="0" hangingPunct="1">
                        <a:defRPr kumimoji="0" b="1" kern="1200">
                          <a:solidFill>
                            <a:schemeClr val="lt1"/>
                          </a:solidFill>
                          <a:latin typeface="Calibri" panose="020F0502020204030204"/>
                        </a:defRPr>
                      </a:lvl9pPr>
                    </a:lstStyle>
                    <a:p>
                      <a:r>
                        <a:rPr lang="zh-TW" altLang="en-US" dirty="0"/>
                        <a:t>列總合</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BD582C"/>
                    </a:solidFill>
                  </a:tcPr>
                </a:tc>
                <a:extLst>
                  <a:ext uri="{0D108BD9-81ED-4DB2-BD59-A6C34878D82A}">
                    <a16:rowId xmlns:a16="http://schemas.microsoft.com/office/drawing/2014/main" val="10000"/>
                  </a:ext>
                </a:extLst>
              </a:tr>
              <a:tr h="370840">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zh-TW" altLang="en-US" dirty="0">
                          <a:solidFill>
                            <a:schemeClr val="bg1"/>
                          </a:solidFill>
                        </a:rPr>
                        <a:t>主管</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62.5</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37.5</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100</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40000"/>
                      </a:srgbClr>
                    </a:solidFill>
                  </a:tcPr>
                </a:tc>
                <a:extLst>
                  <a:ext uri="{0D108BD9-81ED-4DB2-BD59-A6C34878D82A}">
                    <a16:rowId xmlns:a16="http://schemas.microsoft.com/office/drawing/2014/main" val="10001"/>
                  </a:ext>
                </a:extLst>
              </a:tr>
              <a:tr h="370840">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zh-TW" altLang="en-US" dirty="0">
                          <a:solidFill>
                            <a:schemeClr val="bg1"/>
                          </a:solidFill>
                        </a:rPr>
                        <a:t>非主管</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2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62.5</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2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37.5</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2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100</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20000"/>
                      </a:srgbClr>
                    </a:solidFill>
                  </a:tcPr>
                </a:tc>
                <a:extLst>
                  <a:ext uri="{0D108BD9-81ED-4DB2-BD59-A6C34878D82A}">
                    <a16:rowId xmlns:a16="http://schemas.microsoft.com/office/drawing/2014/main" val="10002"/>
                  </a:ext>
                </a:extLst>
              </a:tr>
              <a:tr h="370840">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zh-TW" altLang="en-US" dirty="0"/>
                        <a:t>欄總合</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125</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75</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40000"/>
                      </a:srgbClr>
                    </a:solidFill>
                  </a:tcPr>
                </a:tc>
                <a:tc>
                  <a:txBody>
                    <a:bodyPr/>
                    <a:lstStyle>
                      <a:lvl1pPr marL="0" algn="l" rtl="0" eaLnBrk="1" latinLnBrk="0" hangingPunct="1">
                        <a:defRPr kumimoji="0" kern="1200">
                          <a:solidFill>
                            <a:schemeClr val="dk1"/>
                          </a:solidFill>
                          <a:latin typeface="Calibri" panose="020F0502020204030204"/>
                        </a:defRPr>
                      </a:lvl1pPr>
                      <a:lvl2pPr marL="457200" algn="l" rtl="0" eaLnBrk="1" latinLnBrk="0" hangingPunct="1">
                        <a:defRPr kumimoji="0" kern="1200">
                          <a:solidFill>
                            <a:schemeClr val="dk1"/>
                          </a:solidFill>
                          <a:latin typeface="Calibri" panose="020F0502020204030204"/>
                        </a:defRPr>
                      </a:lvl2pPr>
                      <a:lvl3pPr marL="914400" algn="l" rtl="0" eaLnBrk="1" latinLnBrk="0" hangingPunct="1">
                        <a:defRPr kumimoji="0" kern="1200">
                          <a:solidFill>
                            <a:schemeClr val="dk1"/>
                          </a:solidFill>
                          <a:latin typeface="Calibri" panose="020F0502020204030204"/>
                        </a:defRPr>
                      </a:lvl3pPr>
                      <a:lvl4pPr marL="1371600" algn="l" rtl="0" eaLnBrk="1" latinLnBrk="0" hangingPunct="1">
                        <a:defRPr kumimoji="0" kern="1200">
                          <a:solidFill>
                            <a:schemeClr val="dk1"/>
                          </a:solidFill>
                          <a:latin typeface="Calibri" panose="020F0502020204030204"/>
                        </a:defRPr>
                      </a:lvl4pPr>
                      <a:lvl5pPr marL="1828800" algn="l" rtl="0" eaLnBrk="1" latinLnBrk="0" hangingPunct="1">
                        <a:defRPr kumimoji="0" kern="1200">
                          <a:solidFill>
                            <a:schemeClr val="dk1"/>
                          </a:solidFill>
                          <a:latin typeface="Calibri" panose="020F0502020204030204"/>
                        </a:defRPr>
                      </a:lvl5pPr>
                      <a:lvl6pPr marL="2286000" algn="l" rtl="0" eaLnBrk="1" latinLnBrk="0" hangingPunct="1">
                        <a:defRPr kumimoji="0" kern="1200">
                          <a:solidFill>
                            <a:schemeClr val="dk1"/>
                          </a:solidFill>
                          <a:latin typeface="Calibri" panose="020F0502020204030204"/>
                        </a:defRPr>
                      </a:lvl6pPr>
                      <a:lvl7pPr marL="2743200" algn="l" rtl="0" eaLnBrk="1" latinLnBrk="0" hangingPunct="1">
                        <a:defRPr kumimoji="0" kern="1200">
                          <a:solidFill>
                            <a:schemeClr val="dk1"/>
                          </a:solidFill>
                          <a:latin typeface="Calibri" panose="020F0502020204030204"/>
                        </a:defRPr>
                      </a:lvl7pPr>
                      <a:lvl8pPr marL="3200400" algn="l" rtl="0" eaLnBrk="1" latinLnBrk="0" hangingPunct="1">
                        <a:defRPr kumimoji="0" kern="1200">
                          <a:solidFill>
                            <a:schemeClr val="dk1"/>
                          </a:solidFill>
                          <a:latin typeface="Calibri" panose="020F0502020204030204"/>
                        </a:defRPr>
                      </a:lvl8pPr>
                      <a:lvl9pPr marL="3657600" algn="l" rtl="0" eaLnBrk="1" latinLnBrk="0" hangingPunct="1">
                        <a:defRPr kumimoji="0" kern="1200">
                          <a:solidFill>
                            <a:schemeClr val="dk1"/>
                          </a:solidFill>
                          <a:latin typeface="Calibri" panose="020F0502020204030204"/>
                        </a:defRPr>
                      </a:lvl9pPr>
                    </a:lstStyle>
                    <a:p>
                      <a:r>
                        <a:rPr lang="en-US" altLang="zh-TW" dirty="0"/>
                        <a:t>200</a:t>
                      </a:r>
                      <a:endParaRPr lang="zh-TW" altLang="en-US"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BD582C">
                        <a:tint val="40000"/>
                      </a:srgb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46385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64686" y="692696"/>
            <a:ext cx="8208911" cy="1049235"/>
          </a:xfrm>
        </p:spPr>
        <p:txBody>
          <a:bodyPr>
            <a:normAutofit/>
          </a:bodyPr>
          <a:lstStyle/>
          <a:p>
            <a:r>
              <a:rPr lang="zh-TW" altLang="zh-TW" dirty="0">
                <a:effectLst/>
              </a:rPr>
              <a:t>獨立性檢定（</a:t>
            </a:r>
            <a:r>
              <a:rPr lang="en-US" altLang="zh-TW" dirty="0">
                <a:effectLst/>
              </a:rPr>
              <a:t>Test of independence</a:t>
            </a:r>
            <a:r>
              <a:rPr lang="zh-TW" altLang="zh-TW" dirty="0">
                <a:effectLst/>
              </a:rPr>
              <a:t>）</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p:txBody>
              <a:bodyPr/>
              <a:lstStyle/>
              <a:p>
                <a:pPr>
                  <a:lnSpc>
                    <a:spcPct val="150000"/>
                  </a:lnSpc>
                </a:pPr>
                <a:r>
                  <a:rPr lang="zh-TW" altLang="zh-TW" dirty="0"/>
                  <a:t>直覺上，若兩變數是獨立時，其觀察次數和期望個數應相差無幾，這會使得卡方檢定值很小。反之，若卡方檢定值很大，則代表兩變數間有相關。所以在顯著水準為</a:t>
                </a:r>
                <a:r>
                  <a:rPr lang="en-US" altLang="zh-TW" dirty="0"/>
                  <a:t> α </a:t>
                </a:r>
                <a:r>
                  <a:rPr lang="zh-TW" altLang="zh-TW" dirty="0"/>
                  <a:t>下，如果卡方檢定統計值大於卡方分佈右尾機率</a:t>
                </a:r>
                <a:r>
                  <a:rPr lang="en-US" altLang="zh-TW" dirty="0"/>
                  <a:t>α</a:t>
                </a:r>
                <a:r>
                  <a:rPr lang="zh-TW" altLang="zh-TW" dirty="0"/>
                  <a:t>的百分位 </a:t>
                </a:r>
                <a14:m>
                  <m:oMath xmlns:m="http://schemas.openxmlformats.org/officeDocument/2006/math">
                    <m:sSubSup>
                      <m:sSubSupPr>
                        <m:ctrlPr>
                          <a:rPr lang="zh-TW" altLang="zh-TW" i="1">
                            <a:latin typeface="Cambria Math" panose="02040503050406030204" pitchFamily="18" charset="0"/>
                          </a:rPr>
                        </m:ctrlPr>
                      </m:sSubSupPr>
                      <m:e>
                        <m:r>
                          <m:rPr>
                            <m:sty m:val="p"/>
                          </m:rPr>
                          <a:rPr lang="en-US" altLang="zh-TW">
                            <a:latin typeface="Cambria Math" panose="02040503050406030204" pitchFamily="18" charset="0"/>
                          </a:rPr>
                          <m:t>χ</m:t>
                        </m:r>
                      </m:e>
                      <m:sub>
                        <m:r>
                          <m:rPr>
                            <m:sty m:val="p"/>
                          </m:rPr>
                          <a:rPr lang="en-US" altLang="zh-TW">
                            <a:latin typeface="Cambria Math" panose="02040503050406030204" pitchFamily="18" charset="0"/>
                          </a:rPr>
                          <m:t>α</m:t>
                        </m:r>
                        <m:r>
                          <a:rPr lang="zh-TW" altLang="zh-TW">
                            <a:latin typeface="Cambria Math" panose="02040503050406030204" pitchFamily="18" charset="0"/>
                          </a:rPr>
                          <m:t>；</m:t>
                        </m:r>
                        <m:d>
                          <m:dPr>
                            <m:ctrlPr>
                              <a:rPr lang="zh-TW" altLang="zh-TW" i="1">
                                <a:latin typeface="Cambria Math" panose="02040503050406030204" pitchFamily="18" charset="0"/>
                              </a:rPr>
                            </m:ctrlPr>
                          </m:dPr>
                          <m:e>
                            <m:r>
                              <m:rPr>
                                <m:sty m:val="p"/>
                              </m:rPr>
                              <a:rPr lang="en-US" altLang="zh-TW">
                                <a:latin typeface="Cambria Math" panose="02040503050406030204" pitchFamily="18" charset="0"/>
                              </a:rPr>
                              <m:t>r</m:t>
                            </m:r>
                            <m:r>
                              <a:rPr lang="en-US" altLang="zh-TW" i="1">
                                <a:latin typeface="Cambria Math" panose="02040503050406030204" pitchFamily="18" charset="0"/>
                              </a:rPr>
                              <m:t>−</m:t>
                            </m:r>
                            <m:r>
                              <a:rPr lang="en-US" altLang="zh-TW">
                                <a:latin typeface="Cambria Math" panose="02040503050406030204" pitchFamily="18" charset="0"/>
                              </a:rPr>
                              <m:t>1</m:t>
                            </m:r>
                          </m:e>
                        </m:d>
                        <m:r>
                          <a:rPr lang="en-US" altLang="zh-TW">
                            <a:latin typeface="Cambria Math" panose="02040503050406030204" pitchFamily="18" charset="0"/>
                          </a:rPr>
                          <m:t>(</m:t>
                        </m:r>
                        <m:r>
                          <m:rPr>
                            <m:sty m:val="p"/>
                          </m:rPr>
                          <a:rPr lang="en-US" altLang="zh-TW">
                            <a:latin typeface="Cambria Math" panose="02040503050406030204" pitchFamily="18" charset="0"/>
                          </a:rPr>
                          <m:t>c</m:t>
                        </m:r>
                        <m:r>
                          <a:rPr lang="en-US" altLang="zh-TW" i="1">
                            <a:latin typeface="Cambria Math" panose="02040503050406030204" pitchFamily="18" charset="0"/>
                          </a:rPr>
                          <m:t>−</m:t>
                        </m:r>
                        <m:r>
                          <a:rPr lang="en-US" altLang="zh-TW">
                            <a:latin typeface="Cambria Math" panose="02040503050406030204" pitchFamily="18" charset="0"/>
                          </a:rPr>
                          <m:t>1)</m:t>
                        </m:r>
                      </m:sub>
                      <m:sup>
                        <m:r>
                          <a:rPr lang="en-US" altLang="zh-TW">
                            <a:latin typeface="Cambria Math" panose="02040503050406030204" pitchFamily="18" charset="0"/>
                          </a:rPr>
                          <m:t>2</m:t>
                        </m:r>
                      </m:sup>
                    </m:sSubSup>
                  </m:oMath>
                </a14:m>
                <a:r>
                  <a:rPr lang="zh-TW" altLang="zh-TW" dirty="0"/>
                  <a:t>或</a:t>
                </a:r>
                <a:r>
                  <a:rPr lang="en-US" altLang="zh-TW" dirty="0"/>
                  <a:t> p</a:t>
                </a:r>
                <a:r>
                  <a:rPr lang="zh-TW" altLang="zh-TW" dirty="0"/>
                  <a:t>值</a:t>
                </a:r>
                <a:r>
                  <a:rPr lang="en-US" altLang="zh-TW" dirty="0"/>
                  <a:t>&lt;α</a:t>
                </a:r>
                <a:r>
                  <a:rPr lang="zh-TW" altLang="zh-TW" dirty="0"/>
                  <a:t>， 則拒絕虛無假設。</a:t>
                </a:r>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blipFill rotWithShape="0">
                <a:blip r:embed="rId2"/>
                <a:stretch>
                  <a:fillRect r="-88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01262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404664"/>
            <a:ext cx="8229600" cy="1143000"/>
          </a:xfrm>
        </p:spPr>
        <p:txBody>
          <a:bodyPr>
            <a:noAutofit/>
          </a:bodyPr>
          <a:lstStyle/>
          <a:p>
            <a:r>
              <a:rPr lang="zh-TW" altLang="zh-TW" sz="2800" dirty="0">
                <a:effectLst/>
              </a:rPr>
              <a:t>新生兒持續性肺動脈高壓（</a:t>
            </a:r>
            <a:r>
              <a:rPr lang="en-US" altLang="zh-TW" sz="2800" dirty="0">
                <a:effectLst/>
              </a:rPr>
              <a:t>persistent pulmonary hypertension of newborn</a:t>
            </a:r>
            <a:r>
              <a:rPr lang="zh-TW" altLang="zh-TW" sz="2800" dirty="0">
                <a:effectLst/>
              </a:rPr>
              <a:t>，</a:t>
            </a:r>
            <a:r>
              <a:rPr lang="en-US" altLang="zh-TW" sz="2800" dirty="0">
                <a:effectLst/>
              </a:rPr>
              <a:t>PPHN</a:t>
            </a:r>
            <a:r>
              <a:rPr lang="zh-TW" altLang="zh-TW" sz="2800" dirty="0">
                <a:effectLst/>
              </a:rPr>
              <a:t>）之相關研究。</a:t>
            </a:r>
            <a:endParaRPr lang="zh-TW" altLang="en-US" sz="2800" dirty="0"/>
          </a:p>
        </p:txBody>
      </p:sp>
      <p:sp>
        <p:nvSpPr>
          <p:cNvPr id="2" name="內容版面配置區 1"/>
          <p:cNvSpPr>
            <a:spLocks noGrp="1"/>
          </p:cNvSpPr>
          <p:nvPr>
            <p:ph idx="1"/>
          </p:nvPr>
        </p:nvSpPr>
        <p:spPr>
          <a:xfrm>
            <a:off x="457200" y="1628800"/>
            <a:ext cx="8229600" cy="4378491"/>
          </a:xfrm>
        </p:spPr>
        <p:txBody>
          <a:bodyPr>
            <a:normAutofit lnSpcReduction="10000"/>
          </a:bodyPr>
          <a:lstStyle/>
          <a:p>
            <a:pPr marL="109728" indent="0">
              <a:lnSpc>
                <a:spcPct val="120000"/>
              </a:lnSpc>
              <a:buNone/>
            </a:pPr>
            <a:r>
              <a:rPr lang="zh-TW" altLang="zh-TW" sz="2400" dirty="0"/>
              <a:t>本例中的檢定假設為</a:t>
            </a:r>
            <a:r>
              <a:rPr lang="en-US" altLang="zh-TW" sz="2400" dirty="0"/>
              <a:t>:</a:t>
            </a:r>
            <a:endParaRPr lang="zh-TW" altLang="zh-TW" sz="2400" dirty="0"/>
          </a:p>
          <a:p>
            <a:pPr marL="109728" indent="0">
              <a:lnSpc>
                <a:spcPct val="120000"/>
              </a:lnSpc>
              <a:buNone/>
            </a:pPr>
            <a:r>
              <a:rPr lang="zh-TW" altLang="zh-TW" sz="2400" dirty="0">
                <a:solidFill>
                  <a:schemeClr val="accent2">
                    <a:lumMod val="75000"/>
                  </a:schemeClr>
                </a:solidFill>
              </a:rPr>
              <a:t>虛無假設</a:t>
            </a:r>
            <a:r>
              <a:rPr lang="en-US" altLang="zh-TW" sz="2400" dirty="0">
                <a:solidFill>
                  <a:schemeClr val="accent2">
                    <a:lumMod val="75000"/>
                  </a:schemeClr>
                </a:solidFill>
              </a:rPr>
              <a:t>(H</a:t>
            </a:r>
            <a:r>
              <a:rPr lang="en-US" altLang="zh-TW" sz="2400" baseline="-25000" dirty="0">
                <a:solidFill>
                  <a:schemeClr val="accent2">
                    <a:lumMod val="75000"/>
                  </a:schemeClr>
                </a:solidFill>
              </a:rPr>
              <a:t>0</a:t>
            </a:r>
            <a:r>
              <a:rPr lang="en-US" altLang="zh-TW" sz="2400" dirty="0">
                <a:solidFill>
                  <a:schemeClr val="accent2">
                    <a:lumMod val="75000"/>
                  </a:schemeClr>
                </a:solidFill>
              </a:rPr>
              <a:t>):</a:t>
            </a:r>
            <a:r>
              <a:rPr lang="zh-TW" altLang="zh-TW" sz="2400" dirty="0">
                <a:solidFill>
                  <a:schemeClr val="accent2">
                    <a:lumMod val="75000"/>
                  </a:schemeClr>
                </a:solidFill>
              </a:rPr>
              <a:t> </a:t>
            </a:r>
            <a:r>
              <a:rPr lang="en-US" altLang="zh-TW" sz="2400" dirty="0">
                <a:solidFill>
                  <a:schemeClr val="accent2">
                    <a:lumMod val="75000"/>
                  </a:schemeClr>
                </a:solidFill>
              </a:rPr>
              <a:t>PPHN</a:t>
            </a:r>
            <a:r>
              <a:rPr lang="zh-TW" altLang="zh-TW" sz="2400" dirty="0">
                <a:solidFill>
                  <a:schemeClr val="accent2">
                    <a:lumMod val="75000"/>
                  </a:schemeClr>
                </a:solidFill>
              </a:rPr>
              <a:t>新生兒死亡與懷孕周數小於</a:t>
            </a:r>
            <a:r>
              <a:rPr lang="en-US" altLang="zh-TW" sz="2400" dirty="0">
                <a:solidFill>
                  <a:schemeClr val="accent2">
                    <a:lumMod val="75000"/>
                  </a:schemeClr>
                </a:solidFill>
              </a:rPr>
              <a:t>34</a:t>
            </a:r>
            <a:r>
              <a:rPr lang="zh-TW" altLang="zh-TW" sz="2400" dirty="0">
                <a:solidFill>
                  <a:schemeClr val="accent2">
                    <a:lumMod val="75000"/>
                  </a:schemeClr>
                </a:solidFill>
              </a:rPr>
              <a:t>周無關</a:t>
            </a:r>
          </a:p>
          <a:p>
            <a:pPr marL="109728" indent="0">
              <a:lnSpc>
                <a:spcPct val="120000"/>
              </a:lnSpc>
              <a:buNone/>
            </a:pPr>
            <a:r>
              <a:rPr lang="zh-TW" altLang="zh-TW" sz="2400" dirty="0">
                <a:solidFill>
                  <a:schemeClr val="accent2">
                    <a:lumMod val="75000"/>
                  </a:schemeClr>
                </a:solidFill>
              </a:rPr>
              <a:t>對立假設</a:t>
            </a:r>
            <a:r>
              <a:rPr lang="en-US" altLang="zh-TW" sz="2400" dirty="0">
                <a:solidFill>
                  <a:schemeClr val="accent2">
                    <a:lumMod val="75000"/>
                  </a:schemeClr>
                </a:solidFill>
              </a:rPr>
              <a:t>(H</a:t>
            </a:r>
            <a:r>
              <a:rPr lang="en-US" altLang="zh-TW" sz="2400" baseline="-25000" dirty="0">
                <a:solidFill>
                  <a:schemeClr val="accent2">
                    <a:lumMod val="75000"/>
                  </a:schemeClr>
                </a:solidFill>
              </a:rPr>
              <a:t>a</a:t>
            </a:r>
            <a:r>
              <a:rPr lang="en-US" altLang="zh-TW" sz="2400" dirty="0">
                <a:solidFill>
                  <a:schemeClr val="accent2">
                    <a:lumMod val="75000"/>
                  </a:schemeClr>
                </a:solidFill>
              </a:rPr>
              <a:t>): PPHN</a:t>
            </a:r>
            <a:r>
              <a:rPr lang="zh-TW" altLang="zh-TW" sz="2400" dirty="0">
                <a:solidFill>
                  <a:schemeClr val="accent2">
                    <a:lumMod val="75000"/>
                  </a:schemeClr>
                </a:solidFill>
              </a:rPr>
              <a:t>新生兒死亡與懷孕周數小於</a:t>
            </a:r>
            <a:r>
              <a:rPr lang="en-US" altLang="zh-TW" sz="2400" dirty="0">
                <a:solidFill>
                  <a:schemeClr val="accent2">
                    <a:lumMod val="75000"/>
                  </a:schemeClr>
                </a:solidFill>
              </a:rPr>
              <a:t>34</a:t>
            </a:r>
            <a:r>
              <a:rPr lang="zh-TW" altLang="zh-TW" sz="2400" dirty="0">
                <a:solidFill>
                  <a:schemeClr val="accent2">
                    <a:lumMod val="75000"/>
                  </a:schemeClr>
                </a:solidFill>
              </a:rPr>
              <a:t>周有關</a:t>
            </a:r>
          </a:p>
          <a:p>
            <a:pPr>
              <a:lnSpc>
                <a:spcPct val="120000"/>
              </a:lnSpc>
            </a:pPr>
            <a:r>
              <a:rPr lang="zh-TW" altLang="zh-TW" sz="2400" dirty="0"/>
              <a:t>在表</a:t>
            </a:r>
            <a:r>
              <a:rPr lang="en-US" altLang="zh-TW" sz="2400" dirty="0"/>
              <a:t>6-1.</a:t>
            </a:r>
            <a:r>
              <a:rPr lang="zh-TW" altLang="zh-TW" sz="2400" dirty="0"/>
              <a:t>可得到此筆資料關於兩變數的列聯表，每格子的數字依序為觀測次數、總百分比、列百分比及行百分比，可藉由列聯表觀察資料的分佈情形，直觀上，兩行的行百分比及兩列的列百分比分佈有些許差異，然而我們無法直接判斷這樣的分佈差異是否有達到統計上顯著水準，需透過卡方檢定方式得到結論。</a:t>
            </a:r>
            <a:endParaRPr lang="zh-TW" altLang="en-US" sz="2400" dirty="0"/>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10</a:t>
            </a:fld>
            <a:endParaRPr lang="zh-TW" altLang="en-US"/>
          </a:p>
        </p:txBody>
      </p:sp>
    </p:spTree>
    <p:extLst>
      <p:ext uri="{BB962C8B-B14F-4D97-AF65-F5344CB8AC3E}">
        <p14:creationId xmlns:p14="http://schemas.microsoft.com/office/powerpoint/2010/main" val="1383329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46347" y="0"/>
            <a:ext cx="6251303" cy="1056319"/>
          </a:xfrm>
        </p:spPr>
        <p:txBody>
          <a:bodyPr/>
          <a:lstStyle/>
          <a:p>
            <a:r>
              <a:rPr lang="zh-TW" altLang="en-US" dirty="0"/>
              <a:t>表</a:t>
            </a:r>
            <a:r>
              <a:rPr lang="en-US" altLang="zh-TW" dirty="0"/>
              <a:t>6-1.</a:t>
            </a:r>
            <a:r>
              <a:rPr lang="zh-TW" altLang="en-US" dirty="0"/>
              <a:t>及表</a:t>
            </a:r>
            <a:r>
              <a:rPr lang="en-US" altLang="zh-TW" dirty="0"/>
              <a:t>6-2.</a:t>
            </a:r>
            <a:endParaRPr lang="zh-TW" altLang="en-US" dirty="0"/>
          </a:p>
        </p:txBody>
      </p:sp>
      <p:graphicFrame>
        <p:nvGraphicFramePr>
          <p:cNvPr id="8" name="內容版面配置區 7"/>
          <p:cNvGraphicFramePr>
            <a:graphicFrameLocks noGrp="1"/>
          </p:cNvGraphicFramePr>
          <p:nvPr>
            <p:ph sz="half" idx="2"/>
            <p:extLst>
              <p:ext uri="{D42A27DB-BD31-4B8C-83A1-F6EECF244321}">
                <p14:modId xmlns:p14="http://schemas.microsoft.com/office/powerpoint/2010/main" val="1976946045"/>
              </p:ext>
            </p:extLst>
          </p:nvPr>
        </p:nvGraphicFramePr>
        <p:xfrm>
          <a:off x="160743" y="1800137"/>
          <a:ext cx="4132081" cy="4189994"/>
        </p:xfrm>
        <a:graphic>
          <a:graphicData uri="http://schemas.openxmlformats.org/drawingml/2006/table">
            <a:tbl>
              <a:tblPr firstRow="1" firstCol="1" bandRow="1">
                <a:tableStyleId>{5C22544A-7EE6-4342-B048-85BDC9FD1C3A}</a:tableStyleId>
              </a:tblPr>
              <a:tblGrid>
                <a:gridCol w="84226">
                  <a:extLst>
                    <a:ext uri="{9D8B030D-6E8A-4147-A177-3AD203B41FA5}">
                      <a16:colId xmlns:a16="http://schemas.microsoft.com/office/drawing/2014/main" val="20000"/>
                    </a:ext>
                  </a:extLst>
                </a:gridCol>
                <a:gridCol w="1568607">
                  <a:extLst>
                    <a:ext uri="{9D8B030D-6E8A-4147-A177-3AD203B41FA5}">
                      <a16:colId xmlns:a16="http://schemas.microsoft.com/office/drawing/2014/main" val="20001"/>
                    </a:ext>
                  </a:extLst>
                </a:gridCol>
                <a:gridCol w="826416">
                  <a:extLst>
                    <a:ext uri="{9D8B030D-6E8A-4147-A177-3AD203B41FA5}">
                      <a16:colId xmlns:a16="http://schemas.microsoft.com/office/drawing/2014/main" val="20002"/>
                    </a:ext>
                  </a:extLst>
                </a:gridCol>
                <a:gridCol w="826416">
                  <a:extLst>
                    <a:ext uri="{9D8B030D-6E8A-4147-A177-3AD203B41FA5}">
                      <a16:colId xmlns:a16="http://schemas.microsoft.com/office/drawing/2014/main" val="20003"/>
                    </a:ext>
                  </a:extLst>
                </a:gridCol>
                <a:gridCol w="826416">
                  <a:extLst>
                    <a:ext uri="{9D8B030D-6E8A-4147-A177-3AD203B41FA5}">
                      <a16:colId xmlns:a16="http://schemas.microsoft.com/office/drawing/2014/main" val="20004"/>
                    </a:ext>
                  </a:extLst>
                </a:gridCol>
              </a:tblGrid>
              <a:tr h="477825">
                <a:tc rowSpan="2" gridSpan="2">
                  <a:txBody>
                    <a:bodyPr/>
                    <a:lstStyle/>
                    <a:p>
                      <a:pPr algn="ctr"/>
                      <a:r>
                        <a:rPr lang="zh-TW" altLang="en-US" sz="1800" kern="100" dirty="0">
                          <a:effectLst/>
                          <a:latin typeface="Calibri" panose="020F0502020204030204" pitchFamily="34" charset="0"/>
                        </a:rPr>
                        <a:t>個數</a:t>
                      </a:r>
                      <a:endParaRPr lang="en-US" altLang="zh-TW" sz="1800" kern="100" dirty="0">
                        <a:effectLst/>
                        <a:latin typeface="Calibri" panose="020F0502020204030204" pitchFamily="34"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1800" kern="100" dirty="0">
                          <a:effectLst/>
                          <a:latin typeface="Calibri" panose="020F0502020204030204" pitchFamily="34" charset="0"/>
                        </a:rPr>
                        <a:t>聯合百分比</a:t>
                      </a:r>
                      <a:endParaRPr lang="en-US" altLang="zh-TW" sz="1800" kern="100" dirty="0">
                        <a:effectLst/>
                        <a:latin typeface="Calibri" panose="020F0502020204030204" pitchFamily="34" charset="0"/>
                      </a:endParaRPr>
                    </a:p>
                    <a:p>
                      <a:pPr algn="ctr"/>
                      <a:r>
                        <a:rPr lang="zh-TW" altLang="en-US" sz="1800" kern="100" dirty="0">
                          <a:effectLst/>
                          <a:latin typeface="Calibri" panose="020F0502020204030204" pitchFamily="34" charset="0"/>
                        </a:rPr>
                        <a:t>列百分比</a:t>
                      </a:r>
                      <a:endParaRPr lang="en-US" altLang="zh-TW" sz="1800" kern="100" dirty="0">
                        <a:effectLst/>
                        <a:latin typeface="Calibri" panose="020F0502020204030204" pitchFamily="34" charset="0"/>
                      </a:endParaRPr>
                    </a:p>
                    <a:p>
                      <a:pPr algn="ctr"/>
                      <a:r>
                        <a:rPr lang="zh-TW" altLang="en-US" sz="1800" kern="100" dirty="0">
                          <a:effectLst/>
                          <a:latin typeface="Calibri" panose="020F0502020204030204" pitchFamily="34" charset="0"/>
                        </a:rPr>
                        <a:t>行百分比</a:t>
                      </a:r>
                      <a:endParaRPr lang="zh-TW" sz="1800" kern="100" dirty="0">
                        <a:effectLst/>
                        <a:latin typeface="Calibri" panose="020F0502020204030204" pitchFamily="34" charset="0"/>
                      </a:endParaRPr>
                    </a:p>
                  </a:txBody>
                  <a:tcPr marL="23381" marR="23381" marT="23381" marB="23381" anchor="ctr"/>
                </a:tc>
                <a:tc rowSpan="2" hMerge="1">
                  <a:txBody>
                    <a:bodyPr/>
                    <a:lstStyle/>
                    <a:p>
                      <a:endParaRPr lang="zh-TW" altLang="en-US"/>
                    </a:p>
                  </a:txBody>
                  <a:tcPr/>
                </a:tc>
                <a:tc gridSpan="2">
                  <a:txBody>
                    <a:bodyPr/>
                    <a:lstStyle/>
                    <a:p>
                      <a:pPr algn="ctr">
                        <a:spcAft>
                          <a:spcPts val="0"/>
                        </a:spcAft>
                      </a:pPr>
                      <a:r>
                        <a:rPr lang="zh-TW" sz="1800" kern="0" dirty="0">
                          <a:effectLst/>
                        </a:rPr>
                        <a:t>懷孕周數</a:t>
                      </a:r>
                      <a:r>
                        <a:rPr lang="en-US" sz="1800" kern="0" dirty="0">
                          <a:effectLst/>
                        </a:rPr>
                        <a:t>≥34</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hMerge="1">
                  <a:txBody>
                    <a:bodyPr/>
                    <a:lstStyle/>
                    <a:p>
                      <a:endParaRPr lang="zh-TW" altLang="en-US"/>
                    </a:p>
                  </a:txBody>
                  <a:tcPr/>
                </a:tc>
                <a:tc rowSpan="2">
                  <a:txBody>
                    <a:bodyPr/>
                    <a:lstStyle/>
                    <a:p>
                      <a:pPr algn="ctr">
                        <a:spcAft>
                          <a:spcPts val="0"/>
                        </a:spcAft>
                      </a:pPr>
                      <a:r>
                        <a:rPr lang="zh-TW" sz="1800" kern="0">
                          <a:effectLst/>
                        </a:rPr>
                        <a:t>合計</a:t>
                      </a:r>
                      <a:r>
                        <a:rPr lang="en-US" sz="1800" kern="0">
                          <a:effectLst/>
                        </a:rPr>
                        <a:t/>
                      </a:r>
                      <a:br>
                        <a:rPr lang="en-US" sz="1800" kern="0">
                          <a:effectLst/>
                        </a:rPr>
                      </a:br>
                      <a:r>
                        <a:rPr lang="en-US" sz="1800" kern="0">
                          <a:effectLst/>
                        </a:rPr>
                        <a:t>Total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extLst>
                  <a:ext uri="{0D108BD9-81ED-4DB2-BD59-A6C34878D82A}">
                    <a16:rowId xmlns:a16="http://schemas.microsoft.com/office/drawing/2014/main" val="10000"/>
                  </a:ext>
                </a:extLst>
              </a:tr>
              <a:tr h="491935">
                <a:tc gridSpan="2" vMerge="1">
                  <a:txBody>
                    <a:bodyPr/>
                    <a:lstStyle/>
                    <a:p>
                      <a:endParaRPr lang="zh-TW" altLang="en-US"/>
                    </a:p>
                  </a:txBody>
                  <a:tcPr/>
                </a:tc>
                <a:tc hMerge="1" vMerge="1">
                  <a:txBody>
                    <a:bodyPr/>
                    <a:lstStyle/>
                    <a:p>
                      <a:endParaRPr lang="zh-TW" altLang="en-US"/>
                    </a:p>
                  </a:txBody>
                  <a:tcPr/>
                </a:tc>
                <a:tc>
                  <a:txBody>
                    <a:bodyPr/>
                    <a:lstStyle/>
                    <a:p>
                      <a:pPr algn="ctr">
                        <a:spcAft>
                          <a:spcPts val="0"/>
                        </a:spcAft>
                      </a:pPr>
                      <a:r>
                        <a:rPr lang="en-US" sz="1800" kern="0" dirty="0">
                          <a:effectLst/>
                        </a:rPr>
                        <a:t>0 </a:t>
                      </a:r>
                    </a:p>
                    <a:p>
                      <a:pPr algn="ctr">
                        <a:spcAft>
                          <a:spcPts val="0"/>
                        </a:spcAft>
                      </a:pPr>
                      <a:r>
                        <a:rPr lang="zh-TW" sz="1800" kern="0" dirty="0">
                          <a:effectLst/>
                        </a:rPr>
                        <a:t>（否）</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a:txBody>
                    <a:bodyPr/>
                    <a:lstStyle/>
                    <a:p>
                      <a:pPr algn="ctr">
                        <a:spcAft>
                          <a:spcPts val="0"/>
                        </a:spcAft>
                      </a:pPr>
                      <a:r>
                        <a:rPr lang="en-US" sz="1800" kern="0" dirty="0">
                          <a:effectLst/>
                        </a:rPr>
                        <a:t>1 </a:t>
                      </a:r>
                    </a:p>
                    <a:p>
                      <a:pPr algn="ctr">
                        <a:spcAft>
                          <a:spcPts val="0"/>
                        </a:spcAft>
                      </a:pPr>
                      <a:r>
                        <a:rPr lang="zh-TW" sz="1800" kern="0" dirty="0">
                          <a:effectLst/>
                        </a:rPr>
                        <a:t>（是）</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vMerge="1">
                  <a:txBody>
                    <a:bodyPr/>
                    <a:lstStyle/>
                    <a:p>
                      <a:endParaRPr lang="zh-TW" altLang="en-US"/>
                    </a:p>
                  </a:txBody>
                  <a:tcPr/>
                </a:tc>
                <a:extLst>
                  <a:ext uri="{0D108BD9-81ED-4DB2-BD59-A6C34878D82A}">
                    <a16:rowId xmlns:a16="http://schemas.microsoft.com/office/drawing/2014/main" val="10001"/>
                  </a:ext>
                </a:extLst>
              </a:tr>
              <a:tr h="1299864">
                <a:tc rowSpan="2">
                  <a:txBody>
                    <a:bodyPr/>
                    <a:lstStyle/>
                    <a:p>
                      <a:endParaRPr lang="zh-TW" sz="1400" kern="100" dirty="0">
                        <a:effectLst/>
                        <a:latin typeface="Calibri" panose="020F0502020204030204" pitchFamily="34" charset="0"/>
                      </a:endParaRPr>
                    </a:p>
                  </a:txBody>
                  <a:tcPr marL="23381" marR="23381" marT="23381" marB="23381" anchor="ctr"/>
                </a:tc>
                <a:tc>
                  <a:txBody>
                    <a:bodyPr/>
                    <a:lstStyle/>
                    <a:p>
                      <a:pPr algn="ctr">
                        <a:spcAft>
                          <a:spcPts val="0"/>
                        </a:spcAft>
                      </a:pPr>
                      <a:r>
                        <a:rPr lang="en-US" sz="1800" kern="0">
                          <a:effectLst/>
                        </a:rPr>
                        <a:t>0</a:t>
                      </a:r>
                      <a:r>
                        <a:rPr lang="zh-TW" sz="1800" kern="0">
                          <a:effectLst/>
                        </a:rPr>
                        <a:t>（存活）</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a:txBody>
                    <a:bodyPr/>
                    <a:lstStyle/>
                    <a:p>
                      <a:pPr algn="ctr">
                        <a:spcAft>
                          <a:spcPts val="0"/>
                        </a:spcAft>
                      </a:pPr>
                      <a:r>
                        <a:rPr lang="en-US" sz="1800" kern="0" dirty="0">
                          <a:effectLst/>
                        </a:rPr>
                        <a:t>26</a:t>
                      </a:r>
                      <a:endParaRPr lang="zh-TW" sz="1800" kern="100" dirty="0">
                        <a:effectLst/>
                      </a:endParaRPr>
                    </a:p>
                    <a:p>
                      <a:pPr algn="ctr">
                        <a:spcAft>
                          <a:spcPts val="0"/>
                        </a:spcAft>
                      </a:pPr>
                      <a:r>
                        <a:rPr lang="en-US" sz="1800" kern="0" dirty="0">
                          <a:effectLst/>
                        </a:rPr>
                        <a:t>19.85</a:t>
                      </a:r>
                      <a:br>
                        <a:rPr lang="en-US" sz="1800" kern="0" dirty="0">
                          <a:effectLst/>
                        </a:rPr>
                      </a:br>
                      <a:r>
                        <a:rPr lang="en-US" sz="1800" kern="0" dirty="0">
                          <a:effectLst/>
                        </a:rPr>
                        <a:t>23.21</a:t>
                      </a:r>
                      <a:br>
                        <a:rPr lang="en-US" sz="1800" kern="0" dirty="0">
                          <a:effectLst/>
                        </a:rPr>
                      </a:br>
                      <a:r>
                        <a:rPr lang="en-US" sz="1800" kern="0" dirty="0">
                          <a:effectLst/>
                        </a:rPr>
                        <a:t>81.25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a:txBody>
                    <a:bodyPr/>
                    <a:lstStyle/>
                    <a:p>
                      <a:pPr algn="ctr">
                        <a:spcAft>
                          <a:spcPts val="0"/>
                        </a:spcAft>
                      </a:pPr>
                      <a:r>
                        <a:rPr lang="en-US" sz="1800" kern="0" dirty="0">
                          <a:effectLst/>
                        </a:rPr>
                        <a:t>86</a:t>
                      </a:r>
                      <a:endParaRPr lang="zh-TW" sz="1800" kern="100" dirty="0">
                        <a:effectLst/>
                      </a:endParaRPr>
                    </a:p>
                    <a:p>
                      <a:pPr algn="ctr">
                        <a:spcAft>
                          <a:spcPts val="0"/>
                        </a:spcAft>
                      </a:pPr>
                      <a:r>
                        <a:rPr lang="en-US" sz="1800" kern="0" dirty="0">
                          <a:effectLst/>
                        </a:rPr>
                        <a:t>65.65</a:t>
                      </a:r>
                      <a:br>
                        <a:rPr lang="en-US" sz="1800" kern="0" dirty="0">
                          <a:effectLst/>
                        </a:rPr>
                      </a:br>
                      <a:r>
                        <a:rPr lang="en-US" sz="1800" kern="0" dirty="0">
                          <a:effectLst/>
                        </a:rPr>
                        <a:t>76.79</a:t>
                      </a:r>
                      <a:br>
                        <a:rPr lang="en-US" sz="1800" kern="0" dirty="0">
                          <a:effectLst/>
                        </a:rPr>
                      </a:br>
                      <a:r>
                        <a:rPr lang="en-US" sz="1800" kern="0" dirty="0">
                          <a:effectLst/>
                        </a:rPr>
                        <a:t>86.87</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a:txBody>
                    <a:bodyPr/>
                    <a:lstStyle/>
                    <a:p>
                      <a:pPr algn="ctr">
                        <a:spcAft>
                          <a:spcPts val="0"/>
                        </a:spcAft>
                      </a:pPr>
                      <a:r>
                        <a:rPr lang="en-US" sz="1800" kern="0" dirty="0">
                          <a:effectLst/>
                        </a:rPr>
                        <a:t>112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extLst>
                  <a:ext uri="{0D108BD9-81ED-4DB2-BD59-A6C34878D82A}">
                    <a16:rowId xmlns:a16="http://schemas.microsoft.com/office/drawing/2014/main" val="10002"/>
                  </a:ext>
                </a:extLst>
              </a:tr>
              <a:tr h="1299864">
                <a:tc vMerge="1">
                  <a:txBody>
                    <a:bodyPr/>
                    <a:lstStyle/>
                    <a:p>
                      <a:endParaRPr lang="zh-TW" altLang="en-US"/>
                    </a:p>
                  </a:txBody>
                  <a:tcPr/>
                </a:tc>
                <a:tc>
                  <a:txBody>
                    <a:bodyPr/>
                    <a:lstStyle/>
                    <a:p>
                      <a:pPr algn="ctr">
                        <a:spcAft>
                          <a:spcPts val="0"/>
                        </a:spcAft>
                      </a:pPr>
                      <a:r>
                        <a:rPr lang="en-US" sz="1800" kern="0" dirty="0">
                          <a:effectLst/>
                        </a:rPr>
                        <a:t>1</a:t>
                      </a:r>
                      <a:r>
                        <a:rPr lang="zh-TW" sz="1800" kern="0" dirty="0">
                          <a:effectLst/>
                        </a:rPr>
                        <a:t>（死亡）</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a:txBody>
                    <a:bodyPr/>
                    <a:lstStyle/>
                    <a:p>
                      <a:pPr algn="ctr">
                        <a:spcAft>
                          <a:spcPts val="0"/>
                        </a:spcAft>
                      </a:pPr>
                      <a:r>
                        <a:rPr lang="en-US" sz="1800" kern="0" dirty="0">
                          <a:effectLst/>
                        </a:rPr>
                        <a:t>6</a:t>
                      </a:r>
                      <a:endParaRPr lang="zh-TW" sz="1800" kern="100" dirty="0">
                        <a:effectLst/>
                      </a:endParaRPr>
                    </a:p>
                    <a:p>
                      <a:pPr algn="ctr">
                        <a:spcAft>
                          <a:spcPts val="0"/>
                        </a:spcAft>
                      </a:pPr>
                      <a:r>
                        <a:rPr lang="en-US" sz="1800" kern="0" dirty="0">
                          <a:effectLst/>
                        </a:rPr>
                        <a:t>4.58</a:t>
                      </a:r>
                      <a:br>
                        <a:rPr lang="en-US" sz="1800" kern="0" dirty="0">
                          <a:effectLst/>
                        </a:rPr>
                      </a:br>
                      <a:r>
                        <a:rPr lang="en-US" sz="1800" kern="0" dirty="0">
                          <a:effectLst/>
                        </a:rPr>
                        <a:t>31.58</a:t>
                      </a:r>
                      <a:br>
                        <a:rPr lang="en-US" sz="1800" kern="0" dirty="0">
                          <a:effectLst/>
                        </a:rPr>
                      </a:br>
                      <a:r>
                        <a:rPr lang="en-US" sz="1800" kern="0" dirty="0">
                          <a:effectLst/>
                        </a:rPr>
                        <a:t>18.75</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a:txBody>
                    <a:bodyPr/>
                    <a:lstStyle/>
                    <a:p>
                      <a:pPr algn="ctr">
                        <a:spcAft>
                          <a:spcPts val="0"/>
                        </a:spcAft>
                      </a:pPr>
                      <a:r>
                        <a:rPr lang="en-US" sz="1800" kern="0" dirty="0">
                          <a:effectLst/>
                        </a:rPr>
                        <a:t>13</a:t>
                      </a:r>
                      <a:endParaRPr lang="zh-TW" sz="1800" kern="100" dirty="0">
                        <a:effectLst/>
                      </a:endParaRPr>
                    </a:p>
                    <a:p>
                      <a:pPr algn="ctr">
                        <a:spcAft>
                          <a:spcPts val="0"/>
                        </a:spcAft>
                      </a:pPr>
                      <a:r>
                        <a:rPr lang="en-US" sz="1800" kern="0" dirty="0">
                          <a:effectLst/>
                        </a:rPr>
                        <a:t>9.92</a:t>
                      </a:r>
                      <a:br>
                        <a:rPr lang="en-US" sz="1800" kern="0" dirty="0">
                          <a:effectLst/>
                        </a:rPr>
                      </a:br>
                      <a:r>
                        <a:rPr lang="en-US" sz="1800" kern="0" dirty="0">
                          <a:effectLst/>
                        </a:rPr>
                        <a:t>68.42</a:t>
                      </a:r>
                      <a:br>
                        <a:rPr lang="en-US" sz="1800" kern="0" dirty="0">
                          <a:effectLst/>
                        </a:rPr>
                      </a:br>
                      <a:r>
                        <a:rPr lang="en-US" sz="1800" kern="0" dirty="0">
                          <a:effectLst/>
                        </a:rPr>
                        <a:t>13.13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a:txBody>
                    <a:bodyPr/>
                    <a:lstStyle/>
                    <a:p>
                      <a:pPr algn="ctr">
                        <a:spcAft>
                          <a:spcPts val="0"/>
                        </a:spcAft>
                      </a:pPr>
                      <a:r>
                        <a:rPr lang="en-US" sz="1800" kern="0" dirty="0">
                          <a:effectLst/>
                        </a:rPr>
                        <a:t>19</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extLst>
                  <a:ext uri="{0D108BD9-81ED-4DB2-BD59-A6C34878D82A}">
                    <a16:rowId xmlns:a16="http://schemas.microsoft.com/office/drawing/2014/main" val="10003"/>
                  </a:ext>
                </a:extLst>
              </a:tr>
              <a:tr h="446224">
                <a:tc gridSpan="2">
                  <a:txBody>
                    <a:bodyPr/>
                    <a:lstStyle/>
                    <a:p>
                      <a:pPr algn="ctr">
                        <a:spcAft>
                          <a:spcPts val="0"/>
                        </a:spcAft>
                      </a:pPr>
                      <a:r>
                        <a:rPr lang="zh-TW" sz="1800" kern="0" dirty="0">
                          <a:effectLst/>
                        </a:rPr>
                        <a:t>合計</a:t>
                      </a:r>
                      <a:r>
                        <a:rPr lang="en-US" sz="1800" kern="0" dirty="0">
                          <a:effectLst/>
                        </a:rPr>
                        <a:t> Total</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hMerge="1">
                  <a:txBody>
                    <a:bodyPr/>
                    <a:lstStyle/>
                    <a:p>
                      <a:endParaRPr lang="zh-TW" altLang="en-US"/>
                    </a:p>
                  </a:txBody>
                  <a:tcPr/>
                </a:tc>
                <a:tc>
                  <a:txBody>
                    <a:bodyPr/>
                    <a:lstStyle/>
                    <a:p>
                      <a:pPr algn="ctr">
                        <a:spcAft>
                          <a:spcPts val="0"/>
                        </a:spcAft>
                      </a:pPr>
                      <a:r>
                        <a:rPr lang="en-US" sz="1800" kern="0" dirty="0">
                          <a:effectLst/>
                        </a:rPr>
                        <a:t>32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a:txBody>
                    <a:bodyPr/>
                    <a:lstStyle/>
                    <a:p>
                      <a:pPr algn="ctr">
                        <a:spcAft>
                          <a:spcPts val="0"/>
                        </a:spcAft>
                      </a:pPr>
                      <a:r>
                        <a:rPr lang="en-US" sz="1800" kern="0" dirty="0">
                          <a:effectLst/>
                        </a:rPr>
                        <a:t>99</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tc>
                  <a:txBody>
                    <a:bodyPr/>
                    <a:lstStyle/>
                    <a:p>
                      <a:pPr algn="ctr">
                        <a:spcAft>
                          <a:spcPts val="0"/>
                        </a:spcAft>
                      </a:pPr>
                      <a:r>
                        <a:rPr lang="en-US" sz="1800" kern="0" dirty="0">
                          <a:effectLst/>
                        </a:rPr>
                        <a:t>131</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23381" marR="23381" marT="23381" marB="23381" anchor="ctr"/>
                </a:tc>
                <a:extLst>
                  <a:ext uri="{0D108BD9-81ED-4DB2-BD59-A6C34878D82A}">
                    <a16:rowId xmlns:a16="http://schemas.microsoft.com/office/drawing/2014/main" val="10004"/>
                  </a:ext>
                </a:extLst>
              </a:tr>
            </a:tbl>
          </a:graphicData>
        </a:graphic>
      </p:graphicFrame>
      <p:graphicFrame>
        <p:nvGraphicFramePr>
          <p:cNvPr id="14" name="內容版面配置區 13"/>
          <p:cNvGraphicFramePr>
            <a:graphicFrameLocks noGrp="1"/>
          </p:cNvGraphicFramePr>
          <p:nvPr>
            <p:ph sz="quarter" idx="4"/>
            <p:extLst>
              <p:ext uri="{D42A27DB-BD31-4B8C-83A1-F6EECF244321}">
                <p14:modId xmlns:p14="http://schemas.microsoft.com/office/powerpoint/2010/main" val="1474992486"/>
              </p:ext>
            </p:extLst>
          </p:nvPr>
        </p:nvGraphicFramePr>
        <p:xfrm>
          <a:off x="4961216" y="1823070"/>
          <a:ext cx="4041774" cy="1856868"/>
        </p:xfrm>
        <a:graphic>
          <a:graphicData uri="http://schemas.openxmlformats.org/drawingml/2006/table">
            <a:tbl>
              <a:tblPr firstRow="1" firstCol="1" bandRow="1">
                <a:tableStyleId>{5C22544A-7EE6-4342-B048-85BDC9FD1C3A}</a:tableStyleId>
              </a:tblPr>
              <a:tblGrid>
                <a:gridCol w="1347258">
                  <a:extLst>
                    <a:ext uri="{9D8B030D-6E8A-4147-A177-3AD203B41FA5}">
                      <a16:colId xmlns:a16="http://schemas.microsoft.com/office/drawing/2014/main" val="20000"/>
                    </a:ext>
                  </a:extLst>
                </a:gridCol>
                <a:gridCol w="1347258">
                  <a:extLst>
                    <a:ext uri="{9D8B030D-6E8A-4147-A177-3AD203B41FA5}">
                      <a16:colId xmlns:a16="http://schemas.microsoft.com/office/drawing/2014/main" val="20001"/>
                    </a:ext>
                  </a:extLst>
                </a:gridCol>
                <a:gridCol w="1347258">
                  <a:extLst>
                    <a:ext uri="{9D8B030D-6E8A-4147-A177-3AD203B41FA5}">
                      <a16:colId xmlns:a16="http://schemas.microsoft.com/office/drawing/2014/main" val="20002"/>
                    </a:ext>
                  </a:extLst>
                </a:gridCol>
              </a:tblGrid>
              <a:tr h="91688">
                <a:tc gridSpan="3">
                  <a:txBody>
                    <a:bodyPr/>
                    <a:lstStyle/>
                    <a:p>
                      <a:pPr algn="ctr">
                        <a:spcAft>
                          <a:spcPts val="0"/>
                        </a:spcAft>
                      </a:pPr>
                      <a:r>
                        <a:rPr lang="zh-TW" sz="2000" kern="0" dirty="0">
                          <a:effectLst/>
                        </a:rPr>
                        <a:t>虛無假設：兩變數之間無關聯</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678" marR="4678" marT="4678" marB="4678" anchor="ct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174021">
                <a:tc>
                  <a:txBody>
                    <a:bodyPr/>
                    <a:lstStyle/>
                    <a:p>
                      <a:pPr algn="ctr">
                        <a:spcAft>
                          <a:spcPts val="0"/>
                        </a:spcAft>
                      </a:pPr>
                      <a:r>
                        <a:rPr lang="zh-TW" sz="2000" kern="0" dirty="0">
                          <a:effectLst/>
                        </a:rPr>
                        <a:t>卡方檢定</a:t>
                      </a:r>
                      <a:endParaRPr lang="en-US" altLang="zh-TW" sz="2000" kern="0" dirty="0">
                        <a:effectLst/>
                      </a:endParaRPr>
                    </a:p>
                    <a:p>
                      <a:pPr algn="ctr">
                        <a:spcAft>
                          <a:spcPts val="0"/>
                        </a:spcAft>
                      </a:pPr>
                      <a:r>
                        <a:rPr lang="zh-TW" sz="2000" kern="0" dirty="0">
                          <a:effectLst/>
                        </a:rPr>
                        <a:t>統計量</a:t>
                      </a:r>
                      <a:r>
                        <a:rPr lang="en-US" sz="2000" kern="0" dirty="0">
                          <a:effectLst/>
                        </a:rPr>
                        <a:t/>
                      </a:r>
                      <a:br>
                        <a:rPr lang="en-US" sz="2000" kern="0" dirty="0">
                          <a:effectLst/>
                        </a:rPr>
                      </a:br>
                      <a:r>
                        <a:rPr lang="en-US" sz="1800" kern="0" dirty="0">
                          <a:effectLst/>
                        </a:rPr>
                        <a:t>chi-square</a:t>
                      </a:r>
                      <a:r>
                        <a:rPr lang="en-US" sz="2000" kern="0" dirty="0">
                          <a:effectLst/>
                        </a:rPr>
                        <a:t> statistics</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678" marR="4678" marT="4678" marB="4678" anchor="ctr"/>
                </a:tc>
                <a:tc>
                  <a:txBody>
                    <a:bodyPr/>
                    <a:lstStyle/>
                    <a:p>
                      <a:pPr algn="ctr">
                        <a:spcAft>
                          <a:spcPts val="0"/>
                        </a:spcAft>
                      </a:pPr>
                      <a:r>
                        <a:rPr lang="zh-TW" sz="2000" kern="0" dirty="0">
                          <a:effectLst/>
                        </a:rPr>
                        <a:t>自由度</a:t>
                      </a:r>
                      <a:r>
                        <a:rPr lang="en-US" sz="2000" kern="0" dirty="0">
                          <a:effectLst/>
                        </a:rPr>
                        <a:t/>
                      </a:r>
                      <a:br>
                        <a:rPr lang="en-US" sz="2000" kern="0" dirty="0">
                          <a:effectLst/>
                        </a:rPr>
                      </a:br>
                      <a:r>
                        <a:rPr lang="en-US" sz="2000" kern="0" dirty="0" err="1">
                          <a:effectLst/>
                        </a:rPr>
                        <a:t>d.f.</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678" marR="4678" marT="4678" marB="4678" anchor="ctr"/>
                </a:tc>
                <a:tc>
                  <a:txBody>
                    <a:bodyPr/>
                    <a:lstStyle/>
                    <a:p>
                      <a:pPr algn="ctr">
                        <a:spcAft>
                          <a:spcPts val="0"/>
                        </a:spcAft>
                      </a:pPr>
                      <a:r>
                        <a:rPr lang="en-US" sz="2000" kern="0" dirty="0">
                          <a:effectLst/>
                        </a:rPr>
                        <a:t>p-</a:t>
                      </a:r>
                      <a:r>
                        <a:rPr lang="zh-TW" sz="2000" kern="0" dirty="0">
                          <a:effectLst/>
                        </a:rPr>
                        <a:t>值</a:t>
                      </a:r>
                      <a:r>
                        <a:rPr lang="en-US" sz="2000" kern="0" baseline="30000" dirty="0">
                          <a:effectLst/>
                        </a:rPr>
                        <a:t>II</a:t>
                      </a:r>
                      <a:r>
                        <a:rPr lang="en-US" sz="2000" kern="0" dirty="0">
                          <a:effectLst/>
                        </a:rPr>
                        <a:t/>
                      </a:r>
                      <a:br>
                        <a:rPr lang="en-US" sz="2000" kern="0" dirty="0">
                          <a:effectLst/>
                        </a:rPr>
                      </a:br>
                      <a:r>
                        <a:rPr lang="en-US" sz="2000" kern="0" dirty="0">
                          <a:effectLst/>
                        </a:rPr>
                        <a:t>p-value</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678" marR="4678" marT="4678" marB="4678" anchor="ctr"/>
                </a:tc>
                <a:extLst>
                  <a:ext uri="{0D108BD9-81ED-4DB2-BD59-A6C34878D82A}">
                    <a16:rowId xmlns:a16="http://schemas.microsoft.com/office/drawing/2014/main" val="10001"/>
                  </a:ext>
                </a:extLst>
              </a:tr>
              <a:tr h="91688">
                <a:tc>
                  <a:txBody>
                    <a:bodyPr/>
                    <a:lstStyle/>
                    <a:p>
                      <a:pPr algn="ctr">
                        <a:spcAft>
                          <a:spcPts val="0"/>
                        </a:spcAft>
                      </a:pPr>
                      <a:r>
                        <a:rPr lang="en-US" sz="2000" kern="0" dirty="0">
                          <a:effectLst/>
                        </a:rPr>
                        <a:t>0.2459</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678" marR="4678" marT="4678" marB="4678" anchor="ctr"/>
                </a:tc>
                <a:tc>
                  <a:txBody>
                    <a:bodyPr/>
                    <a:lstStyle/>
                    <a:p>
                      <a:pPr algn="ctr">
                        <a:spcAft>
                          <a:spcPts val="0"/>
                        </a:spcAft>
                      </a:pPr>
                      <a:r>
                        <a:rPr lang="en-US" sz="2000" kern="0" dirty="0">
                          <a:effectLst/>
                        </a:rPr>
                        <a:t>1</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678" marR="4678" marT="4678" marB="4678" anchor="ctr"/>
                </a:tc>
                <a:tc>
                  <a:txBody>
                    <a:bodyPr/>
                    <a:lstStyle/>
                    <a:p>
                      <a:pPr algn="ctr">
                        <a:spcAft>
                          <a:spcPts val="0"/>
                        </a:spcAft>
                      </a:pPr>
                      <a:r>
                        <a:rPr lang="en-US" sz="2000" kern="0" dirty="0">
                          <a:effectLst/>
                        </a:rPr>
                        <a:t>0.61995</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678" marR="4678" marT="4678" marB="4678" anchor="ctr"/>
                </a:tc>
                <a:extLst>
                  <a:ext uri="{0D108BD9-81ED-4DB2-BD59-A6C34878D82A}">
                    <a16:rowId xmlns:a16="http://schemas.microsoft.com/office/drawing/2014/main" val="10002"/>
                  </a:ext>
                </a:extLst>
              </a:tr>
            </a:tbl>
          </a:graphicData>
        </a:graphic>
      </p:graphicFrame>
      <p:sp>
        <p:nvSpPr>
          <p:cNvPr id="15" name="矩形 14"/>
          <p:cNvSpPr/>
          <p:nvPr/>
        </p:nvSpPr>
        <p:spPr>
          <a:xfrm>
            <a:off x="5004048" y="1047941"/>
            <a:ext cx="3802644" cy="523220"/>
          </a:xfrm>
          <a:prstGeom prst="rect">
            <a:avLst/>
          </a:prstGeom>
        </p:spPr>
        <p:txBody>
          <a:bodyPr wrap="none">
            <a:spAutoFit/>
          </a:bodyPr>
          <a:lstStyle/>
          <a:p>
            <a:pPr algn="ctr">
              <a:spcAft>
                <a:spcPts val="0"/>
              </a:spcAft>
            </a:pPr>
            <a:r>
              <a:rPr lang="zh-TW" altLang="zh-TW" sz="2800" kern="0" dirty="0">
                <a:latin typeface="+mj-ea"/>
                <a:ea typeface="+mj-ea"/>
                <a:cs typeface="Times New Roman" panose="02020603050405020304" pitchFamily="18" charset="0"/>
              </a:rPr>
              <a:t>表</a:t>
            </a:r>
            <a:r>
              <a:rPr lang="en-US" altLang="zh-TW" sz="2800" kern="0" dirty="0">
                <a:latin typeface="+mj-ea"/>
                <a:ea typeface="+mj-ea"/>
                <a:cs typeface="Times New Roman" panose="02020603050405020304" pitchFamily="18" charset="0"/>
              </a:rPr>
              <a:t>6-2. </a:t>
            </a:r>
            <a:r>
              <a:rPr lang="zh-TW" altLang="zh-TW" sz="2800" kern="0" dirty="0">
                <a:latin typeface="+mj-ea"/>
                <a:ea typeface="+mj-ea"/>
                <a:cs typeface="Times New Roman" panose="02020603050405020304" pitchFamily="18" charset="0"/>
              </a:rPr>
              <a:t>卡方獨立性檢定</a:t>
            </a:r>
            <a:endParaRPr lang="zh-TW" altLang="zh-TW" sz="2800" kern="100" dirty="0">
              <a:effectLst/>
              <a:latin typeface="+mj-ea"/>
              <a:ea typeface="+mj-ea"/>
              <a:cs typeface="Times New Roman" panose="02020603050405020304" pitchFamily="18" charset="0"/>
            </a:endParaRPr>
          </a:p>
        </p:txBody>
      </p:sp>
      <p:sp>
        <p:nvSpPr>
          <p:cNvPr id="17" name="矩形 16"/>
          <p:cNvSpPr/>
          <p:nvPr/>
        </p:nvSpPr>
        <p:spPr>
          <a:xfrm>
            <a:off x="1043608" y="1039562"/>
            <a:ext cx="2366353" cy="523220"/>
          </a:xfrm>
          <a:prstGeom prst="rect">
            <a:avLst/>
          </a:prstGeom>
        </p:spPr>
        <p:txBody>
          <a:bodyPr wrap="none">
            <a:spAutoFit/>
          </a:bodyPr>
          <a:lstStyle/>
          <a:p>
            <a:pPr algn="ctr">
              <a:spcAft>
                <a:spcPts val="0"/>
              </a:spcAft>
            </a:pPr>
            <a:r>
              <a:rPr lang="zh-TW" altLang="zh-TW" sz="2800" kern="0" dirty="0">
                <a:latin typeface="+mj-ea"/>
                <a:ea typeface="+mj-ea"/>
                <a:cs typeface="Times New Roman" panose="02020603050405020304" pitchFamily="18" charset="0"/>
              </a:rPr>
              <a:t>表</a:t>
            </a:r>
            <a:r>
              <a:rPr lang="en-US" altLang="zh-TW" sz="2800" kern="0" dirty="0">
                <a:latin typeface="+mj-ea"/>
                <a:ea typeface="+mj-ea"/>
                <a:cs typeface="Times New Roman" panose="02020603050405020304" pitchFamily="18" charset="0"/>
              </a:rPr>
              <a:t>6-1. </a:t>
            </a:r>
            <a:r>
              <a:rPr lang="zh-TW" altLang="zh-TW" sz="2800" kern="0" dirty="0">
                <a:latin typeface="+mj-ea"/>
                <a:ea typeface="+mj-ea"/>
                <a:cs typeface="Times New Roman" panose="02020603050405020304" pitchFamily="18" charset="0"/>
              </a:rPr>
              <a:t>列聯表</a:t>
            </a:r>
            <a:endParaRPr lang="zh-TW" altLang="zh-TW" sz="2800" kern="100" dirty="0">
              <a:effectLst/>
              <a:latin typeface="+mj-ea"/>
              <a:ea typeface="+mj-ea"/>
              <a:cs typeface="Times New Roman" panose="02020603050405020304" pitchFamily="18" charset="0"/>
            </a:endParaRPr>
          </a:p>
        </p:txBody>
      </p:sp>
    </p:spTree>
    <p:extLst>
      <p:ext uri="{BB962C8B-B14F-4D97-AF65-F5344CB8AC3E}">
        <p14:creationId xmlns:p14="http://schemas.microsoft.com/office/powerpoint/2010/main" val="1637666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8"/>
            <a:ext cx="8229600" cy="806037"/>
          </a:xfrm>
        </p:spPr>
        <p:txBody>
          <a:bodyPr>
            <a:normAutofit/>
          </a:bodyPr>
          <a:lstStyle/>
          <a:p>
            <a:r>
              <a:rPr lang="zh-TW" altLang="zh-TW" dirty="0">
                <a:effectLst/>
              </a:rPr>
              <a:t>費雪精確性檢定（</a:t>
            </a:r>
            <a:r>
              <a:rPr lang="en-US" altLang="zh-TW" dirty="0">
                <a:effectLst/>
              </a:rPr>
              <a:t>Fisher exact test</a:t>
            </a:r>
            <a:r>
              <a:rPr lang="zh-TW" altLang="zh-TW" dirty="0">
                <a:effectLst/>
              </a:rPr>
              <a:t>）</a:t>
            </a:r>
            <a:endParaRPr lang="zh-TW" altLang="en-US" dirty="0"/>
          </a:p>
        </p:txBody>
      </p:sp>
      <mc:AlternateContent xmlns:mc="http://schemas.openxmlformats.org/markup-compatibility/2006" xmlns:a14="http://schemas.microsoft.com/office/drawing/2010/main">
        <mc:Choice Requires="a14">
          <p:sp>
            <p:nvSpPr>
              <p:cNvPr id="2" name="內容版面配置區 1"/>
              <p:cNvSpPr>
                <a:spLocks noGrp="1"/>
              </p:cNvSpPr>
              <p:nvPr>
                <p:ph idx="1"/>
              </p:nvPr>
            </p:nvSpPr>
            <p:spPr>
              <a:xfrm>
                <a:off x="457200" y="1080676"/>
                <a:ext cx="8229600" cy="4926616"/>
              </a:xfrm>
            </p:spPr>
            <p:txBody>
              <a:bodyPr>
                <a:normAutofit/>
              </a:bodyPr>
              <a:lstStyle/>
              <a:p>
                <a:pPr>
                  <a:lnSpc>
                    <a:spcPct val="120000"/>
                  </a:lnSpc>
                </a:pPr>
                <a:r>
                  <a:rPr lang="zh-TW" altLang="zh-TW" dirty="0"/>
                  <a:t>精確性檢定假設邊際觀測次數為固定值非隨機，在行與列變數之間無關</a:t>
                </a:r>
                <a:r>
                  <a:rPr lang="en-US" altLang="zh-TW" dirty="0"/>
                  <a:t>(</a:t>
                </a:r>
                <a:r>
                  <a:rPr lang="zh-TW" altLang="zh-TW" dirty="0"/>
                  <a:t>虛無假設成立</a:t>
                </a:r>
                <a:r>
                  <a:rPr lang="en-US" altLang="zh-TW" dirty="0"/>
                  <a:t>) </a:t>
                </a:r>
                <a:r>
                  <a:rPr lang="zh-TW" altLang="zh-TW" dirty="0"/>
                  <a:t>時，下面</a:t>
                </a:r>
                <a14:m>
                  <m:oMath xmlns:m="http://schemas.openxmlformats.org/officeDocument/2006/math">
                    <m:r>
                      <a:rPr lang="en-US" altLang="zh-TW" i="1">
                        <a:latin typeface="Cambria Math" panose="02040503050406030204" pitchFamily="18" charset="0"/>
                      </a:rPr>
                      <m:t>2×2</m:t>
                    </m:r>
                  </m:oMath>
                </a14:m>
                <a:r>
                  <a:rPr lang="zh-TW" altLang="zh-TW" dirty="0"/>
                  <a:t>列聯表</a:t>
                </a:r>
                <a:r>
                  <a:rPr lang="en-US" altLang="zh-TW" dirty="0"/>
                  <a:t>:</a:t>
                </a:r>
              </a:p>
              <a:p>
                <a:endParaRPr lang="en-US" altLang="zh-TW" dirty="0"/>
              </a:p>
              <a:p>
                <a:endParaRPr lang="en-US" altLang="zh-TW" dirty="0"/>
              </a:p>
              <a:p>
                <a:endParaRPr lang="en-US" altLang="zh-TW" dirty="0"/>
              </a:p>
              <a:p>
                <a:pPr marL="109728" indent="0">
                  <a:buNone/>
                </a:pPr>
                <a:r>
                  <a:rPr lang="zh-TW" altLang="zh-TW" dirty="0"/>
                  <a:t>發生的機率為</a:t>
                </a:r>
                <a:r>
                  <a:rPr lang="en-US" altLang="zh-TW" dirty="0"/>
                  <a:t>(</a:t>
                </a:r>
                <a:r>
                  <a:rPr lang="zh-TW" altLang="zh-TW" dirty="0"/>
                  <a:t>此機率分配又稱為超幾何分配</a:t>
                </a:r>
                <a:r>
                  <a:rPr lang="en-US" altLang="zh-TW" dirty="0"/>
                  <a:t>, hypergeometric distribution)</a:t>
                </a:r>
                <a:r>
                  <a:rPr lang="zh-TW" altLang="zh-TW" dirty="0"/>
                  <a:t>：</a:t>
                </a:r>
                <a:r>
                  <a:rPr lang="en-US" altLang="zh-TW" dirty="0"/>
                  <a:t> </a:t>
                </a:r>
              </a:p>
              <a:p>
                <a:pPr marL="109728" indent="0">
                  <a:spcBef>
                    <a:spcPts val="1200"/>
                  </a:spcBef>
                  <a:buNone/>
                </a:pPr>
                <a14:m>
                  <m:oMathPara xmlns:m="http://schemas.openxmlformats.org/officeDocument/2006/math">
                    <m:oMathParaPr>
                      <m:jc m:val="centerGroup"/>
                    </m:oMathParaPr>
                    <m:oMath xmlns:m="http://schemas.openxmlformats.org/officeDocument/2006/math">
                      <m:r>
                        <m:rPr>
                          <m:sty m:val="p"/>
                        </m:rPr>
                        <a:rPr lang="en-US" altLang="zh-TW" sz="2500">
                          <a:latin typeface="Cambria Math" panose="02040503050406030204" pitchFamily="18" charset="0"/>
                        </a:rPr>
                        <m:t>q</m:t>
                      </m:r>
                      <m:r>
                        <a:rPr lang="en-US" altLang="zh-TW" sz="2500">
                          <a:latin typeface="Cambria Math" panose="02040503050406030204" pitchFamily="18" charset="0"/>
                        </a:rPr>
                        <m:t>=</m:t>
                      </m:r>
                      <m:f>
                        <m:fPr>
                          <m:ctrlPr>
                            <a:rPr lang="zh-TW" altLang="zh-TW" sz="2500" i="1">
                              <a:latin typeface="Cambria Math" panose="02040503050406030204" pitchFamily="18" charset="0"/>
                            </a:rPr>
                          </m:ctrlPr>
                        </m:fPr>
                        <m:num>
                          <m:d>
                            <m:dPr>
                              <m:ctrlPr>
                                <a:rPr lang="zh-TW" altLang="zh-TW" sz="2500" i="1">
                                  <a:latin typeface="Cambria Math" panose="02040503050406030204" pitchFamily="18" charset="0"/>
                                </a:rPr>
                              </m:ctrlPr>
                            </m:dPr>
                            <m:e>
                              <m:eqArr>
                                <m:eqArrPr>
                                  <m:ctrlPr>
                                    <a:rPr lang="zh-TW" altLang="zh-TW" sz="2500" i="1">
                                      <a:latin typeface="Cambria Math" panose="02040503050406030204" pitchFamily="18" charset="0"/>
                                    </a:rPr>
                                  </m:ctrlPr>
                                </m:eqArrPr>
                                <m:e>
                                  <m:r>
                                    <m:rPr>
                                      <m:sty m:val="p"/>
                                    </m:rPr>
                                    <a:rPr lang="en-US" altLang="zh-TW" sz="2500">
                                      <a:latin typeface="Cambria Math" panose="02040503050406030204" pitchFamily="18" charset="0"/>
                                    </a:rPr>
                                    <m:t>A</m:t>
                                  </m:r>
                                  <m:r>
                                    <a:rPr lang="en-US" altLang="zh-TW" sz="2500">
                                      <a:latin typeface="Cambria Math" panose="02040503050406030204" pitchFamily="18" charset="0"/>
                                    </a:rPr>
                                    <m:t>+</m:t>
                                  </m:r>
                                  <m:r>
                                    <m:rPr>
                                      <m:sty m:val="p"/>
                                    </m:rPr>
                                    <a:rPr lang="en-US" altLang="zh-TW" sz="2500">
                                      <a:latin typeface="Cambria Math" panose="02040503050406030204" pitchFamily="18" charset="0"/>
                                    </a:rPr>
                                    <m:t>C</m:t>
                                  </m:r>
                                </m:e>
                                <m:e>
                                  <m:r>
                                    <m:rPr>
                                      <m:sty m:val="p"/>
                                    </m:rPr>
                                    <a:rPr lang="en-US" altLang="zh-TW" sz="2500">
                                      <a:latin typeface="Cambria Math" panose="02040503050406030204" pitchFamily="18" charset="0"/>
                                    </a:rPr>
                                    <m:t>A</m:t>
                                  </m:r>
                                </m:e>
                              </m:eqArr>
                            </m:e>
                          </m:d>
                          <m:d>
                            <m:dPr>
                              <m:ctrlPr>
                                <a:rPr lang="zh-TW" altLang="zh-TW" sz="2500" i="1">
                                  <a:latin typeface="Cambria Math" panose="02040503050406030204" pitchFamily="18" charset="0"/>
                                </a:rPr>
                              </m:ctrlPr>
                            </m:dPr>
                            <m:e>
                              <m:eqArr>
                                <m:eqArrPr>
                                  <m:ctrlPr>
                                    <a:rPr lang="zh-TW" altLang="zh-TW" sz="2500" i="1">
                                      <a:latin typeface="Cambria Math" panose="02040503050406030204" pitchFamily="18" charset="0"/>
                                    </a:rPr>
                                  </m:ctrlPr>
                                </m:eqArrPr>
                                <m:e>
                                  <m:r>
                                    <m:rPr>
                                      <m:sty m:val="p"/>
                                    </m:rPr>
                                    <a:rPr lang="en-US" altLang="zh-TW" sz="2500">
                                      <a:latin typeface="Cambria Math" panose="02040503050406030204" pitchFamily="18" charset="0"/>
                                    </a:rPr>
                                    <m:t>B</m:t>
                                  </m:r>
                                  <m:r>
                                    <a:rPr lang="en-US" altLang="zh-TW" sz="2500">
                                      <a:latin typeface="Cambria Math" panose="02040503050406030204" pitchFamily="18" charset="0"/>
                                    </a:rPr>
                                    <m:t>+</m:t>
                                  </m:r>
                                  <m:r>
                                    <m:rPr>
                                      <m:sty m:val="p"/>
                                    </m:rPr>
                                    <a:rPr lang="en-US" altLang="zh-TW" sz="2500">
                                      <a:latin typeface="Cambria Math" panose="02040503050406030204" pitchFamily="18" charset="0"/>
                                    </a:rPr>
                                    <m:t>D</m:t>
                                  </m:r>
                                </m:e>
                                <m:e>
                                  <m:r>
                                    <m:rPr>
                                      <m:sty m:val="p"/>
                                    </m:rPr>
                                    <a:rPr lang="en-US" altLang="zh-TW" sz="2500">
                                      <a:latin typeface="Cambria Math" panose="02040503050406030204" pitchFamily="18" charset="0"/>
                                    </a:rPr>
                                    <m:t>B</m:t>
                                  </m:r>
                                </m:e>
                              </m:eqArr>
                            </m:e>
                          </m:d>
                        </m:num>
                        <m:den>
                          <m:d>
                            <m:dPr>
                              <m:ctrlPr>
                                <a:rPr lang="zh-TW" altLang="zh-TW" sz="2500" i="1">
                                  <a:latin typeface="Cambria Math" panose="02040503050406030204" pitchFamily="18" charset="0"/>
                                </a:rPr>
                              </m:ctrlPr>
                            </m:dPr>
                            <m:e>
                              <m:eqArr>
                                <m:eqArrPr>
                                  <m:ctrlPr>
                                    <a:rPr lang="zh-TW" altLang="zh-TW" sz="2500" i="1">
                                      <a:latin typeface="Cambria Math" panose="02040503050406030204" pitchFamily="18" charset="0"/>
                                    </a:rPr>
                                  </m:ctrlPr>
                                </m:eqArrPr>
                                <m:e>
                                  <m:r>
                                    <m:rPr>
                                      <m:sty m:val="p"/>
                                    </m:rPr>
                                    <a:rPr lang="en-US" altLang="zh-TW" sz="2500">
                                      <a:latin typeface="Cambria Math" panose="02040503050406030204" pitchFamily="18" charset="0"/>
                                    </a:rPr>
                                    <m:t>N</m:t>
                                  </m:r>
                                </m:e>
                                <m:e>
                                  <m:r>
                                    <m:rPr>
                                      <m:sty m:val="p"/>
                                    </m:rPr>
                                    <a:rPr lang="en-US" altLang="zh-TW" sz="2500">
                                      <a:latin typeface="Cambria Math" panose="02040503050406030204" pitchFamily="18" charset="0"/>
                                    </a:rPr>
                                    <m:t>A</m:t>
                                  </m:r>
                                  <m:r>
                                    <a:rPr lang="en-US" altLang="zh-TW" sz="2500">
                                      <a:latin typeface="Cambria Math" panose="02040503050406030204" pitchFamily="18" charset="0"/>
                                    </a:rPr>
                                    <m:t>+</m:t>
                                  </m:r>
                                  <m:r>
                                    <m:rPr>
                                      <m:sty m:val="p"/>
                                    </m:rPr>
                                    <a:rPr lang="en-US" altLang="zh-TW" sz="2500">
                                      <a:latin typeface="Cambria Math" panose="02040503050406030204" pitchFamily="18" charset="0"/>
                                    </a:rPr>
                                    <m:t>B</m:t>
                                  </m:r>
                                </m:e>
                              </m:eqArr>
                            </m:e>
                          </m:d>
                        </m:den>
                      </m:f>
                    </m:oMath>
                  </m:oMathPara>
                </a14:m>
                <a:endParaRPr lang="zh-TW" altLang="zh-TW" sz="2500" dirty="0"/>
              </a:p>
              <a:p>
                <a:pPr marL="109728" indent="0">
                  <a:buNone/>
                </a:pPr>
                <a:endParaRPr lang="zh-TW" altLang="en-US" dirty="0"/>
              </a:p>
            </p:txBody>
          </p:sp>
        </mc:Choice>
        <mc:Fallback xmlns="">
          <p:sp>
            <p:nvSpPr>
              <p:cNvPr id="2" name="內容版面配置區 1"/>
              <p:cNvSpPr>
                <a:spLocks noGrp="1" noRot="1" noChangeAspect="1" noMove="1" noResize="1" noEditPoints="1" noAdjustHandles="1" noChangeArrowheads="1" noChangeShapeType="1" noTextEdit="1"/>
              </p:cNvSpPr>
              <p:nvPr>
                <p:ph idx="1"/>
              </p:nvPr>
            </p:nvSpPr>
            <p:spPr>
              <a:xfrm>
                <a:off x="457200" y="1080676"/>
                <a:ext cx="8229600" cy="4926616"/>
              </a:xfrm>
              <a:blipFill>
                <a:blip r:embed="rId3"/>
                <a:stretch>
                  <a:fillRect l="-667"/>
                </a:stretch>
              </a:blipFill>
            </p:spPr>
            <p:txBody>
              <a:bodyPr/>
              <a:lstStyle/>
              <a:p>
                <a:r>
                  <a:rPr lang="zh-TW" altLang="en-US">
                    <a:noFill/>
                  </a:rPr>
                  <a:t> </a:t>
                </a:r>
              </a:p>
            </p:txBody>
          </p:sp>
        </mc:Fallback>
      </mc:AlternateContent>
      <p:graphicFrame>
        <p:nvGraphicFramePr>
          <p:cNvPr id="5" name="表格 4"/>
          <p:cNvGraphicFramePr>
            <a:graphicFrameLocks noGrp="1"/>
          </p:cNvGraphicFramePr>
          <p:nvPr>
            <p:extLst>
              <p:ext uri="{D42A27DB-BD31-4B8C-83A1-F6EECF244321}">
                <p14:modId xmlns:p14="http://schemas.microsoft.com/office/powerpoint/2010/main" val="1329206893"/>
              </p:ext>
            </p:extLst>
          </p:nvPr>
        </p:nvGraphicFramePr>
        <p:xfrm>
          <a:off x="2699792" y="2132856"/>
          <a:ext cx="4032449" cy="1191384"/>
        </p:xfrm>
        <a:graphic>
          <a:graphicData uri="http://schemas.openxmlformats.org/drawingml/2006/table">
            <a:tbl>
              <a:tblPr firstRow="1" firstCol="1" bandRow="1">
                <a:tableStyleId>{5C22544A-7EE6-4342-B048-85BDC9FD1C3A}</a:tableStyleId>
              </a:tblPr>
              <a:tblGrid>
                <a:gridCol w="1087402">
                  <a:extLst>
                    <a:ext uri="{9D8B030D-6E8A-4147-A177-3AD203B41FA5}">
                      <a16:colId xmlns:a16="http://schemas.microsoft.com/office/drawing/2014/main" val="20000"/>
                    </a:ext>
                  </a:extLst>
                </a:gridCol>
                <a:gridCol w="1112496">
                  <a:extLst>
                    <a:ext uri="{9D8B030D-6E8A-4147-A177-3AD203B41FA5}">
                      <a16:colId xmlns:a16="http://schemas.microsoft.com/office/drawing/2014/main" val="20001"/>
                    </a:ext>
                  </a:extLst>
                </a:gridCol>
                <a:gridCol w="1037911">
                  <a:extLst>
                    <a:ext uri="{9D8B030D-6E8A-4147-A177-3AD203B41FA5}">
                      <a16:colId xmlns:a16="http://schemas.microsoft.com/office/drawing/2014/main" val="20002"/>
                    </a:ext>
                  </a:extLst>
                </a:gridCol>
                <a:gridCol w="794640">
                  <a:extLst>
                    <a:ext uri="{9D8B030D-6E8A-4147-A177-3AD203B41FA5}">
                      <a16:colId xmlns:a16="http://schemas.microsoft.com/office/drawing/2014/main" val="20003"/>
                    </a:ext>
                  </a:extLst>
                </a:gridCol>
              </a:tblGrid>
              <a:tr h="297846">
                <a:tc>
                  <a:txBody>
                    <a:bodyPr/>
                    <a:lstStyle/>
                    <a:p>
                      <a:pPr algn="ctr">
                        <a:spcAft>
                          <a:spcPts val="0"/>
                        </a:spcAft>
                      </a:pPr>
                      <a:r>
                        <a:rPr lang="en-US" sz="1600" kern="0" dirty="0">
                          <a:effectLst/>
                        </a:rPr>
                        <a:t> </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zh-TW" sz="1600" kern="0" dirty="0">
                          <a:effectLst/>
                        </a:rPr>
                        <a:t>變數</a:t>
                      </a:r>
                      <a:r>
                        <a:rPr lang="en-US" sz="1600" kern="0" dirty="0">
                          <a:effectLst/>
                        </a:rPr>
                        <a:t>2 (I)</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zh-TW" sz="1600" kern="0">
                          <a:effectLst/>
                        </a:rPr>
                        <a:t>變數</a:t>
                      </a:r>
                      <a:r>
                        <a:rPr lang="en-US" sz="1600" kern="0">
                          <a:effectLst/>
                        </a:rPr>
                        <a:t>2 (II)</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 </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97846">
                <a:tc>
                  <a:txBody>
                    <a:bodyPr/>
                    <a:lstStyle/>
                    <a:p>
                      <a:pPr algn="ctr">
                        <a:spcAft>
                          <a:spcPts val="0"/>
                        </a:spcAft>
                      </a:pPr>
                      <a:r>
                        <a:rPr lang="zh-TW" sz="1600" kern="0">
                          <a:effectLst/>
                        </a:rPr>
                        <a:t>變數</a:t>
                      </a:r>
                      <a:r>
                        <a:rPr lang="en-US" sz="1600" kern="0">
                          <a:effectLst/>
                        </a:rPr>
                        <a:t>1 (I) </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A</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B</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A+B</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297846">
                <a:tc>
                  <a:txBody>
                    <a:bodyPr/>
                    <a:lstStyle/>
                    <a:p>
                      <a:pPr algn="ctr">
                        <a:spcAft>
                          <a:spcPts val="0"/>
                        </a:spcAft>
                      </a:pPr>
                      <a:r>
                        <a:rPr lang="zh-TW" sz="1600" kern="0">
                          <a:effectLst/>
                        </a:rPr>
                        <a:t>變數</a:t>
                      </a:r>
                      <a:r>
                        <a:rPr lang="en-US" sz="1600" kern="0">
                          <a:effectLst/>
                        </a:rPr>
                        <a:t>1 (II)</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C</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D</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a:effectLst/>
                        </a:rPr>
                        <a:t>C+D</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297846">
                <a:tc>
                  <a:txBody>
                    <a:bodyPr/>
                    <a:lstStyle/>
                    <a:p>
                      <a:pPr algn="ctr">
                        <a:spcAft>
                          <a:spcPts val="0"/>
                        </a:spcAft>
                      </a:pPr>
                      <a:r>
                        <a:rPr lang="en-US" sz="1600" kern="0">
                          <a:effectLst/>
                        </a:rPr>
                        <a:t> </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A+C</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B+D</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N</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08095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endParaRPr lang="zh-TW" altLang="en-US"/>
          </a:p>
        </p:txBody>
      </p:sp>
      <p:pic>
        <p:nvPicPr>
          <p:cNvPr id="5" name="內容版面配置區 4" descr="http://www-eio.upc.es/teaching/pe/www.computing.dcu.ie/~jhorgan/chapter12slides.pdf - Internet Explorer"/>
          <p:cNvPicPr>
            <a:picLocks noGrp="1" noChangeAspect="1"/>
          </p:cNvPicPr>
          <p:nvPr>
            <p:ph idx="1"/>
          </p:nvPr>
        </p:nvPicPr>
        <p:blipFill rotWithShape="1">
          <a:blip r:embed="rId2">
            <a:extLst>
              <a:ext uri="{28A0092B-C50C-407E-A947-70E740481C1C}">
                <a14:useLocalDpi xmlns:a14="http://schemas.microsoft.com/office/drawing/2010/main" val="0"/>
              </a:ext>
            </a:extLst>
          </a:blip>
          <a:srcRect l="19491" t="12853" r="30508" b="35735"/>
          <a:stretch/>
        </p:blipFill>
        <p:spPr>
          <a:xfrm>
            <a:off x="611560" y="404664"/>
            <a:ext cx="7560839" cy="3955578"/>
          </a:xfrm>
        </p:spPr>
      </p:pic>
      <p:graphicFrame>
        <p:nvGraphicFramePr>
          <p:cNvPr id="7" name="表格 6"/>
          <p:cNvGraphicFramePr>
            <a:graphicFrameLocks noGrp="1"/>
          </p:cNvGraphicFramePr>
          <p:nvPr>
            <p:extLst>
              <p:ext uri="{D42A27DB-BD31-4B8C-83A1-F6EECF244321}">
                <p14:modId xmlns:p14="http://schemas.microsoft.com/office/powerpoint/2010/main" val="2322533009"/>
              </p:ext>
            </p:extLst>
          </p:nvPr>
        </p:nvGraphicFramePr>
        <p:xfrm>
          <a:off x="2699792" y="4916102"/>
          <a:ext cx="4032449" cy="1137378"/>
        </p:xfrm>
        <a:graphic>
          <a:graphicData uri="http://schemas.openxmlformats.org/drawingml/2006/table">
            <a:tbl>
              <a:tblPr firstRow="1" firstCol="1" bandRow="1">
                <a:tableStyleId>{5C22544A-7EE6-4342-B048-85BDC9FD1C3A}</a:tableStyleId>
              </a:tblPr>
              <a:tblGrid>
                <a:gridCol w="1087402">
                  <a:extLst>
                    <a:ext uri="{9D8B030D-6E8A-4147-A177-3AD203B41FA5}">
                      <a16:colId xmlns:a16="http://schemas.microsoft.com/office/drawing/2014/main" val="20000"/>
                    </a:ext>
                  </a:extLst>
                </a:gridCol>
                <a:gridCol w="1112496">
                  <a:extLst>
                    <a:ext uri="{9D8B030D-6E8A-4147-A177-3AD203B41FA5}">
                      <a16:colId xmlns:a16="http://schemas.microsoft.com/office/drawing/2014/main" val="20001"/>
                    </a:ext>
                  </a:extLst>
                </a:gridCol>
                <a:gridCol w="1037911">
                  <a:extLst>
                    <a:ext uri="{9D8B030D-6E8A-4147-A177-3AD203B41FA5}">
                      <a16:colId xmlns:a16="http://schemas.microsoft.com/office/drawing/2014/main" val="20002"/>
                    </a:ext>
                  </a:extLst>
                </a:gridCol>
                <a:gridCol w="794640">
                  <a:extLst>
                    <a:ext uri="{9D8B030D-6E8A-4147-A177-3AD203B41FA5}">
                      <a16:colId xmlns:a16="http://schemas.microsoft.com/office/drawing/2014/main" val="20003"/>
                    </a:ext>
                  </a:extLst>
                </a:gridCol>
              </a:tblGrid>
              <a:tr h="206986">
                <a:tc>
                  <a:txBody>
                    <a:bodyPr/>
                    <a:lstStyle/>
                    <a:p>
                      <a:pPr algn="ctr">
                        <a:spcAft>
                          <a:spcPts val="0"/>
                        </a:spcAft>
                      </a:pPr>
                      <a:r>
                        <a:rPr lang="en-US" sz="1600" kern="0" dirty="0">
                          <a:effectLst/>
                        </a:rPr>
                        <a:t> </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zh-TW" altLang="en-US" sz="1600" kern="0" dirty="0">
                          <a:effectLst/>
                          <a:latin typeface="+mn-lt"/>
                          <a:ea typeface="+mn-ea"/>
                          <a:cs typeface="+mn-cs"/>
                        </a:rPr>
                        <a:t>紅心</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zh-TW" altLang="en-US" sz="1600" kern="0" dirty="0">
                          <a:effectLst/>
                        </a:rPr>
                        <a:t>非紅心</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 </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97846">
                <a:tc>
                  <a:txBody>
                    <a:bodyPr/>
                    <a:lstStyle/>
                    <a:p>
                      <a:pPr algn="ctr">
                        <a:spcAft>
                          <a:spcPts val="0"/>
                        </a:spcAft>
                      </a:pPr>
                      <a:r>
                        <a:rPr lang="zh-TW" altLang="en-US" sz="1600" kern="0" dirty="0">
                          <a:effectLst/>
                        </a:rPr>
                        <a:t>抽到</a:t>
                      </a:r>
                      <a:r>
                        <a:rPr lang="en-US" sz="1600" kern="0" dirty="0">
                          <a:effectLst/>
                        </a:rPr>
                        <a:t> </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2</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4</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6</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297846">
                <a:tc>
                  <a:txBody>
                    <a:bodyPr/>
                    <a:lstStyle/>
                    <a:p>
                      <a:pPr algn="ctr">
                        <a:spcAft>
                          <a:spcPts val="0"/>
                        </a:spcAft>
                      </a:pPr>
                      <a:r>
                        <a:rPr lang="zh-TW" altLang="en-US" sz="1600" kern="0" dirty="0">
                          <a:effectLst/>
                        </a:rPr>
                        <a:t>沒抽到</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11</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35</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46</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297846">
                <a:tc>
                  <a:txBody>
                    <a:bodyPr/>
                    <a:lstStyle/>
                    <a:p>
                      <a:pPr algn="ctr">
                        <a:spcAft>
                          <a:spcPts val="0"/>
                        </a:spcAft>
                      </a:pPr>
                      <a:r>
                        <a:rPr lang="en-US" sz="1600" kern="0">
                          <a:effectLst/>
                        </a:rPr>
                        <a:t> </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13</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39</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tc>
                  <a:txBody>
                    <a:bodyPr/>
                    <a:lstStyle/>
                    <a:p>
                      <a:pPr algn="ctr">
                        <a:spcAft>
                          <a:spcPts val="0"/>
                        </a:spcAft>
                      </a:pPr>
                      <a:r>
                        <a:rPr lang="en-US" sz="1600" kern="0" dirty="0">
                          <a:effectLst/>
                        </a:rPr>
                        <a:t>52</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32555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3"/>
          <p:cNvSpPr>
            <a:spLocks noGrp="1"/>
          </p:cNvSpPr>
          <p:nvPr>
            <p:ph type="title"/>
          </p:nvPr>
        </p:nvSpPr>
        <p:spPr>
          <a:xfrm>
            <a:off x="457200" y="274638"/>
            <a:ext cx="8229600" cy="806037"/>
          </a:xfrm>
        </p:spPr>
        <p:txBody>
          <a:bodyPr>
            <a:normAutofit/>
          </a:bodyPr>
          <a:lstStyle/>
          <a:p>
            <a:r>
              <a:rPr lang="zh-TW" altLang="zh-TW" dirty="0">
                <a:effectLst/>
              </a:rPr>
              <a:t>費雪精確性檢定（</a:t>
            </a:r>
            <a:r>
              <a:rPr lang="en-US" altLang="zh-TW" dirty="0">
                <a:effectLst/>
              </a:rPr>
              <a:t>Fisher exact test</a:t>
            </a:r>
            <a:r>
              <a:rPr lang="zh-TW" altLang="zh-TW" dirty="0">
                <a:effectLst/>
              </a:rPr>
              <a:t>）</a:t>
            </a:r>
            <a:endParaRPr lang="zh-TW" altLang="en-US" dirty="0"/>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57200" y="1080676"/>
                <a:ext cx="8229600" cy="4926616"/>
              </a:xfrm>
            </p:spPr>
            <p:txBody>
              <a:bodyPr>
                <a:normAutofit/>
              </a:bodyPr>
              <a:lstStyle/>
              <a:p>
                <a:pPr>
                  <a:lnSpc>
                    <a:spcPct val="150000"/>
                  </a:lnSpc>
                </a:pPr>
                <a:r>
                  <a:rPr lang="zh-TW" altLang="zh-TW" dirty="0"/>
                  <a:t>因為邊際觀測次數為固定值， </a:t>
                </a:r>
                <a14:m>
                  <m:oMath xmlns:m="http://schemas.openxmlformats.org/officeDocument/2006/math">
                    <m:r>
                      <a:rPr lang="en-US" altLang="zh-TW" i="1">
                        <a:latin typeface="Cambria Math" panose="02040503050406030204" pitchFamily="18" charset="0"/>
                      </a:rPr>
                      <m:t>2×2</m:t>
                    </m:r>
                  </m:oMath>
                </a14:m>
                <a:r>
                  <a:rPr lang="zh-TW" altLang="zh-TW" dirty="0"/>
                  <a:t>列聯表會隨</a:t>
                </a:r>
                <a:r>
                  <a:rPr lang="en-US" altLang="zh-TW" dirty="0"/>
                  <a:t>A</a:t>
                </a:r>
                <a:r>
                  <a:rPr lang="zh-TW" altLang="zh-TW" dirty="0"/>
                  <a:t>的變化而變化</a:t>
                </a:r>
                <a:r>
                  <a:rPr lang="en-US" altLang="zh-TW" dirty="0"/>
                  <a:t>(</a:t>
                </a:r>
                <a:r>
                  <a:rPr lang="zh-TW" altLang="en-US" dirty="0"/>
                  <a:t>給</a:t>
                </a:r>
                <a:r>
                  <a:rPr lang="zh-TW" altLang="zh-TW" dirty="0"/>
                  <a:t>定</a:t>
                </a:r>
                <a:r>
                  <a:rPr lang="en-US" altLang="zh-TW" dirty="0"/>
                  <a:t>A</a:t>
                </a:r>
                <a:r>
                  <a:rPr lang="zh-TW" altLang="zh-TW" dirty="0"/>
                  <a:t>後，</a:t>
                </a:r>
                <a:r>
                  <a:rPr lang="en-US" altLang="zh-TW" dirty="0"/>
                  <a:t> B</a:t>
                </a:r>
                <a:r>
                  <a:rPr lang="zh-TW" altLang="zh-TW" dirty="0"/>
                  <a:t>，</a:t>
                </a:r>
                <a:r>
                  <a:rPr lang="en-US" altLang="zh-TW" dirty="0"/>
                  <a:t>C</a:t>
                </a:r>
                <a:r>
                  <a:rPr lang="zh-TW" altLang="zh-TW" dirty="0"/>
                  <a:t>，</a:t>
                </a:r>
                <a:r>
                  <a:rPr lang="en-US" altLang="zh-TW" dirty="0"/>
                  <a:t>D</a:t>
                </a:r>
                <a:r>
                  <a:rPr lang="zh-TW" altLang="zh-TW" dirty="0"/>
                  <a:t>就給定</a:t>
                </a:r>
                <a:r>
                  <a:rPr lang="en-US" altLang="zh-TW" dirty="0"/>
                  <a:t>) </a:t>
                </a:r>
                <a:r>
                  <a:rPr lang="zh-TW" altLang="zh-TW" dirty="0"/>
                  <a:t>， 計算比觀測值</a:t>
                </a:r>
                <a:r>
                  <a:rPr lang="en-US" altLang="zh-TW" dirty="0"/>
                  <a:t>A</a:t>
                </a:r>
                <a:r>
                  <a:rPr lang="zh-TW" altLang="zh-TW" dirty="0"/>
                  <a:t>更大的所有列聯表發生的 </a:t>
                </a:r>
                <a:r>
                  <a:rPr lang="en-US" altLang="zh-TW" dirty="0"/>
                  <a:t>“</a:t>
                </a:r>
                <a:r>
                  <a:rPr lang="zh-TW" altLang="zh-TW" dirty="0"/>
                  <a:t>機率總和</a:t>
                </a:r>
                <a:r>
                  <a:rPr lang="en-US" altLang="zh-TW" dirty="0"/>
                  <a:t>” </a:t>
                </a:r>
                <a:r>
                  <a:rPr lang="zh-TW" altLang="zh-TW" dirty="0"/>
                  <a:t>即為精確性檢定的</a:t>
                </a:r>
                <a:r>
                  <a:rPr lang="en-US" altLang="zh-TW" dirty="0"/>
                  <a:t>P</a:t>
                </a:r>
                <a:r>
                  <a:rPr lang="zh-TW" altLang="zh-TW" dirty="0"/>
                  <a:t>值，若</a:t>
                </a:r>
                <a:r>
                  <a:rPr lang="en-US" altLang="zh-TW" dirty="0"/>
                  <a:t>P</a:t>
                </a:r>
                <a:r>
                  <a:rPr lang="zh-TW" altLang="zh-TW" dirty="0"/>
                  <a:t>值小於所定之顯著水準</a:t>
                </a:r>
                <a:r>
                  <a:rPr lang="en-US" altLang="zh-TW" dirty="0"/>
                  <a:t>α</a:t>
                </a:r>
                <a:r>
                  <a:rPr lang="zh-TW" altLang="zh-TW" dirty="0"/>
                  <a:t>則拒絕虛假設。費雪精確性檢定是一種嚴謹且有效的檢定方法，它經常在當</a:t>
                </a:r>
                <a:r>
                  <a:rPr lang="zh-TW" altLang="zh-TW" dirty="0">
                    <a:solidFill>
                      <a:srgbClr val="FF0000"/>
                    </a:solidFill>
                  </a:rPr>
                  <a:t>樣本數太小（</a:t>
                </a:r>
                <a:r>
                  <a:rPr lang="en-US" altLang="zh-TW" dirty="0">
                    <a:solidFill>
                      <a:srgbClr val="FF0000"/>
                    </a:solidFill>
                  </a:rPr>
                  <a:t>N&lt;20</a:t>
                </a:r>
                <a:r>
                  <a:rPr lang="zh-TW" altLang="zh-TW" dirty="0">
                    <a:solidFill>
                      <a:srgbClr val="FF0000"/>
                    </a:solidFill>
                  </a:rPr>
                  <a:t>）</a:t>
                </a:r>
                <a:r>
                  <a:rPr lang="zh-TW" altLang="zh-TW" dirty="0"/>
                  <a:t>以致卡方檢定的</a:t>
                </a:r>
                <a:r>
                  <a:rPr lang="en-US" altLang="zh-TW" dirty="0"/>
                  <a:t>p</a:t>
                </a:r>
                <a:r>
                  <a:rPr lang="zh-TW" altLang="zh-TW" dirty="0"/>
                  <a:t>值計算不可靠的情況下被使用，臨床實務上用到的機會相當多</a:t>
                </a:r>
                <a:r>
                  <a:rPr lang="zh-TW" altLang="en-US" dirty="0"/>
                  <a:t>。</a:t>
                </a: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57200" y="1080676"/>
                <a:ext cx="8229600" cy="4926616"/>
              </a:xfrm>
              <a:blipFill>
                <a:blip r:embed="rId2"/>
                <a:stretch>
                  <a:fillRect l="-667" r="-29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244566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514616" y="0"/>
            <a:ext cx="8229600" cy="980728"/>
          </a:xfrm>
        </p:spPr>
        <p:txBody>
          <a:bodyPr/>
          <a:lstStyle/>
          <a:p>
            <a:r>
              <a:rPr lang="zh-TW" altLang="en-US" dirty="0"/>
              <a:t>作業</a:t>
            </a:r>
            <a:r>
              <a:rPr lang="en-US" altLang="zh-TW" dirty="0"/>
              <a:t>I	</a:t>
            </a:r>
            <a:endParaRPr lang="zh-TW" altLang="en-US" dirty="0"/>
          </a:p>
        </p:txBody>
      </p:sp>
      <p:graphicFrame>
        <p:nvGraphicFramePr>
          <p:cNvPr id="7" name="內容版面配置區 6"/>
          <p:cNvGraphicFramePr>
            <a:graphicFrameLocks noGrp="1"/>
          </p:cNvGraphicFramePr>
          <p:nvPr>
            <p:ph idx="1"/>
            <p:extLst>
              <p:ext uri="{D42A27DB-BD31-4B8C-83A1-F6EECF244321}">
                <p14:modId xmlns:p14="http://schemas.microsoft.com/office/powerpoint/2010/main" val="995850680"/>
              </p:ext>
            </p:extLst>
          </p:nvPr>
        </p:nvGraphicFramePr>
        <p:xfrm>
          <a:off x="2195736" y="2132856"/>
          <a:ext cx="4466590" cy="1828800"/>
        </p:xfrm>
        <a:graphic>
          <a:graphicData uri="http://schemas.openxmlformats.org/drawingml/2006/table">
            <a:tbl>
              <a:tblPr firstRow="1" firstCol="1" bandRow="1">
                <a:tableStyleId>{5C22544A-7EE6-4342-B048-85BDC9FD1C3A}</a:tableStyleId>
              </a:tblPr>
              <a:tblGrid>
                <a:gridCol w="1242060">
                  <a:extLst>
                    <a:ext uri="{9D8B030D-6E8A-4147-A177-3AD203B41FA5}">
                      <a16:colId xmlns:a16="http://schemas.microsoft.com/office/drawing/2014/main" val="20000"/>
                    </a:ext>
                  </a:extLst>
                </a:gridCol>
                <a:gridCol w="1242695">
                  <a:extLst>
                    <a:ext uri="{9D8B030D-6E8A-4147-A177-3AD203B41FA5}">
                      <a16:colId xmlns:a16="http://schemas.microsoft.com/office/drawing/2014/main" val="20001"/>
                    </a:ext>
                  </a:extLst>
                </a:gridCol>
                <a:gridCol w="1242695">
                  <a:extLst>
                    <a:ext uri="{9D8B030D-6E8A-4147-A177-3AD203B41FA5}">
                      <a16:colId xmlns:a16="http://schemas.microsoft.com/office/drawing/2014/main" val="20002"/>
                    </a:ext>
                  </a:extLst>
                </a:gridCol>
                <a:gridCol w="739140">
                  <a:extLst>
                    <a:ext uri="{9D8B030D-6E8A-4147-A177-3AD203B41FA5}">
                      <a16:colId xmlns:a16="http://schemas.microsoft.com/office/drawing/2014/main" val="20003"/>
                    </a:ext>
                  </a:extLst>
                </a:gridCol>
              </a:tblGrid>
              <a:tr h="0">
                <a:tc rowSpan="2">
                  <a:txBody>
                    <a:bodyPr/>
                    <a:lstStyle/>
                    <a:p>
                      <a:pPr algn="ctr">
                        <a:spcAft>
                          <a:spcPts val="0"/>
                        </a:spcAft>
                      </a:pPr>
                      <a:r>
                        <a:rPr lang="zh-TW" sz="2000" kern="0" dirty="0">
                          <a:effectLst/>
                        </a:rPr>
                        <a:t>治療方法</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nchor="b"/>
                </a:tc>
                <a:tc gridSpan="2">
                  <a:txBody>
                    <a:bodyPr/>
                    <a:lstStyle/>
                    <a:p>
                      <a:pPr algn="ctr">
                        <a:spcAft>
                          <a:spcPts val="0"/>
                        </a:spcAft>
                      </a:pPr>
                      <a:r>
                        <a:rPr lang="zh-TW" sz="2000" kern="0" dirty="0">
                          <a:effectLst/>
                        </a:rPr>
                        <a:t>治療成效</a:t>
                      </a:r>
                      <a:endParaRPr lang="zh-TW" sz="2000" kern="100" dirty="0">
                        <a:effectLst/>
                      </a:endParaRPr>
                    </a:p>
                    <a:p>
                      <a:pPr algn="ctr">
                        <a:spcAft>
                          <a:spcPts val="0"/>
                        </a:spcAft>
                      </a:pPr>
                      <a:r>
                        <a:rPr lang="zh-TW" sz="2000" kern="0" dirty="0">
                          <a:effectLst/>
                        </a:rPr>
                        <a:t>（是否減輕各種身心的不適症狀）</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hMerge="1">
                  <a:txBody>
                    <a:bodyPr/>
                    <a:lstStyle/>
                    <a:p>
                      <a:endParaRPr lang="zh-TW" altLang="en-US"/>
                    </a:p>
                  </a:txBody>
                  <a:tcPr/>
                </a:tc>
                <a:tc>
                  <a:txBody>
                    <a:bodyPr/>
                    <a:lstStyle/>
                    <a:p>
                      <a:pPr algn="ctr">
                        <a:spcAft>
                          <a:spcPts val="0"/>
                        </a:spcAft>
                      </a:pPr>
                      <a:r>
                        <a:rPr lang="en-US" sz="2000" kern="0">
                          <a:effectLst/>
                        </a:rPr>
                        <a:t> </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vMerge="1">
                  <a:txBody>
                    <a:bodyPr/>
                    <a:lstStyle/>
                    <a:p>
                      <a:endParaRPr lang="zh-TW" altLang="en-US"/>
                    </a:p>
                  </a:txBody>
                  <a:tcPr/>
                </a:tc>
                <a:tc>
                  <a:txBody>
                    <a:bodyPr/>
                    <a:lstStyle/>
                    <a:p>
                      <a:pPr algn="ctr">
                        <a:spcAft>
                          <a:spcPts val="0"/>
                        </a:spcAft>
                      </a:pPr>
                      <a:r>
                        <a:rPr lang="zh-TW" sz="2000" kern="0" dirty="0">
                          <a:effectLst/>
                        </a:rPr>
                        <a:t>是</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spcAft>
                          <a:spcPts val="0"/>
                        </a:spcAft>
                      </a:pPr>
                      <a:r>
                        <a:rPr lang="zh-TW" sz="2000" kern="0">
                          <a:effectLst/>
                        </a:rPr>
                        <a:t>否</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spcAft>
                          <a:spcPts val="0"/>
                        </a:spcAft>
                      </a:pPr>
                      <a:r>
                        <a:rPr lang="zh-TW" sz="2000" kern="0">
                          <a:effectLst/>
                        </a:rPr>
                        <a:t>總計</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algn="ctr">
                        <a:spcAft>
                          <a:spcPts val="0"/>
                        </a:spcAft>
                      </a:pPr>
                      <a:r>
                        <a:rPr lang="en-US" sz="2000" kern="0">
                          <a:effectLst/>
                        </a:rPr>
                        <a:t>A</a:t>
                      </a:r>
                      <a:r>
                        <a:rPr lang="zh-TW" sz="2000" kern="0">
                          <a:effectLst/>
                        </a:rPr>
                        <a:t>藥物</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spcAft>
                          <a:spcPts val="0"/>
                        </a:spcAft>
                      </a:pPr>
                      <a:r>
                        <a:rPr lang="en-US" sz="2000" kern="0" dirty="0">
                          <a:effectLst/>
                        </a:rPr>
                        <a:t>12</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spcAft>
                          <a:spcPts val="0"/>
                        </a:spcAft>
                      </a:pPr>
                      <a:r>
                        <a:rPr lang="en-US" sz="2000" kern="0" dirty="0">
                          <a:effectLst/>
                        </a:rPr>
                        <a:t>3</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spcAft>
                          <a:spcPts val="0"/>
                        </a:spcAft>
                      </a:pPr>
                      <a:r>
                        <a:rPr lang="en-US" sz="2000" kern="0" dirty="0">
                          <a:effectLst/>
                        </a:rPr>
                        <a:t>15</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algn="ctr">
                        <a:spcAft>
                          <a:spcPts val="0"/>
                        </a:spcAft>
                      </a:pPr>
                      <a:r>
                        <a:rPr lang="zh-TW" sz="2000" kern="0">
                          <a:effectLst/>
                        </a:rPr>
                        <a:t>安慰劑</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spcAft>
                          <a:spcPts val="0"/>
                        </a:spcAft>
                      </a:pPr>
                      <a:r>
                        <a:rPr lang="en-US" sz="2000" kern="0" dirty="0">
                          <a:effectLst/>
                        </a:rPr>
                        <a:t>3</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spcAft>
                          <a:spcPts val="0"/>
                        </a:spcAft>
                      </a:pPr>
                      <a:r>
                        <a:rPr lang="en-US" sz="2000" kern="0" dirty="0">
                          <a:effectLst/>
                        </a:rPr>
                        <a:t>14</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ctr">
                        <a:spcAft>
                          <a:spcPts val="0"/>
                        </a:spcAft>
                      </a:pPr>
                      <a:r>
                        <a:rPr lang="en-US" sz="2000" kern="0" dirty="0">
                          <a:effectLst/>
                        </a:rPr>
                        <a:t>17</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
        <p:nvSpPr>
          <p:cNvPr id="8" name="矩形 7"/>
          <p:cNvSpPr/>
          <p:nvPr/>
        </p:nvSpPr>
        <p:spPr>
          <a:xfrm>
            <a:off x="455886" y="908720"/>
            <a:ext cx="8347059" cy="4862613"/>
          </a:xfrm>
          <a:prstGeom prst="rect">
            <a:avLst/>
          </a:prstGeom>
        </p:spPr>
        <p:txBody>
          <a:bodyPr wrap="square">
            <a:spAutoFit/>
          </a:bodyPr>
          <a:lstStyle/>
          <a:p>
            <a:pPr>
              <a:lnSpc>
                <a:spcPct val="120000"/>
              </a:lnSpc>
            </a:pPr>
            <a:r>
              <a:rPr lang="en-US" altLang="zh-TW" dirty="0">
                <a:latin typeface="Times New Roman" panose="02020603050405020304" pitchFamily="18" charset="0"/>
                <a:ea typeface="標楷體" panose="03000509000000000000" pitchFamily="65" charset="-120"/>
                <a:cs typeface="Times New Roman" panose="02020603050405020304" pitchFamily="18" charset="0"/>
              </a:rPr>
              <a:t>1.</a:t>
            </a:r>
            <a:r>
              <a:rPr lang="en-US" altLang="zh-TW" dirty="0">
                <a:latin typeface="+mn-ea"/>
                <a:cs typeface="Times New Roman" panose="02020603050405020304" pitchFamily="18" charset="0"/>
              </a:rPr>
              <a:t> </a:t>
            </a:r>
            <a:r>
              <a:rPr lang="zh-TW" altLang="zh-TW" sz="2000" dirty="0">
                <a:latin typeface="+mn-ea"/>
                <a:cs typeface="Times New Roman" panose="02020603050405020304" pitchFamily="18" charset="0"/>
              </a:rPr>
              <a:t>今有一針對慢性疲勞症候群（</a:t>
            </a:r>
            <a:r>
              <a:rPr lang="en-US" altLang="zh-TW" sz="2000" dirty="0">
                <a:latin typeface="+mn-ea"/>
              </a:rPr>
              <a:t>CFS</a:t>
            </a:r>
            <a:r>
              <a:rPr lang="zh-TW" altLang="zh-TW" sz="2000" dirty="0">
                <a:latin typeface="+mn-ea"/>
                <a:cs typeface="Times New Roman" panose="02020603050405020304" pitchFamily="18" charset="0"/>
              </a:rPr>
              <a:t>）治療方法的臨床試驗，隨機將病患分成兩群分別給予</a:t>
            </a:r>
            <a:r>
              <a:rPr lang="en-US" altLang="zh-TW" sz="2000" dirty="0">
                <a:latin typeface="+mn-ea"/>
              </a:rPr>
              <a:t>A</a:t>
            </a:r>
            <a:r>
              <a:rPr lang="zh-TW" altLang="zh-TW" sz="2000" dirty="0">
                <a:latin typeface="+mn-ea"/>
                <a:cs typeface="Times New Roman" panose="02020603050405020304" pitchFamily="18" charset="0"/>
              </a:rPr>
              <a:t>藥物及安慰劑治療，持續治療六周後評估是否減輕各種身心的不適症狀，資料如下，</a:t>
            </a:r>
            <a:endParaRPr lang="en-US" altLang="zh-TW" sz="2000" dirty="0">
              <a:latin typeface="+mn-ea"/>
              <a:cs typeface="Times New Roman" panose="02020603050405020304" pitchFamily="18" charset="0"/>
            </a:endParaRPr>
          </a:p>
          <a:p>
            <a:pPr marL="342900" indent="-342900">
              <a:buAutoNum type="arabicParenR"/>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AutoNum type="arabicParenR"/>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AutoNum type="arabicParenR"/>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AutoNum type="arabicParenR"/>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AutoNum type="arabicParenR"/>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AutoNum type="arabicParenR"/>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AutoNum type="arabicParenR"/>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indent="-342900">
              <a:buAutoNum type="arabicParenR"/>
            </a:pP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pPr marL="342900" lvl="0" indent="-342900">
              <a:lnSpc>
                <a:spcPct val="120000"/>
              </a:lnSpc>
              <a:buFont typeface="+mj-lt"/>
              <a:buAutoNum type="arabicParenR"/>
            </a:pPr>
            <a:r>
              <a:rPr lang="zh-TW" altLang="zh-TW" sz="2000" dirty="0">
                <a:latin typeface="+mn-ea"/>
                <a:cs typeface="Times New Roman" panose="02020603050405020304" pitchFamily="18" charset="0"/>
              </a:rPr>
              <a:t>試問在顯著水準</a:t>
            </a:r>
            <a:r>
              <a:rPr lang="en-US" altLang="zh-TW" sz="2000" dirty="0">
                <a:latin typeface="+mn-ea"/>
                <a:cs typeface="Times New Roman" panose="02020603050405020304" pitchFamily="18" charset="0"/>
              </a:rPr>
              <a:t>α=0.05</a:t>
            </a:r>
            <a:r>
              <a:rPr lang="zh-TW" altLang="zh-TW" sz="2000" dirty="0">
                <a:latin typeface="+mn-ea"/>
                <a:cs typeface="Times New Roman" panose="02020603050405020304" pitchFamily="18" charset="0"/>
              </a:rPr>
              <a:t>之下，該藥物對於治療慢性疲勞症候群是否有效？請陳述統計檢定的假設、欲使用的統計檢定方法及檢定結論。</a:t>
            </a:r>
          </a:p>
          <a:p>
            <a:pPr marL="342900" lvl="0" indent="-342900">
              <a:lnSpc>
                <a:spcPct val="120000"/>
              </a:lnSpc>
              <a:buFont typeface="+mj-lt"/>
              <a:buAutoNum type="arabicParenR"/>
            </a:pPr>
            <a:r>
              <a:rPr lang="zh-TW" altLang="zh-TW" sz="2000" dirty="0">
                <a:latin typeface="+mn-ea"/>
                <a:cs typeface="Times New Roman" panose="02020603050405020304" pitchFamily="18" charset="0"/>
              </a:rPr>
              <a:t>請檢驗是否符合卡方檢定的適用條件。</a:t>
            </a:r>
          </a:p>
          <a:p>
            <a:pPr marL="342900" indent="-342900">
              <a:lnSpc>
                <a:spcPct val="120000"/>
              </a:lnSpc>
              <a:buFont typeface="+mj-lt"/>
              <a:buAutoNum type="arabicParenR"/>
            </a:pPr>
            <a:r>
              <a:rPr lang="zh-TW" altLang="zh-TW" sz="2000" dirty="0">
                <a:latin typeface="+mn-ea"/>
                <a:cs typeface="Times New Roman" panose="02020603050405020304" pitchFamily="18" charset="0"/>
              </a:rPr>
              <a:t>請以費雪精確性檢定以檢定該藥物對於治療慢性疲勞症候群是否有效。</a:t>
            </a:r>
            <a:endParaRPr lang="zh-TW" altLang="en-US" sz="2000" dirty="0">
              <a:latin typeface="+mn-ea"/>
              <a:cs typeface="Times New Roman" panose="02020603050405020304" pitchFamily="18" charset="0"/>
            </a:endParaRPr>
          </a:p>
        </p:txBody>
      </p:sp>
    </p:spTree>
    <p:extLst>
      <p:ext uri="{BB962C8B-B14F-4D97-AF65-F5344CB8AC3E}">
        <p14:creationId xmlns:p14="http://schemas.microsoft.com/office/powerpoint/2010/main" val="3689031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5" name="內容版面配置區 4" descr="畫面剪輯"/>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520" y="0"/>
            <a:ext cx="8640960" cy="3960440"/>
          </a:xfrm>
        </p:spPr>
      </p:pic>
      <p:sp>
        <p:nvSpPr>
          <p:cNvPr id="4" name="投影片編號版面配置區 3"/>
          <p:cNvSpPr>
            <a:spLocks noGrp="1"/>
          </p:cNvSpPr>
          <p:nvPr>
            <p:ph type="sldNum" sz="quarter" idx="12"/>
          </p:nvPr>
        </p:nvSpPr>
        <p:spPr/>
        <p:txBody>
          <a:bodyPr/>
          <a:lstStyle/>
          <a:p>
            <a:fld id="{C68121D2-9246-4B52-9877-10E6A7AF0C69}" type="slidenum">
              <a:rPr lang="zh-TW" altLang="en-US" smtClean="0"/>
              <a:pPr/>
              <a:t>16</a:t>
            </a:fld>
            <a:endParaRPr lang="zh-TW" altLang="en-US"/>
          </a:p>
        </p:txBody>
      </p:sp>
      <p:pic>
        <p:nvPicPr>
          <p:cNvPr id="6" name="圖片 5"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3978152"/>
            <a:ext cx="8640960" cy="2763215"/>
          </a:xfrm>
          <a:prstGeom prst="rect">
            <a:avLst/>
          </a:prstGeom>
        </p:spPr>
      </p:pic>
      <p:sp>
        <p:nvSpPr>
          <p:cNvPr id="7" name="矩形 6"/>
          <p:cNvSpPr/>
          <p:nvPr/>
        </p:nvSpPr>
        <p:spPr>
          <a:xfrm>
            <a:off x="323528" y="4365104"/>
            <a:ext cx="648072" cy="288032"/>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74276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5" name="內容版面配置區 4" descr="畫面剪輯"/>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7704" y="290845"/>
            <a:ext cx="4925915" cy="3069852"/>
          </a:xfrm>
        </p:spPr>
      </p:pic>
      <p:sp>
        <p:nvSpPr>
          <p:cNvPr id="6" name="文字方塊 5"/>
          <p:cNvSpPr txBox="1"/>
          <p:nvPr/>
        </p:nvSpPr>
        <p:spPr>
          <a:xfrm>
            <a:off x="284666" y="6280919"/>
            <a:ext cx="8568952" cy="577081"/>
          </a:xfrm>
          <a:prstGeom prst="rect">
            <a:avLst/>
          </a:prstGeom>
          <a:noFill/>
        </p:spPr>
        <p:txBody>
          <a:bodyPr wrap="square" rtlCol="0">
            <a:spAutoFit/>
          </a:bodyPr>
          <a:lstStyle/>
          <a:p>
            <a:r>
              <a:rPr lang="en-US" altLang="zh-TW" sz="1050" dirty="0"/>
              <a:t>https://tw.news.yahoo.com/news/%E6%8E%A5%E7%A8%AE%E7%96%AB%E8%8B%97%E7%9C%9F%E8%83%BD%E6%9C%89%E6%95%88%E9%99%8D%E4%BD%8E%E4%B8%AD-%E9%87%8D%E7%97%87-%E5%89%8D%E5%8F%B0%E5%A4%A7%E9%86%AB%E7%AE%97%E7%B5%A6%E4%BD%A0%E7%9C%8B-031920202.html</a:t>
            </a:r>
            <a:endParaRPr lang="zh-TW" altLang="en-US" sz="1050" dirty="0"/>
          </a:p>
        </p:txBody>
      </p:sp>
      <p:graphicFrame>
        <p:nvGraphicFramePr>
          <p:cNvPr id="7" name="表格 6"/>
          <p:cNvGraphicFramePr>
            <a:graphicFrameLocks noGrp="1"/>
          </p:cNvGraphicFramePr>
          <p:nvPr>
            <p:extLst>
              <p:ext uri="{D42A27DB-BD31-4B8C-83A1-F6EECF244321}">
                <p14:modId xmlns:p14="http://schemas.microsoft.com/office/powerpoint/2010/main" val="2042108870"/>
              </p:ext>
            </p:extLst>
          </p:nvPr>
        </p:nvGraphicFramePr>
        <p:xfrm>
          <a:off x="284666" y="4005064"/>
          <a:ext cx="4104457" cy="1864540"/>
        </p:xfrm>
        <a:graphic>
          <a:graphicData uri="http://schemas.openxmlformats.org/drawingml/2006/table">
            <a:tbl>
              <a:tblPr firstRow="1">
                <a:tableStyleId>{7DF18680-E054-41AD-8BC1-D1AEF772440D}</a:tableStyleId>
              </a:tblPr>
              <a:tblGrid>
                <a:gridCol w="697758">
                  <a:extLst>
                    <a:ext uri="{9D8B030D-6E8A-4147-A177-3AD203B41FA5}">
                      <a16:colId xmlns:a16="http://schemas.microsoft.com/office/drawing/2014/main" val="232894459"/>
                    </a:ext>
                  </a:extLst>
                </a:gridCol>
                <a:gridCol w="1053477">
                  <a:extLst>
                    <a:ext uri="{9D8B030D-6E8A-4147-A177-3AD203B41FA5}">
                      <a16:colId xmlns:a16="http://schemas.microsoft.com/office/drawing/2014/main" val="2496167017"/>
                    </a:ext>
                  </a:extLst>
                </a:gridCol>
                <a:gridCol w="1313426">
                  <a:extLst>
                    <a:ext uri="{9D8B030D-6E8A-4147-A177-3AD203B41FA5}">
                      <a16:colId xmlns:a16="http://schemas.microsoft.com/office/drawing/2014/main" val="202978147"/>
                    </a:ext>
                  </a:extLst>
                </a:gridCol>
                <a:gridCol w="1039796">
                  <a:extLst>
                    <a:ext uri="{9D8B030D-6E8A-4147-A177-3AD203B41FA5}">
                      <a16:colId xmlns:a16="http://schemas.microsoft.com/office/drawing/2014/main" val="1689561564"/>
                    </a:ext>
                  </a:extLst>
                </a:gridCol>
              </a:tblGrid>
              <a:tr h="372908">
                <a:tc>
                  <a:txBody>
                    <a:bodyPr/>
                    <a:lstStyle/>
                    <a:p>
                      <a:pPr algn="ctr" fontAlgn="ctr"/>
                      <a:r>
                        <a:rPr lang="zh-TW" altLang="en-US" sz="1200" u="none" strike="noStrike" dirty="0">
                          <a:effectLst/>
                        </a:rPr>
                        <a:t>接種狀態</a:t>
                      </a: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zh-TW" altLang="en-US" sz="1200" u="none" strike="noStrike" dirty="0">
                          <a:effectLst/>
                        </a:rPr>
                        <a:t>中重症人數</a:t>
                      </a: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zh-TW" altLang="en-US" sz="1200" u="none" strike="noStrike">
                          <a:effectLst/>
                        </a:rPr>
                        <a:t>輕症</a:t>
                      </a:r>
                      <a:r>
                        <a:rPr lang="en-US" altLang="zh-TW" sz="1200" u="none" strike="noStrike">
                          <a:effectLst/>
                        </a:rPr>
                        <a:t>/</a:t>
                      </a:r>
                      <a:r>
                        <a:rPr lang="zh-TW" altLang="en-US" sz="1200" u="none" strike="noStrike">
                          <a:effectLst/>
                        </a:rPr>
                        <a:t>無症狀人數</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zh-TW" altLang="en-US" sz="1200" u="none" strike="noStrike" dirty="0">
                          <a:effectLst/>
                        </a:rPr>
                        <a:t>總人數</a:t>
                      </a: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extLst>
                  <a:ext uri="{0D108BD9-81ED-4DB2-BD59-A6C34878D82A}">
                    <a16:rowId xmlns:a16="http://schemas.microsoft.com/office/drawing/2014/main" val="3422665345"/>
                  </a:ext>
                </a:extLst>
              </a:tr>
              <a:tr h="372908">
                <a:tc>
                  <a:txBody>
                    <a:bodyPr/>
                    <a:lstStyle/>
                    <a:p>
                      <a:pPr algn="ctr" fontAlgn="ctr"/>
                      <a:r>
                        <a:rPr lang="zh-TW" altLang="en-US" sz="1200" u="none" strike="noStrike">
                          <a:effectLst/>
                        </a:rPr>
                        <a:t>無接種</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dirty="0">
                          <a:effectLst/>
                        </a:rPr>
                        <a:t>41</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dirty="0">
                          <a:effectLst/>
                        </a:rPr>
                        <a:t>1504628</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dirty="0">
                          <a:effectLst/>
                        </a:rPr>
                        <a:t>1504669</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extLst>
                  <a:ext uri="{0D108BD9-81ED-4DB2-BD59-A6C34878D82A}">
                    <a16:rowId xmlns:a16="http://schemas.microsoft.com/office/drawing/2014/main" val="2464506642"/>
                  </a:ext>
                </a:extLst>
              </a:tr>
              <a:tr h="372908">
                <a:tc>
                  <a:txBody>
                    <a:bodyPr/>
                    <a:lstStyle/>
                    <a:p>
                      <a:pPr algn="ctr" fontAlgn="ctr"/>
                      <a:r>
                        <a:rPr lang="zh-TW" altLang="en-US" sz="1200" u="none" strike="noStrike">
                          <a:effectLst/>
                        </a:rPr>
                        <a:t>接種一劑</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dirty="0">
                          <a:effectLst/>
                        </a:rPr>
                        <a:t>19</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dirty="0">
                          <a:effectLst/>
                        </a:rPr>
                        <a:t>1152382</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a:effectLst/>
                        </a:rPr>
                        <a:t>1152401</a:t>
                      </a:r>
                      <a:endParaRPr lang="en-US" alt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extLst>
                  <a:ext uri="{0D108BD9-81ED-4DB2-BD59-A6C34878D82A}">
                    <a16:rowId xmlns:a16="http://schemas.microsoft.com/office/drawing/2014/main" val="1080343022"/>
                  </a:ext>
                </a:extLst>
              </a:tr>
              <a:tr h="372908">
                <a:tc>
                  <a:txBody>
                    <a:bodyPr/>
                    <a:lstStyle/>
                    <a:p>
                      <a:pPr algn="ctr" fontAlgn="ctr"/>
                      <a:r>
                        <a:rPr lang="zh-TW" altLang="en-US" sz="1200" u="none" strike="noStrike">
                          <a:effectLst/>
                        </a:rPr>
                        <a:t>接種兩劑</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a:effectLst/>
                        </a:rPr>
                        <a:t>39</a:t>
                      </a:r>
                      <a:endParaRPr lang="en-US" alt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dirty="0">
                          <a:effectLst/>
                        </a:rPr>
                        <a:t>6298294</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a:effectLst/>
                        </a:rPr>
                        <a:t>6298333</a:t>
                      </a:r>
                      <a:endParaRPr lang="en-US" alt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extLst>
                  <a:ext uri="{0D108BD9-81ED-4DB2-BD59-A6C34878D82A}">
                    <a16:rowId xmlns:a16="http://schemas.microsoft.com/office/drawing/2014/main" val="3358191450"/>
                  </a:ext>
                </a:extLst>
              </a:tr>
              <a:tr h="372908">
                <a:tc>
                  <a:txBody>
                    <a:bodyPr/>
                    <a:lstStyle/>
                    <a:p>
                      <a:pPr algn="ctr" fontAlgn="ctr"/>
                      <a:r>
                        <a:rPr lang="zh-TW" altLang="en-US" sz="1200" u="none" strike="noStrike">
                          <a:effectLst/>
                        </a:rPr>
                        <a:t>接種三劑</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a:effectLst/>
                        </a:rPr>
                        <a:t>59</a:t>
                      </a:r>
                      <a:endParaRPr lang="en-US" alt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dirty="0">
                          <a:effectLst/>
                        </a:rPr>
                        <a:t>12031931</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dirty="0">
                          <a:effectLst/>
                        </a:rPr>
                        <a:t>12031990</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extLst>
                  <a:ext uri="{0D108BD9-81ED-4DB2-BD59-A6C34878D82A}">
                    <a16:rowId xmlns:a16="http://schemas.microsoft.com/office/drawing/2014/main" val="2952786835"/>
                  </a:ext>
                </a:extLst>
              </a:tr>
            </a:tbl>
          </a:graphicData>
        </a:graphic>
      </p:graphicFrame>
      <p:graphicFrame>
        <p:nvGraphicFramePr>
          <p:cNvPr id="8" name="表格 7"/>
          <p:cNvGraphicFramePr>
            <a:graphicFrameLocks noGrp="1"/>
          </p:cNvGraphicFramePr>
          <p:nvPr>
            <p:extLst>
              <p:ext uri="{D42A27DB-BD31-4B8C-83A1-F6EECF244321}">
                <p14:modId xmlns:p14="http://schemas.microsoft.com/office/powerpoint/2010/main" val="590266399"/>
              </p:ext>
            </p:extLst>
          </p:nvPr>
        </p:nvGraphicFramePr>
        <p:xfrm>
          <a:off x="5220072" y="4617016"/>
          <a:ext cx="3810000" cy="638175"/>
        </p:xfrm>
        <a:graphic>
          <a:graphicData uri="http://schemas.openxmlformats.org/drawingml/2006/table">
            <a:tbl>
              <a:tblPr firstRow="1">
                <a:tableStyleId>{7DF18680-E054-41AD-8BC1-D1AEF772440D}</a:tableStyleId>
              </a:tblPr>
              <a:tblGrid>
                <a:gridCol w="647700">
                  <a:extLst>
                    <a:ext uri="{9D8B030D-6E8A-4147-A177-3AD203B41FA5}">
                      <a16:colId xmlns:a16="http://schemas.microsoft.com/office/drawing/2014/main" val="1197188756"/>
                    </a:ext>
                  </a:extLst>
                </a:gridCol>
                <a:gridCol w="977900">
                  <a:extLst>
                    <a:ext uri="{9D8B030D-6E8A-4147-A177-3AD203B41FA5}">
                      <a16:colId xmlns:a16="http://schemas.microsoft.com/office/drawing/2014/main" val="2918955786"/>
                    </a:ext>
                  </a:extLst>
                </a:gridCol>
                <a:gridCol w="1219200">
                  <a:extLst>
                    <a:ext uri="{9D8B030D-6E8A-4147-A177-3AD203B41FA5}">
                      <a16:colId xmlns:a16="http://schemas.microsoft.com/office/drawing/2014/main" val="423657547"/>
                    </a:ext>
                  </a:extLst>
                </a:gridCol>
                <a:gridCol w="965200">
                  <a:extLst>
                    <a:ext uri="{9D8B030D-6E8A-4147-A177-3AD203B41FA5}">
                      <a16:colId xmlns:a16="http://schemas.microsoft.com/office/drawing/2014/main" val="4208636087"/>
                    </a:ext>
                  </a:extLst>
                </a:gridCol>
              </a:tblGrid>
              <a:tr h="212725">
                <a:tc>
                  <a:txBody>
                    <a:bodyPr/>
                    <a:lstStyle/>
                    <a:p>
                      <a:pPr algn="ctr" fontAlgn="ctr"/>
                      <a:r>
                        <a:rPr lang="zh-TW" altLang="en-US" sz="1200" u="none" strike="noStrike">
                          <a:effectLst/>
                        </a:rPr>
                        <a:t>接種狀態</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zh-TW" altLang="en-US" sz="1200" u="none" strike="noStrike">
                          <a:effectLst/>
                        </a:rPr>
                        <a:t>中重症人數</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zh-TW" altLang="en-US" sz="1200" u="none" strike="noStrike">
                          <a:effectLst/>
                        </a:rPr>
                        <a:t>輕症</a:t>
                      </a:r>
                      <a:r>
                        <a:rPr lang="en-US" altLang="zh-TW" sz="1200" u="none" strike="noStrike">
                          <a:effectLst/>
                        </a:rPr>
                        <a:t>/</a:t>
                      </a:r>
                      <a:r>
                        <a:rPr lang="zh-TW" altLang="en-US" sz="1200" u="none" strike="noStrike">
                          <a:effectLst/>
                        </a:rPr>
                        <a:t>無症狀人數</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zh-TW" altLang="en-US" sz="1200" u="none" strike="noStrike">
                          <a:effectLst/>
                        </a:rPr>
                        <a:t>總人數</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extLst>
                  <a:ext uri="{0D108BD9-81ED-4DB2-BD59-A6C34878D82A}">
                    <a16:rowId xmlns:a16="http://schemas.microsoft.com/office/drawing/2014/main" val="2029146598"/>
                  </a:ext>
                </a:extLst>
              </a:tr>
              <a:tr h="212725">
                <a:tc>
                  <a:txBody>
                    <a:bodyPr/>
                    <a:lstStyle/>
                    <a:p>
                      <a:pPr algn="ctr" fontAlgn="ctr"/>
                      <a:r>
                        <a:rPr lang="zh-TW" altLang="en-US" sz="1200" u="none" strike="noStrike">
                          <a:effectLst/>
                        </a:rPr>
                        <a:t>無接種</a:t>
                      </a:r>
                      <a:endParaRPr lang="zh-TW" altLang="en-US"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a:effectLst/>
                        </a:rPr>
                        <a:t>41</a:t>
                      </a:r>
                      <a:endParaRPr lang="en-US" alt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a:effectLst/>
                        </a:rPr>
                        <a:t>1504628</a:t>
                      </a:r>
                      <a:endParaRPr lang="en-US" alt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a:effectLst/>
                        </a:rPr>
                        <a:t>1504669</a:t>
                      </a:r>
                      <a:endParaRPr lang="en-US" alt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extLst>
                  <a:ext uri="{0D108BD9-81ED-4DB2-BD59-A6C34878D82A}">
                    <a16:rowId xmlns:a16="http://schemas.microsoft.com/office/drawing/2014/main" val="2110107963"/>
                  </a:ext>
                </a:extLst>
              </a:tr>
              <a:tr h="212725">
                <a:tc>
                  <a:txBody>
                    <a:bodyPr/>
                    <a:lstStyle/>
                    <a:p>
                      <a:pPr algn="ctr" fontAlgn="ctr"/>
                      <a:r>
                        <a:rPr lang="zh-TW" altLang="en-US" sz="1200" u="none" strike="noStrike" dirty="0" smtClean="0">
                          <a:effectLst/>
                        </a:rPr>
                        <a:t>有接種</a:t>
                      </a: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a:effectLst/>
                        </a:rPr>
                        <a:t>117</a:t>
                      </a:r>
                      <a:endParaRPr lang="en-US" alt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a:effectLst/>
                        </a:rPr>
                        <a:t>19482607</a:t>
                      </a:r>
                      <a:endParaRPr lang="en-US" altLang="zh-TW" sz="1200" b="0" i="0" u="none" strike="noStrike">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tc>
                  <a:txBody>
                    <a:bodyPr/>
                    <a:lstStyle/>
                    <a:p>
                      <a:pPr algn="ctr" fontAlgn="ctr"/>
                      <a:r>
                        <a:rPr lang="en-US" altLang="zh-TW" sz="1200" u="none" strike="noStrike" dirty="0">
                          <a:effectLst/>
                        </a:rPr>
                        <a:t>19482724</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marL="5443" marR="5443" marT="5443" marB="0" anchor="ctr"/>
                </a:tc>
                <a:extLst>
                  <a:ext uri="{0D108BD9-81ED-4DB2-BD59-A6C34878D82A}">
                    <a16:rowId xmlns:a16="http://schemas.microsoft.com/office/drawing/2014/main" val="3589415671"/>
                  </a:ext>
                </a:extLst>
              </a:tr>
            </a:tbl>
          </a:graphicData>
        </a:graphic>
      </p:graphicFrame>
      <p:cxnSp>
        <p:nvCxnSpPr>
          <p:cNvPr id="10" name="直線單箭頭接點 9"/>
          <p:cNvCxnSpPr/>
          <p:nvPr/>
        </p:nvCxnSpPr>
        <p:spPr>
          <a:xfrm flipH="1">
            <a:off x="3275856" y="3429000"/>
            <a:ext cx="360040" cy="432048"/>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cxnSp>
        <p:nvCxnSpPr>
          <p:cNvPr id="12" name="直線單箭頭接點 11"/>
          <p:cNvCxnSpPr>
            <a:stCxn id="7" idx="3"/>
            <a:endCxn id="8" idx="1"/>
          </p:cNvCxnSpPr>
          <p:nvPr/>
        </p:nvCxnSpPr>
        <p:spPr>
          <a:xfrm flipV="1">
            <a:off x="4389123" y="4936103"/>
            <a:ext cx="830949" cy="1231"/>
          </a:xfrm>
          <a:prstGeom prst="straightConnector1">
            <a:avLst/>
          </a:prstGeom>
          <a:ln w="76200">
            <a:tailEnd type="triangle"/>
          </a:ln>
        </p:spPr>
        <p:style>
          <a:lnRef idx="3">
            <a:schemeClr val="accent4"/>
          </a:lnRef>
          <a:fillRef idx="0">
            <a:schemeClr val="accent4"/>
          </a:fillRef>
          <a:effectRef idx="2">
            <a:schemeClr val="accent4"/>
          </a:effectRef>
          <a:fontRef idx="minor">
            <a:schemeClr val="tx1"/>
          </a:fontRef>
        </p:style>
      </p:cxnSp>
      <p:sp>
        <p:nvSpPr>
          <p:cNvPr id="17" name="矩形 16"/>
          <p:cNvSpPr/>
          <p:nvPr/>
        </p:nvSpPr>
        <p:spPr>
          <a:xfrm>
            <a:off x="2051720" y="4005064"/>
            <a:ext cx="1296144" cy="186454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144807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2A0AC4E3-C379-4D3C-AB70-D95DBB567D57}"/>
              </a:ext>
            </a:extLst>
          </p:cNvPr>
          <p:cNvSpPr txBox="1"/>
          <p:nvPr/>
        </p:nvSpPr>
        <p:spPr>
          <a:xfrm>
            <a:off x="3995936" y="2708920"/>
            <a:ext cx="4464496" cy="369332"/>
          </a:xfrm>
          <a:prstGeom prst="rect">
            <a:avLst/>
          </a:prstGeom>
          <a:noFill/>
        </p:spPr>
        <p:txBody>
          <a:bodyPr wrap="square" rtlCol="0">
            <a:spAutoFit/>
          </a:bodyPr>
          <a:lstStyle/>
          <a:p>
            <a:r>
              <a:rPr lang="en-US" altLang="zh-TW" dirty="0"/>
              <a:t>Thank you!</a:t>
            </a:r>
            <a:endParaRPr lang="zh-TW" altLang="en-US" dirty="0"/>
          </a:p>
        </p:txBody>
      </p:sp>
    </p:spTree>
  </p:cSld>
  <p:clrMapOvr>
    <a:masterClrMapping/>
  </p:clrMapOvr>
</p:sld>
</file>

<file path=ppt/theme/theme1.xml><?xml version="1.0" encoding="utf-8"?>
<a:theme xmlns:a="http://schemas.openxmlformats.org/drawingml/2006/main" name="圖庫">
  <a:themeElements>
    <a:clrScheme name="圖庫">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43BFDE"/>
      </a:accent6>
      <a:hlink>
        <a:srgbClr val="FBAE29"/>
      </a:hlink>
      <a:folHlink>
        <a:srgbClr val="EDC47E"/>
      </a:folHlink>
    </a:clrScheme>
    <a:fontScheme name="圖庫">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圖庫">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TM10001114[[fn=圖庫]]</Template>
  <TotalTime>1542</TotalTime>
  <Words>1398</Words>
  <Application>Microsoft Office PowerPoint</Application>
  <PresentationFormat>如螢幕大小 (4:3)</PresentationFormat>
  <Paragraphs>283</Paragraphs>
  <Slides>18</Slides>
  <Notes>1</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18</vt:i4>
      </vt:variant>
    </vt:vector>
  </HeadingPairs>
  <TitlesOfParts>
    <vt:vector size="28" baseType="lpstr">
      <vt:lpstr>微軟正黑體</vt:lpstr>
      <vt:lpstr>新細明體</vt:lpstr>
      <vt:lpstr>標楷體</vt:lpstr>
      <vt:lpstr>Agency FB</vt:lpstr>
      <vt:lpstr>Arial</vt:lpstr>
      <vt:lpstr>Calibri</vt:lpstr>
      <vt:lpstr>Cambria Math</vt:lpstr>
      <vt:lpstr>Rockwell</vt:lpstr>
      <vt:lpstr>Times New Roman</vt:lpstr>
      <vt:lpstr>圖庫</vt:lpstr>
      <vt:lpstr>第六章  兩個類別變數之檢定</vt:lpstr>
      <vt:lpstr>Key words</vt:lpstr>
      <vt:lpstr>PowerPoint 簡報</vt:lpstr>
      <vt:lpstr>PowerPoint 簡報</vt:lpstr>
      <vt:lpstr>獨立性檢定（Test of independence）</vt:lpstr>
      <vt:lpstr>R×C 列聯表</vt:lpstr>
      <vt:lpstr>獨立性檢定（Test of independence）</vt:lpstr>
      <vt:lpstr>某公司欲檢定不同職級人員對新式刷卡系統是否有不同反應:</vt:lpstr>
      <vt:lpstr>獨立性檢定（Test of independence）</vt:lpstr>
      <vt:lpstr>新生兒持續性肺動脈高壓（persistent pulmonary hypertension of newborn，PPHN）之相關研究。</vt:lpstr>
      <vt:lpstr>表6-1.及表6-2.</vt:lpstr>
      <vt:lpstr>費雪精確性檢定（Fisher exact test）</vt:lpstr>
      <vt:lpstr>PowerPoint 簡報</vt:lpstr>
      <vt:lpstr>費雪精確性檢定（Fisher exact test）</vt:lpstr>
      <vt:lpstr>作業I </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描述資料特徵的統計量及圖表</dc:title>
  <dc:creator>user</dc:creator>
  <cp:lastModifiedBy>YK Lin</cp:lastModifiedBy>
  <cp:revision>183</cp:revision>
  <cp:lastPrinted>2014-10-22T08:17:32Z</cp:lastPrinted>
  <dcterms:created xsi:type="dcterms:W3CDTF">2014-07-25T05:28:55Z</dcterms:created>
  <dcterms:modified xsi:type="dcterms:W3CDTF">2022-05-20T15:10:35Z</dcterms:modified>
</cp:coreProperties>
</file>