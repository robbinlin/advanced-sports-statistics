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28"/>
  </p:notesMasterIdLst>
  <p:handoutMasterIdLst>
    <p:handoutMasterId r:id="rId29"/>
  </p:handoutMasterIdLst>
  <p:sldIdLst>
    <p:sldId id="285" r:id="rId2"/>
    <p:sldId id="363" r:id="rId3"/>
    <p:sldId id="366" r:id="rId4"/>
    <p:sldId id="367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86" r:id="rId15"/>
    <p:sldId id="378" r:id="rId16"/>
    <p:sldId id="379" r:id="rId17"/>
    <p:sldId id="380" r:id="rId18"/>
    <p:sldId id="381" r:id="rId19"/>
    <p:sldId id="358" r:id="rId20"/>
    <p:sldId id="382" r:id="rId21"/>
    <p:sldId id="383" r:id="rId22"/>
    <p:sldId id="384" r:id="rId23"/>
    <p:sldId id="385" r:id="rId24"/>
    <p:sldId id="364" r:id="rId25"/>
    <p:sldId id="365" r:id="rId26"/>
    <p:sldId id="303" r:id="rId27"/>
  </p:sldIdLst>
  <p:sldSz cx="9144000" cy="6858000" type="screen4x3"/>
  <p:notesSz cx="7010400" cy="9167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7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BE7"/>
    <a:srgbClr val="EC7016"/>
    <a:srgbClr val="E48312"/>
    <a:srgbClr val="0F2D69"/>
    <a:srgbClr val="FF6600"/>
    <a:srgbClr val="FF0000"/>
    <a:srgbClr val="3333CC"/>
    <a:srgbClr val="FFFF00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86369" autoAdjust="0"/>
  </p:normalViewPr>
  <p:slideViewPr>
    <p:cSldViewPr>
      <p:cViewPr varScale="1">
        <p:scale>
          <a:sx n="114" d="100"/>
          <a:sy n="114" d="100"/>
        </p:scale>
        <p:origin x="153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88" y="-96"/>
      </p:cViewPr>
      <p:guideLst>
        <p:guide orient="horz" pos="2887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>
              <a:defRPr kumimoji="1"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>
              <a:defRPr kumimoji="1"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09025"/>
            <a:ext cx="30384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>
              <a:defRPr kumimoji="1"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09025"/>
            <a:ext cx="30384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>
              <a:defRPr kumimoji="1" sz="1200" smtClean="0"/>
            </a:lvl1pPr>
          </a:lstStyle>
          <a:p>
            <a:pPr>
              <a:defRPr/>
            </a:pPr>
            <a:fld id="{70F4BBA2-0881-46FD-9FE3-D2C6230B562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3123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>
              <a:defRPr kumimoji="1"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>
              <a:defRPr kumimoji="1"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212850" y="687388"/>
            <a:ext cx="4584700" cy="3438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354513"/>
            <a:ext cx="5140325" cy="412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09025"/>
            <a:ext cx="30384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>
              <a:defRPr kumimoji="1"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709025"/>
            <a:ext cx="30384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>
              <a:defRPr kumimoji="1" sz="1200" smtClean="0"/>
            </a:lvl1pPr>
          </a:lstStyle>
          <a:p>
            <a:pPr>
              <a:defRPr/>
            </a:pPr>
            <a:fld id="{F6CB8617-DEA2-4C3F-A6C7-D26FB938FA7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322680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23925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23925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923925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923925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/>
            <a:fld id="{B09CE4B1-9B23-4BEE-837D-E673249EFD8C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93738"/>
            <a:ext cx="4567237" cy="3425825"/>
          </a:xfrm>
          <a:ln/>
        </p:spPr>
      </p:sp>
    </p:spTree>
    <p:extLst>
      <p:ext uri="{BB962C8B-B14F-4D97-AF65-F5344CB8AC3E}">
        <p14:creationId xmlns:p14="http://schemas.microsoft.com/office/powerpoint/2010/main" val="891051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1115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895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19229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9381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523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0603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0801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247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495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1171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2598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820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3"/>
          <p:cNvSpPr txBox="1">
            <a:spLocks noChangeArrowheads="1"/>
          </p:cNvSpPr>
          <p:nvPr/>
        </p:nvSpPr>
        <p:spPr bwMode="auto">
          <a:xfrm>
            <a:off x="0" y="6521450"/>
            <a:ext cx="2209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TW" altLang="en-US" sz="1600">
                <a:ea typeface="標楷體" pitchFamily="65" charset="-120"/>
              </a:rPr>
              <a:t> </a:t>
            </a:r>
            <a:endParaRPr kumimoji="1" lang="en-US" altLang="zh-TW" sz="1600">
              <a:ea typeface="標楷體" pitchFamily="65" charset="-120"/>
            </a:endParaRPr>
          </a:p>
        </p:txBody>
      </p:sp>
      <p:sp>
        <p:nvSpPr>
          <p:cNvPr id="2052" name="Text Box 25"/>
          <p:cNvSpPr txBox="1">
            <a:spLocks noChangeArrowheads="1"/>
          </p:cNvSpPr>
          <p:nvPr/>
        </p:nvSpPr>
        <p:spPr bwMode="auto">
          <a:xfrm>
            <a:off x="971600" y="1916832"/>
            <a:ext cx="7272338" cy="183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第五章</a:t>
            </a:r>
            <a:endParaRPr kumimoji="1" lang="en-US" altLang="zh-TW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平均數檢定：多組樣本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53677" y="-99392"/>
            <a:ext cx="8229600" cy="1143000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 words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484784"/>
            <a:ext cx="7931224" cy="4522507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變異數分析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整體型一錯誤機率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變異數分析表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組內變異、組間變異、組間離均差平方和、組內離均差平方和、組間均方、組內均方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多重比較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、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事後檢定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Bonferroni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多重比較檢定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Kruskal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-Wallis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檢定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75488" y="2060848"/>
            <a:ext cx="7740396" cy="22322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先前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我們已經討論如何檢定兩個母體平均數或中位數是否有差異的問題，資料有二組樣本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 死亡組、存活組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然而，很多研究會進行三個以上母體平均數差異的比較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死亡組、嚴重組、正常組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，本章將介紹三組以上母體平均數比較之統計檢定。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179512" y="404664"/>
            <a:ext cx="8064896" cy="597666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以下案例是關於配方奶添加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DHA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是否可以提升嬰兒視力敏銳度和認知能力的研究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研究者招募了超過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100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位剛出生的嬰兒，將他們分成四組，每一組在配方奶裡添加不同濃度的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DHA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脂肪酸，各為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</a:p>
          <a:p>
            <a:pPr lvl="1">
              <a:lnSpc>
                <a:spcPct val="16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0%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（對照組）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0.32% DHA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0.64% DHA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0.96%DHA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服用配方奶的時間為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12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個月，然後在出生滿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18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個月的時候，嬰兒接受眼力和智力的測驗。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lvl="1" indent="-342900">
              <a:lnSpc>
                <a:spcPct val="150000"/>
              </a:lnSpc>
              <a:buNone/>
            </a:pP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indent="-342900">
              <a:lnSpc>
                <a:spcPct val="150000"/>
              </a:lnSpc>
              <a:buNone/>
            </a:pPr>
            <a:r>
              <a:rPr lang="zh-TW" altLang="en-US" dirty="0">
                <a:solidFill>
                  <a:srgbClr val="0F2D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問題：</a:t>
            </a:r>
            <a:endParaRPr lang="en-US" altLang="zh-TW" dirty="0">
              <a:solidFill>
                <a:srgbClr val="0F2D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indent="-342900">
              <a:lnSpc>
                <a:spcPct val="150000"/>
              </a:lnSpc>
              <a:buNone/>
            </a:pPr>
            <a:r>
              <a:rPr lang="en-US" altLang="zh-TW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1.</a:t>
            </a:r>
            <a:r>
              <a:rPr lang="zh-TW" altLang="en-US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在配方奶裡添加不同濃度的</a:t>
            </a:r>
            <a:r>
              <a:rPr lang="en-US" altLang="zh-TW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DHA</a:t>
            </a:r>
            <a:r>
              <a:rPr lang="zh-TW" altLang="en-US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脂肪酸的四組嬰兒，其視力與認知能力是否有差異。</a:t>
            </a:r>
            <a:endParaRPr lang="en-US" altLang="zh-TW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lvl="1" indent="-342900">
              <a:lnSpc>
                <a:spcPct val="150000"/>
              </a:lnSpc>
              <a:buNone/>
            </a:pPr>
            <a:r>
              <a:rPr lang="en-US" altLang="zh-TW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2.</a:t>
            </a:r>
            <a:r>
              <a:rPr lang="zh-TW" altLang="en-US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如果有差異，究竟要添加多少濃度的</a:t>
            </a:r>
            <a:r>
              <a:rPr lang="en-US" altLang="zh-TW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DHA</a:t>
            </a:r>
            <a:r>
              <a:rPr lang="zh-TW" altLang="en-US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脂肪酸才能提昇幼兒的眼力和認知能力。</a:t>
            </a:r>
          </a:p>
          <a:p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67544" y="1556792"/>
            <a:ext cx="7787208" cy="5458611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我們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若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先前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所介紹的兩個母體平均數差異檢定方法分析，這種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兩兩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互相比較的檢定方式共有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6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種比較，會導致整體型一錯誤機率（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family-wise type I error rate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）比我們設定的顯著水準膨脹很多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30000"/>
              </a:lnSpc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3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以本例來說我們有四組需要互相比較其平均差異，共要進行六次檢定，假設檢定統計均獨立且每次檢定的顯著水準皆為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α=0.05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，則虛無假設成立時，六次檢定皆正確不犯型一錯誤的機率為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(0.95)</a:t>
            </a:r>
            <a:r>
              <a:rPr lang="en-US" altLang="zh-TW" baseline="30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=0.735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，而至少犯一次型一錯誤的機率高達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1-0.735=0.265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之多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76672"/>
                <a:ext cx="7859216" cy="553061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TW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對於檢測三組或三組以上獨立之母群體平均數差異，且要控制整體型一錯誤機率在顯著水準</a:t>
                </a: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α </a:t>
                </a:r>
                <a:r>
                  <a:rPr lang="zh-TW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以內，最恰當的檢定方式為變異數分析（</a:t>
                </a: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Analysis of Variance</a:t>
                </a:r>
                <a:r>
                  <a:rPr lang="zh-TW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，</a:t>
                </a: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ANOVA</a:t>
                </a:r>
                <a:r>
                  <a:rPr lang="zh-TW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）方法。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TW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假設有一研究欲驗證 </a:t>
                </a:r>
                <a:r>
                  <a:rPr lang="en-US" altLang="zh-TW" i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k</a:t>
                </a: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 </a:t>
                </a:r>
                <a:r>
                  <a:rPr lang="zh-TW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itchFamily="18" charset="0"/>
                  </a:rPr>
                  <a:t>組的母群體平均數是否有差異，所以虛無假設為「各組母群體平均數完全相同」，即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itchFamily="65" charset="-12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  <a:ea typeface="標楷體" pitchFamily="65" charset="-120"/>
                              <a:cs typeface="Times New Roman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  <a:ea typeface="標楷體" pitchFamily="65" charset="-120"/>
                              <a:cs typeface="Times New Roman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  <a:ea typeface="標楷體" pitchFamily="65" charset="-120"/>
                          <a:cs typeface="Times New Roman" pitchFamily="18" charset="0"/>
                        </a:rPr>
                        <m:t>:</m:t>
                      </m:r>
                      <m:r>
                        <a:rPr lang="en-US" altLang="zh-TW" b="0" i="1" smtClean="0">
                          <a:latin typeface="Cambria Math"/>
                          <a:ea typeface="標楷體" pitchFamily="65" charset="-120"/>
                          <a:cs typeface="Times New Roman" pitchFamily="18" charset="0"/>
                        </a:rPr>
                        <m:t>𝑎𝑡</m:t>
                      </m:r>
                      <m:r>
                        <a:rPr lang="en-US" altLang="zh-TW" b="0" i="1" smtClean="0">
                          <a:latin typeface="Cambria Math"/>
                          <a:ea typeface="標楷體" pitchFamily="65" charset="-120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  <a:ea typeface="標楷體" pitchFamily="65" charset="-120"/>
                          <a:cs typeface="Times New Roman" pitchFamily="18" charset="0"/>
                        </a:rPr>
                        <m:t>𝑙𝑒𝑎𝑠𝑡</m:t>
                      </m:r>
                      <m:r>
                        <a:rPr lang="en-US" altLang="zh-TW" b="0" i="1" smtClean="0">
                          <a:latin typeface="Cambria Math"/>
                          <a:ea typeface="標楷體" pitchFamily="65" charset="-120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  <a:ea typeface="標楷體" pitchFamily="65" charset="-120"/>
                          <a:cs typeface="Times New Roman" pitchFamily="18" charset="0"/>
                        </a:rPr>
                        <m:t>𝑜𝑛𝑒</m:t>
                      </m:r>
                      <m:r>
                        <a:rPr lang="en-US" altLang="zh-TW" b="0" i="1" smtClean="0">
                          <a:latin typeface="Cambria Math"/>
                          <a:ea typeface="標楷體" pitchFamily="65" charset="-120"/>
                          <a:cs typeface="Times New Roman" pitchFamily="18" charset="0"/>
                        </a:rPr>
                        <m:t> ≠</m:t>
                      </m:r>
                    </m:oMath>
                  </m:oMathPara>
                </a14:m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itchFamily="18" charset="0"/>
                </a:endParaRPr>
              </a:p>
              <a:p>
                <a:endPara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76672"/>
                <a:ext cx="7859216" cy="5530619"/>
              </a:xfrm>
              <a:blipFill>
                <a:blip r:embed="rId3"/>
                <a:stretch>
                  <a:fillRect l="-1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675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708420"/>
              </p:ext>
            </p:extLst>
          </p:nvPr>
        </p:nvGraphicFramePr>
        <p:xfrm>
          <a:off x="3383868" y="4221088"/>
          <a:ext cx="2376264" cy="360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4" imgW="1320480" imgH="228600" progId="Equation.DSMT4">
                  <p:embed/>
                </p:oleObj>
              </mc:Choice>
              <mc:Fallback>
                <p:oleObj name="Equation" r:id="rId4" imgW="1320480" imgH="2286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868" y="4221088"/>
                        <a:ext cx="2376264" cy="360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980728"/>
            <a:ext cx="7859216" cy="5026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變異數分析主要的概念是將資料的總變異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(total variation)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分離成兩個部分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: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組內變異（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within - group variation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）及組間變異（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between-group variation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pic>
        <p:nvPicPr>
          <p:cNvPr id="3" name="Picture 2" descr="http://www.materresearch.org/mrsc/Resources/StatCourse2006/pics/Varianc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80928"/>
            <a:ext cx="5472608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2411760" y="6453336"/>
            <a:ext cx="6408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http://www.materresearch.org/mrsc/Resources/StatCourse2006/pics/Variance.gif</a:t>
            </a:r>
            <a:endParaRPr lang="zh-TW" alt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530619"/>
          </a:xfrm>
        </p:spPr>
        <p:txBody>
          <a:bodyPr>
            <a:normAutofit/>
          </a:bodyPr>
          <a:lstStyle/>
          <a:p>
            <a:pPr marL="624078" lvl="0" indent="-514350">
              <a:lnSpc>
                <a:spcPct val="130000"/>
              </a:lnSpc>
              <a:buClrTx/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變異數分析之前提假設：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624078" lvl="0" indent="-514350">
              <a:lnSpc>
                <a:spcPct val="130000"/>
              </a:lnSpc>
              <a:buClrTx/>
              <a:buFont typeface="+mj-lt"/>
              <a:buAutoNum type="arabicPeriod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組母群體均為常態分佈，且各組變異數相同。</a:t>
            </a:r>
          </a:p>
          <a:p>
            <a:pPr marL="624078" lvl="0" indent="-514350">
              <a:lnSpc>
                <a:spcPct val="130000"/>
              </a:lnSpc>
              <a:buClrTx/>
              <a:buFont typeface="+mj-lt"/>
              <a:buAutoNum type="arabicPeriod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組中的觀察值為彼此獨立，不相互影響。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624078" lvl="0" indent="-514350">
              <a:lnSpc>
                <a:spcPct val="130000"/>
              </a:lnSpc>
              <a:buClrTx/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其檢定統計量為：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624078" lvl="0" indent="-514350">
              <a:lnSpc>
                <a:spcPct val="130000"/>
              </a:lnSpc>
              <a:buClrTx/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92075" lvl="0" indent="0">
              <a:lnSpc>
                <a:spcPct val="130000"/>
              </a:lnSpc>
              <a:buClrTx/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92075" indent="0">
              <a:lnSpc>
                <a:spcPct val="130000"/>
              </a:lnSpc>
              <a:buClrTx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總樣本數為 </a:t>
            </a:r>
            <a:r>
              <a:rPr lang="en-US" altLang="zh-TW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n=n</a:t>
            </a:r>
            <a:r>
              <a:rPr lang="en-US" altLang="zh-TW" i="1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</a:t>
            </a:r>
            <a:r>
              <a:rPr lang="en-US" altLang="zh-TW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+…+</a:t>
            </a:r>
            <a:r>
              <a:rPr lang="en-US" altLang="zh-TW" i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n</a:t>
            </a:r>
            <a:r>
              <a:rPr lang="en-US" altLang="zh-TW" i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；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  為總平均數，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組間變異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SS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為組間離均差平方和（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between group sum of squares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:</a:t>
            </a:r>
          </a:p>
          <a:p>
            <a:pPr marL="92075" lvl="0" indent="0">
              <a:buClrTx/>
              <a:buNone/>
            </a:pP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0" y="714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1691680" y="2891355"/>
            <a:ext cx="5882500" cy="3096344"/>
            <a:chOff x="1691680" y="2996952"/>
            <a:chExt cx="5882500" cy="3096344"/>
          </a:xfrm>
        </p:grpSpPr>
        <p:graphicFrame>
          <p:nvGraphicFramePr>
            <p:cNvPr id="95238" name="Object 6"/>
            <p:cNvGraphicFramePr>
              <a:graphicFrameLocks noChangeAspect="1"/>
            </p:cNvGraphicFramePr>
            <p:nvPr/>
          </p:nvGraphicFramePr>
          <p:xfrm>
            <a:off x="1691680" y="5445224"/>
            <a:ext cx="5882500" cy="648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" name="Equation" r:id="rId3" imgW="2997000" imgH="330120" progId="Equation.DSMT4">
                    <p:embed/>
                  </p:oleObj>
                </mc:Choice>
                <mc:Fallback>
                  <p:oleObj name="Equation" r:id="rId3" imgW="2997000" imgH="33012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5445224"/>
                          <a:ext cx="5882500" cy="6480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3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6445362"/>
                </p:ext>
              </p:extLst>
            </p:nvPr>
          </p:nvGraphicFramePr>
          <p:xfrm>
            <a:off x="3275856" y="3961556"/>
            <a:ext cx="28803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5" imgW="126720" imgH="215640" progId="Equation.DSMT4">
                    <p:embed/>
                  </p:oleObj>
                </mc:Choice>
                <mc:Fallback>
                  <p:oleObj name="Equation" r:id="rId5" imgW="126720" imgH="21564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3961556"/>
                          <a:ext cx="288032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40" name="Object 8"/>
            <p:cNvGraphicFramePr>
              <a:graphicFrameLocks noChangeAspect="1"/>
            </p:cNvGraphicFramePr>
            <p:nvPr/>
          </p:nvGraphicFramePr>
          <p:xfrm>
            <a:off x="2843808" y="2996952"/>
            <a:ext cx="2808312" cy="844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7" imgW="1562040" imgH="469800" progId="Equation.DSMT4">
                    <p:embed/>
                  </p:oleObj>
                </mc:Choice>
                <mc:Fallback>
                  <p:oleObj name="Equation" r:id="rId7" imgW="1562040" imgH="46980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2996952"/>
                          <a:ext cx="2808312" cy="8447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404664"/>
            <a:ext cx="7859216" cy="5602627"/>
          </a:xfrm>
        </p:spPr>
        <p:txBody>
          <a:bodyPr>
            <a:normAutofit/>
          </a:bodyPr>
          <a:lstStyle/>
          <a:p>
            <a:pPr marL="0">
              <a:lnSpc>
                <a:spcPct val="13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組內變異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SS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W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為組內離均差平方和（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within group sum of squares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;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即各組樣本變異數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　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的加權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(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總和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-1)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lnSpc>
                <a:spcPct val="130000"/>
              </a:lnSpc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lnSpc>
                <a:spcPct val="130000"/>
              </a:lnSpc>
              <a:spcBef>
                <a:spcPts val="600"/>
              </a:spcBef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lnSpc>
                <a:spcPct val="130000"/>
              </a:lnSpc>
              <a:spcBef>
                <a:spcPts val="600"/>
              </a:spcBef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lnSpc>
                <a:spcPct val="130000"/>
              </a:lnSpc>
              <a:spcBef>
                <a:spcPts val="600"/>
              </a:spcBef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間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變異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及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組內變異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，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兩者合為總變異量（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total sum of squares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SS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T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SS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= SS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+ SS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W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lnSpc>
                <a:spcPct val="130000"/>
              </a:lnSpc>
              <a:spcBef>
                <a:spcPts val="600"/>
              </a:spcBef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lnSpc>
                <a:spcPct val="130000"/>
              </a:lnSpc>
              <a:spcBef>
                <a:spcPts val="600"/>
              </a:spcBef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SS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SS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W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各自除以自由度（組間自由度為組數</a:t>
            </a:r>
            <a:r>
              <a:rPr lang="en-US" altLang="zh-TW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- 1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；組內自由度為</a:t>
            </a:r>
            <a:r>
              <a:rPr lang="en-US" altLang="zh-TW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n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- </a:t>
            </a:r>
            <a:r>
              <a:rPr lang="en-US" altLang="zh-TW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），所得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MS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為組間均方（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between group mean square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MS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W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為組內均方（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within group mean square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971600" y="850709"/>
            <a:ext cx="6840760" cy="1354155"/>
            <a:chOff x="1619672" y="791793"/>
            <a:chExt cx="5688632" cy="1354155"/>
          </a:xfrm>
        </p:grpSpPr>
        <p:graphicFrame>
          <p:nvGraphicFramePr>
            <p:cNvPr id="111618" name="Object 2"/>
            <p:cNvGraphicFramePr>
              <a:graphicFrameLocks noChangeAspect="1"/>
            </p:cNvGraphicFramePr>
            <p:nvPr/>
          </p:nvGraphicFramePr>
          <p:xfrm>
            <a:off x="1619672" y="1628800"/>
            <a:ext cx="5688632" cy="517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3" imgW="2793960" imgH="253800" progId="Equation.DSMT4">
                    <p:embed/>
                  </p:oleObj>
                </mc:Choice>
                <mc:Fallback>
                  <p:oleObj name="Equation" r:id="rId3" imgW="2793960" imgH="25380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1628800"/>
                          <a:ext cx="5688632" cy="517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物件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4910425"/>
                </p:ext>
              </p:extLst>
            </p:nvPr>
          </p:nvGraphicFramePr>
          <p:xfrm>
            <a:off x="2218475" y="791793"/>
            <a:ext cx="251168" cy="318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5" imgW="190440" imgH="241200" progId="Equation.DSMT4">
                    <p:embed/>
                  </p:oleObj>
                </mc:Choice>
                <mc:Fallback>
                  <p:oleObj name="Equation" r:id="rId5" imgW="190440" imgH="24120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8475" y="791793"/>
                          <a:ext cx="251168" cy="31814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946404" y="1828801"/>
            <a:ext cx="7009972" cy="4351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在前提假設成立下及虛無假設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H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0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成立下，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lnSpc>
                <a:spcPct val="150000"/>
              </a:lnSpc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p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值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=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　　　　　　        愈小，表示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平均數不相等的機會愈高，我們說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“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資料顯示各組之平均數在統計上有顯著的差異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”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1547663" y="2636912"/>
            <a:ext cx="5040560" cy="2151025"/>
            <a:chOff x="1864705" y="2420888"/>
            <a:chExt cx="3731456" cy="2151025"/>
          </a:xfrm>
        </p:grpSpPr>
        <p:graphicFrame>
          <p:nvGraphicFramePr>
            <p:cNvPr id="112642" name="Object 2"/>
            <p:cNvGraphicFramePr>
              <a:graphicFrameLocks noChangeAspect="1"/>
            </p:cNvGraphicFramePr>
            <p:nvPr/>
          </p:nvGraphicFramePr>
          <p:xfrm>
            <a:off x="2195736" y="2420888"/>
            <a:ext cx="3400425" cy="758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3" imgW="2108160" imgH="469800" progId="Equation.DSMT4">
                    <p:embed/>
                  </p:oleObj>
                </mc:Choice>
                <mc:Fallback>
                  <p:oleObj name="Equation" r:id="rId3" imgW="2108160" imgH="46980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2420888"/>
                          <a:ext cx="3400425" cy="758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4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3710125"/>
                </p:ext>
              </p:extLst>
            </p:nvPr>
          </p:nvGraphicFramePr>
          <p:xfrm>
            <a:off x="1864705" y="4139866"/>
            <a:ext cx="1332662" cy="4320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5" imgW="965160" imgH="279360" progId="Equation.DSMT4">
                    <p:embed/>
                  </p:oleObj>
                </mc:Choice>
                <mc:Fallback>
                  <p:oleObj name="Equation" r:id="rId5" imgW="965160" imgH="27936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4705" y="4139866"/>
                          <a:ext cx="1332662" cy="4320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77220" y="-171400"/>
            <a:ext cx="7269480" cy="1325562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變異數分析表的建立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508528"/>
              </p:ext>
            </p:extLst>
          </p:nvPr>
        </p:nvGraphicFramePr>
        <p:xfrm>
          <a:off x="323528" y="1556792"/>
          <a:ext cx="7704855" cy="1584176"/>
        </p:xfrm>
        <a:graphic>
          <a:graphicData uri="http://schemas.openxmlformats.org/drawingml/2006/table">
            <a:tbl>
              <a:tblPr/>
              <a:tblGrid>
                <a:gridCol w="123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7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3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變異來源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平方和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自由度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均方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F</a:t>
                      </a: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統計量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p</a:t>
                      </a:r>
                      <a:r>
                        <a:rPr lang="zh-TW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值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組間變異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SS</a:t>
                      </a:r>
                      <a:r>
                        <a:rPr lang="en-US" sz="1600" kern="0" baseline="-25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B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k-1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MS</a:t>
                      </a:r>
                      <a:r>
                        <a:rPr lang="en-US" sz="1600" kern="0" baseline="-25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B</a:t>
                      </a: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=SS</a:t>
                      </a:r>
                      <a:r>
                        <a:rPr lang="en-US" sz="1600" kern="0" baseline="-25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B</a:t>
                      </a: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/(k-1)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F=MS</a:t>
                      </a:r>
                      <a:r>
                        <a:rPr lang="en-US" sz="1600" kern="0" baseline="-25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B</a:t>
                      </a: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/MS</a:t>
                      </a:r>
                      <a:r>
                        <a:rPr lang="en-US" sz="1600" kern="0" baseline="-25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W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計算右尾機率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組內變異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SS</a:t>
                      </a:r>
                      <a:r>
                        <a:rPr lang="en-US" sz="1600" kern="0" baseline="-25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W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n-k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MS</a:t>
                      </a:r>
                      <a:r>
                        <a:rPr lang="en-US" sz="1600" kern="0" baseline="-25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W</a:t>
                      </a: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=SS</a:t>
                      </a:r>
                      <a:r>
                        <a:rPr lang="en-US" sz="1600" kern="0" baseline="-25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W</a:t>
                      </a: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/(n-k)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總變異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SS</a:t>
                      </a:r>
                      <a:r>
                        <a:rPr lang="en-US" sz="1600" kern="0" baseline="-250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T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n-1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 kern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467544" y="3556876"/>
            <a:ext cx="7884368" cy="1495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使用範例是有關於補充抗壞血酸的癌症治療研究，樣本為患有胃、支氣管、結腸、卵巢及乳房的晚期癌症患者採用抗壞血酸療法，該研究的目的是想了解是否感染癌症的器官不同會影響其存活時間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存活時間資料之描述性統計如下：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296211" y="291218"/>
            <a:ext cx="7269480" cy="700052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樣本敘述統計量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4330062"/>
              </p:ext>
            </p:extLst>
          </p:nvPr>
        </p:nvGraphicFramePr>
        <p:xfrm>
          <a:off x="107504" y="1484784"/>
          <a:ext cx="8280920" cy="452596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20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9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49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15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2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變數名稱</a:t>
                      </a:r>
                      <a:br>
                        <a:rPr lang="en-US" sz="14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4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Variable</a:t>
                      </a:r>
                      <a:endParaRPr lang="zh-TW" sz="1400" b="1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分組變數</a:t>
                      </a:r>
                      <a:endParaRPr lang="zh-TW" sz="1600" b="1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Organ</a:t>
                      </a:r>
                      <a:endParaRPr lang="zh-TW" sz="1600" b="1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樣本數</a:t>
                      </a:r>
                      <a:b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Count</a:t>
                      </a:r>
                      <a:endParaRPr lang="zh-TW" sz="1600" b="1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平均數</a:t>
                      </a:r>
                      <a:b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Mean</a:t>
                      </a:r>
                      <a:endParaRPr lang="zh-TW" sz="1600" b="1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中位數</a:t>
                      </a:r>
                      <a:b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Median</a:t>
                      </a:r>
                      <a:endParaRPr lang="zh-TW" sz="1600" b="1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最小值</a:t>
                      </a:r>
                      <a:b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Minimum</a:t>
                      </a:r>
                      <a:endParaRPr lang="zh-TW" sz="1600" b="1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最大值</a:t>
                      </a:r>
                      <a:b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Maximum</a:t>
                      </a:r>
                      <a:endParaRPr lang="zh-TW" sz="1600" b="1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標準差</a:t>
                      </a:r>
                      <a:b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sz="16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Std. dev.</a:t>
                      </a:r>
                      <a:endParaRPr lang="zh-TW" sz="1600" b="1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849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Survival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Breast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1395.9091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1166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3808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1238.9667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6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Bronchus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211.5882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155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859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209.8586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86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Colon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457.4118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372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1843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427.1686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Ovary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884.3333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406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89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2970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1098.5788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866">
                <a:tc vMerge="1">
                  <a:txBody>
                    <a:bodyPr/>
                    <a:lstStyle/>
                    <a:p>
                      <a:endParaRPr lang="zh-TW" sz="1600" kern="100" dirty="0">
                        <a:latin typeface="Calibri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Stomach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286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124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1112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346.3096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866">
                <a:tc vMerge="1">
                  <a:txBody>
                    <a:bodyPr/>
                    <a:lstStyle/>
                    <a:p>
                      <a:endParaRPr lang="zh-TW" sz="1600" kern="100" dirty="0">
                        <a:latin typeface="Calibri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不分組（</a:t>
                      </a: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</a:t>
                      </a: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558.625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265.5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3808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776.4787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4499" marR="4499" marT="4499" marB="4499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755576" y="476672"/>
            <a:ext cx="7269480" cy="735663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變異數分析表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889929"/>
              </p:ext>
            </p:extLst>
          </p:nvPr>
        </p:nvGraphicFramePr>
        <p:xfrm>
          <a:off x="107504" y="1412776"/>
          <a:ext cx="7917551" cy="2551447"/>
        </p:xfrm>
        <a:graphic>
          <a:graphicData uri="http://schemas.openxmlformats.org/drawingml/2006/table">
            <a:tbl>
              <a:tblPr/>
              <a:tblGrid>
                <a:gridCol w="100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7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7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8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27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來源</a:t>
                      </a:r>
                      <a:b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</a:b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source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平方和</a:t>
                      </a:r>
                      <a:b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</a:b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sum of squares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自由度</a:t>
                      </a:r>
                      <a:b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</a:br>
                      <a:r>
                        <a:rPr lang="en-US" sz="1600" kern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d.f</a:t>
                      </a: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.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均方</a:t>
                      </a:r>
                      <a:b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</a:b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mean square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F</a:t>
                      </a: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檢定統計量</a:t>
                      </a:r>
                      <a:b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</a:b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F-statistics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p-</a:t>
                      </a:r>
                      <a:r>
                        <a:rPr lang="zh-TW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值</a:t>
                      </a:r>
                      <a:b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</a:b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p-value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處理</a:t>
                      </a:r>
                      <a:b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</a:b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treatment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11535761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4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2883940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6.4334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0.00022945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7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誤差</a:t>
                      </a:r>
                      <a:b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</a:b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error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26448144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59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448273.6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7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總和</a:t>
                      </a:r>
                      <a:b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</a:b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total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37983905</a:t>
                      </a:r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/>
                        </a:rPr>
                        <a:t>63</a:t>
                      </a:r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sz="1600" kern="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sz="1600" kern="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307" marR="5307" marT="5307" marB="53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11560" y="4365104"/>
            <a:ext cx="7200800" cy="872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上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表為變異數分析檢定結果，顯著水準為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0.05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時，我們有充份證據顯示五組之平均存活天數有顯著差異。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SPSS: 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lnSpc>
                <a:spcPct val="150000"/>
              </a:lnSpc>
              <a:buNone/>
            </a:pP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分析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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比較平均數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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單因數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變異數分析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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參數設定：選擇要進行分析的變數（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依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變數：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Survival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，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因子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：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Organ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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選項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: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敘述統計量）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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確定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170579"/>
          </a:xfrm>
        </p:spPr>
        <p:txBody>
          <a:bodyPr>
            <a:normAutofit/>
          </a:bodyPr>
          <a:lstStyle/>
          <a:p>
            <a:pPr marL="0">
              <a:lnSpc>
                <a:spcPct val="130000"/>
              </a:lnSpc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假如無法拒絕虛無假設，則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”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沒證據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”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證實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en-US" altLang="zh-TW" sz="1800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組的母群體平均數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是有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差異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；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若拒絕虛無假設，則須再進一步探究這 </a:t>
            </a:r>
            <a:r>
              <a:rPr lang="en-US" altLang="zh-TW" sz="1800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組的母群體平均數差異的情形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，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我們稱為事後檢定（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post-hoc test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0">
              <a:lnSpc>
                <a:spcPct val="130000"/>
              </a:lnSpc>
              <a:buNone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從圖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5-1.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的盒鬚圖中可明顯發現並非所有組別之平均存活時間皆有差異，因此，接下來我們可以利用事後多重比較的方法（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Post-hoc test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）再進一步檢定到底是哪幾組的平均值有差異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?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pic>
        <p:nvPicPr>
          <p:cNvPr id="4" name="圖片 3" descr="http://www.r-web.com.tw/tmp/4iyowzkn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0" b="8399"/>
          <a:stretch/>
        </p:blipFill>
        <p:spPr bwMode="auto">
          <a:xfrm>
            <a:off x="2051720" y="3422001"/>
            <a:ext cx="5256584" cy="33123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476672"/>
            <a:ext cx="7269480" cy="749498"/>
          </a:xfrm>
        </p:spPr>
        <p:txBody>
          <a:bodyPr>
            <a:normAutofit/>
          </a:bodyPr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事後檢定（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post-hoc test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當變異數分析的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F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檢定值達顯著水準時，即拒絕各組平均數相等的虛無假設，亦表示至少有兩組平均數之間有顯著差異存在，因此需檢驗兩兩個別平均數間是否 存在顯著差異，此時我們即進行了多重比較（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multiple comparisons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）之檢定。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30000"/>
              </a:lnSpc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3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在此我們介紹常用的事後檢定方式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,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這些方法都確定整體多重檢定之型一誤差機率不大於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α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332656"/>
            <a:ext cx="7269480" cy="710594"/>
          </a:xfrm>
        </p:spPr>
        <p:txBody>
          <a:bodyPr/>
          <a:lstStyle/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Bonferroni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法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67544" y="1383770"/>
            <a:ext cx="7848872" cy="48105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此法為多重比較中常見的方法，所用的方法類似前章所述之獨立樣本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t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檢定，每兩組進行平均數是否相等的檢定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假若有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k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組資料，則需進行共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　　　　            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次的假設檢定，為使整體犯型一錯誤機率能維持在設定的顯著水準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α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以內，則必須調整每個個別檢定的顯著水準為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3402806" y="2924944"/>
            <a:ext cx="2338387" cy="2870175"/>
            <a:chOff x="3402806" y="2924944"/>
            <a:chExt cx="2338387" cy="2870175"/>
          </a:xfrm>
        </p:grpSpPr>
        <p:graphicFrame>
          <p:nvGraphicFramePr>
            <p:cNvPr id="11673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9938664"/>
                </p:ext>
              </p:extLst>
            </p:nvPr>
          </p:nvGraphicFramePr>
          <p:xfrm>
            <a:off x="3904481" y="2924944"/>
            <a:ext cx="1355725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Equation" r:id="rId3" imgW="876240" imgH="419040" progId="Equation.DSMT4">
                    <p:embed/>
                  </p:oleObj>
                </mc:Choice>
                <mc:Fallback>
                  <p:oleObj name="Equation" r:id="rId3" imgW="876240" imgH="41904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4481" y="2924944"/>
                          <a:ext cx="1355725" cy="647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73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0322926"/>
                </p:ext>
              </p:extLst>
            </p:nvPr>
          </p:nvGraphicFramePr>
          <p:xfrm>
            <a:off x="3402806" y="4725144"/>
            <a:ext cx="2338387" cy="1069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name="Equation" r:id="rId5" imgW="1333440" imgH="609480" progId="Equation.DSMT4">
                    <p:embed/>
                  </p:oleObj>
                </mc:Choice>
                <mc:Fallback>
                  <p:oleObj name="Equation" r:id="rId5" imgW="1333440" imgH="60948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2806" y="4725144"/>
                          <a:ext cx="2338387" cy="1069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692696"/>
            <a:ext cx="7859216" cy="5314595"/>
          </a:xfrm>
        </p:spPr>
        <p:txBody>
          <a:bodyPr/>
          <a:lstStyle/>
          <a:p>
            <a:pPr>
              <a:lnSpc>
                <a:spcPct val="130000"/>
              </a:lnSpc>
              <a:buNone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虛無假設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：第 </a:t>
            </a:r>
            <a:r>
              <a:rPr lang="en-US" altLang="zh-TW" i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組與第 </a:t>
            </a:r>
            <a:r>
              <a:rPr lang="en-US" altLang="zh-TW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j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組平均存活天數無差異（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H</a:t>
            </a:r>
            <a:r>
              <a:rPr lang="en-US" altLang="zh-TW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0</a:t>
            </a: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：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　　　 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</a:t>
            </a:r>
          </a:p>
          <a:p>
            <a:pPr>
              <a:lnSpc>
                <a:spcPct val="130000"/>
              </a:lnSpc>
              <a:buNone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對立假設：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第 </a:t>
            </a:r>
            <a:r>
              <a:rPr lang="en-US" altLang="zh-TW" i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組與第 </a:t>
            </a:r>
            <a:r>
              <a:rPr lang="en-US" altLang="zh-TW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j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組平均存活天數有差異（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H</a:t>
            </a:r>
            <a:r>
              <a:rPr lang="en-US" altLang="zh-TW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a</a:t>
            </a: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：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　　　 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3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則多重檢定統計量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t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與雙樣本平均數檢定相似，僅差異在母體變異數的估計是以全部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k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組資料為基礎的變異數估計量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MS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W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：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sp>
        <p:nvSpPr>
          <p:cNvPr id="11776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3131840" y="729673"/>
            <a:ext cx="3708113" cy="4401472"/>
            <a:chOff x="3131840" y="729673"/>
            <a:chExt cx="3708113" cy="4401472"/>
          </a:xfrm>
        </p:grpSpPr>
        <p:graphicFrame>
          <p:nvGraphicFramePr>
            <p:cNvPr id="117762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3402343"/>
                </p:ext>
              </p:extLst>
            </p:nvPr>
          </p:nvGraphicFramePr>
          <p:xfrm>
            <a:off x="5971946" y="729673"/>
            <a:ext cx="792088" cy="3960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name="Equation" r:id="rId3" imgW="482400" imgH="241200" progId="Equation.DSMT4">
                    <p:embed/>
                  </p:oleObj>
                </mc:Choice>
                <mc:Fallback>
                  <p:oleObj name="Equation" r:id="rId3" imgW="482400" imgH="24120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1946" y="729673"/>
                          <a:ext cx="792088" cy="3960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76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2138600"/>
                </p:ext>
              </p:extLst>
            </p:nvPr>
          </p:nvGraphicFramePr>
          <p:xfrm>
            <a:off x="5971946" y="1292852"/>
            <a:ext cx="868007" cy="4340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" name="Equation" r:id="rId5" imgW="482400" imgH="241200" progId="Equation.DSMT4">
                    <p:embed/>
                  </p:oleObj>
                </mc:Choice>
                <mc:Fallback>
                  <p:oleObj name="Equation" r:id="rId5" imgW="482400" imgH="24120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1946" y="1292852"/>
                          <a:ext cx="868007" cy="4340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76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120833"/>
                </p:ext>
              </p:extLst>
            </p:nvPr>
          </p:nvGraphicFramePr>
          <p:xfrm>
            <a:off x="3131840" y="3722989"/>
            <a:ext cx="2880320" cy="1408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" name="Equation" r:id="rId7" imgW="1714320" imgH="838080" progId="Equation.DSMT4">
                    <p:embed/>
                  </p:oleObj>
                </mc:Choice>
                <mc:Fallback>
                  <p:oleObj name="Equation" r:id="rId7" imgW="1714320" imgH="83808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840" y="3722989"/>
                          <a:ext cx="2880320" cy="1408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2"/>
          <p:cNvSpPr>
            <a:spLocks noGrp="1"/>
          </p:cNvSpPr>
          <p:nvPr>
            <p:ph type="title"/>
          </p:nvPr>
        </p:nvSpPr>
        <p:spPr>
          <a:xfrm>
            <a:off x="195153" y="79628"/>
            <a:ext cx="8229600" cy="738336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Bonferroni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多重比較檢定結果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998134"/>
              </p:ext>
            </p:extLst>
          </p:nvPr>
        </p:nvGraphicFramePr>
        <p:xfrm>
          <a:off x="195153" y="929020"/>
          <a:ext cx="7992885" cy="4261132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8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8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746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effectLst/>
                        </a:rPr>
                        <a:t>Bonferroni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</a:rPr>
                        <a:t>差異</a:t>
                      </a:r>
                      <a:br>
                        <a:rPr lang="en-US" sz="1600" kern="0" dirty="0">
                          <a:effectLst/>
                        </a:rPr>
                      </a:br>
                      <a:r>
                        <a:rPr lang="en-US" sz="1600" kern="0" dirty="0">
                          <a:effectLst/>
                        </a:rPr>
                        <a:t>Difference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95% </a:t>
                      </a:r>
                      <a:r>
                        <a:rPr lang="zh-TW" sz="1800" kern="0" dirty="0">
                          <a:effectLst/>
                        </a:rPr>
                        <a:t>信賴區間</a:t>
                      </a:r>
                      <a:endParaRPr lang="zh-TW" sz="18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400" kern="0" dirty="0">
                          <a:effectLst/>
                        </a:rPr>
                        <a:t>修正</a:t>
                      </a:r>
                      <a:r>
                        <a:rPr lang="en-US" sz="1400" kern="0" dirty="0">
                          <a:effectLst/>
                        </a:rPr>
                        <a:t>P-</a:t>
                      </a:r>
                      <a:r>
                        <a:rPr lang="zh-TW" sz="1400" kern="0" dirty="0">
                          <a:effectLst/>
                        </a:rPr>
                        <a:t>值</a:t>
                      </a:r>
                      <a:br>
                        <a:rPr lang="en-US" sz="1400" kern="0" dirty="0">
                          <a:effectLst/>
                        </a:rPr>
                      </a:br>
                      <a:r>
                        <a:rPr lang="en-US" sz="1400" kern="0" dirty="0">
                          <a:effectLst/>
                        </a:rPr>
                        <a:t>Adj. p-value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400" b="1" kern="0" dirty="0">
                          <a:solidFill>
                            <a:schemeClr val="bg1"/>
                          </a:solidFill>
                          <a:effectLst/>
                        </a:rPr>
                        <a:t>下界</a:t>
                      </a:r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 Lower</a:t>
                      </a:r>
                      <a:endParaRPr lang="zh-TW" sz="1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EC70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400" b="1" kern="0" dirty="0">
                          <a:solidFill>
                            <a:schemeClr val="bg1"/>
                          </a:solidFill>
                          <a:effectLst/>
                        </a:rPr>
                        <a:t>上界</a:t>
                      </a:r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</a:rPr>
                        <a:t> Upper</a:t>
                      </a:r>
                      <a:endParaRPr lang="zh-TW" sz="1400" b="1" kern="100" dirty="0">
                        <a:solidFill>
                          <a:schemeClr val="bg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solidFill>
                      <a:srgbClr val="EC701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Breast - Bronchus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1184.3209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428.7367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1939.905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0.0003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Breast - Colon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938.4973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182.9132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1694.0815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0.0061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Bronchus - Colon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-245.8235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-915.5773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423.9302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Breast - Ovary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511.5758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-479.4321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1502.5836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Bronchus - Ovary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-672.7451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-1599.9772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254.487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0.3857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Colon - Ovary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-426.9216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-1354.1537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500.3105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Breast - Stomach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1109.9091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309.9602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1909.8579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0.0015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Bronchus - Stomach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-74.4118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-793.8427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645.0192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Colon - Stomach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171.4118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-548.0192</a:t>
                      </a:r>
                      <a:endParaRPr lang="zh-TW" sz="14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890.8427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Ovary - Stomach</a:t>
                      </a:r>
                      <a:endParaRPr lang="zh-TW" sz="14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598.3333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-365.3939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1562.0605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0.7528</a:t>
                      </a:r>
                      <a:endParaRPr lang="zh-TW" sz="14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39552" y="5301208"/>
            <a:ext cx="777686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顯著水準為</a:t>
            </a:r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0.05</a:t>
            </a:r>
            <a:r>
              <a:rPr lang="zh-TW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時，我們有充份證據顯示乳癌與胃癌、支氣管癌及結腸癌三組間之平均存活天數有顯著差異，而且乳癌患者平均存活天數顯著高於胃癌、支氣管癌及結腸癌患者。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397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95536" y="35548"/>
            <a:ext cx="7920880" cy="1325562"/>
          </a:xfrm>
        </p:spPr>
        <p:txBody>
          <a:bodyPr>
            <a:normAutofit/>
          </a:bodyPr>
          <a:lstStyle/>
          <a:p>
            <a:r>
              <a:rPr lang="zh-TW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無母數方法</a:t>
            </a:r>
            <a:b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</a:b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- Kruskal-Wallis test</a:t>
            </a:r>
            <a:r>
              <a:rPr lang="zh-TW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（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K-W test</a:t>
            </a:r>
            <a:r>
              <a:rPr lang="zh-TW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假如資料分布不為常態或各組變異數不全相同時，則會考慮以無母數檢定方式來分析，無母數檢定方式不需要對資料的分佈做任何假設，如同在獨立雙樣本之中位數檢定中使用威爾考森等級和檢定（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Wilcoxon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rank-sum test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），在多組樣本變異數分析對應的無母數分析為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Kruskal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-Wallis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檢定，可檢定多組母群體中位數是否完全相等的假設。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20000"/>
              </a:lnSpc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虛無假設（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H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0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）：各組母群體中位數完全相同</a:t>
            </a:r>
          </a:p>
          <a:p>
            <a:pPr>
              <a:lnSpc>
                <a:spcPct val="120000"/>
              </a:lnSpc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對立假設（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H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a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）：</a:t>
            </a:r>
            <a:r>
              <a:rPr lang="en-US" altLang="zh-TW" i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組間的母群體中位數不完全相同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764704"/>
            <a:ext cx="7859216" cy="52425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先將各組樣本混合並作排序後，依數值由小排到大並標記序位（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rank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），再將序位分數放回原各組內，計算各組序位總和及序位平均，再藉由各組樣本數換算成檢定統計量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H:</a:t>
            </a:r>
          </a:p>
          <a:p>
            <a:pPr>
              <a:lnSpc>
                <a:spcPct val="120000"/>
              </a:lnSpc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20000"/>
              </a:lnSpc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使用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K-W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檢定唯一的限制是各組樣本數至少要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 5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以上。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2627784" y="2036299"/>
            <a:ext cx="3151735" cy="1944216"/>
            <a:chOff x="2699792" y="2708920"/>
            <a:chExt cx="3151735" cy="1944216"/>
          </a:xfrm>
        </p:grpSpPr>
        <p:graphicFrame>
          <p:nvGraphicFramePr>
            <p:cNvPr id="122884" name="Object 4"/>
            <p:cNvGraphicFramePr>
              <a:graphicFrameLocks noChangeAspect="1"/>
            </p:cNvGraphicFramePr>
            <p:nvPr/>
          </p:nvGraphicFramePr>
          <p:xfrm>
            <a:off x="2771800" y="2708920"/>
            <a:ext cx="3079727" cy="1152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name="Equation" r:id="rId3" imgW="1765080" imgH="660240" progId="Equation.DSMT4">
                    <p:embed/>
                  </p:oleObj>
                </mc:Choice>
                <mc:Fallback>
                  <p:oleObj name="Equation" r:id="rId3" imgW="1765080" imgH="66024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2708920"/>
                          <a:ext cx="3079727" cy="1152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885" name="Object 5"/>
            <p:cNvGraphicFramePr>
              <a:graphicFrameLocks noChangeAspect="1"/>
            </p:cNvGraphicFramePr>
            <p:nvPr/>
          </p:nvGraphicFramePr>
          <p:xfrm>
            <a:off x="2699792" y="4077072"/>
            <a:ext cx="2356626" cy="576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name="Equation" r:id="rId5" imgW="1143000" imgH="279360" progId="Equation.DSMT4">
                    <p:embed/>
                  </p:oleObj>
                </mc:Choice>
                <mc:Fallback>
                  <p:oleObj name="Equation" r:id="rId5" imgW="1143000" imgH="27936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792" y="4077072"/>
                          <a:ext cx="2356626" cy="5760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39552" y="157379"/>
            <a:ext cx="7269480" cy="926618"/>
          </a:xfrm>
        </p:spPr>
        <p:txBody>
          <a:bodyPr>
            <a:normAutofit/>
          </a:bodyPr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多樣本中位數差異檢定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755984"/>
          </a:xfrm>
        </p:spPr>
        <p:txBody>
          <a:bodyPr>
            <a:normAutofit/>
          </a:bodyPr>
          <a:lstStyle/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顯著水準為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0.05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時，我們有充份證據顯示五組之平均存活天數有顯著差異。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42283"/>
              </p:ext>
            </p:extLst>
          </p:nvPr>
        </p:nvGraphicFramePr>
        <p:xfrm>
          <a:off x="457201" y="1412776"/>
          <a:ext cx="7756375" cy="28704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1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5848">
                <a:tc grid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虛無假設：各母體的中位數相同</a:t>
                      </a:r>
                      <a:br>
                        <a:rPr lang="en-US" sz="20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</a:br>
                      <a:r>
                        <a:rPr lang="en-US" sz="20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H</a:t>
                      </a:r>
                      <a:r>
                        <a:rPr lang="en-US" sz="2000" kern="0" baseline="-2500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0</a:t>
                      </a:r>
                      <a:r>
                        <a:rPr lang="zh-TW" sz="20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：</a:t>
                      </a:r>
                      <a:r>
                        <a:rPr lang="en-US" sz="20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m</a:t>
                      </a:r>
                      <a:r>
                        <a:rPr lang="en-US" sz="2000" kern="0" baseline="-2500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1</a:t>
                      </a:r>
                      <a:r>
                        <a:rPr lang="en-US" sz="20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 = ... = m</a:t>
                      </a:r>
                      <a:r>
                        <a:rPr lang="en-US" sz="2000" kern="0" baseline="-2500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5</a:t>
                      </a:r>
                      <a:endParaRPr lang="zh-TW" sz="2000" kern="100" dirty="0">
                        <a:effectLst/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8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800" kern="0" dirty="0">
                          <a:effectLst/>
                        </a:rPr>
                        <a:t>變數名稱</a:t>
                      </a:r>
                      <a:br>
                        <a:rPr lang="en-US" sz="1800" kern="0" dirty="0">
                          <a:effectLst/>
                        </a:rPr>
                      </a:br>
                      <a:r>
                        <a:rPr lang="en-US" sz="1800" kern="0" dirty="0">
                          <a:effectLst/>
                        </a:rPr>
                        <a:t>variable</a:t>
                      </a:r>
                      <a:endParaRPr lang="zh-TW" sz="18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K-W</a:t>
                      </a:r>
                      <a:r>
                        <a:rPr lang="zh-TW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卡方檢定統計量</a:t>
                      </a:r>
                      <a:b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</a:br>
                      <a:r>
                        <a:rPr lang="en-US" sz="1600" kern="0" dirty="0" err="1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Kruskal</a:t>
                      </a: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-Wallis chi-square statistics</a:t>
                      </a:r>
                      <a:endParaRPr lang="zh-TW" sz="1600" kern="100" dirty="0">
                        <a:effectLst/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自由度</a:t>
                      </a:r>
                      <a:b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</a:br>
                      <a:r>
                        <a:rPr lang="en-US" sz="1600" kern="0" dirty="0" err="1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d.f</a:t>
                      </a: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.</a:t>
                      </a:r>
                      <a:endParaRPr lang="zh-TW" sz="1600" kern="100" dirty="0">
                        <a:effectLst/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臨界值</a:t>
                      </a:r>
                      <a:b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</a:b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Χ</a:t>
                      </a:r>
                      <a:r>
                        <a:rPr lang="en-US" sz="1600" kern="0" baseline="3000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2</a:t>
                      </a: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(d.f.,1-α)</a:t>
                      </a:r>
                      <a:endParaRPr lang="zh-TW" sz="1600" kern="100" dirty="0">
                        <a:effectLst/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p-</a:t>
                      </a:r>
                      <a:r>
                        <a:rPr lang="zh-TW" sz="1600" kern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值</a:t>
                      </a:r>
                      <a:r>
                        <a:rPr lang="en-US" sz="1600" kern="0" baseline="3000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II</a:t>
                      </a:r>
                      <a:br>
                        <a:rPr lang="en-US" sz="1600" kern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</a:br>
                      <a:r>
                        <a:rPr lang="en-US" sz="1600" kern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p-value</a:t>
                      </a:r>
                      <a:endParaRPr lang="zh-TW" sz="1600" kern="100">
                        <a:effectLst/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Survival</a:t>
                      </a:r>
                      <a:endParaRPr lang="zh-TW" sz="18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14.9539</a:t>
                      </a:r>
                      <a:endParaRPr lang="zh-TW" sz="1600" kern="100" dirty="0">
                        <a:effectLst/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4</a:t>
                      </a:r>
                      <a:endParaRPr lang="zh-TW" sz="1600" kern="100" dirty="0">
                        <a:effectLst/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9.4877</a:t>
                      </a:r>
                      <a:endParaRPr lang="zh-TW" sz="1600" kern="100" dirty="0">
                        <a:effectLst/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0.0047979 **</a:t>
                      </a:r>
                      <a:endParaRPr lang="zh-TW" sz="1600" kern="100" dirty="0">
                        <a:effectLst/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SPSS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>
              <a:lnSpc>
                <a:spcPct val="150000"/>
              </a:lnSpc>
              <a:buNone/>
            </a:pP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分析方法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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無母數方法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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獨立樣本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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目標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自訂分析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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欄位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檢定欄位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Survival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，群組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:Organ 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設定：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自訂檢定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（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Kruskal-Wallis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檢定）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 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  <a:sym typeface="Wingdings"/>
              </a:rPr>
              <a:t>執行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95536" y="0"/>
            <a:ext cx="7269480" cy="1325562"/>
          </a:xfrm>
        </p:spPr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54360" y="1844824"/>
            <a:ext cx="7861524" cy="4810539"/>
          </a:xfrm>
        </p:spPr>
        <p:txBody>
          <a:bodyPr/>
          <a:lstStyle/>
          <a:p>
            <a:pPr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某教練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欲瞭解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三種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營養補充品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在體重增加的情形是否有差異，故以完全隨機方式抽出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26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選手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分別試用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四種補充品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，並記錄其一周後體重增加（單位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公斤，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kg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）的情形，資料如下表所示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465286"/>
              </p:ext>
            </p:extLst>
          </p:nvPr>
        </p:nvGraphicFramePr>
        <p:xfrm>
          <a:off x="1259632" y="3933056"/>
          <a:ext cx="6552729" cy="1944216"/>
        </p:xfrm>
        <a:graphic>
          <a:graphicData uri="http://schemas.openxmlformats.org/drawingml/2006/table">
            <a:tbl>
              <a:tblPr/>
              <a:tblGrid>
                <a:gridCol w="106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6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2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2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61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2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61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>
                          <a:latin typeface="Times New Roman"/>
                          <a:ea typeface="標楷體"/>
                          <a:cs typeface="Times New Roman"/>
                        </a:rPr>
                        <a:t>A</a:t>
                      </a:r>
                      <a:endParaRPr lang="zh-TW" sz="1800" kern="100" dirty="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1.21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1.19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1.17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1.23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1.29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1.14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1800" kern="100">
                        <a:latin typeface="Times New Roman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1800" kern="100">
                        <a:latin typeface="Times New Roman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b="0" kern="100" dirty="0">
                          <a:latin typeface="Times New Roman"/>
                          <a:ea typeface="標楷體"/>
                          <a:cs typeface="Times New Roman"/>
                        </a:rPr>
                        <a:t>B</a:t>
                      </a:r>
                      <a:endParaRPr lang="zh-TW" sz="1800" b="0" kern="100" dirty="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1.34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1.41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1.38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1.29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1.36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1.42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1.37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1.32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>
                          <a:latin typeface="Times New Roman"/>
                          <a:ea typeface="標楷體"/>
                          <a:cs typeface="Times New Roman"/>
                        </a:rPr>
                        <a:t>C</a:t>
                      </a:r>
                      <a:endParaRPr lang="zh-TW" sz="1800" kern="100" dirty="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1.45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1.45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1.51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1.39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1.44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1800" kern="100">
                        <a:latin typeface="Times New Roman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1800" kern="100">
                        <a:latin typeface="Times New Roman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1800" kern="100" dirty="0">
                        <a:latin typeface="Times New Roman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>
                          <a:latin typeface="Times New Roman"/>
                          <a:ea typeface="標楷體"/>
                          <a:cs typeface="Times New Roman"/>
                        </a:rPr>
                        <a:t>D</a:t>
                      </a:r>
                      <a:endParaRPr lang="zh-TW" sz="1800" kern="100" dirty="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1.31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1.32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1.28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1.35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1.41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1.27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/>
                          <a:ea typeface="標楷體"/>
                          <a:cs typeface="Times New Roman"/>
                        </a:rPr>
                        <a:t>1.37</a:t>
                      </a:r>
                      <a:endParaRPr lang="zh-TW" sz="1800" kern="10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1800" kern="100" dirty="0">
                        <a:latin typeface="Times New Roman"/>
                        <a:ea typeface="標楷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1520" y="1268760"/>
            <a:ext cx="7859216" cy="5386603"/>
          </a:xfrm>
        </p:spPr>
        <p:txBody>
          <a:bodyPr>
            <a:normAutofit/>
          </a:bodyPr>
          <a:lstStyle/>
          <a:p>
            <a:pPr marL="624078" lvl="0" indent="-514350">
              <a:lnSpc>
                <a:spcPct val="120000"/>
              </a:lnSpc>
              <a:buClrTx/>
              <a:buFont typeface="+mj-lt"/>
              <a:buAutoNum type="arabicPeriod"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欲比較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營養補充品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對增重的影響是否有差異，請列出虛無假設及對立假設。</a:t>
            </a:r>
          </a:p>
          <a:p>
            <a:pPr marL="624078" lvl="0" indent="-514350">
              <a:lnSpc>
                <a:spcPct val="120000"/>
              </a:lnSpc>
              <a:buClrTx/>
              <a:buFont typeface="+mj-lt"/>
              <a:buAutoNum type="arabicPeriod"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請製作變異數分析表（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ANOVA table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），並以顯著水準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α = 0.05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檢定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營養補充品是否影響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增重情形？</a:t>
            </a:r>
          </a:p>
          <a:p>
            <a:pPr marL="624078" lvl="0" indent="-514350">
              <a:lnSpc>
                <a:spcPct val="120000"/>
              </a:lnSpc>
              <a:buClrTx/>
              <a:buFont typeface="+mj-lt"/>
              <a:buAutoNum type="arabicPeriod"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請以無母數方法（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Kruskal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-Wallis test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）及顯著水準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α = 0.05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檢定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營養補充品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是否影響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選手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體重增加情形？</a:t>
            </a:r>
          </a:p>
          <a:p>
            <a:pPr marL="624078" indent="-514350">
              <a:lnSpc>
                <a:spcPct val="120000"/>
              </a:lnSpc>
              <a:buClrTx/>
              <a:buFont typeface="+mj-lt"/>
              <a:buAutoNum type="arabicPeriod"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結論是有顯著差異，試在顯著水準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α = 0.05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下，利用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Bonferroni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多重比較方法來分別一對一檢定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營養補充品對於影響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增重影響是否相同？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684AC54-51C0-46F3-BA3B-8FCA8ACFF778}"/>
              </a:ext>
            </a:extLst>
          </p:cNvPr>
          <p:cNvSpPr txBox="1"/>
          <p:nvPr/>
        </p:nvSpPr>
        <p:spPr>
          <a:xfrm>
            <a:off x="3275856" y="2780928"/>
            <a:ext cx="331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zh-TW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視圖">
  <a:themeElements>
    <a:clrScheme name="黃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視圖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視圖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TM03457515[[fn=視圖]]</Template>
  <TotalTime>14</TotalTime>
  <Words>2192</Words>
  <Application>Microsoft Office PowerPoint</Application>
  <PresentationFormat>如螢幕大小 (4:3)</PresentationFormat>
  <Paragraphs>294</Paragraphs>
  <Slides>26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6" baseType="lpstr">
      <vt:lpstr>微軟正黑體</vt:lpstr>
      <vt:lpstr>標楷體</vt:lpstr>
      <vt:lpstr>Arial</vt:lpstr>
      <vt:lpstr>Calibri</vt:lpstr>
      <vt:lpstr>Cambria Math</vt:lpstr>
      <vt:lpstr>Century Schoolbook</vt:lpstr>
      <vt:lpstr>Times New Roman</vt:lpstr>
      <vt:lpstr>Wingdings 2</vt:lpstr>
      <vt:lpstr>視圖</vt:lpstr>
      <vt:lpstr>Equation</vt:lpstr>
      <vt:lpstr>PowerPoint 簡報</vt:lpstr>
      <vt:lpstr>Key words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變異數分析表的建立</vt:lpstr>
      <vt:lpstr>樣本敘述統計量</vt:lpstr>
      <vt:lpstr>變異數分析表</vt:lpstr>
      <vt:lpstr>PowerPoint 簡報</vt:lpstr>
      <vt:lpstr>PowerPoint 簡報</vt:lpstr>
      <vt:lpstr>事後檢定（post-hoc test）</vt:lpstr>
      <vt:lpstr>Bonferroni 法</vt:lpstr>
      <vt:lpstr>PowerPoint 簡報</vt:lpstr>
      <vt:lpstr>Bonferroni 多重比較檢定結果</vt:lpstr>
      <vt:lpstr>無母數方法 - Kruskal-Wallis test（K-W test）</vt:lpstr>
      <vt:lpstr>PowerPoint 簡報</vt:lpstr>
      <vt:lpstr>多樣本中位數差異檢定</vt:lpstr>
      <vt:lpstr>PowerPoint 簡報</vt:lpstr>
      <vt:lpstr>作業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無投影片標題</dc:title>
  <dc:creator>I-Chen Chang</dc:creator>
  <cp:lastModifiedBy>User</cp:lastModifiedBy>
  <cp:revision>374</cp:revision>
  <dcterms:created xsi:type="dcterms:W3CDTF">2002-10-31T16:48:07Z</dcterms:created>
  <dcterms:modified xsi:type="dcterms:W3CDTF">2026-04-11T05:11:47Z</dcterms:modified>
</cp:coreProperties>
</file>