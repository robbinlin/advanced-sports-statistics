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tiff" ContentType="image/tiff"/>
  <Default Extension="tmp" ContentType="image/png"/>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handoutMasterIdLst>
    <p:handoutMasterId r:id="rId35"/>
  </p:handoutMasterIdLst>
  <p:sldIdLst>
    <p:sldId id="256" r:id="rId2"/>
    <p:sldId id="297" r:id="rId3"/>
    <p:sldId id="257" r:id="rId4"/>
    <p:sldId id="262" r:id="rId5"/>
    <p:sldId id="258" r:id="rId6"/>
    <p:sldId id="264" r:id="rId7"/>
    <p:sldId id="285" r:id="rId8"/>
    <p:sldId id="269" r:id="rId9"/>
    <p:sldId id="286" r:id="rId10"/>
    <p:sldId id="259" r:id="rId11"/>
    <p:sldId id="275" r:id="rId12"/>
    <p:sldId id="273" r:id="rId13"/>
    <p:sldId id="292" r:id="rId14"/>
    <p:sldId id="293" r:id="rId15"/>
    <p:sldId id="274" r:id="rId16"/>
    <p:sldId id="308" r:id="rId17"/>
    <p:sldId id="307" r:id="rId18"/>
    <p:sldId id="279" r:id="rId19"/>
    <p:sldId id="280" r:id="rId20"/>
    <p:sldId id="289" r:id="rId21"/>
    <p:sldId id="281" r:id="rId22"/>
    <p:sldId id="310" r:id="rId23"/>
    <p:sldId id="311" r:id="rId24"/>
    <p:sldId id="312" r:id="rId25"/>
    <p:sldId id="282" r:id="rId26"/>
    <p:sldId id="295" r:id="rId27"/>
    <p:sldId id="266" r:id="rId28"/>
    <p:sldId id="300" r:id="rId29"/>
    <p:sldId id="303" r:id="rId30"/>
    <p:sldId id="304" r:id="rId31"/>
    <p:sldId id="305" r:id="rId32"/>
    <p:sldId id="290" r:id="rId33"/>
  </p:sldIdLst>
  <p:sldSz cx="9145588" cy="6858000"/>
  <p:notesSz cx="6802438" cy="9934575"/>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707E1C86-995E-456B-B25E-EC813EAA142D}">
          <p14:sldIdLst>
            <p14:sldId id="256"/>
            <p14:sldId id="297"/>
            <p14:sldId id="257"/>
            <p14:sldId id="262"/>
            <p14:sldId id="258"/>
            <p14:sldId id="264"/>
            <p14:sldId id="285"/>
            <p14:sldId id="269"/>
            <p14:sldId id="286"/>
            <p14:sldId id="259"/>
            <p14:sldId id="275"/>
            <p14:sldId id="273"/>
            <p14:sldId id="292"/>
            <p14:sldId id="293"/>
            <p14:sldId id="274"/>
            <p14:sldId id="308"/>
            <p14:sldId id="307"/>
            <p14:sldId id="279"/>
            <p14:sldId id="280"/>
            <p14:sldId id="289"/>
            <p14:sldId id="281"/>
            <p14:sldId id="310"/>
            <p14:sldId id="311"/>
            <p14:sldId id="312"/>
            <p14:sldId id="282"/>
            <p14:sldId id="295"/>
            <p14:sldId id="266"/>
            <p14:sldId id="300"/>
            <p14:sldId id="303"/>
            <p14:sldId id="304"/>
            <p14:sldId id="305"/>
            <p14:sldId id="290"/>
          </p14:sldIdLst>
        </p14:section>
      </p14:sectionLst>
    </p:ext>
    <p:ext uri="{EFAFB233-063F-42B5-8137-9DF3F51BA10A}">
      <p15:sldGuideLst xmlns:p15="http://schemas.microsoft.com/office/powerpoint/2012/main">
        <p15:guide id="1" orient="horz" pos="2160">
          <p15:clr>
            <a:srgbClr val="A4A3A4"/>
          </p15:clr>
        </p15:guide>
        <p15:guide id="2" pos="288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1F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4294FE-FCE9-4A09-8133-3275B1897075}" v="30" dt="2025-03-07T00:43:41.91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4243" autoAdjust="0"/>
  </p:normalViewPr>
  <p:slideViewPr>
    <p:cSldViewPr snapToGrid="0">
      <p:cViewPr varScale="1">
        <p:scale>
          <a:sx n="110" d="100"/>
          <a:sy n="110" d="100"/>
        </p:scale>
        <p:origin x="954" y="102"/>
      </p:cViewPr>
      <p:guideLst>
        <p:guide orient="horz" pos="2160"/>
        <p:guide pos="2881"/>
      </p:guideLst>
    </p:cSldViewPr>
  </p:slideViewPr>
  <p:outlineViewPr>
    <p:cViewPr>
      <p:scale>
        <a:sx n="33" d="100"/>
        <a:sy n="33" d="100"/>
      </p:scale>
      <p:origin x="0" y="-1020"/>
    </p:cViewPr>
  </p:outlineViewPr>
  <p:notesTextViewPr>
    <p:cViewPr>
      <p:scale>
        <a:sx n="1" d="1"/>
        <a:sy n="1" d="1"/>
      </p:scale>
      <p:origin x="0" y="0"/>
    </p:cViewPr>
  </p:notesTextViewPr>
  <p:notesViewPr>
    <p:cSldViewPr snapToGrid="0">
      <p:cViewPr varScale="1">
        <p:scale>
          <a:sx n="57" d="100"/>
          <a:sy n="57" d="100"/>
        </p:scale>
        <p:origin x="283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7723" cy="498454"/>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3141" y="0"/>
            <a:ext cx="2947723" cy="498454"/>
          </a:xfrm>
          <a:prstGeom prst="rect">
            <a:avLst/>
          </a:prstGeom>
        </p:spPr>
        <p:txBody>
          <a:bodyPr vert="horz" lIns="91440" tIns="45720" rIns="91440" bIns="45720" rtlCol="0"/>
          <a:lstStyle>
            <a:lvl1pPr algn="r">
              <a:defRPr sz="1200"/>
            </a:lvl1pPr>
          </a:lstStyle>
          <a:p>
            <a:fld id="{AFD097BE-59CF-4578-A47D-8BD8B8B835E1}" type="datetimeFigureOut">
              <a:rPr lang="zh-TW" altLang="en-US" smtClean="0"/>
              <a:pPr/>
              <a:t>2025/3/7</a:t>
            </a:fld>
            <a:endParaRPr lang="zh-TW" altLang="en-US"/>
          </a:p>
        </p:txBody>
      </p:sp>
      <p:sp>
        <p:nvSpPr>
          <p:cNvPr id="4" name="頁尾版面配置區 3"/>
          <p:cNvSpPr>
            <a:spLocks noGrp="1"/>
          </p:cNvSpPr>
          <p:nvPr>
            <p:ph type="ftr" sz="quarter" idx="2"/>
          </p:nvPr>
        </p:nvSpPr>
        <p:spPr>
          <a:xfrm>
            <a:off x="0" y="9436123"/>
            <a:ext cx="2947723" cy="498453"/>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3141" y="9436123"/>
            <a:ext cx="2947723" cy="498453"/>
          </a:xfrm>
          <a:prstGeom prst="rect">
            <a:avLst/>
          </a:prstGeom>
        </p:spPr>
        <p:txBody>
          <a:bodyPr vert="horz" lIns="91440" tIns="45720" rIns="91440" bIns="45720" rtlCol="0" anchor="b"/>
          <a:lstStyle>
            <a:lvl1pPr algn="r">
              <a:defRPr sz="1200"/>
            </a:lvl1pPr>
          </a:lstStyle>
          <a:p>
            <a:fld id="{C333A523-50E1-437D-865D-2CF9DF1435E6}" type="slidenum">
              <a:rPr lang="zh-TW" altLang="en-US" smtClean="0"/>
              <a:pPr/>
              <a:t>‹#›</a:t>
            </a:fld>
            <a:endParaRPr lang="zh-TW" altLang="en-US"/>
          </a:p>
        </p:txBody>
      </p:sp>
    </p:spTree>
    <p:extLst>
      <p:ext uri="{BB962C8B-B14F-4D97-AF65-F5344CB8AC3E}">
        <p14:creationId xmlns:p14="http://schemas.microsoft.com/office/powerpoint/2010/main" val="2172718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7723" cy="496729"/>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3141" y="0"/>
            <a:ext cx="2947723" cy="496729"/>
          </a:xfrm>
          <a:prstGeom prst="rect">
            <a:avLst/>
          </a:prstGeom>
        </p:spPr>
        <p:txBody>
          <a:bodyPr vert="horz" lIns="91440" tIns="45720" rIns="91440" bIns="45720" rtlCol="0"/>
          <a:lstStyle>
            <a:lvl1pPr algn="r">
              <a:defRPr sz="1200"/>
            </a:lvl1pPr>
          </a:lstStyle>
          <a:p>
            <a:fld id="{FE9363E3-1936-461E-9799-3FB29A89C7A6}" type="datetimeFigureOut">
              <a:rPr lang="zh-TW" altLang="en-US" smtClean="0"/>
              <a:t>2025/3/7</a:t>
            </a:fld>
            <a:endParaRPr lang="zh-TW" altLang="en-US"/>
          </a:p>
        </p:txBody>
      </p:sp>
      <p:sp>
        <p:nvSpPr>
          <p:cNvPr id="4" name="投影片圖像版面配置區 3"/>
          <p:cNvSpPr>
            <a:spLocks noGrp="1" noRot="1" noChangeAspect="1"/>
          </p:cNvSpPr>
          <p:nvPr>
            <p:ph type="sldImg" idx="2"/>
          </p:nvPr>
        </p:nvSpPr>
        <p:spPr>
          <a:xfrm>
            <a:off x="917575" y="744538"/>
            <a:ext cx="4967288" cy="3725862"/>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244" y="4718923"/>
            <a:ext cx="5441950" cy="4470559"/>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36122"/>
            <a:ext cx="2947723" cy="496729"/>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3141" y="9436122"/>
            <a:ext cx="2947723" cy="496729"/>
          </a:xfrm>
          <a:prstGeom prst="rect">
            <a:avLst/>
          </a:prstGeom>
        </p:spPr>
        <p:txBody>
          <a:bodyPr vert="horz" lIns="91440" tIns="45720" rIns="91440" bIns="45720" rtlCol="0" anchor="b"/>
          <a:lstStyle>
            <a:lvl1pPr algn="r">
              <a:defRPr sz="1200"/>
            </a:lvl1pPr>
          </a:lstStyle>
          <a:p>
            <a:fld id="{34DC9CA0-99A1-477C-8265-46154FCC8E7B}" type="slidenum">
              <a:rPr lang="zh-TW" altLang="en-US" smtClean="0"/>
              <a:t>‹#›</a:t>
            </a:fld>
            <a:endParaRPr lang="zh-TW" altLang="en-US"/>
          </a:p>
        </p:txBody>
      </p:sp>
    </p:spTree>
    <p:extLst>
      <p:ext uri="{BB962C8B-B14F-4D97-AF65-F5344CB8AC3E}">
        <p14:creationId xmlns:p14="http://schemas.microsoft.com/office/powerpoint/2010/main" val="227618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8" name="Picture 7" descr="Brickwork-SD-R1acrop.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5588" cy="6858000"/>
          </a:xfrm>
          <a:prstGeom prst="rect">
            <a:avLst/>
          </a:prstGeom>
        </p:spPr>
      </p:pic>
      <p:sp useBgFill="1">
        <p:nvSpPr>
          <p:cNvPr id="13" name="Freeform 12"/>
          <p:cNvSpPr/>
          <p:nvPr/>
        </p:nvSpPr>
        <p:spPr>
          <a:xfrm>
            <a:off x="-8468" y="-16933"/>
            <a:ext cx="8756054" cy="6451600"/>
          </a:xfrm>
          <a:custGeom>
            <a:avLst/>
            <a:gdLst/>
            <a:ahLst/>
            <a:cxnLst/>
            <a:rect l="l" t="t" r="r" b="b"/>
            <a:pathLst>
              <a:path w="8754534" h="6451600">
                <a:moveTo>
                  <a:pt x="8373534" y="0"/>
                </a:moveTo>
                <a:lnTo>
                  <a:pt x="8754534" y="5994400"/>
                </a:lnTo>
                <a:lnTo>
                  <a:pt x="0" y="6451600"/>
                </a:lnTo>
                <a:lnTo>
                  <a:pt x="0" y="0"/>
                </a:lnTo>
                <a:lnTo>
                  <a:pt x="8373534" y="0"/>
                </a:lnTo>
                <a:close/>
              </a:path>
            </a:pathLst>
          </a:cu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10380" y="4445001"/>
            <a:ext cx="8466165" cy="1715811"/>
          </a:xfrm>
          <a:custGeom>
            <a:avLst/>
            <a:gdLst/>
            <a:ahLst/>
            <a:cxnLst/>
            <a:rect l="l" t="t" r="r" b="b"/>
            <a:pathLst>
              <a:path w="8428428" h="1878553">
                <a:moveTo>
                  <a:pt x="0" y="438229"/>
                </a:moveTo>
                <a:lnTo>
                  <a:pt x="8343246" y="0"/>
                </a:lnTo>
                <a:lnTo>
                  <a:pt x="8428428" y="1424838"/>
                </a:lnTo>
                <a:lnTo>
                  <a:pt x="7515" y="1878553"/>
                </a:lnTo>
                <a:lnTo>
                  <a:pt x="0" y="438229"/>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2864" y="1"/>
            <a:ext cx="5812244" cy="321615"/>
          </a:xfrm>
          <a:custGeom>
            <a:avLst/>
            <a:gdLst/>
            <a:ahLst/>
            <a:cxnLst/>
            <a:rect l="l" t="t" r="r" b="b"/>
            <a:pathLst>
              <a:path w="5811235" h="321615">
                <a:moveTo>
                  <a:pt x="0" y="0"/>
                </a:moveTo>
                <a:lnTo>
                  <a:pt x="5811235" y="0"/>
                </a:lnTo>
                <a:lnTo>
                  <a:pt x="1" y="321615"/>
                </a:lnTo>
                <a:cubicBezTo>
                  <a:pt x="1" y="214410"/>
                  <a:pt x="0" y="107205"/>
                  <a:pt x="0" y="0"/>
                </a:cubicBez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30" name="Freeform 29"/>
          <p:cNvSpPr/>
          <p:nvPr/>
        </p:nvSpPr>
        <p:spPr>
          <a:xfrm rot="21420000">
            <a:off x="-170798" y="213023"/>
            <a:ext cx="8482007" cy="5746008"/>
          </a:xfrm>
          <a:custGeom>
            <a:avLst/>
            <a:gdLst/>
            <a:ahLst/>
            <a:cxnLst/>
            <a:rect l="l" t="t" r="r" b="b"/>
            <a:pathLst>
              <a:path w="11307378" h="5746008">
                <a:moveTo>
                  <a:pt x="11270997" y="0"/>
                </a:moveTo>
                <a:lnTo>
                  <a:pt x="11307378" y="5746008"/>
                </a:lnTo>
                <a:lnTo>
                  <a:pt x="1" y="574313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451495" y="668338"/>
            <a:ext cx="7534832" cy="2766528"/>
          </a:xfrm>
        </p:spPr>
        <p:txBody>
          <a:bodyPr anchor="b">
            <a:normAutofit/>
          </a:bodyPr>
          <a:lstStyle>
            <a:lvl1pPr algn="r">
              <a:defRPr sz="7200"/>
            </a:lvl1pPr>
          </a:lstStyle>
          <a:p>
            <a:r>
              <a:rPr lang="zh-TW" altLang="en-US"/>
              <a:t>按一下以編輯母片標題樣式</a:t>
            </a:r>
            <a:endParaRPr lang="en-US" dirty="0"/>
          </a:p>
        </p:txBody>
      </p:sp>
      <p:sp>
        <p:nvSpPr>
          <p:cNvPr id="3" name="Subtitle 2"/>
          <p:cNvSpPr>
            <a:spLocks noGrp="1"/>
          </p:cNvSpPr>
          <p:nvPr>
            <p:ph type="subTitle" idx="1"/>
          </p:nvPr>
        </p:nvSpPr>
        <p:spPr>
          <a:xfrm rot="21420000">
            <a:off x="554558" y="3446831"/>
            <a:ext cx="7513365" cy="550333"/>
          </a:xfrm>
        </p:spPr>
        <p:txBody>
          <a:bodyPr anchor="t">
            <a:noAutofit/>
          </a:bodyPr>
          <a:lstStyle>
            <a:lvl1pPr marL="0" indent="0" algn="r">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a:xfrm rot="21420000">
            <a:off x="3669708" y="4714242"/>
            <a:ext cx="4608540" cy="942356"/>
          </a:xfrm>
        </p:spPr>
        <p:txBody>
          <a:bodyPr/>
          <a:lstStyle>
            <a:lvl1pPr algn="ctr">
              <a:defRPr sz="4200">
                <a:solidFill>
                  <a:schemeClr val="accent1">
                    <a:lumMod val="50000"/>
                  </a:schemeClr>
                </a:solidFill>
              </a:defRPr>
            </a:lvl1pPr>
          </a:lstStyle>
          <a:p>
            <a:fld id="{F0DF3779-EC72-41C1-8734-0EE877F490BF}" type="datetime1">
              <a:rPr lang="zh-TW" altLang="en-US" smtClean="0"/>
              <a:t>2025/3/7</a:t>
            </a:fld>
            <a:endParaRPr lang="zh-TW" altLang="en-US"/>
          </a:p>
        </p:txBody>
      </p:sp>
      <p:sp>
        <p:nvSpPr>
          <p:cNvPr id="5" name="Footer Placeholder 4"/>
          <p:cNvSpPr>
            <a:spLocks noGrp="1"/>
          </p:cNvSpPr>
          <p:nvPr>
            <p:ph type="ftr" sz="quarter" idx="11"/>
          </p:nvPr>
        </p:nvSpPr>
        <p:spPr>
          <a:xfrm rot="21420000">
            <a:off x="-12136" y="4954636"/>
            <a:ext cx="2987588" cy="918361"/>
          </a:xfrm>
        </p:spPr>
        <p:txBody>
          <a:bodyPr vert="horz" lIns="91440" tIns="45720" rIns="91440" bIns="45720" rtlCol="0" anchor="ctr"/>
          <a:lstStyle>
            <a:lvl1pPr algn="r">
              <a:defRPr lang="en-US" sz="4200" dirty="0"/>
            </a:lvl1pPr>
          </a:lstStyle>
          <a:p>
            <a:endParaRPr lang="zh-TW" altLang="en-US"/>
          </a:p>
        </p:txBody>
      </p:sp>
      <p:sp>
        <p:nvSpPr>
          <p:cNvPr id="6" name="Slide Number Placeholder 5"/>
          <p:cNvSpPr>
            <a:spLocks noGrp="1"/>
          </p:cNvSpPr>
          <p:nvPr>
            <p:ph type="sldNum" sz="quarter" idx="12"/>
          </p:nvPr>
        </p:nvSpPr>
        <p:spPr>
          <a:xfrm rot="21420000">
            <a:off x="7402803" y="3819948"/>
            <a:ext cx="680508" cy="498470"/>
          </a:xfrm>
        </p:spPr>
        <p:txBody>
          <a:bodyPr/>
          <a:lstStyle>
            <a:lvl1pPr>
              <a:defRPr sz="2400">
                <a:solidFill>
                  <a:schemeClr val="tx1">
                    <a:lumMod val="75000"/>
                    <a:lumOff val="25000"/>
                  </a:schemeClr>
                </a:solidFill>
              </a:defRPr>
            </a:lvl1pPr>
          </a:lstStyle>
          <a:p>
            <a:fld id="{E2A80D49-6E30-4745-93AC-9D9D7F079020}" type="slidenum">
              <a:rPr lang="zh-TW" altLang="en-US" smtClean="0"/>
              <a:pPr/>
              <a:t>‹#›</a:t>
            </a:fld>
            <a:endParaRPr lang="zh-TW" altLang="en-US"/>
          </a:p>
        </p:txBody>
      </p:sp>
      <p:sp>
        <p:nvSpPr>
          <p:cNvPr id="33" name="5-Point Star 32"/>
          <p:cNvSpPr/>
          <p:nvPr/>
        </p:nvSpPr>
        <p:spPr>
          <a:xfrm rot="21420000">
            <a:off x="3122493" y="5057183"/>
            <a:ext cx="51547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91619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514440" y="2063396"/>
            <a:ext cx="7797384" cy="3311189"/>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10"/>
          </p:nvPr>
        </p:nvSpPr>
        <p:spPr/>
        <p:txBody>
          <a:bodyPr/>
          <a:lstStyle/>
          <a:p>
            <a:fld id="{6D59C51F-995A-4A4A-AEB2-C8E3CFFE1408}" type="datetime1">
              <a:rPr lang="zh-TW" altLang="en-US" smtClean="0"/>
              <a:t>2025/3/7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2368070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514440" y="685802"/>
            <a:ext cx="7797384" cy="3193487"/>
          </a:xfrm>
        </p:spPr>
        <p:txBody>
          <a:bodyPr anchor="b">
            <a:normAutofit/>
          </a:bodyPr>
          <a:lstStyle>
            <a:lvl1pPr algn="l">
              <a:defRPr sz="5400">
                <a:latin typeface="Arial" panose="020B0604020202020204" pitchFamily="34" charset="0"/>
                <a:cs typeface="Arial" panose="020B0604020202020204" pitchFamily="34" charset="0"/>
              </a:defRPr>
            </a:lvl1pPr>
          </a:lstStyle>
          <a:p>
            <a:r>
              <a:rPr lang="zh-TW" altLang="en-US" dirty="0"/>
              <a:t>按一下以編輯母片標題樣式</a:t>
            </a:r>
            <a:endParaRPr lang="en-US" dirty="0"/>
          </a:p>
        </p:txBody>
      </p:sp>
      <p:sp>
        <p:nvSpPr>
          <p:cNvPr id="3" name="Text Placeholder 2"/>
          <p:cNvSpPr>
            <a:spLocks noGrp="1"/>
          </p:cNvSpPr>
          <p:nvPr>
            <p:ph type="body" idx="1"/>
          </p:nvPr>
        </p:nvSpPr>
        <p:spPr>
          <a:xfrm>
            <a:off x="514440" y="3742267"/>
            <a:ext cx="7797384"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158450604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14" name="Title 1"/>
          <p:cNvSpPr>
            <a:spLocks noGrp="1"/>
          </p:cNvSpPr>
          <p:nvPr>
            <p:ph type="title"/>
          </p:nvPr>
        </p:nvSpPr>
        <p:spPr>
          <a:xfrm>
            <a:off x="514440" y="685800"/>
            <a:ext cx="7799016" cy="1158140"/>
          </a:xfrm>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514439" y="2063396"/>
            <a:ext cx="3817199" cy="3311189"/>
          </a:xfrm>
        </p:spPr>
        <p:txBody>
          <a:bodyPr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3" name="Content Placeholder 3"/>
          <p:cNvSpPr>
            <a:spLocks noGrp="1"/>
          </p:cNvSpPr>
          <p:nvPr>
            <p:ph sz="quarter" idx="14"/>
          </p:nvPr>
        </p:nvSpPr>
        <p:spPr>
          <a:xfrm>
            <a:off x="4496258" y="2063396"/>
            <a:ext cx="3815567" cy="3311189"/>
          </a:xfrm>
        </p:spPr>
        <p:txBody>
          <a:bodyPr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DAB004CA-CC64-446D-9949-460FFD107E10}"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2076915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4" name="Title 1"/>
          <p:cNvSpPr>
            <a:spLocks noGrp="1"/>
          </p:cNvSpPr>
          <p:nvPr>
            <p:ph type="title"/>
          </p:nvPr>
        </p:nvSpPr>
        <p:spPr>
          <a:xfrm>
            <a:off x="514440" y="685800"/>
            <a:ext cx="7797384" cy="1158140"/>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739698" y="2063396"/>
            <a:ext cx="359194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dirty="0"/>
              <a:t>編輯母片文字樣式</a:t>
            </a:r>
          </a:p>
        </p:txBody>
      </p:sp>
      <p:sp>
        <p:nvSpPr>
          <p:cNvPr id="12" name="Content Placeholder 3"/>
          <p:cNvSpPr>
            <a:spLocks noGrp="1"/>
          </p:cNvSpPr>
          <p:nvPr>
            <p:ph sz="quarter" idx="13"/>
          </p:nvPr>
        </p:nvSpPr>
        <p:spPr>
          <a:xfrm>
            <a:off x="514441" y="2861733"/>
            <a:ext cx="3817197" cy="2512852"/>
          </a:xfrm>
        </p:spPr>
        <p:txBody>
          <a:bodyPr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716159" y="2063396"/>
            <a:ext cx="3597296"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3" name="Content Placeholder 5"/>
          <p:cNvSpPr>
            <a:spLocks noGrp="1"/>
          </p:cNvSpPr>
          <p:nvPr>
            <p:ph sz="quarter" idx="14"/>
          </p:nvPr>
        </p:nvSpPr>
        <p:spPr>
          <a:xfrm>
            <a:off x="4496258" y="2861733"/>
            <a:ext cx="3817198" cy="2512852"/>
          </a:xfrm>
        </p:spPr>
        <p:txBody>
          <a:bodyPr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4442C861-71EC-483B-95B4-05139C236355}" type="datetime1">
              <a:rPr lang="zh-TW" altLang="en-US" smtClean="0"/>
              <a:t>2025/3/7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2160694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45050A0B-2AB3-4AD8-954D-F849E0549B18}" type="datetime1">
              <a:rPr lang="zh-TW" altLang="en-US" smtClean="0"/>
              <a:t>2025/3/7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232826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555D6A-2BBE-4492-B405-406AF8CE2F70}" type="datetime1">
              <a:rPr lang="zh-TW" altLang="en-US" smtClean="0"/>
              <a:t>2025/3/7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6776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520323" y="685800"/>
            <a:ext cx="3095683" cy="2023252"/>
          </a:xfrm>
        </p:spPr>
        <p:txBody>
          <a:bodyPr anchor="b">
            <a:normAutofit/>
          </a:bodyPr>
          <a:lstStyle>
            <a:lvl1pPr algn="ctr">
              <a:defRPr sz="3600"/>
            </a:lvl1pPr>
          </a:lstStyle>
          <a:p>
            <a:r>
              <a:rPr lang="zh-TW" altLang="en-US"/>
              <a:t>按一下以編輯母片標題樣式</a:t>
            </a:r>
            <a:endParaRPr lang="en-US" dirty="0"/>
          </a:p>
        </p:txBody>
      </p:sp>
      <p:sp>
        <p:nvSpPr>
          <p:cNvPr id="10" name="Content Placeholder 2"/>
          <p:cNvSpPr>
            <a:spLocks noGrp="1"/>
          </p:cNvSpPr>
          <p:nvPr>
            <p:ph sz="quarter" idx="13"/>
          </p:nvPr>
        </p:nvSpPr>
        <p:spPr>
          <a:xfrm>
            <a:off x="3785258" y="685802"/>
            <a:ext cx="4526567" cy="4688785"/>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520322" y="2709054"/>
            <a:ext cx="3095684"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3CCA830A-3760-49DD-B5DE-C9881C3710FF}"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4247683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514440" y="685800"/>
            <a:ext cx="4408938" cy="2023252"/>
          </a:xfrm>
        </p:spPr>
        <p:txBody>
          <a:bodyPr anchor="b">
            <a:normAutofit/>
          </a:bodyPr>
          <a:lstStyle>
            <a:lvl1pPr algn="ctr">
              <a:defRPr sz="36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48635" y="2"/>
            <a:ext cx="3163190"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514441" y="2709054"/>
            <a:ext cx="4408937"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C5D552D-ED63-4922-96D0-F874B59BF04D}"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2483545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sp>
        <p:nvSpPr>
          <p:cNvPr id="2" name="Title 1"/>
          <p:cNvSpPr>
            <a:spLocks noGrp="1"/>
          </p:cNvSpPr>
          <p:nvPr>
            <p:ph type="title"/>
          </p:nvPr>
        </p:nvSpPr>
        <p:spPr>
          <a:xfrm>
            <a:off x="514440" y="4106333"/>
            <a:ext cx="7797385" cy="588846"/>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4441" y="685801"/>
            <a:ext cx="7795739"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514424" y="4702923"/>
            <a:ext cx="7797400"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379566123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514441" y="685802"/>
            <a:ext cx="7799031" cy="3194903"/>
          </a:xfrm>
        </p:spPr>
        <p:txBody>
          <a:bodyPr anchor="ctr">
            <a:normAutofit/>
          </a:bodyPr>
          <a:lstStyle>
            <a:lvl1pPr algn="ctr">
              <a:defRPr sz="48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514425" y="4106333"/>
            <a:ext cx="7797401"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303927868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841445" y="685800"/>
            <a:ext cx="7145006" cy="2916704"/>
          </a:xfrm>
        </p:spPr>
        <p:txBody>
          <a:bodyPr anchor="ctr">
            <a:normAutofit/>
          </a:bodyPr>
          <a:lstStyle>
            <a:lvl1pPr algn="ctr">
              <a:defRPr sz="48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162900" y="3610032"/>
            <a:ext cx="650209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4" name="Text Placeholder 3"/>
          <p:cNvSpPr>
            <a:spLocks noGrp="1"/>
          </p:cNvSpPr>
          <p:nvPr>
            <p:ph type="body" sz="half" idx="2"/>
          </p:nvPr>
        </p:nvSpPr>
        <p:spPr>
          <a:xfrm>
            <a:off x="514440" y="4106334"/>
            <a:ext cx="7799016"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
        <p:nvSpPr>
          <p:cNvPr id="10" name="TextBox 9"/>
          <p:cNvSpPr txBox="1"/>
          <p:nvPr/>
        </p:nvSpPr>
        <p:spPr>
          <a:xfrm>
            <a:off x="404350" y="887850"/>
            <a:ext cx="45727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1" name="TextBox 10"/>
          <p:cNvSpPr txBox="1"/>
          <p:nvPr/>
        </p:nvSpPr>
        <p:spPr>
          <a:xfrm>
            <a:off x="7898519" y="2906482"/>
            <a:ext cx="45727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8696829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14440" y="1723856"/>
            <a:ext cx="7797384" cy="2511835"/>
          </a:xfrm>
        </p:spPr>
        <p:txBody>
          <a:bodyPr anchor="b">
            <a:normAutofit/>
          </a:bodyPr>
          <a:lstStyle>
            <a:lvl1pPr algn="l">
              <a:defRPr sz="48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514440" y="4247468"/>
            <a:ext cx="7797384"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283625202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sp>
        <p:nvSpPr>
          <p:cNvPr id="15" name="Title 1"/>
          <p:cNvSpPr>
            <a:spLocks noGrp="1"/>
          </p:cNvSpPr>
          <p:nvPr>
            <p:ph type="title"/>
          </p:nvPr>
        </p:nvSpPr>
        <p:spPr>
          <a:xfrm>
            <a:off x="514440" y="685802"/>
            <a:ext cx="7797384" cy="1151965"/>
          </a:xfrm>
        </p:spPr>
        <p:txBody>
          <a:bodyPr/>
          <a:lstStyle>
            <a:lvl1pPr algn="ctr">
              <a:defRPr/>
            </a:lvl1pPr>
          </a:lstStyle>
          <a:p>
            <a:r>
              <a:rPr lang="zh-TW" altLang="en-US"/>
              <a:t>按一下以編輯母片標題樣式</a:t>
            </a:r>
            <a:endParaRPr lang="en-US" dirty="0"/>
          </a:p>
        </p:txBody>
      </p:sp>
      <p:sp>
        <p:nvSpPr>
          <p:cNvPr id="7" name="Text Placeholder 2"/>
          <p:cNvSpPr>
            <a:spLocks noGrp="1"/>
          </p:cNvSpPr>
          <p:nvPr>
            <p:ph type="body" idx="1"/>
          </p:nvPr>
        </p:nvSpPr>
        <p:spPr>
          <a:xfrm>
            <a:off x="514441" y="2063395"/>
            <a:ext cx="2483027"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8" name="Text Placeholder 3"/>
          <p:cNvSpPr>
            <a:spLocks noGrp="1"/>
          </p:cNvSpPr>
          <p:nvPr>
            <p:ph type="body" sz="half" idx="15"/>
          </p:nvPr>
        </p:nvSpPr>
        <p:spPr>
          <a:xfrm>
            <a:off x="514441" y="2639658"/>
            <a:ext cx="2483027"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9" name="Text Placeholder 4"/>
          <p:cNvSpPr>
            <a:spLocks noGrp="1"/>
          </p:cNvSpPr>
          <p:nvPr>
            <p:ph type="body" sz="quarter" idx="3"/>
          </p:nvPr>
        </p:nvSpPr>
        <p:spPr>
          <a:xfrm>
            <a:off x="3176519" y="2063395"/>
            <a:ext cx="2483027"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0" name="Text Placeholder 3"/>
          <p:cNvSpPr>
            <a:spLocks noGrp="1"/>
          </p:cNvSpPr>
          <p:nvPr>
            <p:ph type="body" sz="half" idx="16"/>
          </p:nvPr>
        </p:nvSpPr>
        <p:spPr>
          <a:xfrm>
            <a:off x="3176518" y="2639658"/>
            <a:ext cx="2483027"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11" name="Text Placeholder 4"/>
          <p:cNvSpPr>
            <a:spLocks noGrp="1"/>
          </p:cNvSpPr>
          <p:nvPr>
            <p:ph type="body" sz="quarter" idx="13"/>
          </p:nvPr>
        </p:nvSpPr>
        <p:spPr>
          <a:xfrm>
            <a:off x="5828797" y="2063395"/>
            <a:ext cx="2483027"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2" name="Text Placeholder 3"/>
          <p:cNvSpPr>
            <a:spLocks noGrp="1"/>
          </p:cNvSpPr>
          <p:nvPr>
            <p:ph type="body" sz="half" idx="17"/>
          </p:nvPr>
        </p:nvSpPr>
        <p:spPr>
          <a:xfrm>
            <a:off x="5828797" y="2639658"/>
            <a:ext cx="2483027"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157252303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sp>
        <p:nvSpPr>
          <p:cNvPr id="30" name="Title 1"/>
          <p:cNvSpPr>
            <a:spLocks noGrp="1"/>
          </p:cNvSpPr>
          <p:nvPr>
            <p:ph type="title"/>
          </p:nvPr>
        </p:nvSpPr>
        <p:spPr>
          <a:xfrm>
            <a:off x="514440" y="685802"/>
            <a:ext cx="7799016" cy="1151965"/>
          </a:xfrm>
        </p:spPr>
        <p:txBody>
          <a:bodyPr/>
          <a:lstStyle>
            <a:lvl1pPr algn="ctr">
              <a:defRPr/>
            </a:lvl1pPr>
          </a:lstStyle>
          <a:p>
            <a:r>
              <a:rPr lang="zh-TW" altLang="en-US"/>
              <a:t>按一下以編輯母片標題樣式</a:t>
            </a:r>
            <a:endParaRPr lang="en-US" dirty="0"/>
          </a:p>
        </p:txBody>
      </p:sp>
      <p:sp>
        <p:nvSpPr>
          <p:cNvPr id="19" name="Text Placeholder 2"/>
          <p:cNvSpPr>
            <a:spLocks noGrp="1"/>
          </p:cNvSpPr>
          <p:nvPr>
            <p:ph type="body" idx="1"/>
          </p:nvPr>
        </p:nvSpPr>
        <p:spPr>
          <a:xfrm>
            <a:off x="518970" y="3813025"/>
            <a:ext cx="2483027"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0" name="Picture Placeholder 2"/>
          <p:cNvSpPr>
            <a:spLocks noGrp="1" noChangeAspect="1"/>
          </p:cNvSpPr>
          <p:nvPr>
            <p:ph type="pic" idx="15"/>
          </p:nvPr>
        </p:nvSpPr>
        <p:spPr>
          <a:xfrm>
            <a:off x="514424" y="2063397"/>
            <a:ext cx="2483027"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1" name="Text Placeholder 3"/>
          <p:cNvSpPr>
            <a:spLocks noGrp="1"/>
          </p:cNvSpPr>
          <p:nvPr>
            <p:ph type="body" sz="half" idx="18"/>
          </p:nvPr>
        </p:nvSpPr>
        <p:spPr>
          <a:xfrm>
            <a:off x="518970" y="4389289"/>
            <a:ext cx="2483027"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2" name="Text Placeholder 4"/>
          <p:cNvSpPr>
            <a:spLocks noGrp="1"/>
          </p:cNvSpPr>
          <p:nvPr>
            <p:ph type="body" sz="quarter" idx="3"/>
          </p:nvPr>
        </p:nvSpPr>
        <p:spPr>
          <a:xfrm>
            <a:off x="3178610" y="3813025"/>
            <a:ext cx="2483027"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3" name="Picture Placeholder 2"/>
          <p:cNvSpPr>
            <a:spLocks noGrp="1" noChangeAspect="1"/>
          </p:cNvSpPr>
          <p:nvPr>
            <p:ph type="pic" idx="21"/>
          </p:nvPr>
        </p:nvSpPr>
        <p:spPr>
          <a:xfrm>
            <a:off x="3177551" y="2063397"/>
            <a:ext cx="2483027"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4" name="Text Placeholder 3"/>
          <p:cNvSpPr>
            <a:spLocks noGrp="1"/>
          </p:cNvSpPr>
          <p:nvPr>
            <p:ph type="body" sz="half" idx="19"/>
          </p:nvPr>
        </p:nvSpPr>
        <p:spPr>
          <a:xfrm>
            <a:off x="3177550" y="4389286"/>
            <a:ext cx="2484086"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5" name="Text Placeholder 4"/>
          <p:cNvSpPr>
            <a:spLocks noGrp="1"/>
          </p:cNvSpPr>
          <p:nvPr>
            <p:ph type="body" sz="quarter" idx="13"/>
          </p:nvPr>
        </p:nvSpPr>
        <p:spPr>
          <a:xfrm>
            <a:off x="5827720" y="3813025"/>
            <a:ext cx="2483027"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6" name="Picture Placeholder 2"/>
          <p:cNvSpPr>
            <a:spLocks noGrp="1" noChangeAspect="1"/>
          </p:cNvSpPr>
          <p:nvPr>
            <p:ph type="pic" idx="22"/>
          </p:nvPr>
        </p:nvSpPr>
        <p:spPr>
          <a:xfrm>
            <a:off x="5827626" y="2063394"/>
            <a:ext cx="2483027"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7" name="Text Placeholder 3"/>
          <p:cNvSpPr>
            <a:spLocks noGrp="1"/>
          </p:cNvSpPr>
          <p:nvPr>
            <p:ph type="body" sz="half" idx="20"/>
          </p:nvPr>
        </p:nvSpPr>
        <p:spPr>
          <a:xfrm>
            <a:off x="5827626" y="4389284"/>
            <a:ext cx="2483027"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55D9B1B1-8F8C-476A-BAE0-436B3DB99374}" type="datetime1">
              <a:rPr lang="zh-TW" altLang="en-US" smtClean="0"/>
              <a:t>2025/3/7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369212954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zh-TW" altLang="en-US"/>
              <a:t>按一下以編輯母片標題樣式</a:t>
            </a:r>
            <a:endParaRPr lang="en-US" dirty="0"/>
          </a:p>
        </p:txBody>
      </p:sp>
      <p:sp>
        <p:nvSpPr>
          <p:cNvPr id="11" name="Vertical Text Placeholder 2"/>
          <p:cNvSpPr>
            <a:spLocks noGrp="1"/>
          </p:cNvSpPr>
          <p:nvPr>
            <p:ph type="body" orient="vert" sz="quarter" idx="13"/>
          </p:nvPr>
        </p:nvSpPr>
        <p:spPr>
          <a:xfrm>
            <a:off x="514440" y="2063396"/>
            <a:ext cx="7797384" cy="3311190"/>
          </a:xfrm>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BB89C63-35FE-4A58-98C3-FECA52987F20}" type="datetime1">
              <a:rPr lang="zh-TW" altLang="en-US" smtClean="0"/>
              <a:t>2025/3/7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13672646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3045" y="685802"/>
            <a:ext cx="1698780" cy="4688785"/>
          </a:xfrm>
        </p:spPr>
        <p:txBody>
          <a:bodyPr vert="eaVert"/>
          <a:lstStyle>
            <a:lvl1pPr algn="l">
              <a:defRPr/>
            </a:lvl1pPr>
          </a:lstStyle>
          <a:p>
            <a:r>
              <a:rPr lang="zh-TW" altLang="en-US"/>
              <a:t>按一下以編輯母片標題樣式</a:t>
            </a:r>
            <a:endParaRPr lang="en-US" dirty="0"/>
          </a:p>
        </p:txBody>
      </p:sp>
      <p:sp>
        <p:nvSpPr>
          <p:cNvPr id="8" name="Vertical Text Placeholder 2"/>
          <p:cNvSpPr>
            <a:spLocks noGrp="1"/>
          </p:cNvSpPr>
          <p:nvPr>
            <p:ph type="body" orient="vert" sz="quarter" idx="13"/>
          </p:nvPr>
        </p:nvSpPr>
        <p:spPr>
          <a:xfrm>
            <a:off x="514441" y="685802"/>
            <a:ext cx="5929353" cy="4688785"/>
          </a:xfrm>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450163E-081D-4C2C-94F4-5CE42FA1B7B8}" type="datetime1">
              <a:rPr lang="zh-TW" altLang="en-US" smtClean="0"/>
              <a:t>2025/3/7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834056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8" name="Picture 7" descr="Brickwork-SD-R1acrop.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5588" cy="6858000"/>
          </a:xfrm>
          <a:prstGeom prst="rect">
            <a:avLst/>
          </a:prstGeom>
        </p:spPr>
      </p:pic>
      <p:grpSp>
        <p:nvGrpSpPr>
          <p:cNvPr id="10" name="Group 9"/>
          <p:cNvGrpSpPr/>
          <p:nvPr/>
        </p:nvGrpSpPr>
        <p:grpSpPr>
          <a:xfrm>
            <a:off x="-19051" y="2"/>
            <a:ext cx="9005577"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grpSp>
      <p:sp>
        <p:nvSpPr>
          <p:cNvPr id="2" name="Title Placeholder 1"/>
          <p:cNvSpPr>
            <a:spLocks noGrp="1"/>
          </p:cNvSpPr>
          <p:nvPr>
            <p:ph type="title"/>
          </p:nvPr>
        </p:nvSpPr>
        <p:spPr>
          <a:xfrm>
            <a:off x="514440" y="685802"/>
            <a:ext cx="7799016" cy="1151965"/>
          </a:xfrm>
          <a:prstGeom prst="rect">
            <a:avLst/>
          </a:prstGeom>
        </p:spPr>
        <p:txBody>
          <a:bodyPr vert="horz" lIns="91440" tIns="45720" rIns="91440" bIns="45720" rtlCol="0" anchor="ctr">
            <a:no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514440" y="2063396"/>
            <a:ext cx="7799016" cy="3311189"/>
          </a:xfrm>
          <a:prstGeom prst="rect">
            <a:avLst/>
          </a:prstGeom>
        </p:spPr>
        <p:txBody>
          <a:bodyPr vert="horz" lIns="91440" tIns="45720" rIns="91440" bIns="45720" rtlCol="0" anchor="ctr">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5474513" y="5757334"/>
            <a:ext cx="2838943" cy="498470"/>
          </a:xfrm>
          <a:prstGeom prst="rect">
            <a:avLst/>
          </a:prstGeom>
        </p:spPr>
        <p:txBody>
          <a:bodyPr vert="horz" lIns="91440" tIns="45720" rIns="91440" bIns="45720" rtlCol="0" anchor="ctr"/>
          <a:lstStyle>
            <a:lvl1pPr algn="r">
              <a:defRPr sz="2800" cap="all" baseline="0">
                <a:solidFill>
                  <a:schemeClr val="accent1">
                    <a:lumMod val="50000"/>
                  </a:schemeClr>
                </a:solidFill>
              </a:defRPr>
            </a:lvl1pPr>
          </a:lstStyle>
          <a:p>
            <a:fld id="{55D9B1B1-8F8C-476A-BAE0-436B3DB99374}" type="datetime1">
              <a:rPr lang="zh-TW" altLang="en-US" smtClean="0"/>
              <a:t>2025/3/7</a:t>
            </a:fld>
            <a:endParaRPr lang="zh-TW" altLang="en-US"/>
          </a:p>
        </p:txBody>
      </p:sp>
      <p:sp>
        <p:nvSpPr>
          <p:cNvPr id="5" name="Footer Placeholder 4"/>
          <p:cNvSpPr>
            <a:spLocks noGrp="1"/>
          </p:cNvSpPr>
          <p:nvPr>
            <p:ph type="ftr" sz="quarter" idx="3"/>
          </p:nvPr>
        </p:nvSpPr>
        <p:spPr>
          <a:xfrm>
            <a:off x="514441" y="5757334"/>
            <a:ext cx="4125505" cy="498470"/>
          </a:xfrm>
          <a:prstGeom prst="rect">
            <a:avLst/>
          </a:prstGeom>
        </p:spPr>
        <p:txBody>
          <a:bodyPr vert="horz" lIns="91440" tIns="45720" rIns="91440" bIns="45720" rtlCol="0" anchor="ctr"/>
          <a:lstStyle>
            <a:lvl1pPr algn="l">
              <a:defRPr sz="2800" cap="all" baseline="0">
                <a:solidFill>
                  <a:schemeClr val="accent1">
                    <a:lumMod val="50000"/>
                  </a:schemeClr>
                </a:solidFill>
              </a:defRPr>
            </a:lvl1pPr>
          </a:lstStyle>
          <a:p>
            <a:endParaRPr lang="zh-TW" altLang="en-US"/>
          </a:p>
        </p:txBody>
      </p:sp>
      <p:sp>
        <p:nvSpPr>
          <p:cNvPr id="6" name="Slide Number Placeholder 5"/>
          <p:cNvSpPr>
            <a:spLocks noGrp="1"/>
          </p:cNvSpPr>
          <p:nvPr>
            <p:ph type="sldNum" sz="quarter" idx="4"/>
          </p:nvPr>
        </p:nvSpPr>
        <p:spPr>
          <a:xfrm>
            <a:off x="4716160" y="5757334"/>
            <a:ext cx="680508" cy="498470"/>
          </a:xfrm>
          <a:prstGeom prst="rect">
            <a:avLst/>
          </a:prstGeom>
        </p:spPr>
        <p:txBody>
          <a:bodyPr vert="horz" lIns="91440" tIns="45720" rIns="91440" bIns="45720" rtlCol="0" anchor="ctr"/>
          <a:lstStyle>
            <a:lvl1pPr algn="ctr">
              <a:defRPr sz="2800" cap="all" baseline="0">
                <a:solidFill>
                  <a:schemeClr val="accent1">
                    <a:lumMod val="50000"/>
                  </a:schemeClr>
                </a:solidFill>
              </a:defRPr>
            </a:lvl1pPr>
          </a:lstStyle>
          <a:p>
            <a:fld id="{E2A80D49-6E30-4745-93AC-9D9D7F079020}" type="slidenum">
              <a:rPr lang="zh-TW" altLang="en-US" smtClean="0"/>
              <a:pPr/>
              <a:t>‹#›</a:t>
            </a:fld>
            <a:endParaRPr lang="zh-TW" altLang="en-US"/>
          </a:p>
        </p:txBody>
      </p:sp>
    </p:spTree>
    <p:extLst>
      <p:ext uri="{BB962C8B-B14F-4D97-AF65-F5344CB8AC3E}">
        <p14:creationId xmlns:p14="http://schemas.microsoft.com/office/powerpoint/2010/main" val="30990868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ftr="0" dt="0"/>
  <p:txStyles>
    <p:titleStyle>
      <a:lvl1pPr algn="l" defTabSz="914400" rtl="0" eaLnBrk="1" latinLnBrk="0" hangingPunct="1">
        <a:lnSpc>
          <a:spcPct val="90000"/>
        </a:lnSpc>
        <a:spcBef>
          <a:spcPct val="0"/>
        </a:spcBef>
        <a:buNone/>
        <a:defRPr sz="4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mathsisfun.com/data/quincunx.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8.tmp"/><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hyperlink" Target="https://homepage.divms.uiowa.edu/~mbognar/applets/normal.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77976">
              <a:srgbClr val="B8CFE1"/>
            </a:gs>
            <a:gs pos="66980">
              <a:srgbClr val="CADBE9"/>
            </a:gs>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pPr algn="ctr"/>
            <a:r>
              <a:rPr lang="zh-TW" altLang="en-US" sz="6000" b="1">
                <a:latin typeface="微軟正黑體" panose="020B0604030504040204" pitchFamily="34" charset="-120"/>
                <a:ea typeface="微軟正黑體" panose="020B0604030504040204" pitchFamily="34" charset="-120"/>
              </a:rPr>
              <a:t>第二章　</a:t>
            </a:r>
            <a:br>
              <a:rPr lang="en-US" altLang="zh-TW" sz="6000" b="1">
                <a:latin typeface="微軟正黑體" panose="020B0604030504040204" pitchFamily="34" charset="-120"/>
                <a:ea typeface="微軟正黑體" panose="020B0604030504040204" pitchFamily="34" charset="-120"/>
              </a:rPr>
            </a:br>
            <a:r>
              <a:rPr lang="zh-TW" altLang="zh-TW" sz="6000" b="1">
                <a:latin typeface="微軟正黑體" panose="020B0604030504040204" pitchFamily="34" charset="-120"/>
                <a:ea typeface="微軟正黑體" panose="020B0604030504040204" pitchFamily="34" charset="-120"/>
              </a:rPr>
              <a:t>基礎機率</a:t>
            </a:r>
            <a:r>
              <a:rPr lang="zh-TW" altLang="en-US" sz="6000" b="1">
                <a:latin typeface="微軟正黑體" panose="020B0604030504040204" pitchFamily="34" charset="-120"/>
                <a:ea typeface="微軟正黑體" panose="020B0604030504040204" pitchFamily="34" charset="-120"/>
              </a:rPr>
              <a:t>及</a:t>
            </a:r>
            <a:r>
              <a:rPr lang="zh-TW" altLang="zh-TW" sz="6000" b="1">
                <a:latin typeface="微軟正黑體" panose="020B0604030504040204" pitchFamily="34" charset="-120"/>
                <a:ea typeface="微軟正黑體" panose="020B0604030504040204" pitchFamily="34" charset="-120"/>
              </a:rPr>
              <a:t>抽樣分配</a:t>
            </a:r>
            <a:endParaRPr lang="zh-TW" altLang="en-US" sz="60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67827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zh-TW" dirty="0">
                <a:latin typeface="微軟正黑體" panose="020B0604030504040204" pitchFamily="34" charset="-120"/>
                <a:ea typeface="微軟正黑體" panose="020B0604030504040204" pitchFamily="34" charset="-120"/>
              </a:rPr>
              <a:t>關鍵字</a:t>
            </a:r>
            <a:r>
              <a:rPr lang="en-US" altLang="zh-TW" dirty="0">
                <a:latin typeface="微軟正黑體" panose="020B0604030504040204" pitchFamily="34" charset="-120"/>
                <a:ea typeface="微軟正黑體" panose="020B0604030504040204" pitchFamily="34" charset="-120"/>
              </a:rPr>
              <a:t>(Key words)</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1027817" y="1335405"/>
            <a:ext cx="3395309" cy="4525963"/>
          </a:xfrm>
        </p:spPr>
        <p:txBody>
          <a:bodyPr>
            <a:normAutofit/>
          </a:bodyPr>
          <a:lstStyle/>
          <a:p>
            <a:r>
              <a:rPr lang="zh-TW" altLang="zh-TW" dirty="0">
                <a:latin typeface="微軟正黑體" panose="020B0604030504040204" pitchFamily="34" charset="-120"/>
                <a:ea typeface="微軟正黑體" panose="020B0604030504040204" pitchFamily="34" charset="-120"/>
              </a:rPr>
              <a:t>機率</a:t>
            </a:r>
            <a:endParaRPr lang="en-US" altLang="zh-TW" dirty="0">
              <a:latin typeface="微軟正黑體" panose="020B0604030504040204" pitchFamily="34" charset="-120"/>
              <a:ea typeface="微軟正黑體" panose="020B0604030504040204" pitchFamily="34" charset="-120"/>
            </a:endParaRPr>
          </a:p>
          <a:p>
            <a:r>
              <a:rPr lang="zh-TW" altLang="zh-TW" dirty="0">
                <a:latin typeface="微軟正黑體" panose="020B0604030504040204" pitchFamily="34" charset="-120"/>
                <a:ea typeface="微軟正黑體" panose="020B0604030504040204" pitchFamily="34" charset="-120"/>
              </a:rPr>
              <a:t>二項式分配</a:t>
            </a:r>
            <a:endParaRPr lang="en-US" altLang="zh-TW" dirty="0">
              <a:latin typeface="微軟正黑體" panose="020B0604030504040204" pitchFamily="34" charset="-120"/>
              <a:ea typeface="微軟正黑體" panose="020B0604030504040204" pitchFamily="34" charset="-120"/>
            </a:endParaRPr>
          </a:p>
          <a:p>
            <a:r>
              <a:rPr lang="zh-TW" altLang="zh-TW" dirty="0">
                <a:latin typeface="微軟正黑體" panose="020B0604030504040204" pitchFamily="34" charset="-120"/>
                <a:ea typeface="微軟正黑體" panose="020B0604030504040204" pitchFamily="34" charset="-120"/>
              </a:rPr>
              <a:t>常態分配</a:t>
            </a:r>
            <a:endParaRPr lang="en-US" altLang="zh-TW" dirty="0">
              <a:latin typeface="微軟正黑體" panose="020B0604030504040204" pitchFamily="34" charset="-120"/>
              <a:ea typeface="微軟正黑體" panose="020B0604030504040204" pitchFamily="34" charset="-120"/>
            </a:endParaRPr>
          </a:p>
          <a:p>
            <a:r>
              <a:rPr lang="zh-TW" altLang="zh-TW" dirty="0">
                <a:latin typeface="微軟正黑體" panose="020B0604030504040204" pitchFamily="34" charset="-120"/>
                <a:ea typeface="微軟正黑體" panose="020B0604030504040204" pitchFamily="34" charset="-120"/>
              </a:rPr>
              <a:t>中央極限定理</a:t>
            </a:r>
            <a:endParaRPr lang="en-US" altLang="zh-TW" dirty="0">
              <a:latin typeface="微軟正黑體" panose="020B0604030504040204" pitchFamily="34" charset="-120"/>
              <a:ea typeface="微軟正黑體" panose="020B0604030504040204" pitchFamily="34" charset="-120"/>
            </a:endParaRPr>
          </a:p>
        </p:txBody>
      </p:sp>
      <p:sp>
        <p:nvSpPr>
          <p:cNvPr id="6" name="投影片編號版面配置區 5"/>
          <p:cNvSpPr>
            <a:spLocks noGrp="1"/>
          </p:cNvSpPr>
          <p:nvPr>
            <p:ph type="sldNum" sz="quarter" idx="12"/>
          </p:nvPr>
        </p:nvSpPr>
        <p:spPr/>
        <p:txBody>
          <a:bodyPr/>
          <a:lstStyle/>
          <a:p>
            <a:fld id="{E2A80D49-6E30-4745-93AC-9D9D7F079020}" type="slidenum">
              <a:rPr lang="zh-TW" altLang="en-US" smtClean="0"/>
              <a:pPr/>
              <a:t>2</a:t>
            </a:fld>
            <a:endParaRPr lang="zh-TW" altLang="en-US" dirty="0"/>
          </a:p>
        </p:txBody>
      </p:sp>
    </p:spTree>
    <p:extLst>
      <p:ext uri="{BB962C8B-B14F-4D97-AF65-F5344CB8AC3E}">
        <p14:creationId xmlns:p14="http://schemas.microsoft.com/office/powerpoint/2010/main" val="2426493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350189" y="873212"/>
            <a:ext cx="8231029" cy="5644830"/>
          </a:xfrm>
        </p:spPr>
        <p:txBody>
          <a:bodyPr/>
          <a:lstStyle/>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zh-TW" dirty="0">
                <a:latin typeface="微軟正黑體" panose="020B0604030504040204" pitchFamily="34" charset="-120"/>
                <a:ea typeface="微軟正黑體" panose="020B0604030504040204" pitchFamily="34" charset="-120"/>
              </a:rPr>
              <a:t>本章將介紹機率的基本概念、常見的機率分配，以及統計推論中常會用到的中央極限定理。</a:t>
            </a:r>
            <a:endParaRPr lang="en-US" altLang="zh-TW" dirty="0">
              <a:latin typeface="微軟正黑體" panose="020B0604030504040204" pitchFamily="34" charset="-120"/>
              <a:ea typeface="微軟正黑體" panose="020B0604030504040204" pitchFamily="34" charset="-120"/>
            </a:endParaRPr>
          </a:p>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zh-TW" dirty="0">
                <a:latin typeface="微軟正黑體" panose="020B0604030504040204" pitchFamily="34" charset="-120"/>
                <a:ea typeface="微軟正黑體" panose="020B0604030504040204" pitchFamily="34" charset="-120"/>
              </a:rPr>
              <a:t>一個介於</a:t>
            </a:r>
            <a:r>
              <a:rPr lang="en-US" altLang="zh-TW" dirty="0">
                <a:latin typeface="微軟正黑體" panose="020B0604030504040204" pitchFamily="34" charset="-120"/>
                <a:ea typeface="微軟正黑體" panose="020B0604030504040204" pitchFamily="34" charset="-120"/>
              </a:rPr>
              <a:t>0~1</a:t>
            </a:r>
            <a:r>
              <a:rPr lang="zh-TW" altLang="zh-TW" dirty="0">
                <a:latin typeface="微軟正黑體" panose="020B0604030504040204" pitchFamily="34" charset="-120"/>
                <a:ea typeface="微軟正黑體" panose="020B0604030504040204" pitchFamily="34" charset="-120"/>
              </a:rPr>
              <a:t>之間的數值，用以描述一個隨機事件發生的可能性，數值愈大代表發生的可能性愈高，但不代表必定發生</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10000"/>
              </a:lnSpc>
            </a:pPr>
            <a:endParaRPr lang="zh-TW"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2"/>
          </p:nvPr>
        </p:nvSpPr>
        <p:spPr/>
        <p:txBody>
          <a:bodyPr/>
          <a:lstStyle/>
          <a:p>
            <a:fld id="{E2A80D49-6E30-4745-93AC-9D9D7F079020}" type="slidenum">
              <a:rPr lang="zh-TW" altLang="en-US" smtClean="0"/>
              <a:pPr/>
              <a:t>3</a:t>
            </a:fld>
            <a:endParaRPr lang="zh-TW" altLang="en-US"/>
          </a:p>
        </p:txBody>
      </p:sp>
    </p:spTree>
    <p:extLst>
      <p:ext uri="{BB962C8B-B14F-4D97-AF65-F5344CB8AC3E}">
        <p14:creationId xmlns:p14="http://schemas.microsoft.com/office/powerpoint/2010/main" val="427911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96685" y="305540"/>
            <a:ext cx="7799016" cy="1151965"/>
          </a:xfrm>
        </p:spPr>
        <p:txBody>
          <a:bodyPr/>
          <a:lstStyle/>
          <a:p>
            <a:r>
              <a:rPr lang="zh-TW" altLang="zh-TW" dirty="0">
                <a:latin typeface="微軟正黑體" panose="020B0604030504040204" pitchFamily="34" charset="-120"/>
                <a:ea typeface="微軟正黑體" panose="020B0604030504040204" pitchFamily="34" charset="-120"/>
              </a:rPr>
              <a:t>機率</a:t>
            </a:r>
            <a:r>
              <a:rPr lang="zh-TW" altLang="en-US" dirty="0">
                <a:latin typeface="微軟正黑體" panose="020B0604030504040204" pitchFamily="34" charset="-120"/>
                <a:ea typeface="微軟正黑體" panose="020B0604030504040204" pitchFamily="34" charset="-120"/>
              </a:rPr>
              <a:t>概念</a:t>
            </a:r>
          </a:p>
        </p:txBody>
      </p:sp>
      <p:sp>
        <p:nvSpPr>
          <p:cNvPr id="3" name="內容版面配置區 2"/>
          <p:cNvSpPr>
            <a:spLocks noGrp="1"/>
          </p:cNvSpPr>
          <p:nvPr>
            <p:ph sz="quarter" idx="13"/>
          </p:nvPr>
        </p:nvSpPr>
        <p:spPr>
          <a:xfrm>
            <a:off x="399031" y="1037548"/>
            <a:ext cx="8141654" cy="3311189"/>
          </a:xfrm>
        </p:spPr>
        <p:txBody>
          <a:bodyPr/>
          <a:lstStyle/>
          <a:p>
            <a:pPr>
              <a:lnSpc>
                <a:spcPct val="110000"/>
              </a:lnSpc>
            </a:pPr>
            <a:r>
              <a:rPr lang="zh-TW" altLang="zh-TW" dirty="0">
                <a:latin typeface="微軟正黑體" panose="020B0604030504040204" pitchFamily="34" charset="-120"/>
                <a:ea typeface="微軟正黑體" panose="020B0604030504040204" pitchFamily="34" charset="-120"/>
              </a:rPr>
              <a:t>例如</a:t>
            </a:r>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吸菸已經被發現是心血管疾病重要危險因子之一，但是沒有吸菸並不意味不會得到心血管疾病，吸菸並不代表一定會得到心血管疾病</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en-US" dirty="0">
                <a:latin typeface="微軟正黑體" panose="020B0604030504040204" pitchFamily="34" charset="-120"/>
                <a:ea typeface="微軟正黑體" panose="020B0604030504040204" pitchFamily="34" charset="-120"/>
              </a:rPr>
              <a:t>例如 </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降雨機率高不等於必定下雨，降雨機率與不降雨機率總和為</a:t>
            </a:r>
            <a:r>
              <a:rPr lang="en-US" altLang="zh-TW" dirty="0">
                <a:latin typeface="微軟正黑體" panose="020B0604030504040204" pitchFamily="34" charset="-120"/>
                <a:ea typeface="微軟正黑體" panose="020B0604030504040204" pitchFamily="34" charset="-120"/>
              </a:rPr>
              <a:t>1</a:t>
            </a:r>
          </a:p>
          <a:p>
            <a:pPr>
              <a:lnSpc>
                <a:spcPct val="110000"/>
              </a:lnSpc>
            </a:pPr>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2"/>
          </p:nvPr>
        </p:nvSpPr>
        <p:spPr/>
        <p:txBody>
          <a:bodyPr/>
          <a:lstStyle/>
          <a:p>
            <a:fld id="{E2A80D49-6E30-4745-93AC-9D9D7F079020}" type="slidenum">
              <a:rPr lang="zh-TW" altLang="en-US" smtClean="0"/>
              <a:pPr/>
              <a:t>4</a:t>
            </a:fld>
            <a:endParaRPr lang="zh-TW" altLang="en-US"/>
          </a:p>
        </p:txBody>
      </p:sp>
      <p:pic>
        <p:nvPicPr>
          <p:cNvPr id="6" name="圖片 5" descr="一張含有 文字, 螢幕擷取畫面, 設計 的圖片">
            <a:extLst>
              <a:ext uri="{FF2B5EF4-FFF2-40B4-BE49-F238E27FC236}">
                <a16:creationId xmlns:a16="http://schemas.microsoft.com/office/drawing/2014/main" id="{EE933888-DAC5-3E11-7B72-B2C03EDC7A9B}"/>
              </a:ext>
            </a:extLst>
          </p:cNvPr>
          <p:cNvPicPr>
            <a:picLocks noChangeAspect="1"/>
          </p:cNvPicPr>
          <p:nvPr/>
        </p:nvPicPr>
        <p:blipFill rotWithShape="1">
          <a:blip r:embed="rId2">
            <a:extLst>
              <a:ext uri="{28A0092B-C50C-407E-A947-70E740481C1C}">
                <a14:useLocalDpi xmlns:a14="http://schemas.microsoft.com/office/drawing/2010/main" val="0"/>
              </a:ext>
            </a:extLst>
          </a:blip>
          <a:srcRect l="-1" r="809" b="37662"/>
          <a:stretch/>
        </p:blipFill>
        <p:spPr>
          <a:xfrm>
            <a:off x="1183715" y="3331345"/>
            <a:ext cx="6424956" cy="2193091"/>
          </a:xfrm>
          <a:prstGeom prst="rect">
            <a:avLst/>
          </a:prstGeom>
        </p:spPr>
      </p:pic>
    </p:spTree>
    <p:extLst>
      <p:ext uri="{BB962C8B-B14F-4D97-AF65-F5344CB8AC3E}">
        <p14:creationId xmlns:p14="http://schemas.microsoft.com/office/powerpoint/2010/main" val="60439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7859" y="192964"/>
            <a:ext cx="8231029" cy="1143000"/>
          </a:xfrm>
        </p:spPr>
        <p:txBody>
          <a:bodyPr/>
          <a:lstStyle/>
          <a:p>
            <a:r>
              <a:rPr lang="zh-TW" altLang="zh-TW" dirty="0">
                <a:latin typeface="微軟正黑體" panose="020B0604030504040204" pitchFamily="34" charset="-120"/>
                <a:ea typeface="微軟正黑體" panose="020B0604030504040204" pitchFamily="34" charset="-120"/>
              </a:rPr>
              <a:t>機率</a:t>
            </a:r>
            <a:r>
              <a:rPr lang="zh-TW" altLang="en-US" dirty="0">
                <a:latin typeface="微軟正黑體" panose="020B0604030504040204" pitchFamily="34" charset="-120"/>
                <a:ea typeface="微軟正黑體" panose="020B0604030504040204" pitchFamily="34" charset="-120"/>
              </a:rPr>
              <a:t>應用</a:t>
            </a:r>
          </a:p>
        </p:txBody>
      </p:sp>
      <p:sp>
        <p:nvSpPr>
          <p:cNvPr id="3" name="內容版面配置區 2"/>
          <p:cNvSpPr>
            <a:spLocks noGrp="1"/>
          </p:cNvSpPr>
          <p:nvPr>
            <p:ph sz="quarter" idx="13"/>
          </p:nvPr>
        </p:nvSpPr>
        <p:spPr>
          <a:xfrm>
            <a:off x="457280" y="965093"/>
            <a:ext cx="8231029" cy="5442855"/>
          </a:xfrm>
        </p:spPr>
        <p:txBody>
          <a:bodyPr>
            <a:normAutofit/>
          </a:bodyPr>
          <a:lstStyle/>
          <a:p>
            <a:pPr>
              <a:lnSpc>
                <a:spcPct val="110000"/>
              </a:lnSpc>
            </a:pP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2"/>
          </p:nvPr>
        </p:nvSpPr>
        <p:spPr/>
        <p:txBody>
          <a:bodyPr/>
          <a:lstStyle/>
          <a:p>
            <a:fld id="{E2A80D49-6E30-4745-93AC-9D9D7F079020}" type="slidenum">
              <a:rPr lang="zh-TW" altLang="en-US" smtClean="0"/>
              <a:pPr/>
              <a:t>5</a:t>
            </a:fld>
            <a:endParaRPr lang="zh-TW" altLang="en-US"/>
          </a:p>
        </p:txBody>
      </p:sp>
      <p:pic>
        <p:nvPicPr>
          <p:cNvPr id="8" name="圖片 7" descr="一張含有 文字, 螢幕擷取畫面, 字型, 數字 的圖片&#10;&#10;自動產生的描述">
            <a:extLst>
              <a:ext uri="{FF2B5EF4-FFF2-40B4-BE49-F238E27FC236}">
                <a16:creationId xmlns:a16="http://schemas.microsoft.com/office/drawing/2014/main" id="{F3F4F255-B098-2ADB-57B8-8CDDAC07AC37}"/>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9413" y="1182967"/>
            <a:ext cx="8506762" cy="4032145"/>
          </a:xfrm>
          <a:prstGeom prst="rect">
            <a:avLst/>
          </a:prstGeom>
        </p:spPr>
      </p:pic>
      <p:sp>
        <p:nvSpPr>
          <p:cNvPr id="13" name="文字方塊 12">
            <a:extLst>
              <a:ext uri="{FF2B5EF4-FFF2-40B4-BE49-F238E27FC236}">
                <a16:creationId xmlns:a16="http://schemas.microsoft.com/office/drawing/2014/main" id="{F821040B-3A7B-04C6-524C-F1609C742332}"/>
              </a:ext>
            </a:extLst>
          </p:cNvPr>
          <p:cNvSpPr txBox="1"/>
          <p:nvPr/>
        </p:nvSpPr>
        <p:spPr>
          <a:xfrm>
            <a:off x="4823588" y="5367256"/>
            <a:ext cx="6318319" cy="307777"/>
          </a:xfrm>
          <a:prstGeom prst="rect">
            <a:avLst/>
          </a:prstGeom>
          <a:noFill/>
        </p:spPr>
        <p:txBody>
          <a:bodyPr wrap="square">
            <a:spAutoFit/>
          </a:bodyPr>
          <a:lstStyle/>
          <a:p>
            <a:r>
              <a:rPr lang="zh-TW" altLang="en-US" sz="1400" dirty="0">
                <a:latin typeface="Abadi" panose="020B0604020104020204" pitchFamily="34" charset="0"/>
              </a:rPr>
              <a:t>https://www.mohw.gov.tw/cp-4627-55770-1.html</a:t>
            </a:r>
          </a:p>
        </p:txBody>
      </p:sp>
    </p:spTree>
    <p:extLst>
      <p:ext uri="{BB962C8B-B14F-4D97-AF65-F5344CB8AC3E}">
        <p14:creationId xmlns:p14="http://schemas.microsoft.com/office/powerpoint/2010/main" val="1872493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標題 20"/>
          <p:cNvSpPr>
            <a:spLocks noGrp="1"/>
          </p:cNvSpPr>
          <p:nvPr>
            <p:ph type="title"/>
          </p:nvPr>
        </p:nvSpPr>
        <p:spPr>
          <a:xfrm>
            <a:off x="417744" y="93405"/>
            <a:ext cx="8231029" cy="1143000"/>
          </a:xfrm>
        </p:spPr>
        <p:txBody>
          <a:bodyPr/>
          <a:lstStyle/>
          <a:p>
            <a:r>
              <a:rPr lang="zh-TW" altLang="en-US" dirty="0">
                <a:latin typeface="微軟正黑體" panose="020B0604030504040204" pitchFamily="34" charset="-120"/>
                <a:ea typeface="微軟正黑體" panose="020B0604030504040204" pitchFamily="34" charset="-120"/>
              </a:rPr>
              <a:t>機率計算</a:t>
            </a:r>
          </a:p>
        </p:txBody>
      </p:sp>
      <p:sp>
        <p:nvSpPr>
          <p:cNvPr id="22" name="內容版面配置區 21"/>
          <p:cNvSpPr>
            <a:spLocks noGrp="1"/>
          </p:cNvSpPr>
          <p:nvPr>
            <p:ph sz="quarter" idx="13"/>
          </p:nvPr>
        </p:nvSpPr>
        <p:spPr>
          <a:xfrm>
            <a:off x="347716" y="664905"/>
            <a:ext cx="8301057" cy="4998990"/>
          </a:xfrm>
        </p:spPr>
        <p:txBody>
          <a:bodyPr>
            <a:normAutofit/>
          </a:bodyPr>
          <a:lstStyle/>
          <a:p>
            <a:pPr>
              <a:lnSpc>
                <a:spcPct val="110000"/>
              </a:lnSpc>
            </a:pPr>
            <a:r>
              <a:rPr lang="zh-TW" altLang="en-US" dirty="0">
                <a:latin typeface="微軟正黑體" panose="020B0604030504040204" pitchFamily="34" charset="-120"/>
                <a:ea typeface="微軟正黑體" panose="020B0604030504040204" pitchFamily="34" charset="-120"/>
              </a:rPr>
              <a:t>下表為</a:t>
            </a:r>
            <a:r>
              <a:rPr lang="zh-TW" altLang="zh-TW" dirty="0">
                <a:latin typeface="微軟正黑體" panose="020B0604030504040204" pitchFamily="34" charset="-120"/>
                <a:ea typeface="微軟正黑體" panose="020B0604030504040204" pitchFamily="34" charset="-120"/>
              </a:rPr>
              <a:t>基隆地區心血管疾病調查資料</a:t>
            </a:r>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合計</a:t>
            </a:r>
            <a:r>
              <a:rPr lang="en-US" altLang="zh-TW" dirty="0">
                <a:latin typeface="微軟正黑體" panose="020B0604030504040204" pitchFamily="34" charset="-120"/>
                <a:ea typeface="微軟正黑體" panose="020B0604030504040204" pitchFamily="34" charset="-120"/>
              </a:rPr>
              <a:t>61,963</a:t>
            </a:r>
            <a:r>
              <a:rPr lang="zh-TW" altLang="zh-TW" dirty="0">
                <a:latin typeface="微軟正黑體" panose="020B0604030504040204" pitchFamily="34" charset="-120"/>
                <a:ea typeface="微軟正黑體" panose="020B0604030504040204" pitchFamily="34" charset="-120"/>
              </a:rPr>
              <a:t>人</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全基隆地區約有</a:t>
            </a:r>
            <a:r>
              <a:rPr lang="en-US" altLang="zh-TW" dirty="0">
                <a:latin typeface="微軟正黑體" panose="020B0604030504040204" pitchFamily="34" charset="-120"/>
                <a:ea typeface="微軟正黑體" panose="020B0604030504040204" pitchFamily="34" charset="-120"/>
              </a:rPr>
              <a:t>37</a:t>
            </a:r>
            <a:r>
              <a:rPr lang="zh-TW" altLang="en-US" dirty="0">
                <a:latin typeface="微軟正黑體" panose="020B0604030504040204" pitchFamily="34" charset="-120"/>
                <a:ea typeface="微軟正黑體" panose="020B0604030504040204" pitchFamily="34" charset="-120"/>
              </a:rPr>
              <a:t>萬人口數</a:t>
            </a:r>
            <a:r>
              <a:rPr lang="en-US" altLang="zh-TW" dirty="0">
                <a:latin typeface="微軟正黑體" panose="020B0604030504040204" pitchFamily="34" charset="-120"/>
                <a:ea typeface="微軟正黑體" panose="020B0604030504040204" pitchFamily="34" charset="-120"/>
              </a:rPr>
              <a:t>)</a:t>
            </a:r>
          </a:p>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zh-TW" dirty="0">
                <a:latin typeface="微軟正黑體" panose="020B0604030504040204" pitchFamily="34" charset="-120"/>
                <a:ea typeface="微軟正黑體" panose="020B0604030504040204" pitchFamily="34" charset="-120"/>
              </a:rPr>
              <a:t>每日菸量</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X</a:t>
            </a: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是一種</a:t>
            </a:r>
            <a:r>
              <a:rPr lang="zh-TW" altLang="zh-TW" b="1" dirty="0">
                <a:latin typeface="微軟正黑體" panose="020B0604030504040204" pitchFamily="34" charset="-120"/>
                <a:ea typeface="微軟正黑體" panose="020B0604030504040204" pitchFamily="34" charset="-120"/>
              </a:rPr>
              <a:t>隨機變數</a:t>
            </a:r>
            <a:r>
              <a:rPr lang="en-US" altLang="zh-TW" dirty="0">
                <a:latin typeface="微軟正黑體" panose="020B0604030504040204" pitchFamily="34" charset="-120"/>
                <a:ea typeface="微軟正黑體" panose="020B0604030504040204" pitchFamily="34" charset="-120"/>
              </a:rPr>
              <a:t>(random variable)</a:t>
            </a:r>
            <a:r>
              <a:rPr lang="zh-TW" altLang="en-US" dirty="0">
                <a:latin typeface="微軟正黑體" panose="020B0604030504040204" pitchFamily="34" charset="-120"/>
                <a:ea typeface="微軟正黑體" panose="020B0604030504040204" pitchFamily="34" charset="-120"/>
              </a:rPr>
              <a:t> 。</a:t>
            </a:r>
            <a:endParaRPr lang="en-US" altLang="zh-TW" dirty="0">
              <a:latin typeface="微軟正黑體" panose="020B0604030504040204" pitchFamily="34" charset="-120"/>
              <a:ea typeface="微軟正黑體" panose="020B0604030504040204" pitchFamily="34" charset="-120"/>
            </a:endParaRPr>
          </a:p>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en-US" dirty="0">
                <a:latin typeface="微軟正黑體" panose="020B0604030504040204" pitchFamily="34" charset="-120"/>
                <a:ea typeface="微軟正黑體" panose="020B0604030504040204" pitchFamily="34" charset="-120"/>
              </a:rPr>
              <a:t>考量</a:t>
            </a:r>
            <a:r>
              <a:rPr lang="zh-TW" altLang="zh-TW" dirty="0">
                <a:latin typeface="微軟正黑體" panose="020B0604030504040204" pitchFamily="34" charset="-120"/>
                <a:ea typeface="微軟正黑體" panose="020B0604030504040204" pitchFamily="34" charset="-120"/>
              </a:rPr>
              <a:t>每日吸菸量是</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a:t>
            </a:r>
            <a:r>
              <a:rPr lang="en-US" altLang="zh-TW"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包、超過</a:t>
            </a:r>
            <a:r>
              <a:rPr lang="en-US" altLang="zh-TW"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包的事件，</a:t>
            </a:r>
            <a:r>
              <a:rPr lang="zh-TW" altLang="en-US" dirty="0">
                <a:latin typeface="微軟正黑體" panose="020B0604030504040204" pitchFamily="34" charset="-120"/>
                <a:ea typeface="微軟正黑體" panose="020B0604030504040204" pitchFamily="34" charset="-120"/>
              </a:rPr>
              <a:t>發生事件次數的</a:t>
            </a:r>
            <a:r>
              <a:rPr lang="zh-TW" altLang="en-US" u="sng" dirty="0">
                <a:latin typeface="微軟正黑體" panose="020B0604030504040204" pitchFamily="34" charset="-120"/>
                <a:ea typeface="微軟正黑體" panose="020B0604030504040204" pitchFamily="34" charset="-120"/>
              </a:rPr>
              <a:t>比率</a:t>
            </a:r>
            <a:r>
              <a:rPr lang="en-US" altLang="zh-TW" dirty="0">
                <a:latin typeface="微軟正黑體" panose="020B0604030504040204" pitchFamily="34" charset="-120"/>
                <a:ea typeface="微軟正黑體" panose="020B0604030504040204" pitchFamily="34" charset="-120"/>
              </a:rPr>
              <a:t>(proportion)</a:t>
            </a:r>
            <a:r>
              <a:rPr lang="zh-TW" altLang="en-US" dirty="0">
                <a:latin typeface="微軟正黑體" panose="020B0604030504040204" pitchFamily="34" charset="-120"/>
                <a:ea typeface="微軟正黑體" panose="020B0604030504040204" pitchFamily="34" charset="-120"/>
              </a:rPr>
              <a:t>就是</a:t>
            </a:r>
            <a:r>
              <a:rPr lang="en-US" altLang="zh-TW" u="sng" dirty="0">
                <a:latin typeface="微軟正黑體" panose="020B0604030504040204" pitchFamily="34" charset="-120"/>
                <a:ea typeface="微軟正黑體" panose="020B0604030504040204" pitchFamily="34" charset="-120"/>
              </a:rPr>
              <a:t>(</a:t>
            </a:r>
            <a:r>
              <a:rPr lang="zh-TW" altLang="en-US" u="sng" dirty="0">
                <a:latin typeface="微軟正黑體" panose="020B0604030504040204" pitchFamily="34" charset="-120"/>
                <a:ea typeface="微軟正黑體" panose="020B0604030504040204" pitchFamily="34" charset="-120"/>
              </a:rPr>
              <a:t>樣本</a:t>
            </a:r>
            <a:r>
              <a:rPr lang="en-US" altLang="zh-TW" u="sng" dirty="0">
                <a:latin typeface="微軟正黑體" panose="020B0604030504040204" pitchFamily="34" charset="-120"/>
                <a:ea typeface="微軟正黑體" panose="020B0604030504040204" pitchFamily="34" charset="-120"/>
              </a:rPr>
              <a:t>)</a:t>
            </a:r>
            <a:r>
              <a:rPr lang="zh-TW" altLang="en-US" u="sng" dirty="0">
                <a:latin typeface="微軟正黑體" panose="020B0604030504040204" pitchFamily="34" charset="-120"/>
                <a:ea typeface="微軟正黑體" panose="020B0604030504040204" pitchFamily="34" charset="-120"/>
              </a:rPr>
              <a:t>機率 </a:t>
            </a:r>
            <a:r>
              <a:rPr lang="en-US" altLang="zh-TW" dirty="0">
                <a:latin typeface="微軟正黑體" panose="020B0604030504040204" pitchFamily="34" charset="-120"/>
                <a:ea typeface="微軟正黑體" panose="020B0604030504040204" pitchFamily="34" charset="-120"/>
              </a:rPr>
              <a:t>(sample probability)</a:t>
            </a:r>
            <a:r>
              <a:rPr lang="zh-TW" altLang="zh-TW" dirty="0">
                <a:latin typeface="微軟正黑體" panose="020B0604030504040204" pitchFamily="34" charset="-120"/>
                <a:ea typeface="微軟正黑體" panose="020B0604030504040204" pitchFamily="34" charset="-120"/>
              </a:rPr>
              <a:t>，事件機率</a:t>
            </a:r>
            <a:r>
              <a:rPr lang="zh-TW" altLang="en-US" dirty="0">
                <a:latin typeface="微軟正黑體" panose="020B0604030504040204" pitchFamily="34" charset="-120"/>
                <a:ea typeface="微軟正黑體" panose="020B0604030504040204" pitchFamily="34" charset="-120"/>
              </a:rPr>
              <a:t>和</a:t>
            </a:r>
            <a:r>
              <a:rPr lang="zh-TW" altLang="zh-TW" dirty="0">
                <a:latin typeface="微軟正黑體" panose="020B0604030504040204" pitchFamily="34" charset="-120"/>
                <a:ea typeface="微軟正黑體" panose="020B0604030504040204" pitchFamily="34" charset="-120"/>
              </a:rPr>
              <a:t>為</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6" name="投影片編號版面配置區 5"/>
          <p:cNvSpPr>
            <a:spLocks noGrp="1"/>
          </p:cNvSpPr>
          <p:nvPr>
            <p:ph type="sldNum" sz="quarter" idx="12"/>
          </p:nvPr>
        </p:nvSpPr>
        <p:spPr/>
        <p:txBody>
          <a:bodyPr/>
          <a:lstStyle/>
          <a:p>
            <a:fld id="{E2A80D49-6E30-4745-93AC-9D9D7F079020}" type="slidenum">
              <a:rPr lang="zh-TW" altLang="en-US" smtClean="0"/>
              <a:pPr/>
              <a:t>6</a:t>
            </a:fld>
            <a:endParaRPr lang="zh-TW" altLang="en-US"/>
          </a:p>
        </p:txBody>
      </p:sp>
    </p:spTree>
    <p:extLst>
      <p:ext uri="{BB962C8B-B14F-4D97-AF65-F5344CB8AC3E}">
        <p14:creationId xmlns:p14="http://schemas.microsoft.com/office/powerpoint/2010/main" val="246258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224626" y="542016"/>
            <a:ext cx="8377011" cy="1151965"/>
          </a:xfrm>
        </p:spPr>
        <p:txBody>
          <a:bodyPr>
            <a:normAutofit fontScale="90000"/>
          </a:bodyPr>
          <a:lstStyle/>
          <a:p>
            <a:pPr lvl="0" algn="ctr"/>
            <a:r>
              <a:rPr lang="zh-TW" altLang="zh-TW"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表</a:t>
            </a:r>
            <a:r>
              <a:rPr lang="en-US" altLang="zh-TW"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2-1. </a:t>
            </a:r>
            <a:r>
              <a:rPr lang="zh-TW" altLang="en-US"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心血管疾病與吸菸量人數表</a:t>
            </a:r>
            <a:br>
              <a:rPr lang="en-US" altLang="zh-TW"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（每日菸量之邊際機率</a:t>
            </a:r>
            <a:r>
              <a:rPr lang="en-US" altLang="zh-TW"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marginal probability</a:t>
            </a:r>
            <a:r>
              <a:rPr lang="zh-TW" altLang="en-US" sz="32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3200"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p:txBody>
          <a:bodyPr/>
          <a:lstStyle/>
          <a:p>
            <a:endParaRPr lang="zh-TW" altLang="en-US" dirty="0"/>
          </a:p>
        </p:txBody>
      </p:sp>
      <p:sp>
        <p:nvSpPr>
          <p:cNvPr id="5" name="投影片編號版面配置區 4"/>
          <p:cNvSpPr>
            <a:spLocks noGrp="1"/>
          </p:cNvSpPr>
          <p:nvPr>
            <p:ph type="sldNum" sz="quarter" idx="12"/>
          </p:nvPr>
        </p:nvSpPr>
        <p:spPr/>
        <p:txBody>
          <a:bodyPr/>
          <a:lstStyle/>
          <a:p>
            <a:fld id="{E2A80D49-6E30-4745-93AC-9D9D7F079020}" type="slidenum">
              <a:rPr lang="zh-TW" altLang="en-US" smtClean="0"/>
              <a:pPr/>
              <a:t>7</a:t>
            </a:fld>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2521685952"/>
              </p:ext>
            </p:extLst>
          </p:nvPr>
        </p:nvGraphicFramePr>
        <p:xfrm>
          <a:off x="82380" y="1885356"/>
          <a:ext cx="4489227" cy="2765515"/>
        </p:xfrm>
        <a:graphic>
          <a:graphicData uri="http://schemas.openxmlformats.org/drawingml/2006/table">
            <a:tbl>
              <a:tblPr firstRow="1" firstCol="1" bandRow="1">
                <a:tableStyleId>{5C22544A-7EE6-4342-B048-85BDC9FD1C3A}</a:tableStyleId>
              </a:tblPr>
              <a:tblGrid>
                <a:gridCol w="1523998">
                  <a:extLst>
                    <a:ext uri="{9D8B030D-6E8A-4147-A177-3AD203B41FA5}">
                      <a16:colId xmlns:a16="http://schemas.microsoft.com/office/drawing/2014/main" val="20000"/>
                    </a:ext>
                  </a:extLst>
                </a:gridCol>
                <a:gridCol w="1026861">
                  <a:extLst>
                    <a:ext uri="{9D8B030D-6E8A-4147-A177-3AD203B41FA5}">
                      <a16:colId xmlns:a16="http://schemas.microsoft.com/office/drawing/2014/main" val="20001"/>
                    </a:ext>
                  </a:extLst>
                </a:gridCol>
                <a:gridCol w="901692">
                  <a:extLst>
                    <a:ext uri="{9D8B030D-6E8A-4147-A177-3AD203B41FA5}">
                      <a16:colId xmlns:a16="http://schemas.microsoft.com/office/drawing/2014/main" val="20002"/>
                    </a:ext>
                  </a:extLst>
                </a:gridCol>
                <a:gridCol w="1036676">
                  <a:extLst>
                    <a:ext uri="{9D8B030D-6E8A-4147-A177-3AD203B41FA5}">
                      <a16:colId xmlns:a16="http://schemas.microsoft.com/office/drawing/2014/main" val="20003"/>
                    </a:ext>
                  </a:extLst>
                </a:gridCol>
              </a:tblGrid>
              <a:tr h="382415">
                <a:tc rowSpan="2">
                  <a:txBody>
                    <a:bodyPr/>
                    <a:lstStyle/>
                    <a:p>
                      <a:pPr algn="ctr">
                        <a:spcAft>
                          <a:spcPts val="0"/>
                        </a:spcAft>
                      </a:pPr>
                      <a:r>
                        <a:rPr lang="zh-TW" sz="2000" kern="0" dirty="0">
                          <a:effectLst/>
                          <a:latin typeface="微軟正黑體" panose="020B0604030504040204" pitchFamily="34" charset="-120"/>
                          <a:ea typeface="微軟正黑體" panose="020B0604030504040204" pitchFamily="34" charset="-120"/>
                        </a:rPr>
                        <a:t>每日菸量</a:t>
                      </a:r>
                      <a:endParaRPr lang="en-US" altLang="zh-TW" sz="2000" kern="0" dirty="0">
                        <a:effectLst/>
                        <a:latin typeface="微軟正黑體" panose="020B0604030504040204" pitchFamily="34" charset="-120"/>
                        <a:ea typeface="微軟正黑體" panose="020B0604030504040204" pitchFamily="34" charset="-120"/>
                      </a:endParaRPr>
                    </a:p>
                    <a:p>
                      <a:pPr algn="ctr">
                        <a:spcAft>
                          <a:spcPts val="0"/>
                        </a:spcAft>
                      </a:pPr>
                      <a:r>
                        <a:rPr lang="en-US" altLang="zh-TW" sz="1800" b="0" kern="0" dirty="0">
                          <a:effectLst/>
                          <a:latin typeface="微軟正黑體" panose="020B0604030504040204" pitchFamily="34" charset="-120"/>
                          <a:ea typeface="微軟正黑體" panose="020B0604030504040204" pitchFamily="34" charset="-120"/>
                        </a:rPr>
                        <a:t>smoking</a:t>
                      </a:r>
                    </a:p>
                    <a:p>
                      <a:pPr algn="ctr">
                        <a:spcAft>
                          <a:spcPts val="0"/>
                        </a:spcAft>
                      </a:pPr>
                      <a:r>
                        <a:rPr lang="en-US" altLang="zh-TW" sz="1800" kern="0" dirty="0">
                          <a:effectLst/>
                          <a:latin typeface="微軟正黑體" panose="020B0604030504040204" pitchFamily="34" charset="-120"/>
                          <a:ea typeface="微軟正黑體" panose="020B0604030504040204" pitchFamily="34" charset="-120"/>
                          <a:cs typeface="Times New Roman" panose="02020603050405020304" pitchFamily="18" charset="0"/>
                        </a:rPr>
                        <a:t>(pack/day)</a:t>
                      </a:r>
                      <a:endParaRPr lang="zh-TW" sz="18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gridSpan="3">
                  <a:txBody>
                    <a:bodyPr/>
                    <a:lstStyle/>
                    <a:p>
                      <a:pPr algn="ctr">
                        <a:spcAft>
                          <a:spcPts val="0"/>
                        </a:spcAft>
                      </a:pPr>
                      <a:r>
                        <a:rPr lang="zh-TW" sz="2000" kern="0" dirty="0">
                          <a:effectLst/>
                          <a:latin typeface="微軟正黑體" panose="020B0604030504040204" pitchFamily="34" charset="-120"/>
                          <a:ea typeface="微軟正黑體" panose="020B0604030504040204" pitchFamily="34" charset="-120"/>
                        </a:rPr>
                        <a:t>心血管疾病</a:t>
                      </a:r>
                      <a:r>
                        <a:rPr lang="en-US" altLang="zh-TW" sz="2000" kern="0" dirty="0">
                          <a:effectLst/>
                          <a:latin typeface="微軟正黑體" panose="020B0604030504040204" pitchFamily="34" charset="-120"/>
                          <a:ea typeface="微軟正黑體" panose="020B0604030504040204" pitchFamily="34" charset="-120"/>
                        </a:rPr>
                        <a:t>(CVD)</a:t>
                      </a:r>
                      <a:endParaRPr 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382415">
                <a:tc vMerge="1">
                  <a:txBody>
                    <a:bodyPr/>
                    <a:lstStyle/>
                    <a:p>
                      <a:endParaRPr lang="zh-TW" altLang="en-US"/>
                    </a:p>
                  </a:txBody>
                  <a:tcPr/>
                </a:tc>
                <a:tc>
                  <a:txBody>
                    <a:bodyPr/>
                    <a:lstStyle/>
                    <a:p>
                      <a:pPr algn="ctr">
                        <a:spcAft>
                          <a:spcPts val="0"/>
                        </a:spcAft>
                      </a:pPr>
                      <a:r>
                        <a:rPr lang="zh-TW" sz="2000" kern="0" dirty="0">
                          <a:effectLst/>
                          <a:latin typeface="微軟正黑體" panose="020B0604030504040204" pitchFamily="34" charset="-120"/>
                          <a:ea typeface="微軟正黑體" panose="020B0604030504040204" pitchFamily="34" charset="-120"/>
                        </a:rPr>
                        <a:t>無</a:t>
                      </a:r>
                      <a:r>
                        <a:rPr lang="en-US" sz="2000" kern="0" dirty="0">
                          <a:effectLst/>
                          <a:latin typeface="微軟正黑體" panose="020B0604030504040204" pitchFamily="34" charset="-120"/>
                          <a:ea typeface="微軟正黑體" panose="020B0604030504040204" pitchFamily="34" charset="-120"/>
                        </a:rPr>
                        <a:t>(0)</a:t>
                      </a:r>
                      <a:endParaRPr 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zh-TW" sz="2000" kern="0" dirty="0">
                          <a:effectLst/>
                          <a:latin typeface="微軟正黑體" panose="020B0604030504040204" pitchFamily="34" charset="-120"/>
                          <a:ea typeface="微軟正黑體" panose="020B0604030504040204" pitchFamily="34" charset="-120"/>
                        </a:rPr>
                        <a:t>有</a:t>
                      </a:r>
                      <a:r>
                        <a:rPr lang="en-US" sz="2000" kern="0" dirty="0">
                          <a:effectLst/>
                          <a:latin typeface="微軟正黑體" panose="020B0604030504040204" pitchFamily="34" charset="-120"/>
                          <a:ea typeface="微軟正黑體" panose="020B0604030504040204" pitchFamily="34" charset="-120"/>
                        </a:rPr>
                        <a:t>(1)</a:t>
                      </a:r>
                      <a:endParaRPr 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zh-TW" sz="2000" kern="0" dirty="0">
                          <a:effectLst/>
                          <a:latin typeface="微軟正黑體" panose="020B0604030504040204" pitchFamily="34" charset="-120"/>
                          <a:ea typeface="微軟正黑體" panose="020B0604030504040204" pitchFamily="34" charset="-120"/>
                        </a:rPr>
                        <a:t>合計</a:t>
                      </a:r>
                      <a:endParaRPr 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1"/>
                  </a:ext>
                </a:extLst>
              </a:tr>
              <a:tr h="382415">
                <a:tc>
                  <a:txBody>
                    <a:bodyPr/>
                    <a:lstStyle/>
                    <a:p>
                      <a:pPr algn="ctr">
                        <a:spcAft>
                          <a:spcPts val="0"/>
                        </a:spcAft>
                      </a:pPr>
                      <a:r>
                        <a:rPr lang="en-US" sz="2000" kern="0">
                          <a:effectLst/>
                          <a:latin typeface="微軟正黑體" panose="020B0604030504040204" pitchFamily="34" charset="-120"/>
                          <a:ea typeface="微軟正黑體" panose="020B0604030504040204" pitchFamily="34" charset="-120"/>
                        </a:rPr>
                        <a:t>0</a:t>
                      </a:r>
                      <a:r>
                        <a:rPr lang="zh-TW" sz="2000" kern="0">
                          <a:effectLst/>
                          <a:latin typeface="微軟正黑體" panose="020B0604030504040204" pitchFamily="34" charset="-120"/>
                          <a:ea typeface="微軟正黑體" panose="020B0604030504040204" pitchFamily="34" charset="-120"/>
                        </a:rPr>
                        <a:t>包</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41,629</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4</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166</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45</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795</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2"/>
                  </a:ext>
                </a:extLst>
              </a:tr>
              <a:tr h="382415">
                <a:tc>
                  <a:txBody>
                    <a:bodyPr/>
                    <a:lstStyle/>
                    <a:p>
                      <a:pPr algn="ctr">
                        <a:spcAft>
                          <a:spcPts val="0"/>
                        </a:spcAft>
                      </a:pPr>
                      <a:r>
                        <a:rPr lang="en-US" sz="2000" kern="0">
                          <a:effectLst/>
                          <a:latin typeface="微軟正黑體" panose="020B0604030504040204" pitchFamily="34" charset="-120"/>
                          <a:ea typeface="微軟正黑體" panose="020B0604030504040204" pitchFamily="34" charset="-120"/>
                        </a:rPr>
                        <a:t>1</a:t>
                      </a:r>
                      <a:r>
                        <a:rPr lang="zh-TW" sz="2000" kern="0">
                          <a:effectLst/>
                          <a:latin typeface="微軟正黑體" panose="020B0604030504040204" pitchFamily="34" charset="-120"/>
                          <a:ea typeface="微軟正黑體" panose="020B0604030504040204" pitchFamily="34" charset="-120"/>
                        </a:rPr>
                        <a:t>包</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13</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021</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1</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383</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14</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404</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3"/>
                  </a:ext>
                </a:extLst>
              </a:tr>
              <a:tr h="382415">
                <a:tc>
                  <a:txBody>
                    <a:bodyPr/>
                    <a:lstStyle/>
                    <a:p>
                      <a:pPr algn="ctr">
                        <a:spcAft>
                          <a:spcPts val="0"/>
                        </a:spcAft>
                      </a:pPr>
                      <a:r>
                        <a:rPr lang="en-US" sz="2000" kern="0" dirty="0">
                          <a:effectLst/>
                          <a:latin typeface="微軟正黑體" panose="020B0604030504040204" pitchFamily="34" charset="-120"/>
                          <a:ea typeface="微軟正黑體" panose="020B0604030504040204" pitchFamily="34" charset="-120"/>
                        </a:rPr>
                        <a:t>2</a:t>
                      </a:r>
                      <a:r>
                        <a:rPr lang="zh-TW" sz="2000" kern="0" dirty="0">
                          <a:effectLst/>
                          <a:latin typeface="微軟正黑體" panose="020B0604030504040204" pitchFamily="34" charset="-120"/>
                          <a:ea typeface="微軟正黑體" panose="020B0604030504040204" pitchFamily="34" charset="-120"/>
                        </a:rPr>
                        <a:t>包</a:t>
                      </a:r>
                      <a:endParaRPr 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1</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420</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176</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1</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596</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4"/>
                  </a:ext>
                </a:extLst>
              </a:tr>
              <a:tr h="382415">
                <a:tc>
                  <a:txBody>
                    <a:bodyPr/>
                    <a:lstStyle/>
                    <a:p>
                      <a:pPr algn="ctr">
                        <a:spcAft>
                          <a:spcPts val="0"/>
                        </a:spcAft>
                      </a:pPr>
                      <a:r>
                        <a:rPr lang="zh-TW" sz="2000" kern="0">
                          <a:effectLst/>
                          <a:latin typeface="微軟正黑體" panose="020B0604030504040204" pitchFamily="34" charset="-120"/>
                          <a:ea typeface="微軟正黑體" panose="020B0604030504040204" pitchFamily="34" charset="-120"/>
                        </a:rPr>
                        <a:t>超過</a:t>
                      </a:r>
                      <a:r>
                        <a:rPr lang="en-US" sz="2000" kern="0">
                          <a:effectLst/>
                          <a:latin typeface="微軟正黑體" panose="020B0604030504040204" pitchFamily="34" charset="-120"/>
                          <a:ea typeface="微軟正黑體" panose="020B0604030504040204" pitchFamily="34" charset="-120"/>
                        </a:rPr>
                        <a:t>2</a:t>
                      </a:r>
                      <a:r>
                        <a:rPr lang="zh-TW" sz="2000" kern="0">
                          <a:effectLst/>
                          <a:latin typeface="微軟正黑體" panose="020B0604030504040204" pitchFamily="34" charset="-120"/>
                          <a:ea typeface="微軟正黑體" panose="020B0604030504040204" pitchFamily="34" charset="-120"/>
                        </a:rPr>
                        <a:t>包</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144</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0" dirty="0">
                          <a:effectLst/>
                          <a:latin typeface="微軟正黑體" panose="020B0604030504040204" pitchFamily="34" charset="-120"/>
                          <a:ea typeface="微軟正黑體" panose="020B0604030504040204" pitchFamily="34" charset="-120"/>
                          <a:cs typeface="Arial" panose="020B0604020202020204" pitchFamily="34" charset="0"/>
                        </a:rPr>
                        <a:t>24</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168</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5"/>
                  </a:ext>
                </a:extLst>
              </a:tr>
              <a:tr h="382415">
                <a:tc>
                  <a:txBody>
                    <a:bodyPr/>
                    <a:lstStyle/>
                    <a:p>
                      <a:pPr algn="ctr">
                        <a:spcAft>
                          <a:spcPts val="0"/>
                        </a:spcAft>
                      </a:pPr>
                      <a:r>
                        <a:rPr lang="zh-TW" sz="2000" kern="0">
                          <a:effectLst/>
                          <a:latin typeface="微軟正黑體" panose="020B0604030504040204" pitchFamily="34" charset="-120"/>
                          <a:ea typeface="微軟正黑體" panose="020B0604030504040204" pitchFamily="34" charset="-120"/>
                        </a:rPr>
                        <a:t>合計</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56</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214</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5</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749</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tc>
                  <a:txBody>
                    <a:bodyPr/>
                    <a:lstStyle/>
                    <a:p>
                      <a:pPr algn="ctr">
                        <a:spcAft>
                          <a:spcPts val="0"/>
                        </a:spcAft>
                      </a:pP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61</a:t>
                      </a:r>
                      <a:r>
                        <a:rPr lang="en-US" altLang="zh-TW" sz="2000" b="0" kern="0" dirty="0">
                          <a:effectLst/>
                          <a:latin typeface="微軟正黑體" panose="020B0604030504040204" pitchFamily="34" charset="-120"/>
                          <a:ea typeface="微軟正黑體" panose="020B0604030504040204" pitchFamily="34" charset="-120"/>
                          <a:cs typeface="Arial" panose="020B0604020202020204" pitchFamily="34" charset="0"/>
                        </a:rPr>
                        <a:t>,</a:t>
                      </a:r>
                      <a:r>
                        <a:rPr lang="en-US" sz="2000" b="0" kern="100" dirty="0">
                          <a:effectLst/>
                          <a:latin typeface="微軟正黑體" panose="020B0604030504040204" pitchFamily="34" charset="-120"/>
                          <a:ea typeface="微軟正黑體" panose="020B0604030504040204" pitchFamily="34" charset="-120"/>
                          <a:cs typeface="Arial" panose="020B0604020202020204" pitchFamily="34" charset="0"/>
                        </a:rPr>
                        <a:t>963</a:t>
                      </a:r>
                      <a:endParaRPr lang="zh-TW" sz="2000" b="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6"/>
                  </a:ext>
                </a:extLst>
              </a:tr>
            </a:tbl>
          </a:graphicData>
        </a:graphic>
      </p:graphicFrame>
      <p:sp>
        <p:nvSpPr>
          <p:cNvPr id="6" name="向右箭號 5"/>
          <p:cNvSpPr/>
          <p:nvPr/>
        </p:nvSpPr>
        <p:spPr>
          <a:xfrm>
            <a:off x="4589929" y="3144015"/>
            <a:ext cx="395416"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971960202"/>
              </p:ext>
            </p:extLst>
          </p:nvPr>
        </p:nvGraphicFramePr>
        <p:xfrm>
          <a:off x="5003667" y="1848122"/>
          <a:ext cx="3764692" cy="3161755"/>
        </p:xfrm>
        <a:graphic>
          <a:graphicData uri="http://schemas.openxmlformats.org/drawingml/2006/table">
            <a:tbl>
              <a:tblPr firstRow="1" firstCol="1" bandRow="1">
                <a:tableStyleId>{5C22544A-7EE6-4342-B048-85BDC9FD1C3A}</a:tableStyleId>
              </a:tblPr>
              <a:tblGrid>
                <a:gridCol w="1457433">
                  <a:extLst>
                    <a:ext uri="{9D8B030D-6E8A-4147-A177-3AD203B41FA5}">
                      <a16:colId xmlns:a16="http://schemas.microsoft.com/office/drawing/2014/main" val="20000"/>
                    </a:ext>
                  </a:extLst>
                </a:gridCol>
                <a:gridCol w="2307259">
                  <a:extLst>
                    <a:ext uri="{9D8B030D-6E8A-4147-A177-3AD203B41FA5}">
                      <a16:colId xmlns:a16="http://schemas.microsoft.com/office/drawing/2014/main" val="20001"/>
                    </a:ext>
                  </a:extLst>
                </a:gridCol>
              </a:tblGrid>
              <a:tr h="764830">
                <a:tc>
                  <a:txBody>
                    <a:bodyPr/>
                    <a:lstStyle/>
                    <a:p>
                      <a:pPr algn="ctr">
                        <a:spcAft>
                          <a:spcPts val="0"/>
                        </a:spcAft>
                      </a:pPr>
                      <a:r>
                        <a:rPr lang="zh-TW" altLang="zh-TW" sz="1800" kern="0" dirty="0">
                          <a:effectLst/>
                          <a:latin typeface="微軟正黑體" panose="020B0604030504040204" pitchFamily="34" charset="-120"/>
                          <a:ea typeface="微軟正黑體" panose="020B0604030504040204" pitchFamily="34" charset="-120"/>
                        </a:rPr>
                        <a:t>每日菸量</a:t>
                      </a:r>
                      <a:endParaRPr lang="en-US" altLang="zh-TW" sz="1800" kern="0" dirty="0">
                        <a:effectLst/>
                        <a:latin typeface="微軟正黑體" panose="020B0604030504040204" pitchFamily="34" charset="-120"/>
                        <a:ea typeface="微軟正黑體" panose="020B0604030504040204" pitchFamily="34" charset="-120"/>
                      </a:endParaRPr>
                    </a:p>
                    <a:p>
                      <a:pPr algn="ctr">
                        <a:spcAft>
                          <a:spcPts val="0"/>
                        </a:spcAft>
                      </a:pPr>
                      <a:r>
                        <a:rPr lang="en-US" altLang="zh-TW" sz="1800" b="0" kern="0" dirty="0">
                          <a:effectLst/>
                          <a:latin typeface="微軟正黑體" panose="020B0604030504040204" pitchFamily="34" charset="-120"/>
                          <a:ea typeface="微軟正黑體" panose="020B0604030504040204" pitchFamily="34" charset="-120"/>
                        </a:rPr>
                        <a:t>smoking</a:t>
                      </a:r>
                    </a:p>
                    <a:p>
                      <a:pPr algn="ctr">
                        <a:spcAft>
                          <a:spcPts val="0"/>
                        </a:spcAft>
                      </a:pPr>
                      <a:r>
                        <a:rPr lang="en-US" altLang="zh-TW" sz="1800" kern="0" dirty="0">
                          <a:effectLst/>
                          <a:latin typeface="微軟正黑體" panose="020B0604030504040204" pitchFamily="34" charset="-120"/>
                          <a:ea typeface="微軟正黑體" panose="020B0604030504040204" pitchFamily="34" charset="-120"/>
                          <a:cs typeface="Times New Roman" panose="02020603050405020304" pitchFamily="18" charset="0"/>
                        </a:rPr>
                        <a:t>(pack/day)</a:t>
                      </a:r>
                      <a:endParaRPr lang="zh-TW" altLang="zh-TW" sz="18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marL="0" algn="ctr" rtl="0" eaLnBrk="1" latinLnBrk="0" hangingPunct="1">
                        <a:spcAft>
                          <a:spcPts val="0"/>
                        </a:spcAft>
                      </a:pPr>
                      <a:r>
                        <a:rPr kumimoji="0" lang="zh-TW" altLang="en-US" sz="2000" b="1" kern="0" dirty="0">
                          <a:solidFill>
                            <a:schemeClr val="lt1"/>
                          </a:solidFill>
                          <a:effectLst/>
                          <a:latin typeface="微軟正黑體" panose="020B0604030504040204" pitchFamily="34" charset="-120"/>
                          <a:ea typeface="微軟正黑體" panose="020B0604030504040204" pitchFamily="34" charset="-120"/>
                          <a:cs typeface="+mn-cs"/>
                        </a:rPr>
                        <a:t>抽菸量的機率</a:t>
                      </a:r>
                      <a:endParaRPr kumimoji="0" lang="en-US" altLang="zh-TW" sz="2000" b="1" kern="0" dirty="0">
                        <a:solidFill>
                          <a:schemeClr val="lt1"/>
                        </a:solidFill>
                        <a:effectLst/>
                        <a:latin typeface="微軟正黑體" panose="020B0604030504040204" pitchFamily="34" charset="-120"/>
                        <a:ea typeface="微軟正黑體" panose="020B0604030504040204" pitchFamily="34" charset="-120"/>
                        <a:cs typeface="+mn-cs"/>
                      </a:endParaRPr>
                    </a:p>
                    <a:p>
                      <a:pPr marL="0" algn="ctr" rtl="0" eaLnBrk="1" latinLnBrk="0" hangingPunct="1">
                        <a:spcAft>
                          <a:spcPts val="0"/>
                        </a:spcAft>
                      </a:pPr>
                      <a:r>
                        <a:rPr kumimoji="0" lang="en-US" altLang="zh-TW" sz="2000" b="1" kern="0" dirty="0">
                          <a:solidFill>
                            <a:schemeClr val="lt1"/>
                          </a:solidFill>
                          <a:effectLst/>
                          <a:latin typeface="微軟正黑體" panose="020B0604030504040204" pitchFamily="34" charset="-120"/>
                          <a:ea typeface="微軟正黑體" panose="020B0604030504040204" pitchFamily="34" charset="-120"/>
                          <a:cs typeface="+mn-cs"/>
                        </a:rPr>
                        <a:t>(</a:t>
                      </a:r>
                      <a:r>
                        <a:rPr kumimoji="0" lang="zh-TW" altLang="en-US" sz="2000" b="1" kern="0" dirty="0">
                          <a:solidFill>
                            <a:schemeClr val="lt1"/>
                          </a:solidFill>
                          <a:effectLst/>
                          <a:latin typeface="微軟正黑體" panose="020B0604030504040204" pitchFamily="34" charset="-120"/>
                          <a:ea typeface="微軟正黑體" panose="020B0604030504040204" pitchFamily="34" charset="-120"/>
                          <a:cs typeface="+mn-cs"/>
                        </a:rPr>
                        <a:t>邊際機率</a:t>
                      </a:r>
                      <a:r>
                        <a:rPr kumimoji="0" lang="en-US" altLang="zh-TW" sz="2000" b="1" kern="0" dirty="0">
                          <a:solidFill>
                            <a:schemeClr val="lt1"/>
                          </a:solidFill>
                          <a:effectLst/>
                          <a:latin typeface="微軟正黑體" panose="020B0604030504040204" pitchFamily="34" charset="-120"/>
                          <a:ea typeface="微軟正黑體" panose="020B0604030504040204" pitchFamily="34" charset="-120"/>
                          <a:cs typeface="+mn-cs"/>
                        </a:rPr>
                        <a:t>)</a:t>
                      </a:r>
                    </a:p>
                    <a:p>
                      <a:pPr marL="0" algn="ctr" rtl="0" eaLnBrk="1" latinLnBrk="0" hangingPunct="1">
                        <a:spcAft>
                          <a:spcPts val="0"/>
                        </a:spcAft>
                      </a:pPr>
                      <a:r>
                        <a:rPr kumimoji="0" lang="en-US" altLang="zh-TW" sz="1400" b="0" kern="0" dirty="0">
                          <a:solidFill>
                            <a:schemeClr val="lt1"/>
                          </a:solidFill>
                          <a:effectLst/>
                          <a:latin typeface="微軟正黑體" panose="020B0604030504040204" pitchFamily="34" charset="-120"/>
                          <a:ea typeface="微軟正黑體" panose="020B0604030504040204" pitchFamily="34" charset="-120"/>
                          <a:cs typeface="+mn-cs"/>
                        </a:rPr>
                        <a:t>Probability of</a:t>
                      </a:r>
                      <a:r>
                        <a:rPr kumimoji="0" lang="en-US" altLang="zh-TW" sz="1400" b="0" kern="0" baseline="0" dirty="0">
                          <a:solidFill>
                            <a:schemeClr val="lt1"/>
                          </a:solidFill>
                          <a:effectLst/>
                          <a:latin typeface="微軟正黑體" panose="020B0604030504040204" pitchFamily="34" charset="-120"/>
                          <a:ea typeface="微軟正黑體" panose="020B0604030504040204" pitchFamily="34" charset="-120"/>
                          <a:cs typeface="+mn-cs"/>
                        </a:rPr>
                        <a:t> persons smoke pack of cigarettes per day</a:t>
                      </a:r>
                      <a:endParaRPr kumimoji="0" lang="zh-TW" sz="1400" b="0" kern="0" dirty="0">
                        <a:solidFill>
                          <a:schemeClr val="lt1"/>
                        </a:solidFill>
                        <a:effectLst/>
                        <a:latin typeface="微軟正黑體" panose="020B0604030504040204" pitchFamily="34" charset="-120"/>
                        <a:ea typeface="微軟正黑體" panose="020B0604030504040204" pitchFamily="34" charset="-120"/>
                        <a:cs typeface="+mn-cs"/>
                      </a:endParaRPr>
                    </a:p>
                  </a:txBody>
                  <a:tcPr marL="51444" marR="51444" marT="0" marB="0" anchor="ctr"/>
                </a:tc>
                <a:extLst>
                  <a:ext uri="{0D108BD9-81ED-4DB2-BD59-A6C34878D82A}">
                    <a16:rowId xmlns:a16="http://schemas.microsoft.com/office/drawing/2014/main" val="10000"/>
                  </a:ext>
                </a:extLst>
              </a:tr>
              <a:tr h="382415">
                <a:tc>
                  <a:txBody>
                    <a:bodyPr/>
                    <a:lstStyle/>
                    <a:p>
                      <a:pPr algn="ctr">
                        <a:spcAft>
                          <a:spcPts val="0"/>
                        </a:spcAft>
                      </a:pPr>
                      <a:r>
                        <a:rPr lang="en-US" sz="2000" kern="0" dirty="0">
                          <a:effectLst/>
                          <a:latin typeface="微軟正黑體" panose="020B0604030504040204" pitchFamily="34" charset="-120"/>
                          <a:ea typeface="微軟正黑體" panose="020B0604030504040204" pitchFamily="34" charset="-120"/>
                        </a:rPr>
                        <a:t>0</a:t>
                      </a:r>
                      <a:r>
                        <a:rPr lang="zh-TW" sz="2000" kern="0" dirty="0">
                          <a:effectLst/>
                          <a:latin typeface="微軟正黑體" panose="020B0604030504040204" pitchFamily="34" charset="-120"/>
                          <a:ea typeface="微軟正黑體" panose="020B0604030504040204" pitchFamily="34" charset="-120"/>
                        </a:rPr>
                        <a:t>包</a:t>
                      </a:r>
                      <a:endParaRPr 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altLang="zh-TW" sz="2000" dirty="0">
                          <a:latin typeface="微軟正黑體" panose="020B0604030504040204" pitchFamily="34" charset="-120"/>
                          <a:ea typeface="微軟正黑體" panose="020B0604030504040204" pitchFamily="34" charset="-120"/>
                          <a:cs typeface="Arial" panose="020B0604020202020204" pitchFamily="34" charset="0"/>
                        </a:rPr>
                        <a:t>45,795/61,963</a:t>
                      </a:r>
                      <a:endParaRPr lang="zh-TW" sz="200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1"/>
                  </a:ext>
                </a:extLst>
              </a:tr>
              <a:tr h="382415">
                <a:tc>
                  <a:txBody>
                    <a:bodyPr/>
                    <a:lstStyle/>
                    <a:p>
                      <a:pPr algn="ctr">
                        <a:spcAft>
                          <a:spcPts val="0"/>
                        </a:spcAft>
                      </a:pPr>
                      <a:r>
                        <a:rPr lang="en-US" sz="2000" kern="0">
                          <a:effectLst/>
                          <a:latin typeface="微軟正黑體" panose="020B0604030504040204" pitchFamily="34" charset="-120"/>
                          <a:ea typeface="微軟正黑體" panose="020B0604030504040204" pitchFamily="34" charset="-120"/>
                        </a:rPr>
                        <a:t>1</a:t>
                      </a:r>
                      <a:r>
                        <a:rPr lang="zh-TW" sz="2000" kern="0">
                          <a:effectLst/>
                          <a:latin typeface="微軟正黑體" panose="020B0604030504040204" pitchFamily="34" charset="-120"/>
                          <a:ea typeface="微軟正黑體" panose="020B0604030504040204" pitchFamily="34" charset="-120"/>
                        </a:rPr>
                        <a:t>包</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altLang="zh-TW" sz="2000" dirty="0">
                          <a:latin typeface="微軟正黑體" panose="020B0604030504040204" pitchFamily="34" charset="-120"/>
                          <a:ea typeface="微軟正黑體" panose="020B0604030504040204" pitchFamily="34" charset="-120"/>
                          <a:cs typeface="Arial" panose="020B0604020202020204" pitchFamily="34" charset="0"/>
                        </a:rPr>
                        <a:t>14,404/61,963</a:t>
                      </a:r>
                      <a:endParaRPr lang="zh-TW" sz="200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2"/>
                  </a:ext>
                </a:extLst>
              </a:tr>
              <a:tr h="382415">
                <a:tc>
                  <a:txBody>
                    <a:bodyPr/>
                    <a:lstStyle/>
                    <a:p>
                      <a:pPr algn="ctr">
                        <a:spcAft>
                          <a:spcPts val="0"/>
                        </a:spcAft>
                      </a:pPr>
                      <a:r>
                        <a:rPr lang="en-US" sz="2000" kern="0">
                          <a:effectLst/>
                          <a:latin typeface="微軟正黑體" panose="020B0604030504040204" pitchFamily="34" charset="-120"/>
                          <a:ea typeface="微軟正黑體" panose="020B0604030504040204" pitchFamily="34" charset="-120"/>
                        </a:rPr>
                        <a:t>2</a:t>
                      </a:r>
                      <a:r>
                        <a:rPr lang="zh-TW" sz="2000" kern="0">
                          <a:effectLst/>
                          <a:latin typeface="微軟正黑體" panose="020B0604030504040204" pitchFamily="34" charset="-120"/>
                          <a:ea typeface="微軟正黑體" panose="020B0604030504040204" pitchFamily="34" charset="-120"/>
                        </a:rPr>
                        <a:t>包</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altLang="zh-TW" sz="2000" dirty="0">
                          <a:latin typeface="微軟正黑體" panose="020B0604030504040204" pitchFamily="34" charset="-120"/>
                          <a:ea typeface="微軟正黑體" panose="020B0604030504040204" pitchFamily="34" charset="-120"/>
                          <a:cs typeface="Arial" panose="020B0604020202020204" pitchFamily="34" charset="0"/>
                        </a:rPr>
                        <a:t>1,596/61,963</a:t>
                      </a:r>
                      <a:endParaRPr lang="zh-TW" sz="2000" kern="100" dirty="0">
                        <a:effectLst/>
                        <a:latin typeface="微軟正黑體" panose="020B0604030504040204" pitchFamily="34" charset="-120"/>
                        <a:ea typeface="微軟正黑體" panose="020B0604030504040204" pitchFamily="34" charset="-120"/>
                        <a:cs typeface="Arial" panose="020B0604020202020204" pitchFamily="34" charset="0"/>
                      </a:endParaRPr>
                    </a:p>
                  </a:txBody>
                  <a:tcPr marL="51444" marR="51444" marT="0" marB="0" anchor="ctr"/>
                </a:tc>
                <a:extLst>
                  <a:ext uri="{0D108BD9-81ED-4DB2-BD59-A6C34878D82A}">
                    <a16:rowId xmlns:a16="http://schemas.microsoft.com/office/drawing/2014/main" val="10003"/>
                  </a:ext>
                </a:extLst>
              </a:tr>
              <a:tr h="382415">
                <a:tc>
                  <a:txBody>
                    <a:bodyPr/>
                    <a:lstStyle/>
                    <a:p>
                      <a:pPr algn="ctr">
                        <a:spcAft>
                          <a:spcPts val="0"/>
                        </a:spcAft>
                      </a:pPr>
                      <a:r>
                        <a:rPr lang="zh-TW" sz="2000" kern="0">
                          <a:effectLst/>
                          <a:latin typeface="微軟正黑體" panose="020B0604030504040204" pitchFamily="34" charset="-120"/>
                          <a:ea typeface="微軟正黑體" panose="020B0604030504040204" pitchFamily="34" charset="-120"/>
                        </a:rPr>
                        <a:t>超過</a:t>
                      </a:r>
                      <a:r>
                        <a:rPr lang="en-US" sz="2000" kern="0">
                          <a:effectLst/>
                          <a:latin typeface="微軟正黑體" panose="020B0604030504040204" pitchFamily="34" charset="-120"/>
                          <a:ea typeface="微軟正黑體" panose="020B0604030504040204" pitchFamily="34" charset="-120"/>
                        </a:rPr>
                        <a:t>2</a:t>
                      </a:r>
                      <a:r>
                        <a:rPr lang="zh-TW" sz="2000" kern="0">
                          <a:effectLst/>
                          <a:latin typeface="微軟正黑體" panose="020B0604030504040204" pitchFamily="34" charset="-120"/>
                          <a:ea typeface="微軟正黑體" panose="020B0604030504040204" pitchFamily="34" charset="-120"/>
                        </a:rPr>
                        <a:t>包</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dirty="0">
                          <a:latin typeface="微軟正黑體" panose="020B0604030504040204" pitchFamily="34" charset="-120"/>
                          <a:ea typeface="微軟正黑體" panose="020B0604030504040204" pitchFamily="34" charset="-120"/>
                          <a:cs typeface="Arial" panose="020B0604020202020204" pitchFamily="34" charset="0"/>
                        </a:rPr>
                        <a:t>168/61,963</a:t>
                      </a:r>
                    </a:p>
                  </a:txBody>
                  <a:tcPr marL="51444" marR="51444" marT="0" marB="0" anchor="ctr"/>
                </a:tc>
                <a:extLst>
                  <a:ext uri="{0D108BD9-81ED-4DB2-BD59-A6C34878D82A}">
                    <a16:rowId xmlns:a16="http://schemas.microsoft.com/office/drawing/2014/main" val="10004"/>
                  </a:ext>
                </a:extLst>
              </a:tr>
              <a:tr h="382415">
                <a:tc>
                  <a:txBody>
                    <a:bodyPr/>
                    <a:lstStyle/>
                    <a:p>
                      <a:pPr algn="ctr">
                        <a:spcAft>
                          <a:spcPts val="0"/>
                        </a:spcAft>
                      </a:pPr>
                      <a:r>
                        <a:rPr lang="zh-TW" sz="2000" kern="0">
                          <a:effectLst/>
                          <a:latin typeface="微軟正黑體" panose="020B0604030504040204" pitchFamily="34" charset="-120"/>
                          <a:ea typeface="微軟正黑體" panose="020B0604030504040204" pitchFamily="34" charset="-120"/>
                        </a:rPr>
                        <a:t>合計</a:t>
                      </a:r>
                      <a:endParaRPr lang="zh-TW" sz="2000"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000" dirty="0">
                          <a:latin typeface="微軟正黑體" panose="020B0604030504040204" pitchFamily="34" charset="-120"/>
                          <a:ea typeface="微軟正黑體" panose="020B0604030504040204" pitchFamily="34" charset="-120"/>
                          <a:cs typeface="Arial" panose="020B0604020202020204" pitchFamily="34" charset="0"/>
                        </a:rPr>
                        <a:t>61,963/61,963</a:t>
                      </a:r>
                    </a:p>
                  </a:txBody>
                  <a:tcPr marL="51444" marR="51444" marT="0"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0"/>
          <p:cNvSpPr>
            <a:spLocks noGrp="1"/>
          </p:cNvSpPr>
          <p:nvPr>
            <p:ph type="title"/>
          </p:nvPr>
        </p:nvSpPr>
        <p:spPr>
          <a:xfrm>
            <a:off x="352985" y="0"/>
            <a:ext cx="8479929" cy="1151965"/>
          </a:xfrm>
        </p:spPr>
        <p:txBody>
          <a:bodyPr/>
          <a:lstStyle/>
          <a:p>
            <a:r>
              <a:rPr lang="zh-TW" altLang="en-US" dirty="0">
                <a:latin typeface="微軟正黑體" panose="020B0604030504040204" pitchFamily="34" charset="-120"/>
                <a:ea typeface="微軟正黑體" panose="020B0604030504040204" pitchFamily="34" charset="-120"/>
              </a:rPr>
              <a:t>聯合機率</a:t>
            </a:r>
            <a:r>
              <a:rPr lang="en-US" altLang="zh-TW" dirty="0">
                <a:latin typeface="微軟正黑體" panose="020B0604030504040204" pitchFamily="34" charset="-120"/>
                <a:ea typeface="微軟正黑體" panose="020B0604030504040204" pitchFamily="34" charset="-120"/>
              </a:rPr>
              <a:t>(joint probability)</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352986" y="1152198"/>
            <a:ext cx="8335323" cy="4553604"/>
          </a:xfrm>
        </p:spPr>
        <p:txBody>
          <a:bodyPr>
            <a:noAutofit/>
          </a:bodyPr>
          <a:lstStyle/>
          <a:p>
            <a:pPr>
              <a:lnSpc>
                <a:spcPct val="110000"/>
              </a:lnSpc>
            </a:pPr>
            <a:r>
              <a:rPr lang="zh-TW" altLang="en-US" dirty="0">
                <a:latin typeface="微軟正黑體" panose="020B0604030504040204" pitchFamily="34" charset="-120"/>
                <a:ea typeface="微軟正黑體" panose="020B0604030504040204" pitchFamily="34" charset="-120"/>
                <a:cs typeface="Arial" panose="020B0604020202020204" pitchFamily="34" charset="0"/>
              </a:rPr>
              <a:t>研究</a:t>
            </a:r>
            <a:r>
              <a:rPr lang="zh-TW" altLang="zh-TW" u="sng" dirty="0">
                <a:latin typeface="微軟正黑體" panose="020B0604030504040204" pitchFamily="34" charset="-120"/>
                <a:ea typeface="微軟正黑體" panose="020B0604030504040204" pitchFamily="34" charset="-120"/>
                <a:cs typeface="Arial" panose="020B0604020202020204" pitchFamily="34" charset="0"/>
              </a:rPr>
              <a:t>多個隨機變數 </a:t>
            </a:r>
            <a:r>
              <a:rPr lang="en-US" altLang="zh-TW" u="sng" dirty="0">
                <a:latin typeface="微軟正黑體" panose="020B0604030504040204" pitchFamily="34" charset="-120"/>
                <a:ea typeface="微軟正黑體" panose="020B0604030504040204" pitchFamily="34" charset="-120"/>
                <a:cs typeface="Arial" panose="020B0604020202020204" pitchFamily="34" charset="0"/>
              </a:rPr>
              <a:t>(variables)</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時，每個變項會有自己</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發生</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的</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機率</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邊際機率，</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marginal probability)</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同時</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考慮</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多個</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變項發生</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的</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機率稱為聯合機率</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(joint probability)</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 。</a:t>
            </a:r>
            <a:endParaRPr lang="en-US" altLang="zh-TW" dirty="0">
              <a:latin typeface="微軟正黑體" panose="020B0604030504040204" pitchFamily="34" charset="-120"/>
              <a:ea typeface="微軟正黑體" panose="020B0604030504040204" pitchFamily="34" charset="-120"/>
              <a:cs typeface="Arial" panose="020B0604020202020204" pitchFamily="34" charset="0"/>
            </a:endParaRPr>
          </a:p>
          <a:p>
            <a:pPr>
              <a:lnSpc>
                <a:spcPct val="110000"/>
              </a:lnSpc>
            </a:pPr>
            <a:endParaRPr lang="en-US" altLang="zh-TW" dirty="0">
              <a:latin typeface="微軟正黑體" panose="020B0604030504040204" pitchFamily="34" charset="-120"/>
              <a:ea typeface="微軟正黑體" panose="020B0604030504040204" pitchFamily="34" charset="-120"/>
              <a:cs typeface="Arial" panose="020B0604020202020204" pitchFamily="34" charset="0"/>
            </a:endParaRPr>
          </a:p>
          <a:p>
            <a:pPr>
              <a:lnSpc>
                <a:spcPct val="110000"/>
              </a:lnSpc>
            </a:pPr>
            <a:r>
              <a:rPr lang="zh-TW" altLang="zh-TW" dirty="0">
                <a:latin typeface="微軟正黑體" panose="020B0604030504040204" pitchFamily="34" charset="-120"/>
                <a:ea typeface="微軟正黑體" panose="020B0604030504040204" pitchFamily="34" charset="-120"/>
                <a:cs typeface="Arial" panose="020B0604020202020204" pitchFamily="34" charset="0"/>
              </a:rPr>
              <a:t>例如</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每個人有每日菸量</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(X)</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及心血管疾病</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(Y)</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的兩個變項，隨機抽出的人在這兩個變項有各自的可能值，總共有</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8</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種組合</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(combinations)</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的聯合機率，其中抽到</a:t>
            </a:r>
            <a:r>
              <a:rPr lang="zh-TW" altLang="zh-TW" u="sng" dirty="0">
                <a:latin typeface="微軟正黑體" panose="020B0604030504040204" pitchFamily="34" charset="-120"/>
                <a:ea typeface="微軟正黑體" panose="020B0604030504040204" pitchFamily="34" charset="-120"/>
                <a:cs typeface="Arial" panose="020B0604020202020204" pitchFamily="34" charset="0"/>
              </a:rPr>
              <a:t>菸量為</a:t>
            </a:r>
            <a:r>
              <a:rPr lang="en-US" altLang="zh-TW" u="sng" dirty="0">
                <a:latin typeface="微軟正黑體" panose="020B0604030504040204" pitchFamily="34" charset="-120"/>
                <a:ea typeface="微軟正黑體" panose="020B0604030504040204" pitchFamily="34" charset="-120"/>
                <a:cs typeface="Arial" panose="020B0604020202020204" pitchFamily="34" charset="0"/>
              </a:rPr>
              <a:t>0</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且</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(and)</a:t>
            </a:r>
            <a:r>
              <a:rPr lang="zh-TW" altLang="zh-TW" u="sng" dirty="0">
                <a:latin typeface="微軟正黑體" panose="020B0604030504040204" pitchFamily="34" charset="-120"/>
                <a:ea typeface="微軟正黑體" panose="020B0604030504040204" pitchFamily="34" charset="-120"/>
                <a:cs typeface="Arial" panose="020B0604020202020204" pitchFamily="34" charset="0"/>
              </a:rPr>
              <a:t>沒有心血管疾病</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的人的聯合機率為</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P(X=0,Y=0)=41,629/61,963 =0.6718</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 ，</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也是事件 </a:t>
            </a:r>
            <a:r>
              <a:rPr lang="en-US" altLang="zh-TW" dirty="0">
                <a:latin typeface="微軟正黑體" panose="020B0604030504040204" pitchFamily="34" charset="-120"/>
                <a:ea typeface="微軟正黑體" panose="020B0604030504040204" pitchFamily="34" charset="-120"/>
                <a:cs typeface="Arial" panose="020B0604020202020204" pitchFamily="34" charset="0"/>
              </a:rPr>
              <a:t>“X=0, Y=0”</a:t>
            </a:r>
            <a:r>
              <a:rPr lang="zh-TW" altLang="en-US" dirty="0">
                <a:latin typeface="微軟正黑體" panose="020B0604030504040204" pitchFamily="34" charset="-120"/>
                <a:ea typeface="微軟正黑體" panose="020B0604030504040204" pitchFamily="34" charset="-120"/>
                <a:cs typeface="Arial" panose="020B0604020202020204" pitchFamily="34" charset="0"/>
              </a:rPr>
              <a:t>發生次數的比率</a:t>
            </a:r>
            <a:r>
              <a:rPr lang="zh-TW" altLang="zh-TW" dirty="0">
                <a:latin typeface="微軟正黑體" panose="020B0604030504040204" pitchFamily="34" charset="-120"/>
                <a:ea typeface="微軟正黑體" panose="020B0604030504040204" pitchFamily="34" charset="-120"/>
                <a:cs typeface="Arial" panose="020B0604020202020204" pitchFamily="34" charset="0"/>
              </a:rPr>
              <a:t>。</a:t>
            </a:r>
            <a:endParaRPr lang="zh-TW" altLang="en-US" dirty="0">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 name="投影片編號版面配置區 5"/>
          <p:cNvSpPr>
            <a:spLocks noGrp="1"/>
          </p:cNvSpPr>
          <p:nvPr>
            <p:ph type="sldNum" sz="quarter" idx="12"/>
          </p:nvPr>
        </p:nvSpPr>
        <p:spPr/>
        <p:txBody>
          <a:bodyPr/>
          <a:lstStyle/>
          <a:p>
            <a:fld id="{E2A80D49-6E30-4745-93AC-9D9D7F079020}" type="slidenum">
              <a:rPr lang="zh-TW" altLang="en-US" smtClean="0"/>
              <a:pPr/>
              <a:t>8</a:t>
            </a:fld>
            <a:endParaRPr lang="zh-TW" altLang="en-US"/>
          </a:p>
        </p:txBody>
      </p:sp>
    </p:spTree>
    <p:extLst>
      <p:ext uri="{BB962C8B-B14F-4D97-AF65-F5344CB8AC3E}">
        <p14:creationId xmlns:p14="http://schemas.microsoft.com/office/powerpoint/2010/main" val="1004007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674080" y="68670"/>
            <a:ext cx="7799016" cy="1151965"/>
          </a:xfrm>
          <a:ln>
            <a:solidFill>
              <a:srgbClr val="00B050"/>
            </a:solidFill>
          </a:ln>
        </p:spPr>
        <p:txBody>
          <a:bodyPr>
            <a:normAutofit/>
          </a:bodyPr>
          <a:lstStyle/>
          <a:p>
            <a:pPr lvl="0" algn="ctr"/>
            <a:r>
              <a:rPr lang="zh-TW" altLang="zh-TW"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表</a:t>
            </a:r>
            <a:r>
              <a:rPr lang="en-US" altLang="zh-TW"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2-2. </a:t>
            </a:r>
            <a:r>
              <a:rPr lang="zh-TW" altLang="en-US"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心血管疾與吸菸量機率</a:t>
            </a:r>
            <a:br>
              <a:rPr lang="en-US" altLang="zh-TW"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600" b="0" dirty="0">
                <a:solidFill>
                  <a:srgbClr val="00B050"/>
                </a:solidFill>
                <a:effectLst/>
                <a:latin typeface="微軟正黑體" panose="020B0604030504040204" pitchFamily="34" charset="-120"/>
                <a:ea typeface="微軟正黑體" panose="020B0604030504040204" pitchFamily="34" charset="-120"/>
                <a:cs typeface="Times New Roman" panose="02020603050405020304" pitchFamily="18" charset="0"/>
              </a:rPr>
              <a:t>聯合機率</a:t>
            </a:r>
            <a:r>
              <a:rPr lang="zh-TW" altLang="en-US"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及</a:t>
            </a:r>
            <a:r>
              <a:rPr lang="zh-TW" altLang="en-US" sz="3600" b="0" dirty="0">
                <a:solidFill>
                  <a:srgbClr val="C00000"/>
                </a:solidFill>
                <a:effectLst/>
                <a:latin typeface="微軟正黑體" panose="020B0604030504040204" pitchFamily="34" charset="-120"/>
                <a:ea typeface="微軟正黑體" panose="020B0604030504040204" pitchFamily="34" charset="-120"/>
                <a:cs typeface="Times New Roman" panose="02020603050405020304" pitchFamily="18" charset="0"/>
              </a:rPr>
              <a:t>邊際機率</a:t>
            </a:r>
            <a:r>
              <a:rPr lang="zh-TW" altLang="en-US" sz="3600" b="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3600"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p:txBody>
          <a:bodyPr/>
          <a:lstStyle/>
          <a:p>
            <a:endParaRPr lang="zh-TW" altLang="en-US" dirty="0"/>
          </a:p>
        </p:txBody>
      </p:sp>
      <p:sp>
        <p:nvSpPr>
          <p:cNvPr id="5" name="投影片編號版面配置區 4"/>
          <p:cNvSpPr>
            <a:spLocks noGrp="1"/>
          </p:cNvSpPr>
          <p:nvPr>
            <p:ph type="sldNum" sz="quarter" idx="12"/>
          </p:nvPr>
        </p:nvSpPr>
        <p:spPr/>
        <p:txBody>
          <a:bodyPr/>
          <a:lstStyle/>
          <a:p>
            <a:fld id="{E2A80D49-6E30-4745-93AC-9D9D7F079020}" type="slidenum">
              <a:rPr lang="zh-TW" altLang="en-US" smtClean="0"/>
              <a:pPr/>
              <a:t>9</a:t>
            </a:fld>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1780918877"/>
              </p:ext>
            </p:extLst>
          </p:nvPr>
        </p:nvGraphicFramePr>
        <p:xfrm>
          <a:off x="1128583" y="1614615"/>
          <a:ext cx="7254791" cy="3405709"/>
        </p:xfrm>
        <a:graphic>
          <a:graphicData uri="http://schemas.openxmlformats.org/drawingml/2006/table">
            <a:tbl>
              <a:tblPr firstRow="1" firstCol="1" bandRow="1">
                <a:tableStyleId>{5C22544A-7EE6-4342-B048-85BDC9FD1C3A}</a:tableStyleId>
              </a:tblPr>
              <a:tblGrid>
                <a:gridCol w="1357265">
                  <a:extLst>
                    <a:ext uri="{9D8B030D-6E8A-4147-A177-3AD203B41FA5}">
                      <a16:colId xmlns:a16="http://schemas.microsoft.com/office/drawing/2014/main" val="20000"/>
                    </a:ext>
                  </a:extLst>
                </a:gridCol>
                <a:gridCol w="1965842">
                  <a:extLst>
                    <a:ext uri="{9D8B030D-6E8A-4147-A177-3AD203B41FA5}">
                      <a16:colId xmlns:a16="http://schemas.microsoft.com/office/drawing/2014/main" val="20001"/>
                    </a:ext>
                  </a:extLst>
                </a:gridCol>
                <a:gridCol w="1965842">
                  <a:extLst>
                    <a:ext uri="{9D8B030D-6E8A-4147-A177-3AD203B41FA5}">
                      <a16:colId xmlns:a16="http://schemas.microsoft.com/office/drawing/2014/main" val="20002"/>
                    </a:ext>
                  </a:extLst>
                </a:gridCol>
                <a:gridCol w="1965842">
                  <a:extLst>
                    <a:ext uri="{9D8B030D-6E8A-4147-A177-3AD203B41FA5}">
                      <a16:colId xmlns:a16="http://schemas.microsoft.com/office/drawing/2014/main" val="20003"/>
                    </a:ext>
                  </a:extLst>
                </a:gridCol>
              </a:tblGrid>
              <a:tr h="453082">
                <a:tc rowSpan="2">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每日菸量</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gridSpan="3">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心血管疾病</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453082">
                <a:tc vMerge="1">
                  <a:txBody>
                    <a:bodyPr/>
                    <a:lstStyle/>
                    <a:p>
                      <a:endParaRPr lang="zh-TW" altLang="en-US"/>
                    </a:p>
                  </a:txBody>
                  <a:tcPr/>
                </a:tc>
                <a:tc>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無</a:t>
                      </a:r>
                      <a:r>
                        <a:rPr lang="en-US" sz="2400" kern="0" dirty="0">
                          <a:effectLst/>
                          <a:latin typeface="微軟正黑體" panose="020B0604030504040204" pitchFamily="34" charset="-120"/>
                          <a:ea typeface="微軟正黑體" panose="020B0604030504040204" pitchFamily="34" charset="-120"/>
                        </a:rPr>
                        <a:t>(0)</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有</a:t>
                      </a:r>
                      <a:r>
                        <a:rPr lang="en-US" sz="2400" kern="0" dirty="0">
                          <a:effectLst/>
                          <a:latin typeface="微軟正黑體" panose="020B0604030504040204" pitchFamily="34" charset="-120"/>
                          <a:ea typeface="微軟正黑體" panose="020B0604030504040204" pitchFamily="34" charset="-120"/>
                        </a:rPr>
                        <a:t>(1)</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邊際機率</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1"/>
                  </a:ext>
                </a:extLst>
              </a:tr>
              <a:tr h="499909">
                <a:tc>
                  <a:txBody>
                    <a:bodyPr/>
                    <a:lstStyle/>
                    <a:p>
                      <a:pPr algn="ctr">
                        <a:spcAft>
                          <a:spcPts val="0"/>
                        </a:spcAft>
                      </a:pPr>
                      <a:r>
                        <a:rPr lang="en-US" sz="2400" kern="0" dirty="0">
                          <a:effectLst/>
                          <a:latin typeface="微軟正黑體" panose="020B0604030504040204" pitchFamily="34" charset="-120"/>
                          <a:ea typeface="微軟正黑體" panose="020B0604030504040204" pitchFamily="34" charset="-120"/>
                        </a:rPr>
                        <a:t>0</a:t>
                      </a:r>
                      <a:r>
                        <a:rPr lang="zh-TW" sz="2400" kern="0" dirty="0">
                          <a:effectLst/>
                          <a:latin typeface="微軟正黑體" panose="020B0604030504040204" pitchFamily="34" charset="-120"/>
                          <a:ea typeface="微軟正黑體" panose="020B0604030504040204" pitchFamily="34" charset="-120"/>
                        </a:rPr>
                        <a:t>包</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solidFill>
                            <a:srgbClr val="FF0000"/>
                          </a:solidFill>
                          <a:effectLst/>
                          <a:latin typeface="微軟正黑體" panose="020B0604030504040204" pitchFamily="34" charset="-120"/>
                          <a:ea typeface="微軟正黑體" panose="020B0604030504040204" pitchFamily="34" charset="-120"/>
                        </a:rPr>
                        <a:t>0.6718</a:t>
                      </a:r>
                      <a:r>
                        <a:rPr lang="en-US" sz="2400" kern="100" dirty="0">
                          <a:effectLst/>
                          <a:latin typeface="微軟正黑體" panose="020B0604030504040204" pitchFamily="34" charset="-120"/>
                          <a:ea typeface="微軟正黑體" panose="020B0604030504040204" pitchFamily="34" charset="-120"/>
                        </a:rPr>
                        <a:t>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0.0672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solidFill>
                            <a:srgbClr val="FF0000"/>
                          </a:solidFill>
                          <a:effectLst/>
                          <a:latin typeface="微軟正黑體" panose="020B0604030504040204" pitchFamily="34" charset="-120"/>
                          <a:ea typeface="微軟正黑體" panose="020B0604030504040204" pitchFamily="34" charset="-120"/>
                        </a:rPr>
                        <a:t>0.739</a:t>
                      </a:r>
                      <a:r>
                        <a:rPr lang="en-US" sz="2400" kern="100" dirty="0">
                          <a:effectLst/>
                          <a:latin typeface="微軟正黑體" panose="020B0604030504040204" pitchFamily="34" charset="-120"/>
                          <a:ea typeface="微軟正黑體" panose="020B0604030504040204" pitchFamily="34" charset="-120"/>
                        </a:rPr>
                        <a:t>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2"/>
                  </a:ext>
                </a:extLst>
              </a:tr>
              <a:tr h="499909">
                <a:tc>
                  <a:txBody>
                    <a:bodyPr/>
                    <a:lstStyle/>
                    <a:p>
                      <a:pPr algn="ctr">
                        <a:spcAft>
                          <a:spcPts val="0"/>
                        </a:spcAft>
                      </a:pPr>
                      <a:r>
                        <a:rPr lang="en-US" sz="2400" kern="0" dirty="0">
                          <a:effectLst/>
                          <a:latin typeface="微軟正黑體" panose="020B0604030504040204" pitchFamily="34" charset="-120"/>
                          <a:ea typeface="微軟正黑體" panose="020B0604030504040204" pitchFamily="34" charset="-120"/>
                        </a:rPr>
                        <a:t>1</a:t>
                      </a:r>
                      <a:r>
                        <a:rPr lang="zh-TW" sz="2400" kern="0" dirty="0">
                          <a:effectLst/>
                          <a:latin typeface="微軟正黑體" panose="020B0604030504040204" pitchFamily="34" charset="-120"/>
                          <a:ea typeface="微軟正黑體" panose="020B0604030504040204" pitchFamily="34" charset="-120"/>
                        </a:rPr>
                        <a:t>包</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0.2101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0.0223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0.2325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3"/>
                  </a:ext>
                </a:extLst>
              </a:tr>
              <a:tr h="499909">
                <a:tc>
                  <a:txBody>
                    <a:bodyPr/>
                    <a:lstStyle/>
                    <a:p>
                      <a:pPr algn="ctr">
                        <a:spcAft>
                          <a:spcPts val="0"/>
                        </a:spcAft>
                      </a:pPr>
                      <a:r>
                        <a:rPr lang="en-US" sz="2400" kern="0" dirty="0">
                          <a:effectLst/>
                          <a:latin typeface="微軟正黑體" panose="020B0604030504040204" pitchFamily="34" charset="-120"/>
                          <a:ea typeface="微軟正黑體" panose="020B0604030504040204" pitchFamily="34" charset="-120"/>
                        </a:rPr>
                        <a:t>2</a:t>
                      </a:r>
                      <a:r>
                        <a:rPr lang="zh-TW" sz="2400" kern="0" dirty="0">
                          <a:effectLst/>
                          <a:latin typeface="微軟正黑體" panose="020B0604030504040204" pitchFamily="34" charset="-120"/>
                          <a:ea typeface="微軟正黑體" panose="020B0604030504040204" pitchFamily="34" charset="-120"/>
                        </a:rPr>
                        <a:t>包</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0.0229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0.0028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0.0258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4"/>
                  </a:ext>
                </a:extLst>
              </a:tr>
              <a:tr h="499909">
                <a:tc>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超過</a:t>
                      </a:r>
                      <a:r>
                        <a:rPr lang="en-US" sz="2400" kern="0" dirty="0">
                          <a:effectLst/>
                          <a:latin typeface="微軟正黑體" panose="020B0604030504040204" pitchFamily="34" charset="-120"/>
                          <a:ea typeface="微軟正黑體" panose="020B0604030504040204" pitchFamily="34" charset="-120"/>
                        </a:rPr>
                        <a:t>2</a:t>
                      </a:r>
                      <a:r>
                        <a:rPr lang="zh-TW" sz="2400" kern="0" dirty="0">
                          <a:effectLst/>
                          <a:latin typeface="微軟正黑體" panose="020B0604030504040204" pitchFamily="34" charset="-120"/>
                          <a:ea typeface="微軟正黑體" panose="020B0604030504040204" pitchFamily="34" charset="-120"/>
                        </a:rPr>
                        <a:t>包</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0.0023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0.0004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0.0027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5"/>
                  </a:ext>
                </a:extLst>
              </a:tr>
              <a:tr h="499909">
                <a:tc>
                  <a:txBody>
                    <a:bodyPr/>
                    <a:lstStyle/>
                    <a:p>
                      <a:pPr algn="ctr">
                        <a:spcAft>
                          <a:spcPts val="0"/>
                        </a:spcAft>
                      </a:pPr>
                      <a:r>
                        <a:rPr lang="zh-TW" sz="2400" kern="0" dirty="0">
                          <a:effectLst/>
                          <a:latin typeface="微軟正黑體" panose="020B0604030504040204" pitchFamily="34" charset="-120"/>
                          <a:ea typeface="微軟正黑體" panose="020B0604030504040204" pitchFamily="34" charset="-120"/>
                        </a:rPr>
                        <a:t>邊際機率</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0.9072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0.0928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tc>
                  <a:txBody>
                    <a:bodyPr/>
                    <a:lstStyle/>
                    <a:p>
                      <a:pPr algn="ctr">
                        <a:spcAft>
                          <a:spcPts val="0"/>
                        </a:spcAft>
                      </a:pPr>
                      <a:r>
                        <a:rPr lang="en-US" sz="2400" kern="100" dirty="0">
                          <a:effectLst/>
                          <a:latin typeface="微軟正黑體" panose="020B0604030504040204" pitchFamily="34" charset="-120"/>
                          <a:ea typeface="微軟正黑體" panose="020B0604030504040204" pitchFamily="34" charset="-120"/>
                        </a:rPr>
                        <a:t>1.0000 </a:t>
                      </a:r>
                      <a:endParaRPr 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51444" marR="51444" marT="0" marB="0" anchor="ctr"/>
                </a:tc>
                <a:extLst>
                  <a:ext uri="{0D108BD9-81ED-4DB2-BD59-A6C34878D82A}">
                    <a16:rowId xmlns:a16="http://schemas.microsoft.com/office/drawing/2014/main" val="10006"/>
                  </a:ext>
                </a:extLst>
              </a:tr>
            </a:tbl>
          </a:graphicData>
        </a:graphic>
      </p:graphicFrame>
      <p:sp>
        <p:nvSpPr>
          <p:cNvPr id="6" name="矩形 5"/>
          <p:cNvSpPr/>
          <p:nvPr/>
        </p:nvSpPr>
        <p:spPr>
          <a:xfrm>
            <a:off x="2496065" y="2537254"/>
            <a:ext cx="3880021" cy="1952368"/>
          </a:xfrm>
          <a:prstGeom prst="rect">
            <a:avLst/>
          </a:prstGeom>
          <a:solidFill>
            <a:schemeClr val="accent1">
              <a:alpha val="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單箭頭接點 7"/>
          <p:cNvCxnSpPr/>
          <p:nvPr/>
        </p:nvCxnSpPr>
        <p:spPr>
          <a:xfrm>
            <a:off x="3707027" y="1243912"/>
            <a:ext cx="453081" cy="129334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587683" y="2063396"/>
            <a:ext cx="1474573" cy="2426226"/>
          </a:xfrm>
          <a:prstGeom prst="rect">
            <a:avLst/>
          </a:prstGeom>
          <a:solidFill>
            <a:schemeClr val="accent1">
              <a:alpha val="0"/>
            </a:schemeClr>
          </a:solid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2630078" y="4563762"/>
            <a:ext cx="3713056" cy="374641"/>
          </a:xfrm>
          <a:prstGeom prst="rect">
            <a:avLst/>
          </a:prstGeom>
          <a:solidFill>
            <a:schemeClr val="accent2">
              <a:alpha val="0"/>
            </a:schemeClr>
          </a:solidFill>
          <a:ln w="38100">
            <a:solidFill>
              <a:srgbClr val="DA1F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單箭頭接點 9"/>
          <p:cNvCxnSpPr/>
          <p:nvPr/>
        </p:nvCxnSpPr>
        <p:spPr>
          <a:xfrm>
            <a:off x="6199260" y="1220635"/>
            <a:ext cx="388423" cy="117377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直線單箭頭接點 10"/>
          <p:cNvCxnSpPr/>
          <p:nvPr/>
        </p:nvCxnSpPr>
        <p:spPr>
          <a:xfrm flipH="1">
            <a:off x="4160108" y="1243912"/>
            <a:ext cx="2039152" cy="32838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3355" y="282316"/>
            <a:ext cx="9072620" cy="1151965"/>
          </a:xfrm>
        </p:spPr>
        <p:txBody>
          <a:bodyPr>
            <a:normAutofit/>
          </a:bodyPr>
          <a:lstStyle/>
          <a:p>
            <a:r>
              <a:rPr lang="zh-TW" altLang="en-US" sz="3600" dirty="0">
                <a:latin typeface="微軟正黑體" panose="020B0604030504040204" pitchFamily="34" charset="-120"/>
                <a:ea typeface="微軟正黑體" panose="020B0604030504040204" pitchFamily="34" charset="-120"/>
              </a:rPr>
              <a:t>機率分配</a:t>
            </a:r>
            <a:r>
              <a:rPr lang="en-US" altLang="zh-TW" sz="3600" dirty="0">
                <a:latin typeface="微軟正黑體" panose="020B0604030504040204" pitchFamily="34" charset="-120"/>
                <a:ea typeface="微軟正黑體" panose="020B0604030504040204" pitchFamily="34" charset="-120"/>
              </a:rPr>
              <a:t>(probability distribution)</a:t>
            </a:r>
            <a:endParaRPr lang="zh-TW" altLang="en-US" sz="3600" dirty="0">
              <a:latin typeface="微軟正黑體" panose="020B0604030504040204" pitchFamily="34" charset="-120"/>
              <a:ea typeface="微軟正黑體" panose="020B0604030504040204" pitchFamily="34" charset="-120"/>
            </a:endParaRPr>
          </a:p>
        </p:txBody>
      </p:sp>
      <p:sp>
        <p:nvSpPr>
          <p:cNvPr id="6" name="內容版面配置區 5"/>
          <p:cNvSpPr>
            <a:spLocks noGrp="1"/>
          </p:cNvSpPr>
          <p:nvPr>
            <p:ph sz="quarter" idx="13"/>
          </p:nvPr>
        </p:nvSpPr>
        <p:spPr>
          <a:xfrm>
            <a:off x="130580" y="1294070"/>
            <a:ext cx="8626241" cy="4525963"/>
          </a:xfrm>
        </p:spPr>
        <p:txBody>
          <a:bodyPr/>
          <a:lstStyle/>
          <a:p>
            <a:pPr>
              <a:lnSpc>
                <a:spcPct val="110000"/>
              </a:lnSpc>
            </a:pPr>
            <a:r>
              <a:rPr lang="zh-TW" altLang="zh-TW" dirty="0">
                <a:latin typeface="微軟正黑體" panose="020B0604030504040204" pitchFamily="34" charset="-120"/>
                <a:ea typeface="微軟正黑體" panose="020B0604030504040204" pitchFamily="34" charset="-120"/>
              </a:rPr>
              <a:t>主要可以分成離散型</a:t>
            </a:r>
            <a:r>
              <a:rPr lang="en-US" altLang="zh-TW" dirty="0">
                <a:latin typeface="微軟正黑體" panose="020B0604030504040204" pitchFamily="34" charset="-120"/>
                <a:ea typeface="微軟正黑體" panose="020B0604030504040204" pitchFamily="34" charset="-120"/>
              </a:rPr>
              <a:t>(discrete)</a:t>
            </a:r>
            <a:r>
              <a:rPr lang="zh-TW" altLang="zh-TW" dirty="0">
                <a:latin typeface="微軟正黑體" panose="020B0604030504040204" pitchFamily="34" charset="-120"/>
                <a:ea typeface="微軟正黑體" panose="020B0604030504040204" pitchFamily="34" charset="-120"/>
              </a:rPr>
              <a:t>、連續型</a:t>
            </a:r>
            <a:r>
              <a:rPr lang="en-US" altLang="zh-TW" dirty="0">
                <a:latin typeface="微軟正黑體" panose="020B0604030504040204" pitchFamily="34" charset="-120"/>
                <a:ea typeface="微軟正黑體" panose="020B0604030504040204" pitchFamily="34" charset="-120"/>
              </a:rPr>
              <a:t>(continuous)</a:t>
            </a:r>
            <a:r>
              <a:rPr lang="zh-TW" altLang="zh-TW" dirty="0">
                <a:latin typeface="微軟正黑體" panose="020B0604030504040204" pitchFamily="34" charset="-120"/>
                <a:ea typeface="微軟正黑體" panose="020B0604030504040204" pitchFamily="34" charset="-120"/>
              </a:rPr>
              <a:t>兩大類，其中離散型常用來描述質性</a:t>
            </a:r>
            <a:r>
              <a:rPr lang="en-US" altLang="zh-TW" dirty="0">
                <a:latin typeface="微軟正黑體" panose="020B0604030504040204" pitchFamily="34" charset="-120"/>
                <a:ea typeface="微軟正黑體" panose="020B0604030504040204" pitchFamily="34" charset="-120"/>
              </a:rPr>
              <a:t>(qualitative)</a:t>
            </a:r>
            <a:r>
              <a:rPr lang="zh-TW" altLang="zh-TW" dirty="0">
                <a:latin typeface="微軟正黑體" panose="020B0604030504040204" pitchFamily="34" charset="-120"/>
                <a:ea typeface="微軟正黑體" panose="020B0604030504040204" pitchFamily="34" charset="-120"/>
              </a:rPr>
              <a:t>資料</a:t>
            </a:r>
            <a:r>
              <a:rPr lang="zh-TW" altLang="en-US" dirty="0">
                <a:latin typeface="微軟正黑體" panose="020B0604030504040204" pitchFamily="34" charset="-120"/>
                <a:ea typeface="微軟正黑體" panose="020B0604030504040204" pitchFamily="34" charset="-120"/>
              </a:rPr>
              <a:t>或</a:t>
            </a:r>
            <a:r>
              <a:rPr lang="zh-TW" altLang="zh-TW" dirty="0">
                <a:latin typeface="微軟正黑體" panose="020B0604030504040204" pitchFamily="34" charset="-120"/>
                <a:ea typeface="微軟正黑體" panose="020B0604030504040204" pitchFamily="34" charset="-120"/>
              </a:rPr>
              <a:t>計數型</a:t>
            </a:r>
            <a:r>
              <a:rPr lang="en-US" altLang="zh-TW" dirty="0">
                <a:latin typeface="微軟正黑體" panose="020B0604030504040204" pitchFamily="34" charset="-120"/>
                <a:ea typeface="微軟正黑體" panose="020B0604030504040204" pitchFamily="34" charset="-120"/>
              </a:rPr>
              <a:t>(count)</a:t>
            </a:r>
            <a:r>
              <a:rPr lang="zh-TW" altLang="zh-TW" dirty="0">
                <a:latin typeface="微軟正黑體" panose="020B0604030504040204" pitchFamily="34" charset="-120"/>
                <a:ea typeface="微軟正黑體" panose="020B0604030504040204" pitchFamily="34" charset="-120"/>
              </a:rPr>
              <a:t>資料</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類別</a:t>
            </a:r>
            <a:r>
              <a:rPr lang="en-US" altLang="zh-TW" dirty="0">
                <a:latin typeface="微軟正黑體" panose="020B0604030504040204" pitchFamily="34" charset="-120"/>
                <a:ea typeface="微軟正黑體" panose="020B0604030504040204" pitchFamily="34" charset="-120"/>
              </a:rPr>
              <a:t>(categorical)</a:t>
            </a:r>
            <a:r>
              <a:rPr lang="zh-TW" altLang="zh-TW" dirty="0">
                <a:latin typeface="微軟正黑體" panose="020B0604030504040204" pitchFamily="34" charset="-120"/>
                <a:ea typeface="微軟正黑體" panose="020B0604030504040204" pitchFamily="34" charset="-120"/>
              </a:rPr>
              <a:t>資料</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，連續型則可以用描述身高、體重、血壓。</a:t>
            </a:r>
            <a:endParaRPr lang="en-US" altLang="zh-TW" dirty="0">
              <a:latin typeface="微軟正黑體" panose="020B0604030504040204" pitchFamily="34" charset="-120"/>
              <a:ea typeface="微軟正黑體" panose="020B0604030504040204" pitchFamily="34" charset="-120"/>
            </a:endParaRPr>
          </a:p>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en-US" dirty="0">
                <a:latin typeface="微軟正黑體" panose="020B0604030504040204" pitchFamily="34" charset="-120"/>
                <a:ea typeface="微軟正黑體" panose="020B0604030504040204" pitchFamily="34" charset="-120"/>
              </a:rPr>
              <a:t>以下</a:t>
            </a:r>
            <a:r>
              <a:rPr lang="zh-TW" altLang="zh-TW" dirty="0">
                <a:latin typeface="微軟正黑體" panose="020B0604030504040204" pitchFamily="34" charset="-120"/>
                <a:ea typeface="微軟正黑體" panose="020B0604030504040204" pitchFamily="34" charset="-120"/>
              </a:rPr>
              <a:t>將介紹的</a:t>
            </a:r>
            <a:r>
              <a:rPr lang="zh-TW" altLang="en-US" dirty="0">
                <a:latin typeface="微軟正黑體" panose="020B0604030504040204" pitchFamily="34" charset="-120"/>
                <a:ea typeface="微軟正黑體" panose="020B0604030504040204" pitchFamily="34" charset="-120"/>
              </a:rPr>
              <a:t>運動</a:t>
            </a:r>
            <a:r>
              <a:rPr lang="zh-TW" altLang="zh-TW" dirty="0">
                <a:latin typeface="微軟正黑體" panose="020B0604030504040204" pitchFamily="34" charset="-120"/>
                <a:ea typeface="微軟正黑體" panose="020B0604030504040204" pitchFamily="34" charset="-120"/>
              </a:rPr>
              <a:t>統計學常用的分配包含</a:t>
            </a:r>
            <a:endParaRPr lang="en-US" altLang="zh-TW" dirty="0">
              <a:latin typeface="微軟正黑體" panose="020B0604030504040204" pitchFamily="34" charset="-120"/>
              <a:ea typeface="微軟正黑體" panose="020B0604030504040204" pitchFamily="34" charset="-120"/>
            </a:endParaRPr>
          </a:p>
          <a:p>
            <a:pPr>
              <a:lnSpc>
                <a:spcPct val="110000"/>
              </a:lnSpc>
            </a:pP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離散型：</a:t>
            </a:r>
            <a:r>
              <a:rPr lang="zh-TW" altLang="zh-TW" b="1" dirty="0">
                <a:latin typeface="微軟正黑體" panose="020B0604030504040204" pitchFamily="34" charset="-120"/>
                <a:ea typeface="微軟正黑體" panose="020B0604030504040204" pitchFamily="34" charset="-120"/>
              </a:rPr>
              <a:t>二項式分配</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10000"/>
              </a:lnSpc>
            </a:pPr>
            <a:r>
              <a:rPr lang="en-US" altLang="zh-TW"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連續型：</a:t>
            </a:r>
            <a:r>
              <a:rPr lang="zh-TW" altLang="zh-TW" b="1" dirty="0">
                <a:latin typeface="微軟正黑體" panose="020B0604030504040204" pitchFamily="34" charset="-120"/>
                <a:ea typeface="微軟正黑體" panose="020B0604030504040204" pitchFamily="34" charset="-120"/>
              </a:rPr>
              <a:t>常態分配</a:t>
            </a:r>
            <a:r>
              <a:rPr lang="zh-TW" altLang="zh-TW" dirty="0">
                <a:latin typeface="微軟正黑體" panose="020B0604030504040204" pitchFamily="34" charset="-120"/>
                <a:ea typeface="微軟正黑體" panose="020B0604030504040204" pitchFamily="34" charset="-120"/>
              </a:rPr>
              <a:t>。</a:t>
            </a:r>
          </a:p>
          <a:p>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2"/>
          </p:nvPr>
        </p:nvSpPr>
        <p:spPr/>
        <p:txBody>
          <a:bodyPr/>
          <a:lstStyle/>
          <a:p>
            <a:fld id="{E2A80D49-6E30-4745-93AC-9D9D7F079020}" type="slidenum">
              <a:rPr lang="zh-TW" altLang="en-US" smtClean="0"/>
              <a:pPr/>
              <a:t>10</a:t>
            </a:fld>
            <a:endParaRPr lang="zh-TW" altLang="en-US"/>
          </a:p>
        </p:txBody>
      </p:sp>
    </p:spTree>
    <p:extLst>
      <p:ext uri="{BB962C8B-B14F-4D97-AF65-F5344CB8AC3E}">
        <p14:creationId xmlns:p14="http://schemas.microsoft.com/office/powerpoint/2010/main" val="4270683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8606" y="-88852"/>
            <a:ext cx="9224759" cy="1143000"/>
          </a:xfrm>
        </p:spPr>
        <p:txBody>
          <a:bodyPr>
            <a:normAutofit/>
          </a:bodyPr>
          <a:lstStyle/>
          <a:p>
            <a:r>
              <a:rPr lang="zh-TW" altLang="zh-TW" sz="3600" dirty="0">
                <a:latin typeface="微軟正黑體" panose="020B0604030504040204" pitchFamily="34" charset="-120"/>
                <a:ea typeface="微軟正黑體" panose="020B0604030504040204" pitchFamily="34" charset="-120"/>
              </a:rPr>
              <a:t>二項式分配</a:t>
            </a:r>
            <a:r>
              <a:rPr lang="en-US" altLang="zh-TW" sz="3600" dirty="0">
                <a:latin typeface="微軟正黑體" panose="020B0604030504040204" pitchFamily="34" charset="-120"/>
                <a:ea typeface="微軟正黑體" panose="020B0604030504040204" pitchFamily="34" charset="-120"/>
              </a:rPr>
              <a:t>(Binomial distribution)</a:t>
            </a:r>
            <a:endParaRPr lang="zh-TW" altLang="en-US" sz="3600"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2"/>
          </p:nvPr>
        </p:nvSpPr>
        <p:spPr/>
        <p:txBody>
          <a:bodyPr/>
          <a:lstStyle/>
          <a:p>
            <a:fld id="{E2A80D49-6E30-4745-93AC-9D9D7F079020}" type="slidenum">
              <a:rPr lang="zh-TW" altLang="en-US" smtClean="0"/>
              <a:pPr/>
              <a:t>11</a:t>
            </a:fld>
            <a:endParaRPr lang="zh-TW" altLang="en-US"/>
          </a:p>
        </p:txBody>
      </p:sp>
      <p:grpSp>
        <p:nvGrpSpPr>
          <p:cNvPr id="12" name="群組 11"/>
          <p:cNvGrpSpPr/>
          <p:nvPr/>
        </p:nvGrpSpPr>
        <p:grpSpPr>
          <a:xfrm>
            <a:off x="6786643" y="3065488"/>
            <a:ext cx="1762898" cy="263610"/>
            <a:chOff x="6063049" y="5305168"/>
            <a:chExt cx="1762898" cy="263610"/>
          </a:xfrm>
        </p:grpSpPr>
        <p:sp>
          <p:nvSpPr>
            <p:cNvPr id="13" name="橢圓 12"/>
            <p:cNvSpPr/>
            <p:nvPr/>
          </p:nvSpPr>
          <p:spPr>
            <a:xfrm>
              <a:off x="606304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6421395"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6818183"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723144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762823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6" name="群組 45"/>
          <p:cNvGrpSpPr/>
          <p:nvPr/>
        </p:nvGrpSpPr>
        <p:grpSpPr>
          <a:xfrm>
            <a:off x="6931508" y="4631023"/>
            <a:ext cx="1122389" cy="981867"/>
            <a:chOff x="6911887" y="4203635"/>
            <a:chExt cx="1807132" cy="1435073"/>
          </a:xfrm>
        </p:grpSpPr>
        <p:grpSp>
          <p:nvGrpSpPr>
            <p:cNvPr id="10" name="群組 9"/>
            <p:cNvGrpSpPr/>
            <p:nvPr/>
          </p:nvGrpSpPr>
          <p:grpSpPr>
            <a:xfrm>
              <a:off x="6911887" y="4203635"/>
              <a:ext cx="1762898" cy="263610"/>
              <a:chOff x="6063049" y="5305168"/>
              <a:chExt cx="1762898" cy="263610"/>
            </a:xfrm>
            <a:solidFill>
              <a:schemeClr val="bg1"/>
            </a:solidFill>
          </p:grpSpPr>
          <p:sp>
            <p:nvSpPr>
              <p:cNvPr id="5" name="橢圓 4"/>
              <p:cNvSpPr/>
              <p:nvPr/>
            </p:nvSpPr>
            <p:spPr>
              <a:xfrm>
                <a:off x="6063049" y="5305168"/>
                <a:ext cx="197708" cy="2636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6421395" y="5305168"/>
                <a:ext cx="197708" cy="263610"/>
              </a:xfrm>
              <a:prstGeom prst="ellipse">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6818183" y="5305168"/>
                <a:ext cx="197708" cy="263610"/>
              </a:xfrm>
              <a:prstGeom prst="ellipse">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7231449" y="5305168"/>
                <a:ext cx="197708" cy="263610"/>
              </a:xfrm>
              <a:prstGeom prst="ellipse">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7628239" y="5305168"/>
                <a:ext cx="197708" cy="263610"/>
              </a:xfrm>
              <a:prstGeom prst="ellipse">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8" name="群組 17"/>
            <p:cNvGrpSpPr/>
            <p:nvPr/>
          </p:nvGrpSpPr>
          <p:grpSpPr>
            <a:xfrm>
              <a:off x="6930724" y="4475722"/>
              <a:ext cx="1762898" cy="263610"/>
              <a:chOff x="6063049" y="5305168"/>
              <a:chExt cx="1762898" cy="263610"/>
            </a:xfrm>
          </p:grpSpPr>
          <p:sp>
            <p:nvSpPr>
              <p:cNvPr id="19" name="橢圓 18"/>
              <p:cNvSpPr/>
              <p:nvPr/>
            </p:nvSpPr>
            <p:spPr>
              <a:xfrm>
                <a:off x="6063049"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6421395" y="5305168"/>
                <a:ext cx="197708" cy="2636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6818183"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723144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762823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4" name="群組 23"/>
            <p:cNvGrpSpPr/>
            <p:nvPr/>
          </p:nvGrpSpPr>
          <p:grpSpPr>
            <a:xfrm>
              <a:off x="6941489" y="4765915"/>
              <a:ext cx="1762898" cy="263610"/>
              <a:chOff x="6063049" y="5305168"/>
              <a:chExt cx="1762898" cy="263610"/>
            </a:xfrm>
          </p:grpSpPr>
          <p:sp>
            <p:nvSpPr>
              <p:cNvPr id="25" name="橢圓 24"/>
              <p:cNvSpPr/>
              <p:nvPr/>
            </p:nvSpPr>
            <p:spPr>
              <a:xfrm>
                <a:off x="6063049"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6421395"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p:nvSpPr>
            <p:spPr>
              <a:xfrm>
                <a:off x="6818183" y="5305168"/>
                <a:ext cx="197708" cy="2636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27"/>
              <p:cNvSpPr/>
              <p:nvPr/>
            </p:nvSpPr>
            <p:spPr>
              <a:xfrm>
                <a:off x="723144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28"/>
              <p:cNvSpPr/>
              <p:nvPr/>
            </p:nvSpPr>
            <p:spPr>
              <a:xfrm>
                <a:off x="762823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0" name="群組 29"/>
            <p:cNvGrpSpPr/>
            <p:nvPr/>
          </p:nvGrpSpPr>
          <p:grpSpPr>
            <a:xfrm>
              <a:off x="6956121" y="5066623"/>
              <a:ext cx="1762898" cy="263610"/>
              <a:chOff x="6063049" y="5305168"/>
              <a:chExt cx="1762898" cy="263610"/>
            </a:xfrm>
          </p:grpSpPr>
          <p:sp>
            <p:nvSpPr>
              <p:cNvPr id="31" name="橢圓 30"/>
              <p:cNvSpPr/>
              <p:nvPr/>
            </p:nvSpPr>
            <p:spPr>
              <a:xfrm>
                <a:off x="6063049"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6421395"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6818183"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23144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橢圓 34"/>
              <p:cNvSpPr/>
              <p:nvPr/>
            </p:nvSpPr>
            <p:spPr>
              <a:xfrm>
                <a:off x="7628239" y="5305168"/>
                <a:ext cx="197708" cy="2636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6" name="群組 35"/>
            <p:cNvGrpSpPr/>
            <p:nvPr/>
          </p:nvGrpSpPr>
          <p:grpSpPr>
            <a:xfrm>
              <a:off x="6956121" y="5375098"/>
              <a:ext cx="1762898" cy="263610"/>
              <a:chOff x="6063049" y="5305168"/>
              <a:chExt cx="1762898" cy="263610"/>
            </a:xfrm>
          </p:grpSpPr>
          <p:sp>
            <p:nvSpPr>
              <p:cNvPr id="37" name="橢圓 36"/>
              <p:cNvSpPr/>
              <p:nvPr/>
            </p:nvSpPr>
            <p:spPr>
              <a:xfrm>
                <a:off x="6063049"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橢圓 37"/>
              <p:cNvSpPr/>
              <p:nvPr/>
            </p:nvSpPr>
            <p:spPr>
              <a:xfrm>
                <a:off x="6421395" y="5305168"/>
                <a:ext cx="197708" cy="2636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橢圓 38"/>
              <p:cNvSpPr/>
              <p:nvPr/>
            </p:nvSpPr>
            <p:spPr>
              <a:xfrm>
                <a:off x="6818183"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p:cNvSpPr/>
              <p:nvPr/>
            </p:nvSpPr>
            <p:spPr>
              <a:xfrm>
                <a:off x="7231449" y="5305168"/>
                <a:ext cx="197708" cy="2636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p:cNvSpPr/>
              <p:nvPr/>
            </p:nvSpPr>
            <p:spPr>
              <a:xfrm>
                <a:off x="7628239" y="5305168"/>
                <a:ext cx="197708" cy="263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aphicFrame>
        <p:nvGraphicFramePr>
          <p:cNvPr id="42" name="物件 41"/>
          <p:cNvGraphicFramePr>
            <a:graphicFrameLocks noChangeAspect="1"/>
          </p:cNvGraphicFramePr>
          <p:nvPr>
            <p:extLst>
              <p:ext uri="{D42A27DB-BD31-4B8C-83A1-F6EECF244321}">
                <p14:modId xmlns:p14="http://schemas.microsoft.com/office/powerpoint/2010/main" val="1583615228"/>
              </p:ext>
            </p:extLst>
          </p:nvPr>
        </p:nvGraphicFramePr>
        <p:xfrm>
          <a:off x="7447318" y="3695501"/>
          <a:ext cx="665328" cy="630311"/>
        </p:xfrm>
        <a:graphic>
          <a:graphicData uri="http://schemas.openxmlformats.org/presentationml/2006/ole">
            <mc:AlternateContent xmlns:mc="http://schemas.openxmlformats.org/markup-compatibility/2006">
              <mc:Choice xmlns:v="urn:schemas-microsoft-com:vml" Requires="v">
                <p:oleObj name="Equation" r:id="rId2" imgW="482400" imgH="457200" progId="Equation.DSMT4">
                  <p:embed/>
                </p:oleObj>
              </mc:Choice>
              <mc:Fallback>
                <p:oleObj name="Equation" r:id="rId2" imgW="482400" imgH="457200" progId="Equation.DSMT4">
                  <p:embed/>
                  <p:pic>
                    <p:nvPicPr>
                      <p:cNvPr id="0" name=""/>
                      <p:cNvPicPr/>
                      <p:nvPr/>
                    </p:nvPicPr>
                    <p:blipFill>
                      <a:blip r:embed="rId3"/>
                      <a:stretch>
                        <a:fillRect/>
                      </a:stretch>
                    </p:blipFill>
                    <p:spPr>
                      <a:xfrm>
                        <a:off x="7447318" y="3695501"/>
                        <a:ext cx="665328" cy="630311"/>
                      </a:xfrm>
                      <a:prstGeom prst="rect">
                        <a:avLst/>
                      </a:prstGeom>
                    </p:spPr>
                  </p:pic>
                </p:oleObj>
              </mc:Fallback>
            </mc:AlternateContent>
          </a:graphicData>
        </a:graphic>
      </p:graphicFrame>
      <p:graphicFrame>
        <p:nvGraphicFramePr>
          <p:cNvPr id="43" name="物件 42"/>
          <p:cNvGraphicFramePr>
            <a:graphicFrameLocks noChangeAspect="1"/>
          </p:cNvGraphicFramePr>
          <p:nvPr>
            <p:extLst>
              <p:ext uri="{D42A27DB-BD31-4B8C-83A1-F6EECF244321}">
                <p14:modId xmlns:p14="http://schemas.microsoft.com/office/powerpoint/2010/main" val="1402343877"/>
              </p:ext>
            </p:extLst>
          </p:nvPr>
        </p:nvGraphicFramePr>
        <p:xfrm>
          <a:off x="2655871" y="4971928"/>
          <a:ext cx="2111375" cy="679450"/>
        </p:xfrm>
        <a:graphic>
          <a:graphicData uri="http://schemas.openxmlformats.org/presentationml/2006/ole">
            <mc:AlternateContent xmlns:mc="http://schemas.openxmlformats.org/markup-compatibility/2006">
              <mc:Choice xmlns:v="urn:schemas-microsoft-com:vml" Requires="v">
                <p:oleObj name="Equation" r:id="rId4" imgW="1422360" imgH="457200" progId="Equation.DSMT4">
                  <p:embed/>
                </p:oleObj>
              </mc:Choice>
              <mc:Fallback>
                <p:oleObj name="Equation" r:id="rId4" imgW="1422360" imgH="457200" progId="Equation.DSMT4">
                  <p:embed/>
                  <p:pic>
                    <p:nvPicPr>
                      <p:cNvPr id="0" name=""/>
                      <p:cNvPicPr/>
                      <p:nvPr/>
                    </p:nvPicPr>
                    <p:blipFill>
                      <a:blip r:embed="rId5"/>
                      <a:stretch>
                        <a:fillRect/>
                      </a:stretch>
                    </p:blipFill>
                    <p:spPr>
                      <a:xfrm>
                        <a:off x="2655871" y="4971928"/>
                        <a:ext cx="2111375" cy="679450"/>
                      </a:xfrm>
                      <a:prstGeom prst="rect">
                        <a:avLst/>
                      </a:prstGeom>
                    </p:spPr>
                  </p:pic>
                </p:oleObj>
              </mc:Fallback>
            </mc:AlternateContent>
          </a:graphicData>
        </a:graphic>
      </p:graphicFrame>
      <p:sp>
        <p:nvSpPr>
          <p:cNvPr id="3" name="文字方塊 2">
            <a:extLst>
              <a:ext uri="{FF2B5EF4-FFF2-40B4-BE49-F238E27FC236}">
                <a16:creationId xmlns:a16="http://schemas.microsoft.com/office/drawing/2014/main" id="{87E78C07-F7F4-F1A9-381B-CD0FB56D8DBE}"/>
              </a:ext>
            </a:extLst>
          </p:cNvPr>
          <p:cNvSpPr txBox="1"/>
          <p:nvPr/>
        </p:nvSpPr>
        <p:spPr>
          <a:xfrm>
            <a:off x="-30876" y="907862"/>
            <a:ext cx="8844331" cy="3970318"/>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effectLst/>
                <a:latin typeface="微軟正黑體" panose="020B0604030504040204" pitchFamily="34" charset="-120"/>
                <a:ea typeface="微軟正黑體" panose="020B0604030504040204" pitchFamily="34" charset="-120"/>
              </a:rPr>
              <a:t>在離散型中</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最簡單的型式是二元變項</a:t>
            </a:r>
            <a:r>
              <a:rPr lang="en-US" altLang="zh-TW" dirty="0">
                <a:effectLst/>
                <a:latin typeface="微軟正黑體" panose="020B0604030504040204" pitchFamily="34" charset="-120"/>
                <a:ea typeface="微軟正黑體" panose="020B0604030504040204" pitchFamily="34" charset="-120"/>
              </a:rPr>
              <a:t>(binary</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variable)</a:t>
            </a:r>
            <a:r>
              <a:rPr lang="zh-TW" altLang="en-US" dirty="0">
                <a:effectLst/>
                <a:latin typeface="微軟正黑體" panose="020B0604030504040204" pitchFamily="34" charset="-120"/>
                <a:ea typeface="微軟正黑體" panose="020B0604030504040204" pitchFamily="34" charset="-120"/>
              </a:rPr>
              <a:t>的隨機變數</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表示事件只有兩種狀態</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例如成功或失敗、疾病的有或無、存活或死亡、性別。</a:t>
            </a:r>
            <a:endParaRPr lang="en-US" altLang="zh-TW" dirty="0">
              <a:effectLst/>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effectLst/>
                <a:latin typeface="微軟正黑體" panose="020B0604030504040204" pitchFamily="34" charset="-120"/>
                <a:ea typeface="微軟正黑體" panose="020B0604030504040204" pitchFamily="34" charset="-120"/>
              </a:rPr>
              <a:t>成功的機率以</a:t>
            </a:r>
            <a:r>
              <a:rPr lang="en-US" altLang="zh-TW" dirty="0">
                <a:effectLst/>
                <a:latin typeface="微軟正黑體" panose="020B0604030504040204" pitchFamily="34" charset="-120"/>
                <a:ea typeface="微軟正黑體" panose="020B0604030504040204" pitchFamily="34" charset="-120"/>
              </a:rPr>
              <a:t>p</a:t>
            </a:r>
            <a:r>
              <a:rPr lang="zh-TW" altLang="en-US" dirty="0">
                <a:effectLst/>
                <a:latin typeface="微軟正黑體" panose="020B0604030504040204" pitchFamily="34" charset="-120"/>
                <a:ea typeface="微軟正黑體" panose="020B0604030504040204" pitchFamily="34" charset="-120"/>
              </a:rPr>
              <a:t>表示</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失敗的機率則為</a:t>
            </a:r>
            <a:r>
              <a:rPr lang="en-US" altLang="zh-TW" dirty="0">
                <a:effectLst/>
                <a:latin typeface="微軟正黑體" panose="020B0604030504040204" pitchFamily="34" charset="-120"/>
                <a:ea typeface="微軟正黑體" panose="020B0604030504040204" pitchFamily="34" charset="-120"/>
              </a:rPr>
              <a:t>1-p</a:t>
            </a:r>
            <a:r>
              <a:rPr lang="zh-TW" altLang="en-US" dirty="0">
                <a:effectLst/>
                <a:latin typeface="微軟正黑體" panose="020B0604030504040204" pitchFamily="34" charset="-120"/>
                <a:ea typeface="微軟正黑體" panose="020B0604030504040204" pitchFamily="34" charset="-120"/>
              </a:rPr>
              <a:t>。</a:t>
            </a:r>
            <a:endParaRPr lang="en-US" altLang="zh-TW" dirty="0">
              <a:effectLst/>
              <a:latin typeface="微軟正黑體" panose="020B0604030504040204" pitchFamily="34" charset="-120"/>
              <a:ea typeface="微軟正黑體" panose="020B0604030504040204" pitchFamily="34" charset="-120"/>
            </a:endParaRPr>
          </a:p>
          <a:p>
            <a:endParaRPr lang="zh-TW" altLang="en-US" dirty="0">
              <a:effectLst/>
              <a:latin typeface="微軟正黑體" panose="020B0604030504040204" pitchFamily="34" charset="-120"/>
              <a:ea typeface="微軟正黑體" panose="020B0604030504040204" pitchFamily="34" charset="-120"/>
            </a:endParaRPr>
          </a:p>
          <a:p>
            <a:pPr marL="285750" indent="-285750">
              <a:buFont typeface="Arial" panose="020B0604020202020204" pitchFamily="34" charset="0"/>
              <a:buChar char="•"/>
            </a:pPr>
            <a:r>
              <a:rPr lang="zh-TW" altLang="en-US" dirty="0">
                <a:effectLst/>
                <a:latin typeface="微軟正黑體" panose="020B0604030504040204" pitchFamily="34" charset="-120"/>
                <a:ea typeface="微軟正黑體" panose="020B0604030504040204" pitchFamily="34" charset="-120"/>
              </a:rPr>
              <a:t>例如人口中男女生比例相等</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隨機抽樣時男女抽的機率皆為</a:t>
            </a:r>
            <a:r>
              <a:rPr lang="en-US" altLang="zh-TW" dirty="0">
                <a:effectLst/>
                <a:latin typeface="微軟正黑體" panose="020B0604030504040204" pitchFamily="34" charset="-120"/>
                <a:ea typeface="微軟正黑體" panose="020B0604030504040204" pitchFamily="34" charset="-120"/>
              </a:rPr>
              <a:t>0.5</a:t>
            </a:r>
            <a:r>
              <a:rPr lang="zh-TW" altLang="en-US" dirty="0">
                <a:effectLst/>
                <a:latin typeface="微軟正黑體" panose="020B0604030504040204" pitchFamily="34" charset="-120"/>
                <a:ea typeface="微軟正黑體" panose="020B0604030504040204" pitchFamily="34" charset="-120"/>
              </a:rPr>
              <a:t>，隨機抽取五個樣本時</a:t>
            </a:r>
          </a:p>
          <a:p>
            <a:endParaRPr lang="en-US" altLang="zh-TW" dirty="0">
              <a:effectLst/>
              <a:latin typeface="微軟正黑體" panose="020B0604030504040204" pitchFamily="34" charset="-120"/>
              <a:ea typeface="微軟正黑體" panose="020B0604030504040204" pitchFamily="34" charset="-120"/>
            </a:endParaRPr>
          </a:p>
          <a:p>
            <a:r>
              <a:rPr lang="zh-TW" altLang="en-US" dirty="0">
                <a:effectLst/>
                <a:latin typeface="微軟正黑體" panose="020B0604030504040204" pitchFamily="34" charset="-120"/>
                <a:ea typeface="微軟正黑體" panose="020B0604030504040204" pitchFamily="34" charset="-120"/>
              </a:rPr>
              <a:t>・男生出現次數為的機率為</a:t>
            </a:r>
            <a:endParaRPr lang="en-US" altLang="zh-TW" dirty="0">
              <a:effectLst/>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0.5</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x</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0.5</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x</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0.5</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x</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0.5</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x</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0.5</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 </a:t>
            </a:r>
            <a:r>
              <a:rPr lang="en-US" altLang="zh-TW" dirty="0">
                <a:effectLst/>
                <a:latin typeface="微軟正黑體" panose="020B0604030504040204" pitchFamily="34" charset="-120"/>
                <a:ea typeface="微軟正黑體" panose="020B0604030504040204" pitchFamily="34" charset="-120"/>
              </a:rPr>
              <a:t>0.03125</a:t>
            </a:r>
          </a:p>
          <a:p>
            <a:endParaRPr lang="en-US" altLang="zh-TW" dirty="0">
              <a:effectLst/>
              <a:latin typeface="微軟正黑體" panose="020B0604030504040204" pitchFamily="34" charset="-120"/>
              <a:ea typeface="微軟正黑體" panose="020B0604030504040204" pitchFamily="34" charset="-120"/>
            </a:endParaRPr>
          </a:p>
          <a:p>
            <a:r>
              <a:rPr lang="zh-TW" altLang="en-US" dirty="0">
                <a:effectLst/>
                <a:latin typeface="微軟正黑體" panose="020B0604030504040204" pitchFamily="34" charset="-120"/>
                <a:ea typeface="微軟正黑體" panose="020B0604030504040204" pitchFamily="34" charset="-120"/>
              </a:rPr>
              <a:t>・男生出現</a:t>
            </a:r>
            <a:r>
              <a:rPr lang="en-US" altLang="zh-TW" dirty="0">
                <a:effectLst/>
                <a:latin typeface="微軟正黑體" panose="020B0604030504040204" pitchFamily="34" charset="-120"/>
                <a:ea typeface="微軟正黑體" panose="020B0604030504040204" pitchFamily="34" charset="-120"/>
              </a:rPr>
              <a:t>1</a:t>
            </a:r>
            <a:r>
              <a:rPr lang="zh-TW" altLang="en-US" dirty="0">
                <a:effectLst/>
                <a:latin typeface="微軟正黑體" panose="020B0604030504040204" pitchFamily="34" charset="-120"/>
                <a:ea typeface="微軟正黑體" panose="020B0604030504040204" pitchFamily="34" charset="-120"/>
              </a:rPr>
              <a:t>次可能發生在</a:t>
            </a:r>
            <a:r>
              <a:rPr lang="en-US" altLang="zh-TW" dirty="0">
                <a:effectLst/>
                <a:latin typeface="微軟正黑體" panose="020B0604030504040204" pitchFamily="34" charset="-120"/>
                <a:ea typeface="微軟正黑體" panose="020B0604030504040204" pitchFamily="34" charset="-120"/>
              </a:rPr>
              <a:t>5</a:t>
            </a:r>
            <a:r>
              <a:rPr lang="zh-TW" altLang="en-US" dirty="0">
                <a:effectLst/>
                <a:latin typeface="微軟正黑體" panose="020B0604030504040204" pitchFamily="34" charset="-120"/>
                <a:ea typeface="微軟正黑體" panose="020B0604030504040204" pitchFamily="34" charset="-120"/>
              </a:rPr>
              <a:t>次的任意其中一次</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有</a:t>
            </a:r>
            <a:r>
              <a:rPr lang="en-US" altLang="zh-TW" dirty="0">
                <a:effectLst/>
                <a:latin typeface="微軟正黑體" panose="020B0604030504040204" pitchFamily="34" charset="-120"/>
                <a:ea typeface="微軟正黑體" panose="020B0604030504040204" pitchFamily="34" charset="-120"/>
              </a:rPr>
              <a:t>5</a:t>
            </a:r>
            <a:r>
              <a:rPr lang="zh-TW" altLang="en-US" dirty="0">
                <a:effectLst/>
                <a:latin typeface="微軟正黑體" panose="020B0604030504040204" pitchFamily="34" charset="-120"/>
                <a:ea typeface="微軟正黑體" panose="020B0604030504040204" pitchFamily="34" charset="-120"/>
              </a:rPr>
              <a:t>種可能</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所以機率為</a:t>
            </a:r>
          </a:p>
          <a:p>
            <a:r>
              <a:rPr lang="en-US" altLang="zh-TW" dirty="0">
                <a:effectLst/>
                <a:latin typeface="微軟正黑體" panose="020B0604030504040204" pitchFamily="34" charset="-120"/>
                <a:ea typeface="微軟正黑體" panose="020B0604030504040204" pitchFamily="34" charset="-120"/>
              </a:rPr>
              <a:t> 		0.5 x 0.5 x 0.5 x 0.5 x 0.5 x 0.5 = 0.15625</a:t>
            </a:r>
          </a:p>
          <a:p>
            <a:endParaRPr lang="en-US" altLang="zh-TW" dirty="0">
              <a:effectLst/>
              <a:latin typeface="微軟正黑體" panose="020B0604030504040204" pitchFamily="34" charset="-120"/>
              <a:ea typeface="微軟正黑體" panose="020B0604030504040204" pitchFamily="34" charset="-120"/>
            </a:endParaRPr>
          </a:p>
          <a:p>
            <a:r>
              <a:rPr lang="zh-TW" altLang="en-US" dirty="0">
                <a:effectLst/>
                <a:latin typeface="微軟正黑體" panose="020B0604030504040204" pitchFamily="34" charset="-120"/>
                <a:ea typeface="微軟正黑體" panose="020B0604030504040204" pitchFamily="34" charset="-120"/>
              </a:rPr>
              <a:t>・出現</a:t>
            </a:r>
            <a:r>
              <a:rPr lang="en-US" altLang="zh-TW" dirty="0">
                <a:effectLst/>
                <a:latin typeface="微軟正黑體" panose="020B0604030504040204" pitchFamily="34" charset="-120"/>
                <a:ea typeface="微軟正黑體" panose="020B0604030504040204" pitchFamily="34" charset="-120"/>
              </a:rPr>
              <a:t>2</a:t>
            </a:r>
            <a:r>
              <a:rPr lang="zh-TW" altLang="en-US" dirty="0">
                <a:effectLst/>
                <a:latin typeface="微軟正黑體" panose="020B0604030504040204" pitchFamily="34" charset="-120"/>
                <a:ea typeface="微軟正黑體" panose="020B0604030504040204" pitchFamily="34" charset="-120"/>
              </a:rPr>
              <a:t>次就會是任意</a:t>
            </a:r>
            <a:r>
              <a:rPr lang="en-US" altLang="zh-TW" dirty="0">
                <a:effectLst/>
                <a:latin typeface="微軟正黑體" panose="020B0604030504040204" pitchFamily="34" charset="-120"/>
                <a:ea typeface="微軟正黑體" panose="020B0604030504040204" pitchFamily="34" charset="-120"/>
              </a:rPr>
              <a:t>5</a:t>
            </a:r>
            <a:r>
              <a:rPr lang="zh-TW" altLang="en-US" dirty="0">
                <a:effectLst/>
                <a:latin typeface="微軟正黑體" panose="020B0604030504040204" pitchFamily="34" charset="-120"/>
                <a:ea typeface="微軟正黑體" panose="020B0604030504040204" pitchFamily="34" charset="-120"/>
              </a:rPr>
              <a:t>次取</a:t>
            </a:r>
            <a:r>
              <a:rPr lang="en-US" altLang="zh-TW" dirty="0">
                <a:effectLst/>
                <a:latin typeface="微軟正黑體" panose="020B0604030504040204" pitchFamily="34" charset="-120"/>
                <a:ea typeface="微軟正黑體" panose="020B0604030504040204" pitchFamily="34" charset="-120"/>
              </a:rPr>
              <a:t>2</a:t>
            </a:r>
            <a:r>
              <a:rPr lang="zh-TW" altLang="en-US" dirty="0">
                <a:effectLst/>
                <a:latin typeface="微軟正黑體" panose="020B0604030504040204" pitchFamily="34" charset="-120"/>
                <a:ea typeface="微軟正黑體" panose="020B0604030504040204" pitchFamily="34" charset="-120"/>
              </a:rPr>
              <a:t>次出現</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會有 </a:t>
            </a:r>
            <a:r>
              <a:rPr lang="en-US" altLang="zh-TW" dirty="0">
                <a:effectLst/>
                <a:latin typeface="微軟正黑體" panose="020B0604030504040204" pitchFamily="34" charset="-120"/>
                <a:ea typeface="微軟正黑體" panose="020B0604030504040204" pitchFamily="34" charset="-120"/>
              </a:rPr>
              <a:t>5 x 4</a:t>
            </a:r>
            <a:r>
              <a:rPr lang="zh-TW" altLang="en-US" dirty="0">
                <a:effectLst/>
                <a:latin typeface="微軟正黑體" panose="020B0604030504040204" pitchFamily="34" charset="-120"/>
                <a:ea typeface="微軟正黑體" panose="020B0604030504040204" pitchFamily="34" charset="-120"/>
              </a:rPr>
              <a:t>的可能</a:t>
            </a:r>
            <a:r>
              <a:rPr lang="en-US" altLang="zh-TW" dirty="0">
                <a:effectLst/>
                <a:latin typeface="微軟正黑體" panose="020B0604030504040204" pitchFamily="34" charset="-120"/>
                <a:ea typeface="微軟正黑體" panose="020B0604030504040204" pitchFamily="34" charset="-120"/>
              </a:rPr>
              <a:t>,</a:t>
            </a:r>
            <a:r>
              <a:rPr lang="zh-TW" altLang="en-US" dirty="0">
                <a:effectLst/>
                <a:latin typeface="微軟正黑體" panose="020B0604030504040204" pitchFamily="34" charset="-120"/>
                <a:ea typeface="微軟正黑體" panose="020B0604030504040204" pitchFamily="34" charset="-120"/>
              </a:rPr>
              <a:t>依此類推。</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62860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fill="hold"/>
                                        <p:tgtEl>
                                          <p:spTgt spid="43"/>
                                        </p:tgtEl>
                                        <p:attrNameLst>
                                          <p:attrName>ppt_x</p:attrName>
                                        </p:attrNameLst>
                                      </p:cBhvr>
                                      <p:tavLst>
                                        <p:tav tm="0">
                                          <p:val>
                                            <p:strVal val="#ppt_x"/>
                                          </p:val>
                                        </p:tav>
                                        <p:tav tm="100000">
                                          <p:val>
                                            <p:strVal val="#ppt_x"/>
                                          </p:val>
                                        </p:tav>
                                      </p:tavLst>
                                    </p:anim>
                                    <p:anim calcmode="lin" valueType="num">
                                      <p:cBhvr additive="base">
                                        <p:cTn id="1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1276" y="-70999"/>
            <a:ext cx="8231029" cy="1143000"/>
          </a:xfrm>
        </p:spPr>
        <p:txBody>
          <a:bodyPr>
            <a:normAutofit/>
          </a:bodyPr>
          <a:lstStyle/>
          <a:p>
            <a:r>
              <a:rPr lang="zh-TW" altLang="zh-TW" dirty="0">
                <a:latin typeface="微軟正黑體" panose="020B0604030504040204" pitchFamily="34" charset="-120"/>
                <a:ea typeface="微軟正黑體" panose="020B0604030504040204" pitchFamily="34" charset="-120"/>
              </a:rPr>
              <a:t>二項式分配</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3" name="內容版面配置區 2"/>
              <p:cNvSpPr>
                <a:spLocks noGrp="1"/>
              </p:cNvSpPr>
              <p:nvPr>
                <p:ph sz="quarter" idx="13"/>
              </p:nvPr>
            </p:nvSpPr>
            <p:spPr>
              <a:xfrm>
                <a:off x="245912" y="907923"/>
                <a:ext cx="8367034" cy="5008604"/>
              </a:xfrm>
            </p:spPr>
            <p:txBody>
              <a:bodyPr>
                <a:normAutofit fontScale="85000" lnSpcReduction="20000"/>
              </a:bodyPr>
              <a:lstStyle/>
              <a:p>
                <a:pPr>
                  <a:lnSpc>
                    <a:spcPct val="120000"/>
                  </a:lnSpc>
                </a:pPr>
                <a:r>
                  <a:rPr lang="zh-TW" altLang="zh-TW" sz="2100" dirty="0">
                    <a:latin typeface="微軟正黑體" panose="020B0604030504040204" pitchFamily="34" charset="-120"/>
                    <a:ea typeface="微軟正黑體" panose="020B0604030504040204" pitchFamily="34" charset="-120"/>
                  </a:rPr>
                  <a:t>所以如果重覆</a:t>
                </a:r>
                <a:r>
                  <a:rPr lang="en-US" altLang="zh-TW" sz="2100" i="1" dirty="0">
                    <a:latin typeface="微軟正黑體" panose="020B0604030504040204" pitchFamily="34" charset="-120"/>
                    <a:ea typeface="微軟正黑體" panose="020B0604030504040204" pitchFamily="34" charset="-120"/>
                  </a:rPr>
                  <a:t>n</a:t>
                </a:r>
                <a:r>
                  <a:rPr lang="zh-TW" altLang="zh-TW" sz="2100" dirty="0">
                    <a:latin typeface="微軟正黑體" panose="020B0604030504040204" pitchFamily="34" charset="-120"/>
                    <a:ea typeface="微軟正黑體" panose="020B0604030504040204" pitchFamily="34" charset="-120"/>
                  </a:rPr>
                  <a:t>次試驗，且每一次都是獨立的事件且成功機為</a:t>
                </a:r>
                <a:r>
                  <a:rPr lang="en-US" altLang="zh-TW" sz="2100" i="1" dirty="0">
                    <a:latin typeface="微軟正黑體" panose="020B0604030504040204" pitchFamily="34" charset="-120"/>
                    <a:ea typeface="微軟正黑體" panose="020B0604030504040204" pitchFamily="34" charset="-120"/>
                  </a:rPr>
                  <a:t>p</a:t>
                </a:r>
                <a:r>
                  <a:rPr lang="zh-TW" altLang="zh-TW" sz="2100" dirty="0">
                    <a:latin typeface="微軟正黑體" panose="020B0604030504040204" pitchFamily="34" charset="-120"/>
                    <a:ea typeface="微軟正黑體" panose="020B0604030504040204" pitchFamily="34" charset="-120"/>
                  </a:rPr>
                  <a:t>，代表成功次數的隨機變數</a:t>
                </a:r>
                <a:r>
                  <a:rPr lang="en-US" altLang="zh-TW" sz="2100" dirty="0">
                    <a:latin typeface="微軟正黑體" panose="020B0604030504040204" pitchFamily="34" charset="-120"/>
                    <a:ea typeface="微軟正黑體" panose="020B0604030504040204" pitchFamily="34" charset="-120"/>
                  </a:rPr>
                  <a:t>(X)</a:t>
                </a:r>
                <a:r>
                  <a:rPr lang="zh-TW" altLang="zh-TW" sz="2100" dirty="0">
                    <a:latin typeface="微軟正黑體" panose="020B0604030504040204" pitchFamily="34" charset="-120"/>
                    <a:ea typeface="微軟正黑體" panose="020B0604030504040204" pitchFamily="34" charset="-120"/>
                  </a:rPr>
                  <a:t>稱為二項式隨機變數</a:t>
                </a:r>
                <a:r>
                  <a:rPr lang="en-US" altLang="zh-TW" sz="2100" dirty="0">
                    <a:latin typeface="微軟正黑體" panose="020B0604030504040204" pitchFamily="34" charset="-120"/>
                    <a:ea typeface="微軟正黑體" panose="020B0604030504040204" pitchFamily="34" charset="-120"/>
                  </a:rPr>
                  <a:t>(binomial random variable)</a:t>
                </a:r>
                <a:r>
                  <a:rPr lang="zh-TW" altLang="zh-TW" sz="2100" dirty="0">
                    <a:latin typeface="微軟正黑體" panose="020B0604030504040204" pitchFamily="34" charset="-120"/>
                    <a:ea typeface="微軟正黑體" panose="020B0604030504040204" pitchFamily="34" charset="-120"/>
                  </a:rPr>
                  <a:t> 。出現</a:t>
                </a:r>
                <a:r>
                  <a:rPr lang="en-US" altLang="zh-TW" sz="2100" i="1" dirty="0">
                    <a:latin typeface="微軟正黑體" panose="020B0604030504040204" pitchFamily="34" charset="-120"/>
                    <a:ea typeface="微軟正黑體" panose="020B0604030504040204" pitchFamily="34" charset="-120"/>
                  </a:rPr>
                  <a:t>x</a:t>
                </a:r>
                <a:r>
                  <a:rPr lang="zh-TW" altLang="zh-TW" sz="2100" dirty="0">
                    <a:latin typeface="微軟正黑體" panose="020B0604030504040204" pitchFamily="34" charset="-120"/>
                    <a:ea typeface="微軟正黑體" panose="020B0604030504040204" pitchFamily="34" charset="-120"/>
                  </a:rPr>
                  <a:t>次數的機率可以表示成</a:t>
                </a:r>
              </a:p>
              <a:p>
                <a:pPr marL="0" indent="0">
                  <a:buNone/>
                </a:pPr>
                <a14:m>
                  <m:oMathPara xmlns:m="http://schemas.openxmlformats.org/officeDocument/2006/math">
                    <m:oMathParaPr>
                      <m:jc m:val="centerGroup"/>
                    </m:oMathParaPr>
                    <m:oMath xmlns:m="http://schemas.openxmlformats.org/officeDocument/2006/math">
                      <m:r>
                        <a:rPr lang="en-US" altLang="zh-TW" sz="1900" i="1">
                          <a:latin typeface="Cambria Math" panose="02040503050406030204" pitchFamily="18" charset="0"/>
                        </a:rPr>
                        <m:t>𝑃</m:t>
                      </m:r>
                      <m:d>
                        <m:dPr>
                          <m:ctrlPr>
                            <a:rPr lang="zh-TW" altLang="zh-TW" sz="1900" i="1">
                              <a:latin typeface="Cambria Math" panose="02040503050406030204" pitchFamily="18" charset="0"/>
                            </a:rPr>
                          </m:ctrlPr>
                        </m:dPr>
                        <m:e>
                          <m:r>
                            <a:rPr lang="en-US" altLang="zh-TW" sz="1900" i="1">
                              <a:latin typeface="Cambria Math" panose="02040503050406030204" pitchFamily="18" charset="0"/>
                            </a:rPr>
                            <m:t>𝑋</m:t>
                          </m:r>
                          <m:r>
                            <a:rPr lang="en-US" altLang="zh-TW" sz="1900" i="1">
                              <a:latin typeface="Cambria Math" panose="02040503050406030204" pitchFamily="18" charset="0"/>
                            </a:rPr>
                            <m:t>=</m:t>
                          </m:r>
                          <m:r>
                            <m:rPr>
                              <m:sty m:val="p"/>
                            </m:rPr>
                            <a:rPr lang="en-US" altLang="zh-TW" sz="1900">
                              <a:latin typeface="Cambria Math" panose="02040503050406030204" pitchFamily="18" charset="0"/>
                            </a:rPr>
                            <m:t>x</m:t>
                          </m:r>
                          <m:r>
                            <a:rPr lang="en-US" altLang="zh-TW" sz="1900" i="1">
                              <a:latin typeface="Cambria Math" panose="02040503050406030204" pitchFamily="18" charset="0"/>
                            </a:rPr>
                            <m:t>;</m:t>
                          </m:r>
                          <m:r>
                            <a:rPr lang="en-US" altLang="zh-TW" sz="1900" i="1">
                              <a:latin typeface="Cambria Math" panose="02040503050406030204" pitchFamily="18" charset="0"/>
                            </a:rPr>
                            <m:t>𝑝</m:t>
                          </m:r>
                        </m:e>
                      </m:d>
                      <m:r>
                        <a:rPr lang="en-US" altLang="zh-TW" sz="1900" i="1">
                          <a:latin typeface="Cambria Math" panose="02040503050406030204" pitchFamily="18" charset="0"/>
                        </a:rPr>
                        <m:t>=</m:t>
                      </m:r>
                      <m:d>
                        <m:dPr>
                          <m:ctrlPr>
                            <a:rPr lang="en-US" altLang="zh-TW" sz="1900" i="1" smtClean="0">
                              <a:latin typeface="Cambria Math" panose="02040503050406030204" pitchFamily="18" charset="0"/>
                            </a:rPr>
                          </m:ctrlPr>
                        </m:dPr>
                        <m:e>
                          <m:eqArr>
                            <m:eqArrPr>
                              <m:ctrlPr>
                                <a:rPr lang="en-US" altLang="zh-TW" sz="1900" b="0" i="1" smtClean="0">
                                  <a:latin typeface="Cambria Math" panose="02040503050406030204" pitchFamily="18" charset="0"/>
                                </a:rPr>
                              </m:ctrlPr>
                            </m:eqArrPr>
                            <m:e>
                              <m:r>
                                <a:rPr lang="en-US" altLang="zh-TW" sz="1900" b="0" i="1" smtClean="0">
                                  <a:latin typeface="Cambria Math"/>
                                </a:rPr>
                                <m:t>𝑛</m:t>
                              </m:r>
                            </m:e>
                            <m:e>
                              <m:r>
                                <a:rPr lang="en-US" altLang="zh-TW" sz="1900" b="0" i="1" smtClean="0">
                                  <a:latin typeface="Cambria Math"/>
                                </a:rPr>
                                <m:t>𝑥</m:t>
                              </m:r>
                            </m:e>
                          </m:eqArr>
                        </m:e>
                      </m:d>
                      <m:sSup>
                        <m:sSupPr>
                          <m:ctrlPr>
                            <a:rPr lang="zh-TW" altLang="zh-TW" sz="1900" i="1">
                              <a:latin typeface="Cambria Math" panose="02040503050406030204" pitchFamily="18" charset="0"/>
                            </a:rPr>
                          </m:ctrlPr>
                        </m:sSupPr>
                        <m:e>
                          <m:r>
                            <a:rPr lang="en-US" altLang="zh-TW" sz="1900" i="1">
                              <a:latin typeface="Cambria Math" panose="02040503050406030204" pitchFamily="18" charset="0"/>
                            </a:rPr>
                            <m:t>𝑝</m:t>
                          </m:r>
                        </m:e>
                        <m:sup>
                          <m:r>
                            <m:rPr>
                              <m:sty m:val="p"/>
                            </m:rPr>
                            <a:rPr lang="en-US" altLang="zh-TW" sz="1900">
                              <a:latin typeface="Cambria Math" panose="02040503050406030204" pitchFamily="18" charset="0"/>
                            </a:rPr>
                            <m:t>x</m:t>
                          </m:r>
                        </m:sup>
                      </m:sSup>
                      <m:sSup>
                        <m:sSupPr>
                          <m:ctrlPr>
                            <a:rPr lang="zh-TW" altLang="zh-TW" sz="1900" i="1">
                              <a:latin typeface="Cambria Math" panose="02040503050406030204" pitchFamily="18" charset="0"/>
                            </a:rPr>
                          </m:ctrlPr>
                        </m:sSupPr>
                        <m:e>
                          <m:d>
                            <m:dPr>
                              <m:ctrlPr>
                                <a:rPr lang="zh-TW" altLang="zh-TW" sz="1900" i="1">
                                  <a:latin typeface="Cambria Math" panose="02040503050406030204" pitchFamily="18" charset="0"/>
                                </a:rPr>
                              </m:ctrlPr>
                            </m:dPr>
                            <m:e>
                              <m:r>
                                <a:rPr lang="en-US" altLang="zh-TW" sz="1900" i="1">
                                  <a:latin typeface="Cambria Math" panose="02040503050406030204" pitchFamily="18" charset="0"/>
                                </a:rPr>
                                <m:t>1−</m:t>
                              </m:r>
                              <m:r>
                                <a:rPr lang="en-US" altLang="zh-TW" sz="1900" i="1">
                                  <a:latin typeface="Cambria Math" panose="02040503050406030204" pitchFamily="18" charset="0"/>
                                </a:rPr>
                                <m:t>𝑝</m:t>
                              </m:r>
                            </m:e>
                          </m:d>
                        </m:e>
                        <m:sup>
                          <m:r>
                            <a:rPr lang="en-US" altLang="zh-TW" sz="1900" i="1">
                              <a:latin typeface="Cambria Math" panose="02040503050406030204" pitchFamily="18" charset="0"/>
                            </a:rPr>
                            <m:t>𝑛</m:t>
                          </m:r>
                          <m:r>
                            <a:rPr lang="en-US" altLang="zh-TW" sz="1900" i="1">
                              <a:latin typeface="Cambria Math" panose="02040503050406030204" pitchFamily="18" charset="0"/>
                            </a:rPr>
                            <m:t>−</m:t>
                          </m:r>
                          <m:r>
                            <m:rPr>
                              <m:sty m:val="p"/>
                            </m:rPr>
                            <a:rPr lang="en-US" altLang="zh-TW" sz="1900">
                              <a:latin typeface="Cambria Math" panose="02040503050406030204" pitchFamily="18" charset="0"/>
                            </a:rPr>
                            <m:t>x</m:t>
                          </m:r>
                        </m:sup>
                      </m:sSup>
                      <m:r>
                        <a:rPr lang="en-US" altLang="zh-TW" sz="1900" b="0" i="1" smtClean="0">
                          <a:latin typeface="Cambria Math"/>
                        </a:rPr>
                        <m:t>=</m:t>
                      </m:r>
                      <m:f>
                        <m:fPr>
                          <m:ctrlPr>
                            <a:rPr lang="zh-TW" altLang="zh-TW" sz="1900" i="1">
                              <a:latin typeface="Cambria Math" panose="02040503050406030204" pitchFamily="18" charset="0"/>
                            </a:rPr>
                          </m:ctrlPr>
                        </m:fPr>
                        <m:num>
                          <m:r>
                            <a:rPr lang="en-US" altLang="zh-TW" sz="1900" i="1">
                              <a:latin typeface="Cambria Math" panose="02040503050406030204" pitchFamily="18" charset="0"/>
                            </a:rPr>
                            <m:t>𝑛</m:t>
                          </m:r>
                          <m:r>
                            <a:rPr lang="en-US" altLang="zh-TW" sz="1900" i="1">
                              <a:latin typeface="Cambria Math" panose="02040503050406030204" pitchFamily="18" charset="0"/>
                            </a:rPr>
                            <m:t>!</m:t>
                          </m:r>
                        </m:num>
                        <m:den>
                          <m:r>
                            <m:rPr>
                              <m:sty m:val="p"/>
                            </m:rPr>
                            <a:rPr lang="en-US" altLang="zh-TW" sz="1900">
                              <a:latin typeface="Cambria Math" panose="02040503050406030204" pitchFamily="18" charset="0"/>
                            </a:rPr>
                            <m:t>x</m:t>
                          </m:r>
                          <m:r>
                            <a:rPr lang="en-US" altLang="zh-TW" sz="1900" i="1">
                              <a:latin typeface="Cambria Math" panose="02040503050406030204" pitchFamily="18" charset="0"/>
                            </a:rPr>
                            <m:t>!</m:t>
                          </m:r>
                          <m:d>
                            <m:dPr>
                              <m:ctrlPr>
                                <a:rPr lang="zh-TW" altLang="zh-TW" sz="1900" i="1" smtClean="0">
                                  <a:latin typeface="Cambria Math" panose="02040503050406030204" pitchFamily="18" charset="0"/>
                                </a:rPr>
                              </m:ctrlPr>
                            </m:dPr>
                            <m:e>
                              <m:r>
                                <a:rPr lang="en-US" altLang="zh-TW" sz="1900" i="1">
                                  <a:latin typeface="Cambria Math" panose="02040503050406030204" pitchFamily="18" charset="0"/>
                                </a:rPr>
                                <m:t>𝑛</m:t>
                              </m:r>
                              <m:r>
                                <a:rPr lang="en-US" altLang="zh-TW" sz="1900" i="1">
                                  <a:latin typeface="Cambria Math" panose="02040503050406030204" pitchFamily="18" charset="0"/>
                                </a:rPr>
                                <m:t>−</m:t>
                              </m:r>
                              <m:r>
                                <m:rPr>
                                  <m:sty m:val="p"/>
                                </m:rPr>
                                <a:rPr lang="en-US" altLang="zh-TW" sz="1900">
                                  <a:latin typeface="Cambria Math" panose="02040503050406030204" pitchFamily="18" charset="0"/>
                                </a:rPr>
                                <m:t>x</m:t>
                              </m:r>
                            </m:e>
                          </m:d>
                          <m:r>
                            <a:rPr lang="en-US" altLang="zh-TW" sz="1900" i="1">
                              <a:latin typeface="Cambria Math" panose="02040503050406030204" pitchFamily="18" charset="0"/>
                            </a:rPr>
                            <m:t>!</m:t>
                          </m:r>
                        </m:den>
                      </m:f>
                      <m:sSup>
                        <m:sSupPr>
                          <m:ctrlPr>
                            <a:rPr lang="zh-TW" altLang="zh-TW" sz="1900" i="1">
                              <a:latin typeface="Cambria Math" panose="02040503050406030204" pitchFamily="18" charset="0"/>
                            </a:rPr>
                          </m:ctrlPr>
                        </m:sSupPr>
                        <m:e>
                          <m:r>
                            <a:rPr lang="en-US" altLang="zh-TW" sz="1900" i="1">
                              <a:latin typeface="Cambria Math" panose="02040503050406030204" pitchFamily="18" charset="0"/>
                            </a:rPr>
                            <m:t>𝑝</m:t>
                          </m:r>
                        </m:e>
                        <m:sup>
                          <m:r>
                            <m:rPr>
                              <m:sty m:val="p"/>
                            </m:rPr>
                            <a:rPr lang="en-US" altLang="zh-TW" sz="1900">
                              <a:latin typeface="Cambria Math" panose="02040503050406030204" pitchFamily="18" charset="0"/>
                            </a:rPr>
                            <m:t>x</m:t>
                          </m:r>
                        </m:sup>
                      </m:sSup>
                      <m:sSup>
                        <m:sSupPr>
                          <m:ctrlPr>
                            <a:rPr lang="zh-TW" altLang="zh-TW" sz="1900" i="1">
                              <a:latin typeface="Cambria Math" panose="02040503050406030204" pitchFamily="18" charset="0"/>
                            </a:rPr>
                          </m:ctrlPr>
                        </m:sSupPr>
                        <m:e>
                          <m:d>
                            <m:dPr>
                              <m:ctrlPr>
                                <a:rPr lang="zh-TW" altLang="zh-TW" sz="1900" i="1">
                                  <a:latin typeface="Cambria Math" panose="02040503050406030204" pitchFamily="18" charset="0"/>
                                </a:rPr>
                              </m:ctrlPr>
                            </m:dPr>
                            <m:e>
                              <m:r>
                                <a:rPr lang="en-US" altLang="zh-TW" sz="1900" i="1">
                                  <a:latin typeface="Cambria Math" panose="02040503050406030204" pitchFamily="18" charset="0"/>
                                </a:rPr>
                                <m:t>1−</m:t>
                              </m:r>
                              <m:r>
                                <a:rPr lang="en-US" altLang="zh-TW" sz="1900" i="1">
                                  <a:latin typeface="Cambria Math" panose="02040503050406030204" pitchFamily="18" charset="0"/>
                                </a:rPr>
                                <m:t>𝑝</m:t>
                              </m:r>
                            </m:e>
                          </m:d>
                        </m:e>
                        <m:sup>
                          <m:r>
                            <a:rPr lang="en-US" altLang="zh-TW" sz="1900" i="1">
                              <a:latin typeface="Cambria Math" panose="02040503050406030204" pitchFamily="18" charset="0"/>
                            </a:rPr>
                            <m:t>𝑛</m:t>
                          </m:r>
                          <m:r>
                            <a:rPr lang="en-US" altLang="zh-TW" sz="1900" i="1">
                              <a:latin typeface="Cambria Math" panose="02040503050406030204" pitchFamily="18" charset="0"/>
                            </a:rPr>
                            <m:t>−</m:t>
                          </m:r>
                          <m:r>
                            <m:rPr>
                              <m:sty m:val="p"/>
                            </m:rPr>
                            <a:rPr lang="en-US" altLang="zh-TW" sz="1900">
                              <a:latin typeface="Cambria Math" panose="02040503050406030204" pitchFamily="18" charset="0"/>
                            </a:rPr>
                            <m:t>x</m:t>
                          </m:r>
                        </m:sup>
                      </m:sSup>
                      <m:r>
                        <a:rPr lang="en-US" altLang="zh-TW" sz="1900">
                          <a:latin typeface="Cambria Math" panose="02040503050406030204" pitchFamily="18" charset="0"/>
                        </a:rPr>
                        <m:t>,</m:t>
                      </m:r>
                    </m:oMath>
                  </m:oMathPara>
                </a14:m>
                <a:endParaRPr lang="en-US" altLang="zh-TW" sz="1900" dirty="0">
                  <a:latin typeface="微軟正黑體" panose="020B0604030504040204" pitchFamily="34" charset="-120"/>
                  <a:ea typeface="微軟正黑體" panose="020B0604030504040204" pitchFamily="34" charset="-120"/>
                </a:endParaRPr>
              </a:p>
              <a:p>
                <a:pPr marL="0" indent="0">
                  <a:buNone/>
                </a:pPr>
                <a:r>
                  <a:rPr lang="zh-TW" altLang="zh-TW" sz="2100" dirty="0">
                    <a:latin typeface="微軟正黑體" panose="020B0604030504040204" pitchFamily="34" charset="-120"/>
                    <a:ea typeface="微軟正黑體" panose="020B0604030504040204" pitchFamily="34" charset="-120"/>
                  </a:rPr>
                  <a:t>稱為二項式分配</a:t>
                </a:r>
                <a:r>
                  <a:rPr lang="en-US" altLang="zh-TW" sz="2100" dirty="0">
                    <a:latin typeface="微軟正黑體" panose="020B0604030504040204" pitchFamily="34" charset="-120"/>
                    <a:ea typeface="微軟正黑體" panose="020B0604030504040204" pitchFamily="34" charset="-120"/>
                  </a:rPr>
                  <a:t>(binomial distribution)</a:t>
                </a:r>
                <a:r>
                  <a:rPr lang="zh-TW" altLang="zh-TW" sz="2100" dirty="0">
                    <a:latin typeface="微軟正黑體" panose="020B0604030504040204" pitchFamily="34" charset="-120"/>
                    <a:ea typeface="微軟正黑體" panose="020B0604030504040204" pitchFamily="34" charset="-120"/>
                  </a:rPr>
                  <a:t> 。</a:t>
                </a:r>
                <a:endParaRPr lang="en-US" altLang="zh-TW" sz="2100" dirty="0">
                  <a:latin typeface="微軟正黑體" panose="020B0604030504040204" pitchFamily="34" charset="-120"/>
                  <a:ea typeface="微軟正黑體" panose="020B0604030504040204" pitchFamily="34" charset="-120"/>
                </a:endParaRPr>
              </a:p>
              <a:p>
                <a:pPr>
                  <a:spcBef>
                    <a:spcPts val="1200"/>
                  </a:spcBef>
                </a:pPr>
                <a:r>
                  <a:rPr lang="zh-TW" altLang="zh-TW" sz="2100" dirty="0">
                    <a:latin typeface="微軟正黑體" panose="020B0604030504040204" pitchFamily="34" charset="-120"/>
                    <a:ea typeface="微軟正黑體" panose="020B0604030504040204" pitchFamily="34" charset="-120"/>
                  </a:rPr>
                  <a:t>此函數稱為</a:t>
                </a:r>
                <a:r>
                  <a:rPr lang="zh-TW" altLang="zh-TW" sz="2100" b="1" dirty="0">
                    <a:latin typeface="微軟正黑體" panose="020B0604030504040204" pitchFamily="34" charset="-120"/>
                    <a:ea typeface="微軟正黑體" panose="020B0604030504040204" pitchFamily="34" charset="-120"/>
                  </a:rPr>
                  <a:t>機率質量函數</a:t>
                </a:r>
                <a:r>
                  <a:rPr lang="en-US" altLang="zh-TW" sz="2100" dirty="0">
                    <a:latin typeface="微軟正黑體" panose="020B0604030504040204" pitchFamily="34" charset="-120"/>
                    <a:ea typeface="微軟正黑體" panose="020B0604030504040204" pitchFamily="34" charset="-120"/>
                  </a:rPr>
                  <a:t>(probability mass function)</a:t>
                </a:r>
                <a:r>
                  <a:rPr lang="zh-TW" altLang="zh-TW" sz="2100" dirty="0">
                    <a:latin typeface="微軟正黑體" panose="020B0604030504040204" pitchFamily="34" charset="-120"/>
                    <a:ea typeface="微軟正黑體" panose="020B0604030504040204" pitchFamily="34" charset="-120"/>
                  </a:rPr>
                  <a:t>。</a:t>
                </a:r>
                <a:endParaRPr lang="en-US" altLang="zh-TW" sz="2100" dirty="0">
                  <a:latin typeface="微軟正黑體" panose="020B0604030504040204" pitchFamily="34" charset="-120"/>
                  <a:ea typeface="微軟正黑體" panose="020B0604030504040204" pitchFamily="34" charset="-120"/>
                </a:endParaRPr>
              </a:p>
              <a:p>
                <a:pPr>
                  <a:spcBef>
                    <a:spcPts val="1200"/>
                  </a:spcBef>
                </a:pPr>
                <a:r>
                  <a:rPr lang="zh-TW" altLang="en-US" sz="2100" dirty="0">
                    <a:latin typeface="微軟正黑體" panose="020B0604030504040204" pitchFamily="34" charset="-120"/>
                    <a:ea typeface="微軟正黑體" panose="020B0604030504040204" pitchFamily="34" charset="-120"/>
                  </a:rPr>
                  <a:t>上例中，男生出現次數為</a:t>
                </a:r>
                <a:r>
                  <a:rPr lang="en-US" altLang="zh-TW" sz="2100" dirty="0">
                    <a:latin typeface="微軟正黑體" panose="020B0604030504040204" pitchFamily="34" charset="-120"/>
                    <a:ea typeface="微軟正黑體" panose="020B0604030504040204" pitchFamily="34" charset="-120"/>
                  </a:rPr>
                  <a:t>0</a:t>
                </a:r>
                <a:r>
                  <a:rPr lang="zh-TW" altLang="en-US" sz="2100" dirty="0">
                    <a:latin typeface="微軟正黑體" panose="020B0604030504040204" pitchFamily="34" charset="-120"/>
                    <a:ea typeface="微軟正黑體" panose="020B0604030504040204" pitchFamily="34" charset="-120"/>
                  </a:rPr>
                  <a:t>的機率為</a:t>
                </a:r>
                <a14:m>
                  <m:oMath xmlns:m="http://schemas.openxmlformats.org/officeDocument/2006/math">
                    <m:d>
                      <m:dPr>
                        <m:ctrlPr>
                          <a:rPr lang="en-US" altLang="zh-TW" sz="2100" i="1">
                            <a:latin typeface="Cambria Math" panose="02040503050406030204" pitchFamily="18" charset="0"/>
                          </a:rPr>
                        </m:ctrlPr>
                      </m:dPr>
                      <m:e>
                        <m:eqArr>
                          <m:eqArrPr>
                            <m:ctrlPr>
                              <a:rPr lang="en-US" altLang="zh-TW" sz="2100" b="0" i="1" smtClean="0">
                                <a:latin typeface="Cambria Math" panose="02040503050406030204" pitchFamily="18" charset="0"/>
                              </a:rPr>
                            </m:ctrlPr>
                          </m:eqArrPr>
                          <m:e>
                            <m:r>
                              <a:rPr lang="en-US" altLang="zh-TW" sz="2100" b="0" i="1" smtClean="0">
                                <a:latin typeface="Cambria Math" panose="02040503050406030204" pitchFamily="18" charset="0"/>
                              </a:rPr>
                              <m:t>5</m:t>
                            </m:r>
                          </m:e>
                          <m:e>
                            <m:r>
                              <a:rPr lang="en-US" altLang="zh-TW" sz="2100" b="0" i="1" smtClean="0">
                                <a:latin typeface="Cambria Math" panose="02040503050406030204" pitchFamily="18" charset="0"/>
                              </a:rPr>
                              <m:t>0</m:t>
                            </m:r>
                          </m:e>
                        </m:eqArr>
                      </m:e>
                    </m:d>
                    <m:sSup>
                      <m:sSupPr>
                        <m:ctrlPr>
                          <a:rPr lang="zh-TW" altLang="zh-TW" sz="2100" i="1">
                            <a:latin typeface="Cambria Math" panose="02040503050406030204" pitchFamily="18" charset="0"/>
                          </a:rPr>
                        </m:ctrlPr>
                      </m:sSupPr>
                      <m:e>
                        <m:r>
                          <a:rPr lang="en-US" altLang="zh-TW" sz="2100" b="0" i="1" smtClean="0">
                            <a:latin typeface="Cambria Math" panose="02040503050406030204" pitchFamily="18" charset="0"/>
                          </a:rPr>
                          <m:t>0.5</m:t>
                        </m:r>
                      </m:e>
                      <m:sup>
                        <m:r>
                          <a:rPr lang="en-US" altLang="zh-TW" sz="2100" b="0" i="0" smtClean="0">
                            <a:latin typeface="Cambria Math" panose="02040503050406030204" pitchFamily="18" charset="0"/>
                          </a:rPr>
                          <m:t>0</m:t>
                        </m:r>
                      </m:sup>
                    </m:sSup>
                    <m:sSup>
                      <m:sSupPr>
                        <m:ctrlPr>
                          <a:rPr lang="zh-TW" altLang="zh-TW" sz="2100" i="1">
                            <a:latin typeface="Cambria Math" panose="02040503050406030204" pitchFamily="18" charset="0"/>
                          </a:rPr>
                        </m:ctrlPr>
                      </m:sSupPr>
                      <m:e>
                        <m:d>
                          <m:dPr>
                            <m:ctrlPr>
                              <a:rPr lang="zh-TW" altLang="zh-TW" sz="2100" i="1">
                                <a:latin typeface="Cambria Math" panose="02040503050406030204" pitchFamily="18" charset="0"/>
                              </a:rPr>
                            </m:ctrlPr>
                          </m:dPr>
                          <m:e>
                            <m:r>
                              <a:rPr lang="en-US" altLang="zh-TW" sz="2100" i="1">
                                <a:latin typeface="Cambria Math" panose="02040503050406030204" pitchFamily="18" charset="0"/>
                              </a:rPr>
                              <m:t>1−</m:t>
                            </m:r>
                            <m:r>
                              <a:rPr lang="en-US" altLang="zh-TW" sz="2100" b="0" i="1" smtClean="0">
                                <a:latin typeface="Cambria Math" panose="02040503050406030204" pitchFamily="18" charset="0"/>
                              </a:rPr>
                              <m:t>0.5</m:t>
                            </m:r>
                          </m:e>
                        </m:d>
                      </m:e>
                      <m:sup>
                        <m:r>
                          <a:rPr lang="en-US" altLang="zh-TW" sz="2100" b="0" i="1" smtClean="0">
                            <a:latin typeface="Cambria Math" panose="02040503050406030204" pitchFamily="18" charset="0"/>
                          </a:rPr>
                          <m:t>5</m:t>
                        </m:r>
                        <m:r>
                          <a:rPr lang="en-US" altLang="zh-TW" sz="2100" i="1">
                            <a:latin typeface="Cambria Math" panose="02040503050406030204" pitchFamily="18" charset="0"/>
                          </a:rPr>
                          <m:t>−</m:t>
                        </m:r>
                        <m:r>
                          <a:rPr lang="en-US" altLang="zh-TW" sz="2100" b="0" i="0" smtClean="0">
                            <a:latin typeface="Cambria Math" panose="02040503050406030204" pitchFamily="18" charset="0"/>
                          </a:rPr>
                          <m:t>0</m:t>
                        </m:r>
                      </m:sup>
                    </m:sSup>
                  </m:oMath>
                </a14:m>
                <a:endParaRPr lang="en-US" altLang="zh-TW" sz="2100" dirty="0">
                  <a:latin typeface="微軟正黑體" panose="020B0604030504040204" pitchFamily="34" charset="-120"/>
                  <a:ea typeface="微軟正黑體" panose="020B0604030504040204" pitchFamily="34" charset="-120"/>
                </a:endParaRPr>
              </a:p>
              <a:p>
                <a:pPr>
                  <a:spcBef>
                    <a:spcPts val="1200"/>
                  </a:spcBef>
                </a:pPr>
                <a:r>
                  <a:rPr lang="zh-TW" altLang="en-US" sz="2100" dirty="0">
                    <a:latin typeface="微軟正黑體" panose="020B0604030504040204" pitchFamily="34" charset="-120"/>
                    <a:ea typeface="微軟正黑體" panose="020B0604030504040204" pitchFamily="34" charset="-120"/>
                  </a:rPr>
                  <a:t>男生出現次數為</a:t>
                </a:r>
                <a:r>
                  <a:rPr lang="en-US" altLang="zh-TW" sz="2100" dirty="0">
                    <a:latin typeface="微軟正黑體" panose="020B0604030504040204" pitchFamily="34" charset="-120"/>
                    <a:ea typeface="微軟正黑體" panose="020B0604030504040204" pitchFamily="34" charset="-120"/>
                  </a:rPr>
                  <a:t>1</a:t>
                </a:r>
                <a:r>
                  <a:rPr lang="zh-TW" altLang="en-US" sz="2100" dirty="0">
                    <a:latin typeface="微軟正黑體" panose="020B0604030504040204" pitchFamily="34" charset="-120"/>
                    <a:ea typeface="微軟正黑體" panose="020B0604030504040204" pitchFamily="34" charset="-120"/>
                  </a:rPr>
                  <a:t>次的機率為</a:t>
                </a:r>
                <a14:m>
                  <m:oMath xmlns:m="http://schemas.openxmlformats.org/officeDocument/2006/math">
                    <m:d>
                      <m:dPr>
                        <m:ctrlPr>
                          <a:rPr lang="en-US" altLang="zh-TW" sz="2100" i="1">
                            <a:latin typeface="Cambria Math" panose="02040503050406030204" pitchFamily="18" charset="0"/>
                          </a:rPr>
                        </m:ctrlPr>
                      </m:dPr>
                      <m:e>
                        <m:eqArr>
                          <m:eqArrPr>
                            <m:ctrlPr>
                              <a:rPr lang="en-US" altLang="zh-TW" sz="2100" i="1">
                                <a:latin typeface="Cambria Math" panose="02040503050406030204" pitchFamily="18" charset="0"/>
                              </a:rPr>
                            </m:ctrlPr>
                          </m:eqArrPr>
                          <m:e>
                            <m:r>
                              <a:rPr lang="en-US" altLang="zh-TW" sz="2100" i="1">
                                <a:latin typeface="Cambria Math" panose="02040503050406030204" pitchFamily="18" charset="0"/>
                              </a:rPr>
                              <m:t>5</m:t>
                            </m:r>
                          </m:e>
                          <m:e>
                            <m:r>
                              <a:rPr lang="en-US" altLang="zh-TW" sz="2100" b="0" i="1" smtClean="0">
                                <a:latin typeface="Cambria Math" panose="02040503050406030204" pitchFamily="18" charset="0"/>
                              </a:rPr>
                              <m:t>1</m:t>
                            </m:r>
                          </m:e>
                        </m:eqArr>
                      </m:e>
                    </m:d>
                    <m:sSup>
                      <m:sSupPr>
                        <m:ctrlPr>
                          <a:rPr lang="zh-TW" altLang="zh-TW" sz="2100" i="1">
                            <a:latin typeface="Cambria Math" panose="02040503050406030204" pitchFamily="18" charset="0"/>
                          </a:rPr>
                        </m:ctrlPr>
                      </m:sSupPr>
                      <m:e>
                        <m:r>
                          <a:rPr lang="en-US" altLang="zh-TW" sz="2100" i="1">
                            <a:latin typeface="Cambria Math" panose="02040503050406030204" pitchFamily="18" charset="0"/>
                          </a:rPr>
                          <m:t>0.5</m:t>
                        </m:r>
                      </m:e>
                      <m:sup>
                        <m:r>
                          <a:rPr lang="en-US" altLang="zh-TW" sz="2100" b="0" i="0" smtClean="0">
                            <a:latin typeface="Cambria Math" panose="02040503050406030204" pitchFamily="18" charset="0"/>
                          </a:rPr>
                          <m:t>1</m:t>
                        </m:r>
                      </m:sup>
                    </m:sSup>
                    <m:sSup>
                      <m:sSupPr>
                        <m:ctrlPr>
                          <a:rPr lang="zh-TW" altLang="zh-TW" sz="2100" i="1">
                            <a:latin typeface="Cambria Math" panose="02040503050406030204" pitchFamily="18" charset="0"/>
                          </a:rPr>
                        </m:ctrlPr>
                      </m:sSupPr>
                      <m:e>
                        <m:d>
                          <m:dPr>
                            <m:ctrlPr>
                              <a:rPr lang="zh-TW" altLang="zh-TW" sz="2100" i="1">
                                <a:latin typeface="Cambria Math" panose="02040503050406030204" pitchFamily="18" charset="0"/>
                              </a:rPr>
                            </m:ctrlPr>
                          </m:dPr>
                          <m:e>
                            <m:r>
                              <a:rPr lang="en-US" altLang="zh-TW" sz="2100" i="1">
                                <a:latin typeface="Cambria Math" panose="02040503050406030204" pitchFamily="18" charset="0"/>
                              </a:rPr>
                              <m:t>1−0.5</m:t>
                            </m:r>
                          </m:e>
                        </m:d>
                      </m:e>
                      <m:sup>
                        <m:r>
                          <a:rPr lang="en-US" altLang="zh-TW" sz="2100" i="1">
                            <a:latin typeface="Cambria Math" panose="02040503050406030204" pitchFamily="18" charset="0"/>
                          </a:rPr>
                          <m:t>5−</m:t>
                        </m:r>
                        <m:r>
                          <a:rPr lang="en-US" altLang="zh-TW" sz="2100" b="0" i="0" smtClean="0">
                            <a:latin typeface="Cambria Math" panose="02040503050406030204" pitchFamily="18" charset="0"/>
                          </a:rPr>
                          <m:t>1</m:t>
                        </m:r>
                      </m:sup>
                    </m:sSup>
                  </m:oMath>
                </a14:m>
                <a:endParaRPr lang="en-US" altLang="zh-TW" sz="2100" dirty="0">
                  <a:latin typeface="微軟正黑體" panose="020B0604030504040204" pitchFamily="34" charset="-120"/>
                  <a:ea typeface="微軟正黑體" panose="020B0604030504040204" pitchFamily="34" charset="-120"/>
                </a:endParaRPr>
              </a:p>
              <a:p>
                <a:pPr>
                  <a:spcBef>
                    <a:spcPts val="1200"/>
                  </a:spcBef>
                </a:pPr>
                <a:r>
                  <a:rPr lang="zh-TW" altLang="en-US" sz="2100" dirty="0">
                    <a:latin typeface="微軟正黑體" panose="020B0604030504040204" pitchFamily="34" charset="-120"/>
                    <a:ea typeface="微軟正黑體" panose="020B0604030504040204" pitchFamily="34" charset="-120"/>
                  </a:rPr>
                  <a:t>男生出現次數為</a:t>
                </a:r>
                <a:r>
                  <a:rPr lang="en-US" altLang="zh-TW" sz="2100" dirty="0">
                    <a:latin typeface="微軟正黑體" panose="020B0604030504040204" pitchFamily="34" charset="-120"/>
                    <a:ea typeface="微軟正黑體" panose="020B0604030504040204" pitchFamily="34" charset="-120"/>
                  </a:rPr>
                  <a:t>2</a:t>
                </a:r>
                <a:r>
                  <a:rPr lang="zh-TW" altLang="en-US" sz="2100" dirty="0">
                    <a:latin typeface="微軟正黑體" panose="020B0604030504040204" pitchFamily="34" charset="-120"/>
                    <a:ea typeface="微軟正黑體" panose="020B0604030504040204" pitchFamily="34" charset="-120"/>
                  </a:rPr>
                  <a:t>的機率為</a:t>
                </a:r>
                <a14:m>
                  <m:oMath xmlns:m="http://schemas.openxmlformats.org/officeDocument/2006/math">
                    <m:d>
                      <m:dPr>
                        <m:ctrlPr>
                          <a:rPr lang="en-US" altLang="zh-TW" sz="2100" i="1">
                            <a:latin typeface="Cambria Math" panose="02040503050406030204" pitchFamily="18" charset="0"/>
                          </a:rPr>
                        </m:ctrlPr>
                      </m:dPr>
                      <m:e>
                        <m:eqArr>
                          <m:eqArrPr>
                            <m:ctrlPr>
                              <a:rPr lang="en-US" altLang="zh-TW" sz="2100" i="1">
                                <a:latin typeface="Cambria Math" panose="02040503050406030204" pitchFamily="18" charset="0"/>
                              </a:rPr>
                            </m:ctrlPr>
                          </m:eqArrPr>
                          <m:e>
                            <m:r>
                              <a:rPr lang="en-US" altLang="zh-TW" sz="2100" i="1">
                                <a:latin typeface="Cambria Math" panose="02040503050406030204" pitchFamily="18" charset="0"/>
                              </a:rPr>
                              <m:t>5</m:t>
                            </m:r>
                          </m:e>
                          <m:e>
                            <m:r>
                              <a:rPr lang="en-US" altLang="zh-TW" sz="2100" b="0" i="1" smtClean="0">
                                <a:latin typeface="Cambria Math" panose="02040503050406030204" pitchFamily="18" charset="0"/>
                              </a:rPr>
                              <m:t>2</m:t>
                            </m:r>
                          </m:e>
                        </m:eqArr>
                      </m:e>
                    </m:d>
                    <m:sSup>
                      <m:sSupPr>
                        <m:ctrlPr>
                          <a:rPr lang="zh-TW" altLang="zh-TW" sz="2100" i="1">
                            <a:latin typeface="Cambria Math" panose="02040503050406030204" pitchFamily="18" charset="0"/>
                          </a:rPr>
                        </m:ctrlPr>
                      </m:sSupPr>
                      <m:e>
                        <m:r>
                          <a:rPr lang="en-US" altLang="zh-TW" sz="2100" i="1">
                            <a:latin typeface="Cambria Math" panose="02040503050406030204" pitchFamily="18" charset="0"/>
                          </a:rPr>
                          <m:t>0.5</m:t>
                        </m:r>
                      </m:e>
                      <m:sup>
                        <m:r>
                          <a:rPr lang="en-US" altLang="zh-TW" sz="2100" b="0" i="0" smtClean="0">
                            <a:latin typeface="Cambria Math" panose="02040503050406030204" pitchFamily="18" charset="0"/>
                          </a:rPr>
                          <m:t>2</m:t>
                        </m:r>
                      </m:sup>
                    </m:sSup>
                    <m:sSup>
                      <m:sSupPr>
                        <m:ctrlPr>
                          <a:rPr lang="zh-TW" altLang="zh-TW" sz="2100" i="1" smtClean="0">
                            <a:latin typeface="Cambria Math" panose="02040503050406030204" pitchFamily="18" charset="0"/>
                          </a:rPr>
                        </m:ctrlPr>
                      </m:sSupPr>
                      <m:e>
                        <m:d>
                          <m:dPr>
                            <m:ctrlPr>
                              <a:rPr lang="zh-TW" altLang="zh-TW" sz="2100" i="1">
                                <a:latin typeface="Cambria Math" panose="02040503050406030204" pitchFamily="18" charset="0"/>
                              </a:rPr>
                            </m:ctrlPr>
                          </m:dPr>
                          <m:e>
                            <m:r>
                              <a:rPr lang="en-US" altLang="zh-TW" sz="2100" i="1">
                                <a:latin typeface="Cambria Math" panose="02040503050406030204" pitchFamily="18" charset="0"/>
                              </a:rPr>
                              <m:t>1−0.5</m:t>
                            </m:r>
                          </m:e>
                        </m:d>
                      </m:e>
                      <m:sup>
                        <m:r>
                          <a:rPr lang="en-US" altLang="zh-TW" sz="2100" i="1">
                            <a:latin typeface="Cambria Math" panose="02040503050406030204" pitchFamily="18" charset="0"/>
                          </a:rPr>
                          <m:t>5−</m:t>
                        </m:r>
                        <m:r>
                          <a:rPr lang="en-US" altLang="zh-TW" sz="2100" b="0" i="1" smtClean="0">
                            <a:latin typeface="Cambria Math" panose="02040503050406030204" pitchFamily="18" charset="0"/>
                          </a:rPr>
                          <m:t>2</m:t>
                        </m:r>
                      </m:sup>
                    </m:sSup>
                  </m:oMath>
                </a14:m>
                <a:endParaRPr lang="en-US" altLang="zh-TW" sz="2400" dirty="0">
                  <a:latin typeface="微軟正黑體" panose="020B0604030504040204" pitchFamily="34" charset="-120"/>
                  <a:ea typeface="微軟正黑體" panose="020B0604030504040204" pitchFamily="34" charset="-120"/>
                </a:endParaRPr>
              </a:p>
              <a:p>
                <a:pPr>
                  <a:spcBef>
                    <a:spcPts val="1200"/>
                  </a:spcBef>
                </a:pPr>
                <a:r>
                  <a:rPr lang="zh-TW" altLang="en-US" sz="2400" dirty="0">
                    <a:latin typeface="微軟正黑體" panose="020B0604030504040204" pitchFamily="34" charset="-120"/>
                    <a:ea typeface="微軟正黑體" panose="020B0604030504040204" pitchFamily="34" charset="-120"/>
                  </a:rPr>
                  <a:t>二項式分布查表</a:t>
                </a:r>
                <a:r>
                  <a:rPr lang="en-US" altLang="zh-TW"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 </a:t>
                </a:r>
                <a:r>
                  <a:rPr lang="en-US" altLang="zh-TW" sz="1800" dirty="0">
                    <a:latin typeface="微軟正黑體" panose="020B0604030504040204" pitchFamily="34" charset="-120"/>
                    <a:ea typeface="微軟正黑體" panose="020B0604030504040204" pitchFamily="34" charset="-120"/>
                  </a:rPr>
                  <a:t>https://homepage.divms.uiowa.edu/~mbognar/applets/bin.html</a:t>
                </a:r>
                <a:endParaRPr lang="zh-TW" altLang="en-US" sz="2400" dirty="0">
                  <a:latin typeface="微軟正黑體" panose="020B0604030504040204" pitchFamily="34" charset="-120"/>
                  <a:ea typeface="微軟正黑體" panose="020B0604030504040204" pitchFamily="34" charset="-120"/>
                </a:endParaRPr>
              </a:p>
            </p:txBody>
          </p:sp>
        </mc:Choice>
        <mc:Fallback>
          <p:sp>
            <p:nvSpPr>
              <p:cNvPr id="3" name="內容版面配置區 2"/>
              <p:cNvSpPr>
                <a:spLocks noGrp="1" noRot="1" noChangeAspect="1" noMove="1" noResize="1" noEditPoints="1" noAdjustHandles="1" noChangeArrowheads="1" noChangeShapeType="1" noTextEdit="1"/>
              </p:cNvSpPr>
              <p:nvPr>
                <p:ph sz="quarter" idx="13"/>
              </p:nvPr>
            </p:nvSpPr>
            <p:spPr>
              <a:xfrm>
                <a:off x="245912" y="907923"/>
                <a:ext cx="8367034" cy="5008604"/>
              </a:xfrm>
              <a:blipFill>
                <a:blip r:embed="rId2"/>
                <a:stretch>
                  <a:fillRect l="-1675" t="-1946"/>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E2A80D49-6E30-4745-93AC-9D9D7F079020}" type="slidenum">
              <a:rPr lang="zh-TW" altLang="en-US" smtClean="0"/>
              <a:pPr/>
              <a:t>12</a:t>
            </a:fld>
            <a:endParaRPr lang="zh-TW" altLang="en-US"/>
          </a:p>
        </p:txBody>
      </p:sp>
    </p:spTree>
    <p:extLst>
      <p:ext uri="{BB962C8B-B14F-4D97-AF65-F5344CB8AC3E}">
        <p14:creationId xmlns:p14="http://schemas.microsoft.com/office/powerpoint/2010/main" val="559609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17744" y="439395"/>
            <a:ext cx="8231029" cy="903373"/>
          </a:xfrm>
        </p:spPr>
        <p:txBody>
          <a:bodyPr/>
          <a:lstStyle/>
          <a:p>
            <a:r>
              <a:rPr lang="zh-TW" altLang="en-US" dirty="0">
                <a:latin typeface="微軟正黑體" panose="020B0604030504040204" pitchFamily="34" charset="-120"/>
                <a:ea typeface="微軟正黑體" panose="020B0604030504040204" pitchFamily="34" charset="-120"/>
              </a:rPr>
              <a:t>參數</a:t>
            </a:r>
            <a:r>
              <a:rPr lang="en-US" altLang="zh-TW" dirty="0">
                <a:latin typeface="微軟正黑體" panose="020B0604030504040204" pitchFamily="34" charset="-120"/>
                <a:ea typeface="微軟正黑體" panose="020B0604030504040204" pitchFamily="34" charset="-120"/>
              </a:rPr>
              <a:t>(parameter)</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212512" y="711172"/>
            <a:ext cx="8641492" cy="4942701"/>
          </a:xfrm>
        </p:spPr>
        <p:txBody>
          <a:bodyPr>
            <a:normAutofit/>
          </a:bodyPr>
          <a:lstStyle/>
          <a:p>
            <a:pPr>
              <a:lnSpc>
                <a:spcPct val="130000"/>
              </a:lnSpc>
            </a:pPr>
            <a:r>
              <a:rPr lang="zh-TW" altLang="zh-TW" dirty="0">
                <a:latin typeface="微軟正黑體" panose="020B0604030504040204" pitchFamily="34" charset="-120"/>
                <a:ea typeface="微軟正黑體" panose="020B0604030504040204" pitchFamily="34" charset="-120"/>
              </a:rPr>
              <a:t>在統計學上稱</a:t>
            </a:r>
            <a:r>
              <a:rPr lang="en-US" altLang="zh-TW" dirty="0">
                <a:latin typeface="微軟正黑體" panose="020B0604030504040204" pitchFamily="34" charset="-120"/>
                <a:ea typeface="微軟正黑體" panose="020B0604030504040204" pitchFamily="34" charset="-120"/>
              </a:rPr>
              <a:t>n</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為二項式分配的參數</a:t>
            </a:r>
            <a:r>
              <a:rPr lang="en-US" altLang="zh-TW" dirty="0">
                <a:latin typeface="微軟正黑體" panose="020B0604030504040204" pitchFamily="34" charset="-120"/>
                <a:ea typeface="微軟正黑體" panose="020B0604030504040204" pitchFamily="34" charset="-120"/>
              </a:rPr>
              <a:t>(parameter)</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30000"/>
              </a:lnSpc>
            </a:pPr>
            <a:r>
              <a:rPr lang="zh-TW" altLang="zh-TW" dirty="0">
                <a:latin typeface="微軟正黑體" panose="020B0604030504040204" pitchFamily="34" charset="-120"/>
                <a:ea typeface="微軟正黑體" panose="020B0604030504040204" pitchFamily="34" charset="-120"/>
              </a:rPr>
              <a:t>實際上通常</a:t>
            </a:r>
            <a:r>
              <a:rPr lang="en-US" altLang="zh-TW" dirty="0">
                <a:latin typeface="微軟正黑體" panose="020B0604030504040204" pitchFamily="34" charset="-120"/>
                <a:ea typeface="微軟正黑體" panose="020B0604030504040204" pitchFamily="34" charset="-120"/>
              </a:rPr>
              <a:t>n</a:t>
            </a:r>
            <a:r>
              <a:rPr lang="zh-TW" altLang="zh-TW" dirty="0">
                <a:latin typeface="微軟正黑體" panose="020B0604030504040204" pitchFamily="34" charset="-120"/>
                <a:ea typeface="微軟正黑體" panose="020B0604030504040204" pitchFamily="34" charset="-120"/>
              </a:rPr>
              <a:t>是已知</a:t>
            </a:r>
            <a:r>
              <a:rPr lang="en-US" altLang="zh-TW" dirty="0">
                <a:latin typeface="微軟正黑體" panose="020B0604030504040204" pitchFamily="34" charset="-120"/>
                <a:ea typeface="微軟正黑體" panose="020B0604030504040204" pitchFamily="34" charset="-120"/>
              </a:rPr>
              <a:t>(known)</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是未知的</a:t>
            </a:r>
            <a:r>
              <a:rPr lang="en-US" altLang="zh-TW" dirty="0">
                <a:latin typeface="微軟正黑體" panose="020B0604030504040204" pitchFamily="34" charset="-120"/>
                <a:ea typeface="微軟正黑體" panose="020B0604030504040204" pitchFamily="34" charset="-120"/>
              </a:rPr>
              <a:t>(unknown)</a:t>
            </a:r>
            <a:r>
              <a:rPr lang="zh-TW" altLang="zh-TW" dirty="0">
                <a:latin typeface="微軟正黑體" panose="020B0604030504040204" pitchFamily="34" charset="-120"/>
                <a:ea typeface="微軟正黑體" panose="020B0604030504040204" pitchFamily="34" charset="-120"/>
              </a:rPr>
              <a:t>，會藉由資料的收集來推估有興趣的參數</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30000"/>
              </a:lnSpc>
            </a:pPr>
            <a:r>
              <a:rPr lang="zh-TW" altLang="zh-TW" dirty="0">
                <a:latin typeface="微軟正黑體" panose="020B0604030504040204" pitchFamily="34" charset="-120"/>
                <a:ea typeface="微軟正黑體" panose="020B0604030504040204" pitchFamily="34" charset="-120"/>
              </a:rPr>
              <a:t>在前一章已經介紹平均數和變異數會搭配在一起以表達資料的集中趨勢和資料間分散差異的程度，不同的</a:t>
            </a:r>
            <a:r>
              <a:rPr lang="zh-TW" altLang="zh-TW" u="sng" dirty="0">
                <a:latin typeface="微軟正黑體" panose="020B0604030504040204" pitchFamily="34" charset="-120"/>
                <a:ea typeface="微軟正黑體" panose="020B0604030504040204" pitchFamily="34" charset="-120"/>
              </a:rPr>
              <a:t>機率分配</a:t>
            </a:r>
            <a:r>
              <a:rPr lang="zh-TW" altLang="zh-TW" dirty="0">
                <a:latin typeface="微軟正黑體" panose="020B0604030504040204" pitchFamily="34" charset="-120"/>
                <a:ea typeface="微軟正黑體" panose="020B0604030504040204" pitchFamily="34" charset="-120"/>
              </a:rPr>
              <a:t>也可以利用平均值（</a:t>
            </a:r>
            <a:r>
              <a:rPr lang="en-US" altLang="zh-TW" dirty="0">
                <a:latin typeface="微軟正黑體" panose="020B0604030504040204" pitchFamily="34" charset="-120"/>
                <a:ea typeface="微軟正黑體" panose="020B0604030504040204" pitchFamily="34" charset="-120"/>
              </a:rPr>
              <a:t>mean</a:t>
            </a:r>
            <a:r>
              <a:rPr lang="zh-TW" altLang="zh-TW" dirty="0">
                <a:latin typeface="微軟正黑體" panose="020B0604030504040204" pitchFamily="34" charset="-120"/>
                <a:ea typeface="微軟正黑體" panose="020B0604030504040204" pitchFamily="34" charset="-120"/>
              </a:rPr>
              <a:t>）和變異數（</a:t>
            </a:r>
            <a:r>
              <a:rPr lang="en-US" altLang="zh-TW" dirty="0">
                <a:latin typeface="微軟正黑體" panose="020B0604030504040204" pitchFamily="34" charset="-120"/>
                <a:ea typeface="微軟正黑體" panose="020B0604030504040204" pitchFamily="34" charset="-120"/>
              </a:rPr>
              <a:t>variance</a:t>
            </a:r>
            <a:r>
              <a:rPr lang="zh-TW" altLang="zh-TW" dirty="0">
                <a:latin typeface="微軟正黑體" panose="020B0604030504040204" pitchFamily="34" charset="-120"/>
                <a:ea typeface="微軟正黑體" panose="020B0604030504040204" pitchFamily="34" charset="-120"/>
              </a:rPr>
              <a:t>）來表達同樣的特徵</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E2A80D49-6E30-4745-93AC-9D9D7F079020}" type="slidenum">
              <a:rPr lang="zh-TW" altLang="en-US" smtClean="0"/>
              <a:pPr/>
              <a:t>13</a:t>
            </a:fld>
            <a:endParaRPr lang="zh-TW" altLang="en-US"/>
          </a:p>
        </p:txBody>
      </p:sp>
    </p:spTree>
    <p:extLst>
      <p:ext uri="{BB962C8B-B14F-4D97-AF65-F5344CB8AC3E}">
        <p14:creationId xmlns:p14="http://schemas.microsoft.com/office/powerpoint/2010/main" val="3486101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81" y="0"/>
            <a:ext cx="8231029" cy="1143000"/>
          </a:xfrm>
        </p:spPr>
        <p:txBody>
          <a:bodyPr/>
          <a:lstStyle/>
          <a:p>
            <a:r>
              <a:rPr lang="zh-TW" altLang="en-US" dirty="0">
                <a:latin typeface="微軟正黑體" panose="020B0604030504040204" pitchFamily="34" charset="-120"/>
                <a:ea typeface="微軟正黑體" panose="020B0604030504040204" pitchFamily="34" charset="-120"/>
              </a:rPr>
              <a:t>參數</a:t>
            </a:r>
            <a:r>
              <a:rPr lang="en-US" altLang="zh-TW" dirty="0">
                <a:latin typeface="微軟正黑體" panose="020B0604030504040204" pitchFamily="34" charset="-120"/>
                <a:ea typeface="微軟正黑體" panose="020B0604030504040204" pitchFamily="34" charset="-120"/>
              </a:rPr>
              <a:t>(parameters)</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2" name="內容版面配置區 1"/>
              <p:cNvSpPr>
                <a:spLocks noGrp="1"/>
              </p:cNvSpPr>
              <p:nvPr>
                <p:ph sz="quarter" idx="13"/>
              </p:nvPr>
            </p:nvSpPr>
            <p:spPr>
              <a:xfrm>
                <a:off x="457281" y="1143000"/>
                <a:ext cx="8231029" cy="5264948"/>
              </a:xfrm>
            </p:spPr>
            <p:txBody>
              <a:bodyPr>
                <a:normAutofit/>
              </a:bodyPr>
              <a:lstStyle/>
              <a:p>
                <a:pPr>
                  <a:lnSpc>
                    <a:spcPct val="110000"/>
                  </a:lnSpc>
                </a:pPr>
                <a:r>
                  <a:rPr lang="zh-TW" altLang="zh-TW" sz="2400" dirty="0">
                    <a:latin typeface="微軟正黑體" panose="020B0604030504040204" pitchFamily="34" charset="-120"/>
                    <a:ea typeface="微軟正黑體" panose="020B0604030504040204" pitchFamily="34" charset="-120"/>
                  </a:rPr>
                  <a:t>二項式分配的</a:t>
                </a:r>
                <a:endParaRPr lang="en-US" altLang="zh-TW" sz="2400" dirty="0">
                  <a:latin typeface="微軟正黑體" panose="020B0604030504040204" pitchFamily="34" charset="-120"/>
                  <a:ea typeface="微軟正黑體" panose="020B0604030504040204" pitchFamily="34" charset="-120"/>
                </a:endParaRPr>
              </a:p>
              <a:p>
                <a:pPr>
                  <a:lnSpc>
                    <a:spcPct val="110000"/>
                  </a:lnSpc>
                </a:pPr>
                <a:r>
                  <a:rPr lang="zh-TW" altLang="zh-TW" sz="2400" b="1" dirty="0">
                    <a:latin typeface="微軟正黑體" panose="020B0604030504040204" pitchFamily="34" charset="-120"/>
                    <a:ea typeface="微軟正黑體" panose="020B0604030504040204" pitchFamily="34" charset="-120"/>
                  </a:rPr>
                  <a:t>平均值</a:t>
                </a:r>
                <a:r>
                  <a:rPr lang="zh-TW" altLang="zh-TW" sz="2400" dirty="0">
                    <a:latin typeface="微軟正黑體" panose="020B0604030504040204" pitchFamily="34" charset="-120"/>
                    <a:ea typeface="微軟正黑體" panose="020B0604030504040204" pitchFamily="34" charset="-120"/>
                  </a:rPr>
                  <a:t>為</a:t>
                </a:r>
                <a14:m>
                  <m:oMath xmlns:m="http://schemas.openxmlformats.org/officeDocument/2006/math">
                    <m:nary>
                      <m:naryPr>
                        <m:chr m:val="∑"/>
                        <m:ctrlPr>
                          <a:rPr lang="zh-TW" altLang="zh-TW" sz="2400" i="1">
                            <a:latin typeface="Cambria Math" panose="02040503050406030204" pitchFamily="18" charset="0"/>
                          </a:rPr>
                        </m:ctrlPr>
                      </m:naryPr>
                      <m:sub>
                        <m:r>
                          <a:rPr lang="en-US" altLang="zh-TW" sz="2400" i="1">
                            <a:latin typeface="Cambria Math" panose="02040503050406030204" pitchFamily="18" charset="0"/>
                          </a:rPr>
                          <m:t>𝑥</m:t>
                        </m:r>
                        <m:r>
                          <a:rPr lang="en-US" altLang="zh-TW" sz="2400" i="1">
                            <a:latin typeface="Cambria Math" panose="02040503050406030204" pitchFamily="18" charset="0"/>
                          </a:rPr>
                          <m:t>=0</m:t>
                        </m:r>
                      </m:sub>
                      <m:sup>
                        <m:r>
                          <a:rPr lang="en-US" altLang="zh-TW" sz="2400" i="1">
                            <a:latin typeface="Cambria Math" panose="02040503050406030204" pitchFamily="18" charset="0"/>
                          </a:rPr>
                          <m:t>𝑛</m:t>
                        </m:r>
                      </m:sup>
                      <m:e>
                        <m:r>
                          <a:rPr lang="en-US" altLang="zh-TW" sz="2400" i="1" smtClean="0">
                            <a:latin typeface="Cambria Math" panose="02040503050406030204" pitchFamily="18" charset="0"/>
                          </a:rPr>
                          <m:t>𝑥</m:t>
                        </m:r>
                        <m:r>
                          <a:rPr lang="en-US" altLang="zh-TW" sz="2400" i="1">
                            <a:latin typeface="Cambria Math" panose="02040503050406030204" pitchFamily="18" charset="0"/>
                          </a:rPr>
                          <m:t>𝑃</m:t>
                        </m:r>
                        <m:d>
                          <m:dPr>
                            <m:ctrlPr>
                              <a:rPr lang="zh-TW" altLang="zh-TW" sz="2400" i="1">
                                <a:latin typeface="Cambria Math" panose="02040503050406030204" pitchFamily="18" charset="0"/>
                              </a:rPr>
                            </m:ctrlPr>
                          </m:dPr>
                          <m:e>
                            <m:r>
                              <a:rPr lang="en-US" altLang="zh-TW" sz="2400" i="1">
                                <a:latin typeface="Cambria Math" panose="02040503050406030204" pitchFamily="18" charset="0"/>
                              </a:rPr>
                              <m:t>𝑋</m:t>
                            </m:r>
                            <m:r>
                              <a:rPr lang="en-US" altLang="zh-TW" sz="2400" i="1">
                                <a:latin typeface="Cambria Math" panose="02040503050406030204" pitchFamily="18" charset="0"/>
                              </a:rPr>
                              <m:t>=</m:t>
                            </m:r>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i="1">
                                <a:latin typeface="Cambria Math" panose="02040503050406030204" pitchFamily="18" charset="0"/>
                              </a:rPr>
                              <m:t>𝑝</m:t>
                            </m:r>
                          </m:e>
                        </m:d>
                      </m:e>
                    </m:nary>
                    <m:r>
                      <a:rPr lang="en-US" altLang="zh-TW" sz="2400" i="1">
                        <a:latin typeface="Cambria Math" panose="02040503050406030204" pitchFamily="18" charset="0"/>
                      </a:rPr>
                      <m:t>=</m:t>
                    </m:r>
                    <m:r>
                      <a:rPr lang="en-US" altLang="zh-TW" sz="2400" b="1" i="1">
                        <a:latin typeface="Cambria Math" panose="02040503050406030204" pitchFamily="18" charset="0"/>
                      </a:rPr>
                      <m:t>𝒏𝒑</m:t>
                    </m:r>
                    <m:r>
                      <a:rPr lang="zh-TW" altLang="en-US" sz="2400" i="1">
                        <a:latin typeface="Cambria Math" panose="02040503050406030204" pitchFamily="18" charset="0"/>
                      </a:rPr>
                      <m:t>；</m:t>
                    </m:r>
                  </m:oMath>
                </a14:m>
                <a:endParaRPr lang="en-US" altLang="zh-TW" sz="2400" dirty="0">
                  <a:latin typeface="微軟正黑體" panose="020B0604030504040204" pitchFamily="34" charset="-120"/>
                  <a:ea typeface="微軟正黑體" panose="020B0604030504040204" pitchFamily="34" charset="-120"/>
                </a:endParaRPr>
              </a:p>
              <a:p>
                <a:pPr>
                  <a:lnSpc>
                    <a:spcPct val="110000"/>
                  </a:lnSpc>
                </a:pPr>
                <a:r>
                  <a:rPr lang="zh-TW" altLang="zh-TW" sz="2400" b="1" dirty="0">
                    <a:latin typeface="微軟正黑體" panose="020B0604030504040204" pitchFamily="34" charset="-120"/>
                    <a:ea typeface="微軟正黑體" panose="020B0604030504040204" pitchFamily="34" charset="-120"/>
                  </a:rPr>
                  <a:t>變異數</a:t>
                </a:r>
                <a14:m>
                  <m:oMath xmlns:m="http://schemas.openxmlformats.org/officeDocument/2006/math">
                    <m:r>
                      <a:rPr lang="en-US" altLang="zh-TW" sz="2400" b="1" i="1" dirty="0">
                        <a:latin typeface="Cambria Math" panose="02040503050406030204" pitchFamily="18" charset="0"/>
                      </a:rPr>
                      <m:t>:</m:t>
                    </m:r>
                    <m:r>
                      <a:rPr lang="zh-TW" altLang="en-US" sz="2400" b="1" i="1" dirty="0" smtClean="0">
                        <a:latin typeface="Cambria Math" panose="02040503050406030204" pitchFamily="18" charset="0"/>
                      </a:rPr>
                      <m:t> </m:t>
                    </m:r>
                    <m:nary>
                      <m:naryPr>
                        <m:chr m:val="∑"/>
                        <m:ctrlPr>
                          <a:rPr lang="zh-TW" altLang="zh-TW" sz="2400" i="1">
                            <a:latin typeface="Cambria Math" panose="02040503050406030204" pitchFamily="18" charset="0"/>
                          </a:rPr>
                        </m:ctrlPr>
                      </m:naryPr>
                      <m:sub>
                        <m:r>
                          <a:rPr lang="en-US" altLang="zh-TW" sz="2400" i="1">
                            <a:latin typeface="Cambria Math" panose="02040503050406030204" pitchFamily="18" charset="0"/>
                          </a:rPr>
                          <m:t>𝑥</m:t>
                        </m:r>
                        <m:r>
                          <a:rPr lang="en-US" altLang="zh-TW" sz="2400" i="1">
                            <a:latin typeface="Cambria Math" panose="02040503050406030204" pitchFamily="18" charset="0"/>
                          </a:rPr>
                          <m:t>=0</m:t>
                        </m:r>
                      </m:sub>
                      <m:sup>
                        <m:r>
                          <a:rPr lang="en-US" altLang="zh-TW" sz="2400" i="1">
                            <a:latin typeface="Cambria Math" panose="02040503050406030204" pitchFamily="18" charset="0"/>
                          </a:rPr>
                          <m:t>𝑛</m:t>
                        </m:r>
                      </m:sup>
                      <m:e>
                        <m:sSup>
                          <m:sSupPr>
                            <m:ctrlPr>
                              <a:rPr lang="zh-TW" altLang="zh-TW" sz="2400" i="1">
                                <a:latin typeface="Cambria Math" panose="02040503050406030204" pitchFamily="18" charset="0"/>
                              </a:rPr>
                            </m:ctrlPr>
                          </m:sSupPr>
                          <m:e>
                            <m:d>
                              <m:dPr>
                                <m:ctrlPr>
                                  <a:rPr lang="zh-TW"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i="1">
                                    <a:latin typeface="Cambria Math" panose="02040503050406030204" pitchFamily="18" charset="0"/>
                                  </a:rPr>
                                  <m:t>𝑛𝑝</m:t>
                                </m:r>
                              </m:e>
                            </m:d>
                          </m:e>
                          <m:sup>
                            <m:r>
                              <a:rPr lang="en-US" altLang="zh-TW" sz="2400" i="1">
                                <a:latin typeface="Cambria Math" panose="02040503050406030204" pitchFamily="18" charset="0"/>
                              </a:rPr>
                              <m:t>2</m:t>
                            </m:r>
                          </m:sup>
                        </m:sSup>
                        <m:r>
                          <a:rPr lang="en-US" altLang="zh-TW" sz="2400" i="1">
                            <a:latin typeface="Cambria Math" panose="02040503050406030204" pitchFamily="18" charset="0"/>
                          </a:rPr>
                          <m:t>𝑃</m:t>
                        </m:r>
                        <m:d>
                          <m:dPr>
                            <m:ctrlPr>
                              <a:rPr lang="zh-TW" altLang="zh-TW" sz="2400" i="1">
                                <a:latin typeface="Cambria Math" panose="02040503050406030204" pitchFamily="18" charset="0"/>
                              </a:rPr>
                            </m:ctrlPr>
                          </m:dPr>
                          <m:e>
                            <m:r>
                              <a:rPr lang="en-US" altLang="zh-TW" sz="2400" i="1">
                                <a:latin typeface="Cambria Math" panose="02040503050406030204" pitchFamily="18" charset="0"/>
                              </a:rPr>
                              <m:t>𝑋</m:t>
                            </m:r>
                            <m:r>
                              <a:rPr lang="en-US" altLang="zh-TW" sz="2400" i="1">
                                <a:latin typeface="Cambria Math" panose="02040503050406030204" pitchFamily="18" charset="0"/>
                              </a:rPr>
                              <m:t>=</m:t>
                            </m:r>
                            <m:r>
                              <a:rPr lang="en-US" altLang="zh-TW" sz="2400" i="1">
                                <a:latin typeface="Cambria Math" panose="02040503050406030204" pitchFamily="18" charset="0"/>
                              </a:rPr>
                              <m:t>𝑥</m:t>
                            </m:r>
                            <m:r>
                              <a:rPr lang="zh-TW" altLang="zh-TW" sz="2400" i="1">
                                <a:latin typeface="Cambria Math" panose="02040503050406030204" pitchFamily="18" charset="0"/>
                              </a:rPr>
                              <m:t>；</m:t>
                            </m:r>
                            <m:r>
                              <a:rPr lang="en-US" altLang="zh-TW" sz="2400" i="1">
                                <a:latin typeface="Cambria Math" panose="02040503050406030204" pitchFamily="18" charset="0"/>
                              </a:rPr>
                              <m:t>𝑝</m:t>
                            </m:r>
                          </m:e>
                        </m:d>
                      </m:e>
                    </m:nary>
                    <m:r>
                      <a:rPr lang="en-US" altLang="zh-TW" sz="2400" i="1">
                        <a:latin typeface="Cambria Math" panose="02040503050406030204" pitchFamily="18" charset="0"/>
                      </a:rPr>
                      <m:t>=</m:t>
                    </m:r>
                    <m:r>
                      <a:rPr lang="en-US" altLang="zh-TW" sz="2400" b="1" i="1">
                        <a:latin typeface="Cambria Math" panose="02040503050406030204" pitchFamily="18" charset="0"/>
                      </a:rPr>
                      <m:t>𝒏𝒑</m:t>
                    </m:r>
                    <m:r>
                      <a:rPr lang="zh-TW" altLang="zh-TW" sz="2400" b="1">
                        <a:latin typeface="Cambria Math" panose="02040503050406030204" pitchFamily="18" charset="0"/>
                      </a:rPr>
                      <m:t>（</m:t>
                    </m:r>
                    <m:r>
                      <a:rPr lang="en-US" altLang="zh-TW" sz="2400" b="1" i="1">
                        <a:latin typeface="Cambria Math" panose="02040503050406030204" pitchFamily="18" charset="0"/>
                      </a:rPr>
                      <m:t>𝟏</m:t>
                    </m:r>
                    <m:r>
                      <a:rPr lang="en-US" altLang="zh-TW" sz="2400" b="1" i="1">
                        <a:latin typeface="Cambria Math" panose="02040503050406030204" pitchFamily="18" charset="0"/>
                      </a:rPr>
                      <m:t>−</m:t>
                    </m:r>
                    <m:r>
                      <a:rPr lang="en-US" altLang="zh-TW" sz="2400" b="1" i="1">
                        <a:latin typeface="Cambria Math" panose="02040503050406030204" pitchFamily="18" charset="0"/>
                      </a:rPr>
                      <m:t>𝒑</m:t>
                    </m:r>
                    <m:r>
                      <a:rPr lang="zh-TW" altLang="zh-TW" sz="2400" b="1">
                        <a:latin typeface="Cambria Math" panose="02040503050406030204" pitchFamily="18" charset="0"/>
                      </a:rPr>
                      <m:t>）</m:t>
                    </m:r>
                  </m:oMath>
                </a14:m>
                <a:r>
                  <a:rPr lang="zh-TW" altLang="zh-TW" sz="2400" b="1" dirty="0">
                    <a:latin typeface="微軟正黑體" panose="020B0604030504040204" pitchFamily="34" charset="-120"/>
                    <a:ea typeface="微軟正黑體" panose="020B0604030504040204" pitchFamily="34" charset="-120"/>
                  </a:rPr>
                  <a:t>。</a:t>
                </a:r>
                <a:endParaRPr lang="en-US" altLang="zh-TW" sz="2400" b="1" dirty="0">
                  <a:latin typeface="微軟正黑體" panose="020B0604030504040204" pitchFamily="34" charset="-120"/>
                  <a:ea typeface="微軟正黑體" panose="020B0604030504040204" pitchFamily="34" charset="-120"/>
                </a:endParaRPr>
              </a:p>
              <a:p>
                <a:pPr marL="109728" indent="0" algn="ctr">
                  <a:lnSpc>
                    <a:spcPct val="110000"/>
                  </a:lnSpc>
                  <a:spcBef>
                    <a:spcPts val="0"/>
                  </a:spcBef>
                  <a:buNone/>
                </a:pPr>
                <a:endParaRPr lang="en-US" altLang="zh-TW" b="1" dirty="0">
                  <a:latin typeface="微軟正黑體" panose="020B0604030504040204" pitchFamily="34" charset="-120"/>
                  <a:ea typeface="微軟正黑體" panose="020B0604030504040204" pitchFamily="34" charset="-120"/>
                </a:endParaRPr>
              </a:p>
              <a:p>
                <a:pPr>
                  <a:lnSpc>
                    <a:spcPct val="110000"/>
                  </a:lnSpc>
                  <a:spcBef>
                    <a:spcPts val="1200"/>
                  </a:spcBef>
                </a:pPr>
                <a:r>
                  <a:rPr lang="zh-TW" altLang="zh-TW" dirty="0">
                    <a:latin typeface="微軟正黑體" panose="020B0604030504040204" pitchFamily="34" charset="-120"/>
                    <a:ea typeface="微軟正黑體" panose="020B0604030504040204" pitchFamily="34" charset="-120"/>
                  </a:rPr>
                  <a:t>圖</a:t>
                </a:r>
                <a:r>
                  <a:rPr lang="en-US" altLang="zh-TW" dirty="0">
                    <a:latin typeface="微軟正黑體" panose="020B0604030504040204" pitchFamily="34" charset="-120"/>
                    <a:ea typeface="微軟正黑體" panose="020B0604030504040204" pitchFamily="34" charset="-120"/>
                  </a:rPr>
                  <a:t>2-1</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2-2</a:t>
                </a:r>
                <a:r>
                  <a:rPr lang="zh-TW" altLang="zh-TW" dirty="0">
                    <a:latin typeface="微軟正黑體" panose="020B0604030504040204" pitchFamily="34" charset="-120"/>
                    <a:ea typeface="微軟正黑體" panose="020B0604030504040204" pitchFamily="34" charset="-120"/>
                  </a:rPr>
                  <a:t>顯示資料會集中於平均值附近，例如</a:t>
                </a:r>
                <a:r>
                  <a:rPr lang="en-US" altLang="zh-TW" dirty="0">
                    <a:latin typeface="微軟正黑體" panose="020B0604030504040204" pitchFamily="34" charset="-120"/>
                    <a:ea typeface="微軟正黑體" panose="020B0604030504040204" pitchFamily="34" charset="-120"/>
                  </a:rPr>
                  <a:t>n=30</a:t>
                </a:r>
                <a:r>
                  <a:rPr lang="zh-TW" altLang="zh-TW" dirty="0">
                    <a:latin typeface="微軟正黑體" panose="020B0604030504040204" pitchFamily="34" charset="-120"/>
                    <a:ea typeface="微軟正黑體" panose="020B0604030504040204" pitchFamily="34" charset="-120"/>
                  </a:rPr>
                  <a:t>的時候資料分別集中在</a:t>
                </a:r>
                <a14:m>
                  <m:oMath xmlns:m="http://schemas.openxmlformats.org/officeDocument/2006/math">
                    <m:r>
                      <a:rPr lang="en-US" altLang="zh-TW">
                        <a:latin typeface="Cambria Math" panose="02040503050406030204" pitchFamily="18" charset="0"/>
                      </a:rPr>
                      <m:t>30×0.5=15</m:t>
                    </m:r>
                  </m:oMath>
                </a14:m>
                <a:r>
                  <a:rPr lang="zh-TW" altLang="zh-TW" dirty="0">
                    <a:latin typeface="微軟正黑體" panose="020B0604030504040204" pitchFamily="34" charset="-120"/>
                    <a:ea typeface="微軟正黑體" panose="020B0604030504040204" pitchFamily="34" charset="-120"/>
                  </a:rPr>
                  <a:t>和</a:t>
                </a:r>
                <a14:m>
                  <m:oMath xmlns:m="http://schemas.openxmlformats.org/officeDocument/2006/math">
                    <m:r>
                      <a:rPr lang="en-US" altLang="zh-TW">
                        <a:latin typeface="Cambria Math" panose="02040503050406030204" pitchFamily="18" charset="0"/>
                      </a:rPr>
                      <m:t>30×0.2=6</m:t>
                    </m:r>
                  </m:oMath>
                </a14:m>
                <a:r>
                  <a:rPr lang="zh-TW" altLang="zh-TW" dirty="0">
                    <a:latin typeface="微軟正黑體" panose="020B0604030504040204" pitchFamily="34" charset="-120"/>
                    <a:ea typeface="微軟正黑體" panose="020B0604030504040204" pitchFamily="34" charset="-120"/>
                  </a:rPr>
                  <a:t>附近。此外，兩者的變異數分別為</a:t>
                </a:r>
                <a14:m>
                  <m:oMath xmlns:m="http://schemas.openxmlformats.org/officeDocument/2006/math">
                    <m:r>
                      <a:rPr lang="en-US" altLang="zh-TW">
                        <a:latin typeface="Cambria Math" panose="02040503050406030204" pitchFamily="18" charset="0"/>
                      </a:rPr>
                      <m:t>30×0.5×0.5=7.5</m:t>
                    </m:r>
                  </m:oMath>
                </a14:m>
                <a:r>
                  <a:rPr lang="zh-TW" altLang="zh-TW" dirty="0">
                    <a:latin typeface="微軟正黑體" panose="020B0604030504040204" pitchFamily="34" charset="-120"/>
                    <a:ea typeface="微軟正黑體" panose="020B0604030504040204" pitchFamily="34" charset="-120"/>
                  </a:rPr>
                  <a:t>和</a:t>
                </a:r>
                <a14:m>
                  <m:oMath xmlns:m="http://schemas.openxmlformats.org/officeDocument/2006/math">
                    <m:r>
                      <a:rPr lang="en-US" altLang="zh-TW">
                        <a:latin typeface="Cambria Math" panose="02040503050406030204" pitchFamily="18" charset="0"/>
                      </a:rPr>
                      <m:t>30×0.2×0.8=4.8</m:t>
                    </m:r>
                  </m:oMath>
                </a14:m>
                <a:r>
                  <a:rPr lang="zh-TW" altLang="zh-TW" dirty="0">
                    <a:latin typeface="微軟正黑體" panose="020B0604030504040204" pitchFamily="34" charset="-120"/>
                    <a:ea typeface="微軟正黑體" panose="020B0604030504040204" pitchFamily="34" charset="-120"/>
                  </a:rPr>
                  <a:t>，</a:t>
                </a:r>
                <a:r>
                  <a:rPr lang="zh-TW" altLang="zh-TW" u="sng" dirty="0">
                    <a:latin typeface="微軟正黑體" panose="020B0604030504040204" pitchFamily="34" charset="-120"/>
                    <a:ea typeface="微軟正黑體" panose="020B0604030504040204" pitchFamily="34" charset="-120"/>
                  </a:rPr>
                  <a:t>因為</a:t>
                </a:r>
                <a:r>
                  <a:rPr lang="en-US" altLang="zh-TW" u="sng" dirty="0">
                    <a:latin typeface="微軟正黑體" panose="020B0604030504040204" pitchFamily="34" charset="-120"/>
                    <a:ea typeface="微軟正黑體" panose="020B0604030504040204" pitchFamily="34" charset="-120"/>
                  </a:rPr>
                  <a:t>p=0.5</a:t>
                </a:r>
                <a:r>
                  <a:rPr lang="zh-TW" altLang="zh-TW" u="sng" dirty="0">
                    <a:latin typeface="微軟正黑體" panose="020B0604030504040204" pitchFamily="34" charset="-120"/>
                    <a:ea typeface="微軟正黑體" panose="020B0604030504040204" pitchFamily="34" charset="-120"/>
                  </a:rPr>
                  <a:t>的變異數較大，所以分配比較分散</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mc:Choice>
        <mc:Fallback xmlns="">
          <p:sp>
            <p:nvSpPr>
              <p:cNvPr id="2" name="內容版面配置區 1"/>
              <p:cNvSpPr>
                <a:spLocks noGrp="1" noRot="1" noChangeAspect="1" noMove="1" noResize="1" noEditPoints="1" noAdjustHandles="1" noChangeArrowheads="1" noChangeShapeType="1" noTextEdit="1"/>
              </p:cNvSpPr>
              <p:nvPr>
                <p:ph sz="quarter" idx="13"/>
              </p:nvPr>
            </p:nvSpPr>
            <p:spPr>
              <a:xfrm>
                <a:off x="457281" y="1143000"/>
                <a:ext cx="8231029" cy="5264948"/>
              </a:xfrm>
              <a:blipFill>
                <a:blip r:embed="rId2"/>
                <a:stretch>
                  <a:fillRect l="-2222" r="-74"/>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E2A80D49-6E30-4745-93AC-9D9D7F079020}" type="slidenum">
              <a:rPr lang="zh-TW" altLang="en-US" smtClean="0"/>
              <a:pPr/>
              <a:t>14</a:t>
            </a:fld>
            <a:endParaRPr lang="zh-TW" altLang="en-US"/>
          </a:p>
        </p:txBody>
      </p:sp>
    </p:spTree>
    <p:extLst>
      <p:ext uri="{BB962C8B-B14F-4D97-AF65-F5344CB8AC3E}">
        <p14:creationId xmlns:p14="http://schemas.microsoft.com/office/powerpoint/2010/main" val="401406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2349" y="162347"/>
            <a:ext cx="7799016" cy="1151965"/>
          </a:xfrm>
        </p:spPr>
        <p:txBody>
          <a:bodyPr/>
          <a:lstStyle/>
          <a:p>
            <a:r>
              <a:rPr lang="zh-TW" altLang="en-US" sz="3600" dirty="0">
                <a:latin typeface="微軟正黑體" panose="020B0604030504040204" pitchFamily="34" charset="-120"/>
                <a:ea typeface="微軟正黑體" panose="020B0604030504040204" pitchFamily="34" charset="-120"/>
              </a:rPr>
              <a:t>二項式分配機率質量函數的變化圖</a:t>
            </a:r>
          </a:p>
        </p:txBody>
      </p:sp>
      <p:sp>
        <p:nvSpPr>
          <p:cNvPr id="4" name="Rectangle 2"/>
          <p:cNvSpPr>
            <a:spLocks noChangeArrowheads="1"/>
          </p:cNvSpPr>
          <p:nvPr/>
        </p:nvSpPr>
        <p:spPr bwMode="auto">
          <a:xfrm>
            <a:off x="711725" y="5606299"/>
            <a:ext cx="35724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kumimoji="0" lang="zh-TW" altLang="zh-TW"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圖</a:t>
            </a:r>
            <a:r>
              <a:rPr kumimoji="0" lang="zh-TW" altLang="en-US" sz="2400" b="0" i="0" u="none" strike="noStrike" cap="none" normalizeH="0" baseline="0" dirty="0">
                <a:ln>
                  <a:noFill/>
                </a:ln>
                <a:solidFill>
                  <a:schemeClr val="tx1"/>
                </a:solidFill>
                <a:effectLst/>
                <a:latin typeface="Calibri" panose="020F0502020204030204" pitchFamily="34" charset="0"/>
                <a:ea typeface="標楷體" panose="03000509000000000000" pitchFamily="65" charset="-120"/>
                <a:cs typeface="Times New Roman" panose="02020603050405020304" pitchFamily="18" charset="0"/>
              </a:rPr>
              <a:t> </a:t>
            </a:r>
            <a:r>
              <a:rPr kumimoji="0" lang="en-US" altLang="zh-TW" sz="2400" b="0" i="0" u="none" strike="noStrike" cap="none" normalizeH="0" baseline="0" dirty="0">
                <a:ln>
                  <a:noFill/>
                </a:ln>
                <a:solidFill>
                  <a:schemeClr val="tx1"/>
                </a:solidFill>
                <a:effectLst/>
                <a:latin typeface="Calibri" panose="020F0502020204030204" pitchFamily="34" charset="0"/>
                <a:ea typeface="標楷體" panose="03000509000000000000" pitchFamily="65" charset="-120"/>
                <a:cs typeface="Times New Roman" panose="02020603050405020304" pitchFamily="18" charset="0"/>
              </a:rPr>
              <a:t>2-1 </a:t>
            </a: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二項式分配</a:t>
            </a:r>
            <a:r>
              <a:rPr lang="en-US" altLang="zh-TW" sz="2400" dirty="0">
                <a:latin typeface="Calibri" panose="020F0502020204030204" pitchFamily="34" charset="0"/>
                <a:ea typeface="標楷體" panose="03000509000000000000" pitchFamily="65" charset="-120"/>
                <a:cs typeface="Times New Roman" panose="02020603050405020304" pitchFamily="18" charset="0"/>
              </a:rPr>
              <a:t>p=0.5</a:t>
            </a:r>
            <a:endParaRPr kumimoji="0" lang="en-US" altLang="zh-TW" sz="2400" b="0" i="0" u="none" strike="noStrike" cap="none" normalizeH="0" baseline="0" dirty="0">
              <a:ln>
                <a:noFill/>
              </a:ln>
              <a:solidFill>
                <a:schemeClr val="tx1"/>
              </a:solidFill>
              <a:effectLst/>
              <a:latin typeface="Arial" panose="020B0604020202020204" pitchFamily="34" charset="0"/>
            </a:endParaRPr>
          </a:p>
        </p:txBody>
      </p:sp>
      <p:pic>
        <p:nvPicPr>
          <p:cNvPr id="2049" name="圖片 14" descr="binom.tif"/>
          <p:cNvPicPr>
            <a:picLocks noChangeAspect="1" noChangeArrowheads="1"/>
          </p:cNvPicPr>
          <p:nvPr/>
        </p:nvPicPr>
        <p:blipFill>
          <a:blip r:embed="rId2" cstate="print">
            <a:extLst>
              <a:ext uri="{28A0092B-C50C-407E-A947-70E740481C1C}">
                <a14:useLocalDpi xmlns:a14="http://schemas.microsoft.com/office/drawing/2010/main" val="0"/>
              </a:ext>
            </a:extLst>
          </a:blip>
          <a:srcRect t="7056"/>
          <a:stretch>
            <a:fillRect/>
          </a:stretch>
        </p:blipFill>
        <p:spPr bwMode="auto">
          <a:xfrm>
            <a:off x="413590" y="1145509"/>
            <a:ext cx="4168764" cy="4419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Rectangle 4"/>
          <p:cNvSpPr>
            <a:spLocks noChangeArrowheads="1"/>
          </p:cNvSpPr>
          <p:nvPr/>
        </p:nvSpPr>
        <p:spPr bwMode="auto">
          <a:xfrm>
            <a:off x="5272716" y="5565109"/>
            <a:ext cx="327846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圖</a:t>
            </a:r>
            <a:r>
              <a:rPr kumimoji="0" lang="zh-TW" altLang="en-US" sz="2400" b="0" i="0" u="none" strike="noStrike" cap="none" normalizeH="0" baseline="0" dirty="0">
                <a:ln>
                  <a:noFill/>
                </a:ln>
                <a:solidFill>
                  <a:schemeClr val="tx1"/>
                </a:solidFill>
                <a:effectLst/>
                <a:latin typeface="Calibri" panose="020F0502020204030204" pitchFamily="34" charset="0"/>
                <a:ea typeface="標楷體" panose="03000509000000000000" pitchFamily="65" charset="-120"/>
                <a:cs typeface="Times New Roman" panose="02020603050405020304" pitchFamily="18" charset="0"/>
              </a:rPr>
              <a:t> </a:t>
            </a:r>
            <a:r>
              <a:rPr kumimoji="0" lang="en-US" altLang="zh-TW" sz="2400" b="0" i="0" u="none" strike="noStrike" cap="none" normalizeH="0" baseline="0" dirty="0">
                <a:ln>
                  <a:noFill/>
                </a:ln>
                <a:solidFill>
                  <a:schemeClr val="tx1"/>
                </a:solidFill>
                <a:effectLst/>
                <a:latin typeface="Calibri" panose="020F0502020204030204" pitchFamily="34" charset="0"/>
                <a:ea typeface="標楷體" panose="03000509000000000000" pitchFamily="65" charset="-120"/>
                <a:cs typeface="Times New Roman" panose="02020603050405020304" pitchFamily="18" charset="0"/>
              </a:rPr>
              <a:t>2-2 </a:t>
            </a:r>
            <a:r>
              <a:rPr kumimoji="0" lang="zh-TW" altLang="en-US"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二項式分配</a:t>
            </a:r>
            <a:r>
              <a:rPr kumimoji="0" lang="en-US" altLang="zh-TW" sz="2400" b="0" i="0" u="none" strike="noStrike" cap="none" normalizeH="0" baseline="0" dirty="0">
                <a:ln>
                  <a:noFill/>
                </a:ln>
                <a:solidFill>
                  <a:schemeClr val="tx1"/>
                </a:solidFill>
                <a:effectLst/>
                <a:latin typeface="Calibri" panose="020F0502020204030204" pitchFamily="34" charset="0"/>
                <a:ea typeface="標楷體" panose="03000509000000000000" pitchFamily="65" charset="-120"/>
                <a:cs typeface="Times New Roman" panose="02020603050405020304" pitchFamily="18" charset="0"/>
              </a:rPr>
              <a:t>p=0.2</a:t>
            </a:r>
            <a:endParaRPr kumimoji="0" lang="en-US" altLang="zh-TW"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TW" sz="1800" b="0" i="0" u="none" strike="noStrike" cap="none" normalizeH="0" baseline="0" dirty="0">
              <a:ln>
                <a:noFill/>
              </a:ln>
              <a:solidFill>
                <a:schemeClr val="tx1"/>
              </a:solidFill>
              <a:effectLst/>
              <a:latin typeface="Arial" panose="020B0604020202020204" pitchFamily="34" charset="0"/>
            </a:endParaRPr>
          </a:p>
        </p:txBody>
      </p:sp>
      <p:pic>
        <p:nvPicPr>
          <p:cNvPr id="2051" name="圖片 2"/>
          <p:cNvPicPr>
            <a:picLocks noChangeAspect="1" noChangeArrowheads="1"/>
          </p:cNvPicPr>
          <p:nvPr/>
        </p:nvPicPr>
        <p:blipFill>
          <a:blip r:embed="rId3" cstate="print">
            <a:extLst>
              <a:ext uri="{28A0092B-C50C-407E-A947-70E740481C1C}">
                <a14:useLocalDpi xmlns:a14="http://schemas.microsoft.com/office/drawing/2010/main" val="0"/>
              </a:ext>
            </a:extLst>
          </a:blip>
          <a:srcRect t="7547"/>
          <a:stretch>
            <a:fillRect/>
          </a:stretch>
        </p:blipFill>
        <p:spPr bwMode="auto">
          <a:xfrm>
            <a:off x="4716160" y="1241255"/>
            <a:ext cx="4197982" cy="43238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 name="Rectangle 5"/>
          <p:cNvSpPr>
            <a:spLocks noChangeArrowheads="1"/>
          </p:cNvSpPr>
          <p:nvPr/>
        </p:nvSpPr>
        <p:spPr bwMode="auto">
          <a:xfrm>
            <a:off x="4177126" y="658334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Tree>
    <p:extLst>
      <p:ext uri="{BB962C8B-B14F-4D97-AF65-F5344CB8AC3E}">
        <p14:creationId xmlns:p14="http://schemas.microsoft.com/office/powerpoint/2010/main" val="1146235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73038" y="-135395"/>
            <a:ext cx="7799016" cy="1151965"/>
          </a:xfrm>
        </p:spPr>
        <p:txBody>
          <a:bodyPr/>
          <a:lstStyle/>
          <a:p>
            <a:r>
              <a:rPr lang="zh-TW" altLang="en-US" dirty="0">
                <a:latin typeface="微軟正黑體" panose="020B0604030504040204" pitchFamily="34" charset="-120"/>
                <a:ea typeface="微軟正黑體" panose="020B0604030504040204" pitchFamily="34" charset="-120"/>
              </a:rPr>
              <a:t>例</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擲銅板四次</a:t>
            </a:r>
          </a:p>
        </p:txBody>
      </p:sp>
      <p:pic>
        <p:nvPicPr>
          <p:cNvPr id="5" name="內容版面配置區 4" descr="SRM 602 Lecture Notes.pdf - Adobe Acrobat Reader DC"/>
          <p:cNvPicPr>
            <a:picLocks noGrp="1" noChangeAspect="1"/>
          </p:cNvPicPr>
          <p:nvPr>
            <p:ph sz="quarter" idx="13"/>
          </p:nvPr>
        </p:nvPicPr>
        <p:blipFill rotWithShape="1">
          <a:blip r:embed="rId2">
            <a:extLst>
              <a:ext uri="{28A0092B-C50C-407E-A947-70E740481C1C}">
                <a14:useLocalDpi xmlns:a14="http://schemas.microsoft.com/office/drawing/2010/main" val="0"/>
              </a:ext>
            </a:extLst>
          </a:blip>
          <a:srcRect l="31499" t="55901" r="29227" b="10966"/>
          <a:stretch/>
        </p:blipFill>
        <p:spPr>
          <a:xfrm>
            <a:off x="2645662" y="890578"/>
            <a:ext cx="4242817" cy="1842037"/>
          </a:xfrm>
        </p:spPr>
      </p:pic>
      <p:sp>
        <p:nvSpPr>
          <p:cNvPr id="3" name="投影片編號版面配置區 2"/>
          <p:cNvSpPr>
            <a:spLocks noGrp="1"/>
          </p:cNvSpPr>
          <p:nvPr>
            <p:ph type="sldNum" sz="quarter" idx="12"/>
          </p:nvPr>
        </p:nvSpPr>
        <p:spPr/>
        <p:txBody>
          <a:bodyPr/>
          <a:lstStyle/>
          <a:p>
            <a:fld id="{E2A80D49-6E30-4745-93AC-9D9D7F079020}" type="slidenum">
              <a:rPr lang="zh-TW" altLang="en-US" smtClean="0"/>
              <a:pPr/>
              <a:t>16</a:t>
            </a:fld>
            <a:endParaRPr lang="zh-TW" altLang="en-US"/>
          </a:p>
        </p:txBody>
      </p:sp>
      <p:pic>
        <p:nvPicPr>
          <p:cNvPr id="6" name="圖片 5" descr="SRM 602 Lecture Notes.pdf - Adobe Acrobat Reader DC"/>
          <p:cNvPicPr>
            <a:picLocks noChangeAspect="1"/>
          </p:cNvPicPr>
          <p:nvPr/>
        </p:nvPicPr>
        <p:blipFill rotWithShape="1">
          <a:blip r:embed="rId3">
            <a:extLst>
              <a:ext uri="{28A0092B-C50C-407E-A947-70E740481C1C}">
                <a14:useLocalDpi xmlns:a14="http://schemas.microsoft.com/office/drawing/2010/main" val="0"/>
              </a:ext>
            </a:extLst>
          </a:blip>
          <a:srcRect l="17197" t="21977" r="15082" b="8465"/>
          <a:stretch/>
        </p:blipFill>
        <p:spPr>
          <a:xfrm>
            <a:off x="1764571" y="2834303"/>
            <a:ext cx="6193536" cy="3608832"/>
          </a:xfrm>
          <a:prstGeom prst="rect">
            <a:avLst/>
          </a:prstGeom>
        </p:spPr>
      </p:pic>
    </p:spTree>
    <p:extLst>
      <p:ext uri="{BB962C8B-B14F-4D97-AF65-F5344CB8AC3E}">
        <p14:creationId xmlns:p14="http://schemas.microsoft.com/office/powerpoint/2010/main" val="503524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514439" y="2063396"/>
            <a:ext cx="8101659" cy="3311189"/>
          </a:xfrm>
        </p:spPr>
        <p:txBody>
          <a:bodyPr/>
          <a:lstStyle/>
          <a:p>
            <a:r>
              <a:rPr lang="en-US" altLang="zh-TW" b="1" dirty="0">
                <a:latin typeface="微軟正黑體" panose="020B0604030504040204" pitchFamily="34" charset="-120"/>
                <a:ea typeface="微軟正黑體" panose="020B0604030504040204" pitchFamily="34" charset="-120"/>
              </a:rPr>
              <a:t>Quincunx: </a:t>
            </a:r>
            <a:r>
              <a:rPr lang="en-US" altLang="zh-TW" b="1" dirty="0">
                <a:solidFill>
                  <a:srgbClr val="0070C0"/>
                </a:solidFill>
                <a:latin typeface="微軟正黑體" panose="020B0604030504040204" pitchFamily="34" charset="-120"/>
                <a:ea typeface="微軟正黑體" panose="020B0604030504040204" pitchFamily="34" charset="-120"/>
                <a:hlinkClick r:id="rId2">
                  <a:extLst>
                    <a:ext uri="{A12FA001-AC4F-418D-AE19-62706E023703}">
                      <ahyp:hlinkClr xmlns:ahyp="http://schemas.microsoft.com/office/drawing/2018/hyperlinkcolor" val="tx"/>
                    </a:ext>
                  </a:extLst>
                </a:hlinkClick>
              </a:rPr>
              <a:t>https://www.mathsisfun.com/data/quincunx.html</a:t>
            </a:r>
            <a:endParaRPr lang="en-US" altLang="zh-TW" b="1" dirty="0">
              <a:solidFill>
                <a:srgbClr val="0070C0"/>
              </a:solidFill>
              <a:latin typeface="微軟正黑體" panose="020B0604030504040204" pitchFamily="34" charset="-120"/>
              <a:ea typeface="微軟正黑體" panose="020B0604030504040204" pitchFamily="34" charset="-120"/>
            </a:endParaRPr>
          </a:p>
          <a:p>
            <a:endParaRPr lang="en-US" altLang="zh-TW" b="1" dirty="0">
              <a:latin typeface="微軟正黑體" panose="020B0604030504040204" pitchFamily="34" charset="-120"/>
              <a:ea typeface="微軟正黑體" panose="020B0604030504040204" pitchFamily="34" charset="-120"/>
            </a:endParaRPr>
          </a:p>
          <a:p>
            <a:r>
              <a:rPr lang="en-US" altLang="zh-TW" u="sng" dirty="0">
                <a:solidFill>
                  <a:srgbClr val="0070C0"/>
                </a:solidFill>
                <a:latin typeface="微軟正黑體" panose="020B0604030504040204" pitchFamily="34" charset="-120"/>
                <a:ea typeface="微軟正黑體" panose="020B0604030504040204" pitchFamily="34" charset="-120"/>
              </a:rPr>
              <a:t>https://www.youtube.com/watch?v=M8kz6zWHgDg</a:t>
            </a:r>
            <a:endParaRPr lang="zh-TW" altLang="en-US" u="sng" dirty="0">
              <a:solidFill>
                <a:srgbClr val="0070C0"/>
              </a:solidFill>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E2A80D49-6E30-4745-93AC-9D9D7F079020}" type="slidenum">
              <a:rPr lang="zh-TW" altLang="en-US" smtClean="0"/>
              <a:pPr/>
              <a:t>17</a:t>
            </a:fld>
            <a:endParaRPr lang="zh-TW" altLang="en-US"/>
          </a:p>
        </p:txBody>
      </p:sp>
    </p:spTree>
    <p:extLst>
      <p:ext uri="{BB962C8B-B14F-4D97-AF65-F5344CB8AC3E}">
        <p14:creationId xmlns:p14="http://schemas.microsoft.com/office/powerpoint/2010/main" val="4732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81" y="133866"/>
            <a:ext cx="8231029" cy="1143000"/>
          </a:xfrm>
        </p:spPr>
        <p:txBody>
          <a:bodyPr>
            <a:normAutofit/>
          </a:bodyPr>
          <a:lstStyle/>
          <a:p>
            <a:r>
              <a:rPr lang="zh-TW" altLang="zh-TW" dirty="0">
                <a:latin typeface="微軟正黑體" panose="020B0604030504040204" pitchFamily="34" charset="-120"/>
                <a:ea typeface="微軟正黑體" panose="020B0604030504040204" pitchFamily="34" charset="-120"/>
              </a:rPr>
              <a:t>連續型隨機變數</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3" name="內容版面配置區 2"/>
              <p:cNvSpPr>
                <a:spLocks noGrp="1"/>
              </p:cNvSpPr>
              <p:nvPr>
                <p:ph sz="quarter" idx="13"/>
              </p:nvPr>
            </p:nvSpPr>
            <p:spPr>
              <a:xfrm>
                <a:off x="457281" y="1153297"/>
                <a:ext cx="8231029" cy="5148649"/>
              </a:xfrm>
            </p:spPr>
            <p:txBody>
              <a:bodyPr>
                <a:normAutofit/>
              </a:bodyPr>
              <a:lstStyle/>
              <a:p>
                <a:pPr>
                  <a:lnSpc>
                    <a:spcPct val="120000"/>
                  </a:lnSpc>
                </a:pPr>
                <a:r>
                  <a:rPr lang="zh-TW" altLang="zh-TW" dirty="0">
                    <a:latin typeface="微軟正黑體" panose="020B0604030504040204" pitchFamily="34" charset="-120"/>
                    <a:ea typeface="微軟正黑體" panose="020B0604030504040204" pitchFamily="34" charset="-120"/>
                  </a:rPr>
                  <a:t>連續型隨機變數常用來描述數值型資料，例如身高、體重、</a:t>
                </a:r>
                <a:r>
                  <a:rPr lang="en-US" altLang="zh-TW" dirty="0">
                    <a:latin typeface="微軟正黑體" panose="020B0604030504040204" pitchFamily="34" charset="-120"/>
                    <a:ea typeface="微軟正黑體" panose="020B0604030504040204" pitchFamily="34" charset="-120"/>
                  </a:rPr>
                  <a:t>BMI</a:t>
                </a:r>
                <a:r>
                  <a:rPr lang="zh-TW" altLang="zh-TW" dirty="0">
                    <a:latin typeface="微軟正黑體" panose="020B0604030504040204" pitchFamily="34" charset="-120"/>
                    <a:ea typeface="微軟正黑體" panose="020B0604030504040204" pitchFamily="34" charset="-120"/>
                  </a:rPr>
                  <a:t>。連續型分配的函數以</a:t>
                </a:r>
                <a:r>
                  <a:rPr lang="zh-TW" altLang="zh-TW" b="1" dirty="0">
                    <a:latin typeface="微軟正黑體" panose="020B0604030504040204" pitchFamily="34" charset="-120"/>
                    <a:ea typeface="微軟正黑體" panose="020B0604030504040204" pitchFamily="34" charset="-120"/>
                  </a:rPr>
                  <a:t>機率密度函數</a:t>
                </a:r>
                <a:r>
                  <a:rPr lang="en-US" altLang="zh-TW" dirty="0">
                    <a:latin typeface="微軟正黑體" panose="020B0604030504040204" pitchFamily="34" charset="-120"/>
                    <a:ea typeface="微軟正黑體" panose="020B0604030504040204" pitchFamily="34" charset="-120"/>
                  </a:rPr>
                  <a:t>(probability density function)</a:t>
                </a:r>
                <a:r>
                  <a:rPr lang="zh-TW" altLang="zh-TW" dirty="0">
                    <a:latin typeface="微軟正黑體" panose="020B0604030504040204" pitchFamily="34" charset="-120"/>
                    <a:ea typeface="微軟正黑體" panose="020B0604030504040204" pitchFamily="34" charset="-120"/>
                  </a:rPr>
                  <a:t>稱之。</a:t>
                </a:r>
                <a:endParaRPr lang="en-US" altLang="zh-TW" dirty="0">
                  <a:latin typeface="微軟正黑體" panose="020B0604030504040204" pitchFamily="34" charset="-120"/>
                  <a:ea typeface="微軟正黑體" panose="020B0604030504040204" pitchFamily="34" charset="-120"/>
                </a:endParaRPr>
              </a:p>
              <a:p>
                <a:pPr>
                  <a:lnSpc>
                    <a:spcPct val="120000"/>
                  </a:lnSpc>
                </a:pPr>
                <a:r>
                  <a:rPr lang="zh-TW" altLang="zh-TW" dirty="0">
                    <a:latin typeface="微軟正黑體" panose="020B0604030504040204" pitchFamily="34" charset="-120"/>
                    <a:ea typeface="微軟正黑體" panose="020B0604030504040204" pitchFamily="34" charset="-120"/>
                  </a:rPr>
                  <a:t>不同於離散型隨機變數，</a:t>
                </a:r>
                <a:r>
                  <a:rPr lang="zh-TW" altLang="en-US" dirty="0">
                    <a:latin typeface="微軟正黑體" panose="020B0604030504040204" pitchFamily="34" charset="-120"/>
                    <a:ea typeface="微軟正黑體" panose="020B0604030504040204" pitchFamily="34" charset="-120"/>
                  </a:rPr>
                  <a:t>機率</a:t>
                </a:r>
                <a:r>
                  <a:rPr lang="zh-TW" altLang="zh-TW" dirty="0">
                    <a:latin typeface="微軟正黑體" panose="020B0604030504040204" pitchFamily="34" charset="-120"/>
                    <a:ea typeface="微軟正黑體" panose="020B0604030504040204" pitchFamily="34" charset="-120"/>
                  </a:rPr>
                  <a:t>計算方式是利用積分方法求得，例如</a:t>
                </a:r>
                <a14:m>
                  <m:oMath xmlns:m="http://schemas.openxmlformats.org/officeDocument/2006/math">
                    <m:r>
                      <m:rPr>
                        <m:sty m:val="p"/>
                      </m:rPr>
                      <a:rPr lang="en-US" altLang="zh-TW">
                        <a:latin typeface="Cambria Math" panose="02040503050406030204" pitchFamily="18" charset="0"/>
                      </a:rPr>
                      <m:t>P</m:t>
                    </m:r>
                    <m:d>
                      <m:dPr>
                        <m:ctrlPr>
                          <a:rPr lang="zh-TW" altLang="zh-TW" i="1">
                            <a:latin typeface="Cambria Math" panose="02040503050406030204" pitchFamily="18" charset="0"/>
                          </a:rPr>
                        </m:ctrlPr>
                      </m:dPr>
                      <m:e>
                        <m:r>
                          <m:rPr>
                            <m:sty m:val="p"/>
                          </m:rPr>
                          <a:rPr lang="en-US" altLang="zh-TW">
                            <a:latin typeface="Cambria Math" panose="02040503050406030204" pitchFamily="18" charset="0"/>
                          </a:rPr>
                          <m:t>a</m:t>
                        </m:r>
                        <m:r>
                          <a:rPr lang="en-US" altLang="zh-TW">
                            <a:latin typeface="Cambria Math" panose="02040503050406030204" pitchFamily="18" charset="0"/>
                          </a:rPr>
                          <m:t>≤ </m:t>
                        </m:r>
                        <m:r>
                          <m:rPr>
                            <m:sty m:val="p"/>
                          </m:rPr>
                          <a:rPr lang="en-US" altLang="zh-TW">
                            <a:latin typeface="Cambria Math" panose="02040503050406030204" pitchFamily="18" charset="0"/>
                          </a:rPr>
                          <m:t>X</m:t>
                        </m:r>
                        <m:r>
                          <a:rPr lang="en-US" altLang="zh-TW">
                            <a:latin typeface="Cambria Math" panose="02040503050406030204" pitchFamily="18" charset="0"/>
                          </a:rPr>
                          <m:t>≤</m:t>
                        </m:r>
                        <m:r>
                          <m:rPr>
                            <m:sty m:val="p"/>
                          </m:rPr>
                          <a:rPr lang="en-US" altLang="zh-TW">
                            <a:latin typeface="Cambria Math" panose="02040503050406030204" pitchFamily="18" charset="0"/>
                          </a:rPr>
                          <m:t>b</m:t>
                        </m:r>
                      </m:e>
                    </m:d>
                    <m:r>
                      <a:rPr lang="en-US" altLang="zh-TW">
                        <a:latin typeface="Cambria Math" panose="02040503050406030204" pitchFamily="18" charset="0"/>
                      </a:rPr>
                      <m:t>=</m:t>
                    </m:r>
                    <m:nary>
                      <m:naryPr>
                        <m:ctrlPr>
                          <a:rPr lang="zh-TW" altLang="zh-TW" i="1">
                            <a:latin typeface="Cambria Math" panose="02040503050406030204" pitchFamily="18" charset="0"/>
                          </a:rPr>
                        </m:ctrlPr>
                      </m:naryPr>
                      <m:sub>
                        <m:r>
                          <m:rPr>
                            <m:sty m:val="p"/>
                          </m:rPr>
                          <a:rPr lang="en-US" altLang="zh-TW">
                            <a:latin typeface="Cambria Math" panose="02040503050406030204" pitchFamily="18" charset="0"/>
                          </a:rPr>
                          <m:t>a</m:t>
                        </m:r>
                      </m:sub>
                      <m:sup>
                        <m:r>
                          <m:rPr>
                            <m:sty m:val="p"/>
                          </m:rPr>
                          <a:rPr lang="en-US" altLang="zh-TW">
                            <a:latin typeface="Cambria Math" panose="02040503050406030204" pitchFamily="18" charset="0"/>
                          </a:rPr>
                          <m:t>b</m:t>
                        </m:r>
                      </m:sup>
                      <m:e>
                        <m:r>
                          <a:rPr lang="en-US" altLang="zh-TW" i="1">
                            <a:latin typeface="Cambria Math" panose="02040503050406030204" pitchFamily="18" charset="0"/>
                          </a:rPr>
                          <m:t>𝑓</m:t>
                        </m:r>
                        <m:d>
                          <m:dPr>
                            <m:ctrlPr>
                              <a:rPr lang="zh-TW" altLang="zh-TW" i="1">
                                <a:latin typeface="Cambria Math" panose="02040503050406030204" pitchFamily="18" charset="0"/>
                              </a:rPr>
                            </m:ctrlPr>
                          </m:dPr>
                          <m:e>
                            <m:r>
                              <a:rPr lang="en-US" altLang="zh-TW" i="1">
                                <a:latin typeface="Cambria Math" panose="02040503050406030204" pitchFamily="18" charset="0"/>
                              </a:rPr>
                              <m:t>𝑥</m:t>
                            </m:r>
                          </m:e>
                        </m:d>
                        <m:r>
                          <a:rPr lang="en-US" altLang="zh-TW" i="1">
                            <a:latin typeface="Cambria Math" panose="02040503050406030204" pitchFamily="18" charset="0"/>
                          </a:rPr>
                          <m:t>𝑑𝑥</m:t>
                        </m:r>
                      </m:e>
                    </m:nary>
                  </m:oMath>
                </a14:m>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面積</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，且為了符合整體機率為</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的性質，此函數必須滿足</a:t>
                </a:r>
                <a14:m>
                  <m:oMath xmlns:m="http://schemas.openxmlformats.org/officeDocument/2006/math">
                    <m:nary>
                      <m:naryPr>
                        <m:supHide m:val="on"/>
                        <m:ctrlPr>
                          <a:rPr lang="zh-TW" altLang="zh-TW" i="1">
                            <a:latin typeface="Cambria Math" panose="02040503050406030204" pitchFamily="18" charset="0"/>
                          </a:rPr>
                        </m:ctrlPr>
                      </m:naryPr>
                      <m:sub>
                        <m:r>
                          <a:rPr lang="zh-TW" altLang="zh-TW">
                            <a:latin typeface="Cambria Math" panose="02040503050406030204" pitchFamily="18" charset="0"/>
                          </a:rPr>
                          <m:t>所有可能值</m:t>
                        </m:r>
                      </m:sub>
                      <m:sup/>
                      <m:e>
                        <m:r>
                          <a:rPr lang="en-US" altLang="zh-TW" i="1">
                            <a:latin typeface="Cambria Math" panose="02040503050406030204" pitchFamily="18" charset="0"/>
                          </a:rPr>
                          <m:t>𝑓</m:t>
                        </m:r>
                        <m:d>
                          <m:dPr>
                            <m:ctrlPr>
                              <a:rPr lang="zh-TW" altLang="zh-TW" i="1">
                                <a:latin typeface="Cambria Math" panose="02040503050406030204" pitchFamily="18" charset="0"/>
                              </a:rPr>
                            </m:ctrlPr>
                          </m:dPr>
                          <m:e>
                            <m:r>
                              <a:rPr lang="en-US" altLang="zh-TW" i="1">
                                <a:latin typeface="Cambria Math" panose="02040503050406030204" pitchFamily="18" charset="0"/>
                              </a:rPr>
                              <m:t>𝑥</m:t>
                            </m:r>
                          </m:e>
                        </m:d>
                        <m:r>
                          <a:rPr lang="en-US" altLang="zh-TW" i="1">
                            <a:latin typeface="Cambria Math" panose="02040503050406030204" pitchFamily="18" charset="0"/>
                          </a:rPr>
                          <m:t>𝑑𝑥</m:t>
                        </m:r>
                        <m:r>
                          <a:rPr lang="en-US" altLang="zh-TW" i="1">
                            <a:latin typeface="Cambria Math" panose="02040503050406030204" pitchFamily="18" charset="0"/>
                          </a:rPr>
                          <m:t>=1</m:t>
                        </m:r>
                      </m:e>
                    </m:nary>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20000"/>
                  </a:lnSpc>
                </a:pPr>
                <a:r>
                  <a:rPr lang="zh-TW" altLang="zh-TW" dirty="0">
                    <a:latin typeface="微軟正黑體" panose="020B0604030504040204" pitchFamily="34" charset="-120"/>
                    <a:ea typeface="微軟正黑體" panose="020B0604030504040204" pitchFamily="34" charset="-120"/>
                  </a:rPr>
                  <a:t>另一個常見的名詞為</a:t>
                </a:r>
                <a:r>
                  <a:rPr lang="zh-TW" altLang="zh-TW" b="1" dirty="0">
                    <a:latin typeface="微軟正黑體" panose="020B0604030504040204" pitchFamily="34" charset="-120"/>
                    <a:ea typeface="微軟正黑體" panose="020B0604030504040204" pitchFamily="34" charset="-120"/>
                  </a:rPr>
                  <a:t>累積機率函數</a:t>
                </a:r>
                <a:r>
                  <a:rPr lang="en-US" altLang="zh-TW" dirty="0">
                    <a:latin typeface="微軟正黑體" panose="020B0604030504040204" pitchFamily="34" charset="-120"/>
                    <a:ea typeface="微軟正黑體" panose="020B0604030504040204" pitchFamily="34" charset="-120"/>
                  </a:rPr>
                  <a:t>(cumulative distribution function)</a:t>
                </a:r>
                <a:r>
                  <a:rPr lang="zh-TW" altLang="zh-TW" dirty="0">
                    <a:latin typeface="微軟正黑體" panose="020B0604030504040204" pitchFamily="34" charset="-120"/>
                    <a:ea typeface="微軟正黑體" panose="020B0604030504040204" pitchFamily="34" charset="-120"/>
                  </a:rPr>
                  <a:t>，是指小於等於該數值的機率，通常會以</a:t>
                </a:r>
                <a14:m>
                  <m:oMath xmlns:m="http://schemas.openxmlformats.org/officeDocument/2006/math">
                    <m:r>
                      <a:rPr lang="en-US" altLang="zh-TW" i="1">
                        <a:latin typeface="Cambria Math" panose="02040503050406030204" pitchFamily="18" charset="0"/>
                      </a:rPr>
                      <m:t>𝐹</m:t>
                    </m:r>
                    <m:d>
                      <m:dPr>
                        <m:ctrlPr>
                          <a:rPr lang="zh-TW" altLang="zh-TW" i="1">
                            <a:latin typeface="Cambria Math" panose="02040503050406030204" pitchFamily="18" charset="0"/>
                          </a:rPr>
                        </m:ctrlPr>
                      </m:dPr>
                      <m:e>
                        <m:r>
                          <a:rPr lang="en-US" altLang="zh-TW" i="1">
                            <a:latin typeface="Cambria Math" panose="02040503050406030204" pitchFamily="18" charset="0"/>
                          </a:rPr>
                          <m:t>𝑥</m:t>
                        </m:r>
                      </m:e>
                    </m:d>
                  </m:oMath>
                </a14:m>
                <a:r>
                  <a:rPr lang="zh-TW" altLang="zh-TW" dirty="0">
                    <a:latin typeface="微軟正黑體" panose="020B0604030504040204" pitchFamily="34" charset="-120"/>
                    <a:ea typeface="微軟正黑體" panose="020B0604030504040204" pitchFamily="34" charset="-120"/>
                  </a:rPr>
                  <a:t>表示。</a:t>
                </a:r>
              </a:p>
              <a:p>
                <a:endParaRPr lang="zh-TW" altLang="en-US" dirty="0">
                  <a:latin typeface="微軟正黑體" panose="020B0604030504040204" pitchFamily="34" charset="-120"/>
                  <a:ea typeface="微軟正黑體" panose="020B0604030504040204" pitchFamily="34"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sz="quarter" idx="13"/>
              </p:nvPr>
            </p:nvSpPr>
            <p:spPr>
              <a:xfrm>
                <a:off x="457281" y="1153297"/>
                <a:ext cx="8231029" cy="5148649"/>
              </a:xfrm>
              <a:blipFill>
                <a:blip r:embed="rId2"/>
                <a:stretch>
                  <a:fillRect l="-1704" r="-81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E2A80D49-6E30-4745-93AC-9D9D7F079020}" type="slidenum">
              <a:rPr lang="zh-TW" altLang="en-US" smtClean="0"/>
              <a:pPr/>
              <a:t>18</a:t>
            </a:fld>
            <a:endParaRPr lang="zh-TW" altLang="en-US"/>
          </a:p>
        </p:txBody>
      </p:sp>
    </p:spTree>
    <p:extLst>
      <p:ext uri="{BB962C8B-B14F-4D97-AF65-F5344CB8AC3E}">
        <p14:creationId xmlns:p14="http://schemas.microsoft.com/office/powerpoint/2010/main" val="915145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112745"/>
            <a:ext cx="9774981" cy="1143000"/>
          </a:xfrm>
        </p:spPr>
        <p:txBody>
          <a:bodyPr/>
          <a:lstStyle/>
          <a:p>
            <a:r>
              <a:rPr lang="zh-TW" altLang="zh-TW" sz="4000" dirty="0">
                <a:latin typeface="微軟正黑體" panose="020B0604030504040204" pitchFamily="34" charset="-120"/>
                <a:ea typeface="微軟正黑體" panose="020B0604030504040204" pitchFamily="34" charset="-120"/>
              </a:rPr>
              <a:t>常態分配（</a:t>
            </a:r>
            <a:r>
              <a:rPr lang="en-US" altLang="zh-TW" sz="4000" dirty="0">
                <a:latin typeface="微軟正黑體" panose="020B0604030504040204" pitchFamily="34" charset="-120"/>
                <a:ea typeface="微軟正黑體" panose="020B0604030504040204" pitchFamily="34" charset="-120"/>
              </a:rPr>
              <a:t>Normal distribution</a:t>
            </a:r>
            <a:r>
              <a:rPr lang="zh-TW" altLang="zh-TW" sz="4000" dirty="0">
                <a:latin typeface="微軟正黑體" panose="020B0604030504040204" pitchFamily="34" charset="-120"/>
                <a:ea typeface="微軟正黑體" panose="020B0604030504040204" pitchFamily="34" charset="-120"/>
              </a:rPr>
              <a:t>）</a:t>
            </a:r>
            <a:endParaRPr lang="zh-TW" altLang="en-US" sz="4000"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sz="quarter" idx="13"/>
          </p:nvPr>
        </p:nvSpPr>
        <p:spPr>
          <a:xfrm>
            <a:off x="628758" y="1197624"/>
            <a:ext cx="7804041" cy="5123542"/>
          </a:xfrm>
        </p:spPr>
        <p:txBody>
          <a:bodyPr>
            <a:normAutofit/>
          </a:bodyPr>
          <a:lstStyle/>
          <a:p>
            <a:pPr>
              <a:lnSpc>
                <a:spcPct val="110000"/>
              </a:lnSpc>
            </a:pPr>
            <a:r>
              <a:rPr lang="zh-TW" altLang="zh-TW" dirty="0">
                <a:latin typeface="微軟正黑體" panose="020B0604030504040204" pitchFamily="34" charset="-120"/>
                <a:ea typeface="微軟正黑體" panose="020B0604030504040204" pitchFamily="34" charset="-120"/>
              </a:rPr>
              <a:t>又稱高斯分配</a:t>
            </a:r>
            <a:r>
              <a:rPr lang="en-US" altLang="zh-TW" dirty="0">
                <a:latin typeface="微軟正黑體" panose="020B0604030504040204" pitchFamily="34" charset="-120"/>
                <a:ea typeface="微軟正黑體" panose="020B0604030504040204" pitchFamily="34" charset="-120"/>
              </a:rPr>
              <a:t>(Gaussian distribution)</a:t>
            </a:r>
            <a:r>
              <a:rPr lang="zh-TW" altLang="zh-TW" dirty="0">
                <a:latin typeface="微軟正黑體" panose="020B0604030504040204" pitchFamily="34" charset="-120"/>
                <a:ea typeface="微軟正黑體" panose="020B0604030504040204" pitchFamily="34" charset="-120"/>
              </a:rPr>
              <a:t>，是最常見的連續型分配，特色為分配會集中在平均值附近且左右對稱，外型有如一個鐘，屬於鐘形曲線</a:t>
            </a:r>
            <a:r>
              <a:rPr lang="en-US" altLang="zh-TW" dirty="0">
                <a:latin typeface="微軟正黑體" panose="020B0604030504040204" pitchFamily="34" charset="-120"/>
                <a:ea typeface="微軟正黑體" panose="020B0604030504040204" pitchFamily="34" charset="-120"/>
              </a:rPr>
              <a:t>(bell-shaped curve)</a:t>
            </a:r>
            <a:r>
              <a:rPr lang="zh-TW" altLang="zh-TW" dirty="0">
                <a:latin typeface="微軟正黑體" panose="020B0604030504040204" pitchFamily="34" charset="-120"/>
                <a:ea typeface="微軟正黑體" panose="020B0604030504040204" pitchFamily="34" charset="-120"/>
              </a:rPr>
              <a:t>分配，而這特性並遍存在生活中的資料分佈</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10000"/>
              </a:lnSpc>
            </a:pPr>
            <a:endParaRPr lang="en-US" altLang="zh-TW" dirty="0">
              <a:latin typeface="微軟正黑體" panose="020B0604030504040204" pitchFamily="34" charset="-120"/>
              <a:ea typeface="微軟正黑體" panose="020B0604030504040204" pitchFamily="34" charset="-120"/>
            </a:endParaRPr>
          </a:p>
          <a:p>
            <a:pPr>
              <a:lnSpc>
                <a:spcPct val="110000"/>
              </a:lnSpc>
            </a:pPr>
            <a:r>
              <a:rPr lang="zh-TW" altLang="zh-TW" dirty="0">
                <a:latin typeface="微軟正黑體" panose="020B0604030504040204" pitchFamily="34" charset="-120"/>
                <a:ea typeface="微軟正黑體" panose="020B0604030504040204" pitchFamily="34" charset="-120"/>
              </a:rPr>
              <a:t>圖</a:t>
            </a:r>
            <a:r>
              <a:rPr lang="en-US" altLang="zh-TW" dirty="0">
                <a:latin typeface="微軟正黑體" panose="020B0604030504040204" pitchFamily="34" charset="-120"/>
                <a:ea typeface="微軟正黑體" panose="020B0604030504040204" pitchFamily="34" charset="-120"/>
              </a:rPr>
              <a:t>2-4</a:t>
            </a:r>
            <a:r>
              <a:rPr lang="zh-TW" altLang="zh-TW" dirty="0">
                <a:latin typeface="微軟正黑體" panose="020B0604030504040204" pitchFamily="34" charset="-120"/>
                <a:ea typeface="微軟正黑體" panose="020B0604030504040204" pitchFamily="34" charset="-120"/>
              </a:rPr>
              <a:t>為</a:t>
            </a:r>
            <a:r>
              <a:rPr lang="en-US" altLang="zh-TW" dirty="0">
                <a:latin typeface="微軟正黑體" panose="020B0604030504040204" pitchFamily="34" charset="-120"/>
                <a:ea typeface="微軟正黑體" panose="020B0604030504040204" pitchFamily="34" charset="-120"/>
              </a:rPr>
              <a:t>57,387</a:t>
            </a:r>
            <a:r>
              <a:rPr lang="zh-TW" altLang="zh-TW" dirty="0">
                <a:latin typeface="微軟正黑體" panose="020B0604030504040204" pitchFamily="34" charset="-120"/>
                <a:ea typeface="微軟正黑體" panose="020B0604030504040204" pitchFamily="34" charset="-120"/>
              </a:rPr>
              <a:t>名基隆市無心血管疾病民眾收縮壓的分佈圖，平均值和標準差分別為</a:t>
            </a:r>
            <a:r>
              <a:rPr lang="en-US" altLang="zh-TW" dirty="0">
                <a:latin typeface="微軟正黑體" panose="020B0604030504040204" pitchFamily="34" charset="-120"/>
                <a:ea typeface="微軟正黑體" panose="020B0604030504040204" pitchFamily="34" charset="-120"/>
              </a:rPr>
              <a:t>122</a:t>
            </a:r>
            <a:r>
              <a:rPr lang="zh-TW" altLang="zh-TW" dirty="0">
                <a:latin typeface="微軟正黑體" panose="020B0604030504040204" pitchFamily="34" charset="-120"/>
                <a:ea typeface="微軟正黑體" panose="020B0604030504040204" pitchFamily="34" charset="-120"/>
              </a:rPr>
              <a:t>與</a:t>
            </a:r>
            <a:r>
              <a:rPr lang="en-US" altLang="zh-TW" dirty="0">
                <a:latin typeface="微軟正黑體" panose="020B0604030504040204" pitchFamily="34" charset="-120"/>
                <a:ea typeface="微軟正黑體" panose="020B0604030504040204" pitchFamily="34" charset="-120"/>
              </a:rPr>
              <a:t>20</a:t>
            </a:r>
            <a:r>
              <a:rPr lang="zh-TW" altLang="zh-TW" dirty="0">
                <a:latin typeface="微軟正黑體" panose="020B0604030504040204" pitchFamily="34" charset="-120"/>
                <a:ea typeface="微軟正黑體" panose="020B0604030504040204" pitchFamily="34" charset="-120"/>
              </a:rPr>
              <a:t>，圖中虛線部份為平均值和標準差分別為</a:t>
            </a:r>
            <a:r>
              <a:rPr lang="en-US" altLang="zh-TW" dirty="0">
                <a:latin typeface="微軟正黑體" panose="020B0604030504040204" pitchFamily="34" charset="-120"/>
                <a:ea typeface="微軟正黑體" panose="020B0604030504040204" pitchFamily="34" charset="-120"/>
              </a:rPr>
              <a:t>122</a:t>
            </a:r>
            <a:r>
              <a:rPr lang="zh-TW" altLang="zh-TW" dirty="0">
                <a:latin typeface="微軟正黑體" panose="020B0604030504040204" pitchFamily="34" charset="-120"/>
                <a:ea typeface="微軟正黑體" panose="020B0604030504040204" pitchFamily="34" charset="-120"/>
              </a:rPr>
              <a:t>與</a:t>
            </a:r>
            <a:r>
              <a:rPr lang="en-US" altLang="zh-TW" dirty="0">
                <a:latin typeface="微軟正黑體" panose="020B0604030504040204" pitchFamily="34" charset="-120"/>
                <a:ea typeface="微軟正黑體" panose="020B0604030504040204" pitchFamily="34" charset="-120"/>
              </a:rPr>
              <a:t>20</a:t>
            </a:r>
            <a:r>
              <a:rPr lang="zh-TW" altLang="zh-TW" dirty="0">
                <a:latin typeface="微軟正黑體" panose="020B0604030504040204" pitchFamily="34" charset="-120"/>
                <a:ea typeface="微軟正黑體" panose="020B0604030504040204" pitchFamily="34" charset="-120"/>
              </a:rPr>
              <a:t>的常態分態，可以發現兩者分配非常相似，表示可以利用常態分配來描述無心血管疾病民眾的收縮壓。</a:t>
            </a:r>
          </a:p>
          <a:p>
            <a:endParaRPr lang="zh-TW" altLang="en-US" dirty="0">
              <a:latin typeface="微軟正黑體" panose="020B0604030504040204" pitchFamily="34" charset="-120"/>
              <a:ea typeface="微軟正黑體" panose="020B0604030504040204" pitchFamily="34" charset="-120"/>
            </a:endParaRPr>
          </a:p>
        </p:txBody>
      </p:sp>
      <p:sp>
        <p:nvSpPr>
          <p:cNvPr id="7" name="投影片編號版面配置區 6"/>
          <p:cNvSpPr>
            <a:spLocks noGrp="1"/>
          </p:cNvSpPr>
          <p:nvPr>
            <p:ph type="sldNum" sz="quarter" idx="12"/>
          </p:nvPr>
        </p:nvSpPr>
        <p:spPr/>
        <p:txBody>
          <a:bodyPr/>
          <a:lstStyle/>
          <a:p>
            <a:fld id="{E2A80D49-6E30-4745-93AC-9D9D7F079020}" type="slidenum">
              <a:rPr lang="zh-TW" altLang="en-US" smtClean="0"/>
              <a:pPr/>
              <a:t>19</a:t>
            </a:fld>
            <a:endParaRPr lang="zh-TW" altLang="en-US"/>
          </a:p>
        </p:txBody>
      </p:sp>
      <p:sp>
        <p:nvSpPr>
          <p:cNvPr id="5" name="Rectangle 3"/>
          <p:cNvSpPr>
            <a:spLocks noChangeArrowheads="1"/>
          </p:cNvSpPr>
          <p:nvPr/>
        </p:nvSpPr>
        <p:spPr bwMode="auto">
          <a:xfrm>
            <a:off x="1" y="32157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Tree>
    <p:extLst>
      <p:ext uri="{BB962C8B-B14F-4D97-AF65-F5344CB8AC3E}">
        <p14:creationId xmlns:p14="http://schemas.microsoft.com/office/powerpoint/2010/main" val="3119159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457281" y="4602588"/>
            <a:ext cx="8231029" cy="531944"/>
          </a:xfrm>
        </p:spPr>
        <p:txBody>
          <a:bodyPr>
            <a:noAutofit/>
          </a:bodyPr>
          <a:lstStyle/>
          <a:p>
            <a:pPr marL="457200" lvl="0" algn="ctr">
              <a:lnSpc>
                <a:spcPct val="200000"/>
              </a:lnSpc>
            </a:pPr>
            <a:r>
              <a:rPr lang="zh-TW" altLang="zh-TW" sz="280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圖</a:t>
            </a:r>
            <a:r>
              <a:rPr lang="en-US" altLang="zh-TW" sz="280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2-4. 57,387</a:t>
            </a:r>
            <a:r>
              <a:rPr lang="zh-TW" altLang="en-US" sz="2800" kern="100"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名無心血管疾病基隆市民收縮壓</a:t>
            </a:r>
          </a:p>
        </p:txBody>
      </p:sp>
      <p:sp>
        <p:nvSpPr>
          <p:cNvPr id="2" name="內容版面配置區 1"/>
          <p:cNvSpPr>
            <a:spLocks noGrp="1"/>
          </p:cNvSpPr>
          <p:nvPr>
            <p:ph sz="quarter" idx="13"/>
          </p:nvPr>
        </p:nvSpPr>
        <p:spPr/>
        <p:txBody>
          <a:bodyPr/>
          <a:lstStyle/>
          <a:p>
            <a:endParaRPr lang="zh-TW" altLang="en-US" dirty="0"/>
          </a:p>
        </p:txBody>
      </p:sp>
      <p:sp>
        <p:nvSpPr>
          <p:cNvPr id="5" name="投影片編號版面配置區 4"/>
          <p:cNvSpPr>
            <a:spLocks noGrp="1"/>
          </p:cNvSpPr>
          <p:nvPr>
            <p:ph type="sldNum" sz="quarter" idx="12"/>
          </p:nvPr>
        </p:nvSpPr>
        <p:spPr/>
        <p:txBody>
          <a:bodyPr/>
          <a:lstStyle/>
          <a:p>
            <a:fld id="{E2A80D49-6E30-4745-93AC-9D9D7F079020}" type="slidenum">
              <a:rPr lang="zh-TW" altLang="en-US" smtClean="0"/>
              <a:pPr/>
              <a:t>20</a:t>
            </a:fld>
            <a:endParaRPr lang="zh-TW" altLang="en-US"/>
          </a:p>
        </p:txBody>
      </p:sp>
      <p:pic>
        <p:nvPicPr>
          <p:cNvPr id="4" name="圖片 8"/>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11034"/>
          <a:stretch>
            <a:fillRect/>
          </a:stretch>
        </p:blipFill>
        <p:spPr bwMode="auto">
          <a:xfrm>
            <a:off x="1240403" y="775151"/>
            <a:ext cx="6694999" cy="3951007"/>
          </a:xfrm>
          <a:prstGeom prst="rect">
            <a:avLst/>
          </a:prstGeo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5075" y="-190891"/>
            <a:ext cx="7799016" cy="1151965"/>
          </a:xfrm>
        </p:spPr>
        <p:txBody>
          <a:bodyPr/>
          <a:lstStyle/>
          <a:p>
            <a:r>
              <a:rPr lang="zh-TW" altLang="zh-TW" sz="3600" dirty="0">
                <a:latin typeface="微軟正黑體" panose="020B0604030504040204" pitchFamily="34" charset="-120"/>
                <a:ea typeface="微軟正黑體" panose="020B0604030504040204" pitchFamily="34" charset="-120"/>
              </a:rPr>
              <a:t>常態分配（</a:t>
            </a:r>
            <a:r>
              <a:rPr lang="en-US" altLang="zh-TW" sz="3600" dirty="0">
                <a:latin typeface="微軟正黑體" panose="020B0604030504040204" pitchFamily="34" charset="-120"/>
                <a:ea typeface="微軟正黑體" panose="020B0604030504040204" pitchFamily="34" charset="-120"/>
              </a:rPr>
              <a:t>Normal distribution</a:t>
            </a:r>
            <a:r>
              <a:rPr lang="zh-TW" altLang="zh-TW" sz="3600" dirty="0">
                <a:latin typeface="微軟正黑體" panose="020B0604030504040204" pitchFamily="34" charset="-120"/>
                <a:ea typeface="微軟正黑體" panose="020B0604030504040204" pitchFamily="34" charset="-120"/>
              </a:rPr>
              <a:t>）</a:t>
            </a:r>
            <a:endParaRPr lang="zh-TW" altLang="en-US" sz="3600"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3" name="內容版面配置區 2"/>
              <p:cNvSpPr>
                <a:spLocks noGrp="1"/>
              </p:cNvSpPr>
              <p:nvPr>
                <p:ph sz="quarter" idx="13"/>
              </p:nvPr>
            </p:nvSpPr>
            <p:spPr>
              <a:xfrm>
                <a:off x="245075" y="1317072"/>
                <a:ext cx="5331941" cy="4902659"/>
              </a:xfrm>
            </p:spPr>
            <p:txBody>
              <a:bodyPr>
                <a:normAutofit/>
              </a:bodyPr>
              <a:lstStyle/>
              <a:p>
                <a:r>
                  <a:rPr lang="zh-TW" altLang="zh-TW" dirty="0">
                    <a:latin typeface="微軟正黑體" panose="020B0604030504040204" pitchFamily="34" charset="-120"/>
                    <a:ea typeface="微軟正黑體" panose="020B0604030504040204" pitchFamily="34" charset="-120"/>
                  </a:rPr>
                  <a:t>常態分配有兩個參數平均值與變異數</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或標準差</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，一般會以</a:t>
                </a:r>
                <a14:m>
                  <m:oMath xmlns:m="http://schemas.openxmlformats.org/officeDocument/2006/math">
                    <m:r>
                      <a:rPr lang="en-US" altLang="zh-TW" i="1">
                        <a:latin typeface="Cambria Math" panose="02040503050406030204" pitchFamily="18" charset="0"/>
                      </a:rPr>
                      <m:t>𝜇</m:t>
                    </m:r>
                  </m:oMath>
                </a14:m>
                <a:r>
                  <a:rPr lang="zh-TW" altLang="zh-TW" dirty="0">
                    <a:latin typeface="微軟正黑體" panose="020B0604030504040204" pitchFamily="34" charset="-120"/>
                    <a:ea typeface="微軟正黑體" panose="020B0604030504040204" pitchFamily="34" charset="-120"/>
                  </a:rPr>
                  <a:t>和</a:t>
                </a:r>
                <a14:m>
                  <m:oMath xmlns:m="http://schemas.openxmlformats.org/officeDocument/2006/math">
                    <m:sSup>
                      <m:sSupPr>
                        <m:ctrlPr>
                          <a:rPr lang="zh-TW" altLang="zh-TW" i="1">
                            <a:latin typeface="Cambria Math" panose="02040503050406030204" pitchFamily="18" charset="0"/>
                          </a:rPr>
                        </m:ctrlPr>
                      </m:sSupPr>
                      <m:e>
                        <m:r>
                          <a:rPr lang="en-US" altLang="zh-TW" i="1">
                            <a:latin typeface="Cambria Math" panose="02040503050406030204" pitchFamily="18" charset="0"/>
                          </a:rPr>
                          <m:t>𝜎</m:t>
                        </m:r>
                      </m:e>
                      <m:sup>
                        <m:r>
                          <a:rPr lang="en-US" altLang="zh-TW" i="1">
                            <a:latin typeface="Cambria Math" panose="02040503050406030204" pitchFamily="18" charset="0"/>
                          </a:rPr>
                          <m:t>2</m:t>
                        </m:r>
                      </m:sup>
                    </m:sSup>
                  </m:oMath>
                </a14:m>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或</a:t>
                </a:r>
                <a14:m>
                  <m:oMath xmlns:m="http://schemas.openxmlformats.org/officeDocument/2006/math">
                    <m:r>
                      <a:rPr lang="en-US" altLang="zh-TW" i="1">
                        <a:latin typeface="Cambria Math" panose="02040503050406030204" pitchFamily="18" charset="0"/>
                      </a:rPr>
                      <m:t>𝜎</m:t>
                    </m:r>
                  </m:oMath>
                </a14:m>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表示，其機率密度函數可以表示成：</a:t>
                </a:r>
              </a:p>
              <a:p>
                <a:pPr marL="0" indent="0">
                  <a:buNone/>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𝑓</m:t>
                      </m:r>
                      <m:d>
                        <m:dPr>
                          <m:ctrlPr>
                            <a:rPr lang="zh-TW"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i="1">
                              <a:latin typeface="Cambria Math" panose="02040503050406030204" pitchFamily="18" charset="0"/>
                            </a:rPr>
                            <m:t>𝜇</m:t>
                          </m:r>
                          <m:r>
                            <a:rPr lang="en-US" altLang="zh-TW" sz="2400" i="1">
                              <a:latin typeface="Cambria Math" panose="02040503050406030204" pitchFamily="18" charset="0"/>
                            </a:rPr>
                            <m:t>, </m:t>
                          </m:r>
                          <m:sSup>
                            <m:sSupPr>
                              <m:ctrlPr>
                                <a:rPr lang="zh-TW" altLang="zh-TW" sz="2400" i="1">
                                  <a:latin typeface="Cambria Math" panose="02040503050406030204" pitchFamily="18" charset="0"/>
                                </a:rPr>
                              </m:ctrlPr>
                            </m:sSupPr>
                            <m:e>
                              <m:r>
                                <a:rPr lang="en-US" altLang="zh-TW" sz="2400" i="1">
                                  <a:latin typeface="Cambria Math" panose="02040503050406030204" pitchFamily="18" charset="0"/>
                                </a:rPr>
                                <m:t>𝜎</m:t>
                              </m:r>
                            </m:e>
                            <m:sup>
                              <m:r>
                                <a:rPr lang="en-US" altLang="zh-TW" sz="2400" i="1">
                                  <a:latin typeface="Cambria Math" panose="02040503050406030204" pitchFamily="18" charset="0"/>
                                </a:rPr>
                                <m:t>2</m:t>
                              </m:r>
                            </m:sup>
                          </m:sSup>
                        </m:e>
                      </m:d>
                      <m:r>
                        <a:rPr lang="en-US" altLang="zh-TW" sz="2400">
                          <a:latin typeface="Cambria Math" panose="02040503050406030204" pitchFamily="18" charset="0"/>
                        </a:rPr>
                        <m:t>=</m:t>
                      </m:r>
                      <m:f>
                        <m:fPr>
                          <m:ctrlPr>
                            <a:rPr lang="zh-TW" altLang="zh-TW" sz="2400" i="1">
                              <a:latin typeface="Cambria Math" panose="02040503050406030204" pitchFamily="18" charset="0"/>
                            </a:rPr>
                          </m:ctrlPr>
                        </m:fPr>
                        <m:num>
                          <m:r>
                            <a:rPr lang="en-US" altLang="zh-TW" sz="2400">
                              <a:latin typeface="Cambria Math" panose="02040503050406030204" pitchFamily="18" charset="0"/>
                            </a:rPr>
                            <m:t>1</m:t>
                          </m:r>
                        </m:num>
                        <m:den>
                          <m:rad>
                            <m:radPr>
                              <m:degHide m:val="on"/>
                              <m:ctrlPr>
                                <a:rPr lang="zh-TW" altLang="zh-TW" sz="2400" i="1">
                                  <a:latin typeface="Cambria Math" panose="02040503050406030204" pitchFamily="18" charset="0"/>
                                </a:rPr>
                              </m:ctrlPr>
                            </m:radPr>
                            <m:deg/>
                            <m:e>
                              <m:r>
                                <a:rPr lang="en-US" altLang="zh-TW" sz="2400" i="1">
                                  <a:latin typeface="Cambria Math" panose="02040503050406030204" pitchFamily="18" charset="0"/>
                                </a:rPr>
                                <m:t>2</m:t>
                              </m:r>
                              <m:r>
                                <a:rPr lang="en-US" altLang="zh-TW" sz="2400" i="1">
                                  <a:latin typeface="Cambria Math" panose="02040503050406030204" pitchFamily="18" charset="0"/>
                                </a:rPr>
                                <m:t>𝜋</m:t>
                              </m:r>
                              <m:sSup>
                                <m:sSupPr>
                                  <m:ctrlPr>
                                    <a:rPr lang="zh-TW" altLang="zh-TW" sz="2400" i="1">
                                      <a:latin typeface="Cambria Math" panose="02040503050406030204" pitchFamily="18" charset="0"/>
                                    </a:rPr>
                                  </m:ctrlPr>
                                </m:sSupPr>
                                <m:e>
                                  <m:r>
                                    <a:rPr lang="en-US" altLang="zh-TW" sz="2400" i="1">
                                      <a:latin typeface="Cambria Math" panose="02040503050406030204" pitchFamily="18" charset="0"/>
                                    </a:rPr>
                                    <m:t>𝜎</m:t>
                                  </m:r>
                                </m:e>
                                <m:sup>
                                  <m:r>
                                    <a:rPr lang="en-US" altLang="zh-TW" sz="2400" i="1">
                                      <a:latin typeface="Cambria Math" panose="02040503050406030204" pitchFamily="18" charset="0"/>
                                    </a:rPr>
                                    <m:t>2</m:t>
                                  </m:r>
                                </m:sup>
                              </m:sSup>
                            </m:e>
                          </m:rad>
                        </m:den>
                      </m:f>
                      <m:sSup>
                        <m:sSupPr>
                          <m:ctrlPr>
                            <a:rPr lang="zh-TW" altLang="zh-TW" sz="2400" i="1">
                              <a:latin typeface="Cambria Math" panose="02040503050406030204" pitchFamily="18" charset="0"/>
                            </a:rPr>
                          </m:ctrlPr>
                        </m:sSupPr>
                        <m:e>
                          <m:r>
                            <a:rPr lang="en-US" altLang="zh-TW" sz="2400" i="1">
                              <a:latin typeface="Cambria Math" panose="02040503050406030204" pitchFamily="18" charset="0"/>
                            </a:rPr>
                            <m:t>𝑒</m:t>
                          </m:r>
                        </m:e>
                        <m:sup>
                          <m:r>
                            <a:rPr lang="en-US" altLang="zh-TW" sz="2400" i="1">
                              <a:latin typeface="Cambria Math" panose="02040503050406030204" pitchFamily="18" charset="0"/>
                            </a:rPr>
                            <m:t>−</m:t>
                          </m:r>
                          <m:f>
                            <m:fPr>
                              <m:ctrlPr>
                                <a:rPr lang="zh-TW"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2</m:t>
                              </m:r>
                              <m:sSup>
                                <m:sSupPr>
                                  <m:ctrlPr>
                                    <a:rPr lang="zh-TW" altLang="zh-TW" sz="2400" i="1">
                                      <a:latin typeface="Cambria Math" panose="02040503050406030204" pitchFamily="18" charset="0"/>
                                    </a:rPr>
                                  </m:ctrlPr>
                                </m:sSupPr>
                                <m:e>
                                  <m:r>
                                    <a:rPr lang="en-US" altLang="zh-TW" sz="2400" i="1">
                                      <a:latin typeface="Cambria Math" panose="02040503050406030204" pitchFamily="18" charset="0"/>
                                    </a:rPr>
                                    <m:t>𝜎</m:t>
                                  </m:r>
                                </m:e>
                                <m:sup>
                                  <m:r>
                                    <a:rPr lang="en-US" altLang="zh-TW" sz="2400" i="1">
                                      <a:latin typeface="Cambria Math" panose="02040503050406030204" pitchFamily="18" charset="0"/>
                                    </a:rPr>
                                    <m:t>2</m:t>
                                  </m:r>
                                </m:sup>
                              </m:sSup>
                            </m:den>
                          </m:f>
                          <m:sSup>
                            <m:sSupPr>
                              <m:ctrlPr>
                                <a:rPr lang="zh-TW" altLang="zh-TW" sz="2400" i="1">
                                  <a:latin typeface="Cambria Math" panose="02040503050406030204" pitchFamily="18" charset="0"/>
                                </a:rPr>
                              </m:ctrlPr>
                            </m:sSupPr>
                            <m:e>
                              <m:d>
                                <m:dPr>
                                  <m:ctrlPr>
                                    <a:rPr lang="zh-TW"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r>
                                    <a:rPr lang="en-US" altLang="zh-TW" sz="2400" i="1">
                                      <a:latin typeface="Cambria Math" panose="02040503050406030204" pitchFamily="18" charset="0"/>
                                    </a:rPr>
                                    <m:t>𝜇</m:t>
                                  </m:r>
                                </m:e>
                              </m:d>
                            </m:e>
                            <m:sup>
                              <m:r>
                                <a:rPr lang="en-US" altLang="zh-TW" sz="2400" i="1">
                                  <a:latin typeface="Cambria Math" panose="02040503050406030204" pitchFamily="18" charset="0"/>
                                </a:rPr>
                                <m:t>2</m:t>
                              </m:r>
                            </m:sup>
                          </m:sSup>
                        </m:sup>
                      </m:sSup>
                      <m:r>
                        <a:rPr lang="en-US" altLang="zh-TW" sz="2400" i="1">
                          <a:latin typeface="Cambria Math" panose="02040503050406030204" pitchFamily="18" charset="0"/>
                        </a:rPr>
                        <m:t>  ,</m:t>
                      </m:r>
                    </m:oMath>
                  </m:oMathPara>
                </a14:m>
                <a:endParaRPr lang="en-US" altLang="zh-TW" sz="2400" i="1" dirty="0">
                  <a:latin typeface="微軟正黑體" panose="020B0604030504040204" pitchFamily="34" charset="-120"/>
                  <a:ea typeface="微軟正黑體" panose="020B0604030504040204" pitchFamily="34" charset="-120"/>
                </a:endParaRPr>
              </a:p>
              <a:p>
                <a:pPr marL="256032" lvl="1" indent="0">
                  <a:buNone/>
                </a:pPr>
                <a14:m>
                  <m:oMathPara xmlns:m="http://schemas.openxmlformats.org/officeDocument/2006/math">
                    <m:oMathParaPr>
                      <m:jc m:val="left"/>
                    </m:oMathParaPr>
                    <m:oMath xmlns:m="http://schemas.openxmlformats.org/officeDocument/2006/math">
                      <m:r>
                        <a:rPr lang="en-US" altLang="zh-TW" sz="2000" i="1">
                          <a:latin typeface="Cambria Math" panose="02040503050406030204" pitchFamily="18" charset="0"/>
                        </a:rPr>
                        <m:t>−∞&lt;</m:t>
                      </m:r>
                      <m:r>
                        <a:rPr lang="en-US" altLang="zh-TW" sz="2000" i="1">
                          <a:latin typeface="Cambria Math" panose="02040503050406030204" pitchFamily="18" charset="0"/>
                        </a:rPr>
                        <m:t>𝑥</m:t>
                      </m:r>
                      <m:r>
                        <a:rPr lang="en-US" altLang="zh-TW" sz="2000" i="1">
                          <a:latin typeface="Cambria Math" panose="02040503050406030204" pitchFamily="18" charset="0"/>
                        </a:rPr>
                        <m:t>&lt;∞</m:t>
                      </m:r>
                      <m:r>
                        <a:rPr lang="en-US" altLang="zh-TW" sz="2000">
                          <a:latin typeface="Cambria Math" panose="02040503050406030204" pitchFamily="18" charset="0"/>
                        </a:rPr>
                        <m:t>, </m:t>
                      </m:r>
                      <m:r>
                        <a:rPr lang="en-US" altLang="zh-TW" sz="2000" i="1">
                          <a:latin typeface="Cambria Math" panose="02040503050406030204" pitchFamily="18" charset="0"/>
                        </a:rPr>
                        <m:t>−</m:t>
                      </m:r>
                      <m:r>
                        <a:rPr lang="en-US" altLang="zh-TW" sz="2000">
                          <a:latin typeface="Cambria Math" panose="02040503050406030204" pitchFamily="18" charset="0"/>
                        </a:rPr>
                        <m:t>∞&lt;</m:t>
                      </m:r>
                      <m:r>
                        <m:rPr>
                          <m:sty m:val="p"/>
                        </m:rPr>
                        <a:rPr lang="en-US" altLang="zh-TW" sz="2000">
                          <a:latin typeface="Cambria Math" panose="02040503050406030204" pitchFamily="18" charset="0"/>
                        </a:rPr>
                        <m:t>μ</m:t>
                      </m:r>
                      <m:r>
                        <a:rPr lang="en-US" altLang="zh-TW" sz="2000">
                          <a:latin typeface="Cambria Math" panose="02040503050406030204" pitchFamily="18" charset="0"/>
                        </a:rPr>
                        <m:t>&lt;∞, </m:t>
                      </m:r>
                    </m:oMath>
                  </m:oMathPara>
                </a14:m>
                <a:endParaRPr lang="en-US" altLang="zh-TW" sz="2000" dirty="0">
                  <a:latin typeface="微軟正黑體" panose="020B0604030504040204" pitchFamily="34" charset="-120"/>
                  <a:ea typeface="微軟正黑體" panose="020B0604030504040204" pitchFamily="34" charset="-120"/>
                </a:endParaRPr>
              </a:p>
              <a:p>
                <a:pPr marL="256032" lvl="1" indent="0">
                  <a:buNone/>
                </a:pPr>
                <a14:m>
                  <m:oMathPara xmlns:m="http://schemas.openxmlformats.org/officeDocument/2006/math">
                    <m:oMathParaPr>
                      <m:jc m:val="left"/>
                    </m:oMathParaPr>
                    <m:oMath xmlns:m="http://schemas.openxmlformats.org/officeDocument/2006/math">
                      <m:r>
                        <a:rPr lang="en-US" altLang="zh-TW" sz="2000">
                          <a:latin typeface="Cambria Math" panose="02040503050406030204" pitchFamily="18" charset="0"/>
                        </a:rPr>
                        <m:t>0&lt;</m:t>
                      </m:r>
                      <m:sSup>
                        <m:sSupPr>
                          <m:ctrlPr>
                            <a:rPr lang="zh-TW" altLang="zh-TW" sz="2000" i="1">
                              <a:latin typeface="Cambria Math" panose="02040503050406030204" pitchFamily="18" charset="0"/>
                            </a:rPr>
                          </m:ctrlPr>
                        </m:sSupPr>
                        <m:e>
                          <m:r>
                            <m:rPr>
                              <m:sty m:val="p"/>
                            </m:rPr>
                            <a:rPr lang="en-US" altLang="zh-TW" sz="2000">
                              <a:latin typeface="Cambria Math" panose="02040503050406030204" pitchFamily="18" charset="0"/>
                            </a:rPr>
                            <m:t>σ</m:t>
                          </m:r>
                        </m:e>
                        <m:sup>
                          <m:r>
                            <a:rPr lang="en-US" altLang="zh-TW" sz="2000">
                              <a:latin typeface="Cambria Math" panose="02040503050406030204" pitchFamily="18" charset="0"/>
                            </a:rPr>
                            <m:t>2</m:t>
                          </m:r>
                        </m:sup>
                      </m:sSup>
                      <m:r>
                        <a:rPr lang="en-US" altLang="zh-TW" sz="2000" i="1">
                          <a:latin typeface="Cambria Math" panose="02040503050406030204" pitchFamily="18" charset="0"/>
                        </a:rPr>
                        <m:t>&lt;∞</m:t>
                      </m:r>
                      <m:r>
                        <a:rPr lang="zh-TW" altLang="zh-TW" sz="2000">
                          <a:latin typeface="Cambria Math" panose="02040503050406030204" pitchFamily="18" charset="0"/>
                        </a:rPr>
                        <m:t>。</m:t>
                      </m:r>
                    </m:oMath>
                  </m:oMathPara>
                </a14:m>
                <a:endParaRPr lang="en-US" altLang="zh-TW" sz="2000" dirty="0">
                  <a:latin typeface="微軟正黑體" panose="020B0604030504040204" pitchFamily="34" charset="-120"/>
                  <a:ea typeface="微軟正黑體" panose="020B0604030504040204" pitchFamily="34" charset="-120"/>
                </a:endParaRPr>
              </a:p>
              <a:p>
                <a:pPr>
                  <a:spcBef>
                    <a:spcPts val="1200"/>
                  </a:spcBef>
                </a:pPr>
                <a:r>
                  <a:rPr lang="zh-TW" altLang="zh-TW" dirty="0">
                    <a:latin typeface="微軟正黑體" panose="020B0604030504040204" pitchFamily="34" charset="-120"/>
                    <a:ea typeface="微軟正黑體" panose="020B0604030504040204" pitchFamily="34" charset="-120"/>
                  </a:rPr>
                  <a:t>常態分配主要集中在平均值並以</a:t>
                </a:r>
                <a:r>
                  <a:rPr lang="zh-TW" altLang="zh-TW" b="1" dirty="0">
                    <a:latin typeface="微軟正黑體" panose="020B0604030504040204" pitchFamily="34" charset="-120"/>
                    <a:ea typeface="微軟正黑體" panose="020B0604030504040204" pitchFamily="34" charset="-120"/>
                  </a:rPr>
                  <a:t>平均值為中心對稱分佈</a:t>
                </a:r>
                <a:r>
                  <a:rPr lang="zh-TW" altLang="zh-TW" dirty="0">
                    <a:latin typeface="微軟正黑體" panose="020B0604030504040204" pitchFamily="34" charset="-120"/>
                    <a:ea typeface="微軟正黑體" panose="020B0604030504040204" pitchFamily="34" charset="-120"/>
                  </a:rPr>
                  <a:t>，</a:t>
                </a:r>
                <a:r>
                  <a:rPr lang="zh-TW" altLang="zh-TW" b="1" dirty="0">
                    <a:latin typeface="微軟正黑體" panose="020B0604030504040204" pitchFamily="34" charset="-120"/>
                    <a:ea typeface="微軟正黑體" panose="020B0604030504040204" pitchFamily="34" charset="-120"/>
                  </a:rPr>
                  <a:t>變異數會影響到整個分佈的形狀</a:t>
                </a:r>
                <a:r>
                  <a:rPr lang="zh-TW" altLang="zh-TW" dirty="0">
                    <a:latin typeface="微軟正黑體" panose="020B0604030504040204" pitchFamily="34" charset="-120"/>
                    <a:ea typeface="微軟正黑體" panose="020B0604030504040204" pitchFamily="34" charset="-120"/>
                  </a:rPr>
                  <a:t>，愈大時分配會愈扁平</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endParaRPr lang="zh-TW"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mc:Choice>
        <mc:Fallback xmlns="">
          <p:sp>
            <p:nvSpPr>
              <p:cNvPr id="3" name="內容版面配置區 2"/>
              <p:cNvSpPr>
                <a:spLocks noGrp="1" noRot="1" noChangeAspect="1" noMove="1" noResize="1" noEditPoints="1" noAdjustHandles="1" noChangeArrowheads="1" noChangeShapeType="1" noTextEdit="1"/>
              </p:cNvSpPr>
              <p:nvPr>
                <p:ph sz="quarter" idx="13"/>
              </p:nvPr>
            </p:nvSpPr>
            <p:spPr>
              <a:xfrm>
                <a:off x="245075" y="1317072"/>
                <a:ext cx="5331941" cy="4902659"/>
              </a:xfrm>
              <a:blipFill>
                <a:blip r:embed="rId2"/>
                <a:stretch>
                  <a:fillRect l="-2629" t="-5100" r="-1257"/>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fld id="{E2A80D49-6E30-4745-93AC-9D9D7F079020}" type="slidenum">
              <a:rPr lang="zh-TW" altLang="en-US" smtClean="0"/>
              <a:pPr/>
              <a:t>21</a:t>
            </a:fld>
            <a:endParaRPr lang="zh-TW" altLang="en-US"/>
          </a:p>
        </p:txBody>
      </p:sp>
      <p:pic>
        <p:nvPicPr>
          <p:cNvPr id="4" name="圖片 3"/>
          <p:cNvPicPr/>
          <p:nvPr/>
        </p:nvPicPr>
        <p:blipFill rotWithShape="1">
          <a:blip r:embed="rId3" cstate="print">
            <a:clrChange>
              <a:clrFrom>
                <a:srgbClr val="FFFFFF"/>
              </a:clrFrom>
              <a:clrTo>
                <a:srgbClr val="FFFFFF">
                  <a:alpha val="0"/>
                </a:srgbClr>
              </a:clrTo>
            </a:clrChange>
            <a:alphaModFix/>
            <a:extLst>
              <a:ext uri="{28A0092B-C50C-407E-A947-70E740481C1C}">
                <a14:useLocalDpi xmlns:a14="http://schemas.microsoft.com/office/drawing/2010/main" val="0"/>
              </a:ext>
            </a:extLst>
          </a:blip>
          <a:srcRect t="13166" r="4337" b="3327"/>
          <a:stretch/>
        </p:blipFill>
        <p:spPr bwMode="auto">
          <a:xfrm>
            <a:off x="5701399" y="1417638"/>
            <a:ext cx="3013232" cy="396990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683666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73989" y="0"/>
            <a:ext cx="7799016" cy="1151965"/>
          </a:xfrm>
        </p:spPr>
        <p:txBody>
          <a:bodyPr/>
          <a:lstStyle/>
          <a:p>
            <a:r>
              <a:rPr lang="zh-TW" altLang="en-US" dirty="0">
                <a:latin typeface="微軟正黑體" panose="020B0604030504040204" pitchFamily="34" charset="-120"/>
                <a:ea typeface="微軟正黑體" panose="020B0604030504040204" pitchFamily="34" charset="-120"/>
              </a:rPr>
              <a:t>常態分配</a:t>
            </a:r>
          </a:p>
        </p:txBody>
      </p:sp>
      <p:pic>
        <p:nvPicPr>
          <p:cNvPr id="4" name="內容版面配置區 3" descr="normal distribution - Google Search - Internet Explorer"/>
          <p:cNvPicPr>
            <a:picLocks noGrp="1" noChangeAspect="1"/>
          </p:cNvPicPr>
          <p:nvPr>
            <p:ph sz="quarter" idx="13"/>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11356" t="30093" r="44978" b="12268"/>
          <a:stretch/>
        </p:blipFill>
        <p:spPr>
          <a:xfrm>
            <a:off x="179109" y="1414021"/>
            <a:ext cx="4870563" cy="3649752"/>
          </a:xfrm>
        </p:spPr>
      </p:pic>
      <p:sp>
        <p:nvSpPr>
          <p:cNvPr id="5" name="文字方塊 4"/>
          <p:cNvSpPr txBox="1"/>
          <p:nvPr/>
        </p:nvSpPr>
        <p:spPr>
          <a:xfrm>
            <a:off x="5294769" y="2111604"/>
            <a:ext cx="3396745" cy="2015936"/>
          </a:xfrm>
          <a:prstGeom prst="rect">
            <a:avLst/>
          </a:prstGeom>
          <a:noFill/>
        </p:spPr>
        <p:txBody>
          <a:bodyPr wrap="square" rtlCol="0">
            <a:spAutoFit/>
          </a:bodyPr>
          <a:lstStyle/>
          <a:p>
            <a:pPr marL="214341" indent="-214341">
              <a:buFont typeface="Arial" panose="020B0604020202020204" pitchFamily="34" charset="0"/>
              <a:buChar char="•"/>
            </a:pPr>
            <a:r>
              <a:rPr lang="en-US" altLang="zh-TW" sz="1350" b="1" dirty="0">
                <a:latin typeface="Arial" panose="020B0604020202020204" pitchFamily="34" charset="0"/>
                <a:cs typeface="Arial" panose="020B0604020202020204" pitchFamily="34" charset="0"/>
              </a:rPr>
              <a:t>68%</a:t>
            </a:r>
            <a:r>
              <a:rPr lang="en-US" altLang="zh-TW" sz="1350" dirty="0">
                <a:latin typeface="Arial" panose="020B0604020202020204" pitchFamily="34" charset="0"/>
                <a:cs typeface="Arial" panose="020B0604020202020204" pitchFamily="34" charset="0"/>
              </a:rPr>
              <a:t> of values are within</a:t>
            </a:r>
            <a:br>
              <a:rPr lang="en-US" altLang="zh-TW" sz="1350" dirty="0">
                <a:latin typeface="Arial" panose="020B0604020202020204" pitchFamily="34" charset="0"/>
                <a:cs typeface="Arial" panose="020B0604020202020204" pitchFamily="34" charset="0"/>
              </a:rPr>
            </a:br>
            <a:r>
              <a:rPr lang="en-US" altLang="zh-TW" sz="1400" b="1" dirty="0">
                <a:latin typeface="Arial" panose="020B0604020202020204" pitchFamily="34" charset="0"/>
                <a:cs typeface="Arial" panose="020B0604020202020204" pitchFamily="34" charset="0"/>
              </a:rPr>
              <a:t>1 standard deviation</a:t>
            </a:r>
            <a:r>
              <a:rPr lang="en-US" altLang="zh-TW" sz="1400" dirty="0">
                <a:latin typeface="Arial" panose="020B0604020202020204" pitchFamily="34" charset="0"/>
                <a:cs typeface="Arial" panose="020B0604020202020204" pitchFamily="34" charset="0"/>
              </a:rPr>
              <a:t> of the mean</a:t>
            </a:r>
          </a:p>
          <a:p>
            <a:endParaRPr lang="en-US" altLang="zh-TW" sz="1400" dirty="0">
              <a:latin typeface="Arial" panose="020B0604020202020204" pitchFamily="34" charset="0"/>
              <a:cs typeface="Arial" panose="020B0604020202020204" pitchFamily="34" charset="0"/>
            </a:endParaRPr>
          </a:p>
          <a:p>
            <a:pPr marL="214341" indent="-214341">
              <a:buFont typeface="Arial" panose="020B0604020202020204" pitchFamily="34" charset="0"/>
              <a:buChar char="•"/>
            </a:pPr>
            <a:r>
              <a:rPr lang="en-US" altLang="zh-TW" sz="1400" b="1" dirty="0">
                <a:latin typeface="Arial" panose="020B0604020202020204" pitchFamily="34" charset="0"/>
                <a:cs typeface="Arial" panose="020B0604020202020204" pitchFamily="34" charset="0"/>
              </a:rPr>
              <a:t>95%</a:t>
            </a:r>
            <a:r>
              <a:rPr lang="en-US" altLang="zh-TW" sz="1400" dirty="0">
                <a:latin typeface="Arial" panose="020B0604020202020204" pitchFamily="34" charset="0"/>
                <a:cs typeface="Arial" panose="020B0604020202020204" pitchFamily="34" charset="0"/>
              </a:rPr>
              <a:t> of values are within </a:t>
            </a:r>
            <a:br>
              <a:rPr lang="en-US" altLang="zh-TW" sz="1400" dirty="0">
                <a:latin typeface="Arial" panose="020B0604020202020204" pitchFamily="34" charset="0"/>
                <a:cs typeface="Arial" panose="020B0604020202020204" pitchFamily="34" charset="0"/>
              </a:rPr>
            </a:br>
            <a:r>
              <a:rPr lang="en-US" altLang="zh-TW" sz="1400" b="1" dirty="0">
                <a:latin typeface="Arial" panose="020B0604020202020204" pitchFamily="34" charset="0"/>
                <a:cs typeface="Arial" panose="020B0604020202020204" pitchFamily="34" charset="0"/>
              </a:rPr>
              <a:t>2 standard deviations</a:t>
            </a:r>
            <a:r>
              <a:rPr lang="en-US" altLang="zh-TW" sz="1400" dirty="0">
                <a:latin typeface="Arial" panose="020B0604020202020204" pitchFamily="34" charset="0"/>
                <a:cs typeface="Arial" panose="020B0604020202020204" pitchFamily="34" charset="0"/>
              </a:rPr>
              <a:t> of the mean</a:t>
            </a:r>
          </a:p>
          <a:p>
            <a:endParaRPr lang="en-US" altLang="zh-TW" sz="1400" dirty="0">
              <a:latin typeface="Arial" panose="020B0604020202020204" pitchFamily="34" charset="0"/>
              <a:cs typeface="Arial" panose="020B0604020202020204" pitchFamily="34" charset="0"/>
            </a:endParaRPr>
          </a:p>
          <a:p>
            <a:pPr marL="214341" indent="-214341">
              <a:buFont typeface="Arial" panose="020B0604020202020204" pitchFamily="34" charset="0"/>
              <a:buChar char="•"/>
            </a:pPr>
            <a:r>
              <a:rPr lang="en-US" altLang="zh-TW" sz="1400" b="1" dirty="0">
                <a:latin typeface="Arial" panose="020B0604020202020204" pitchFamily="34" charset="0"/>
                <a:cs typeface="Arial" panose="020B0604020202020204" pitchFamily="34" charset="0"/>
              </a:rPr>
              <a:t>99.7%</a:t>
            </a:r>
            <a:r>
              <a:rPr lang="en-US" altLang="zh-TW" sz="1400" dirty="0">
                <a:latin typeface="Arial" panose="020B0604020202020204" pitchFamily="34" charset="0"/>
                <a:cs typeface="Arial" panose="020B0604020202020204" pitchFamily="34" charset="0"/>
              </a:rPr>
              <a:t> of values are within </a:t>
            </a:r>
            <a:br>
              <a:rPr lang="en-US" altLang="zh-TW" sz="1400" b="1" dirty="0">
                <a:latin typeface="Arial" panose="020B0604020202020204" pitchFamily="34" charset="0"/>
                <a:cs typeface="Arial" panose="020B0604020202020204" pitchFamily="34" charset="0"/>
              </a:rPr>
            </a:br>
            <a:r>
              <a:rPr lang="en-US" altLang="zh-TW" sz="1400" b="1" dirty="0">
                <a:latin typeface="Arial" panose="020B0604020202020204" pitchFamily="34" charset="0"/>
                <a:cs typeface="Arial" panose="020B0604020202020204" pitchFamily="34" charset="0"/>
              </a:rPr>
              <a:t>3 standard deviations</a:t>
            </a:r>
            <a:r>
              <a:rPr lang="en-US" altLang="zh-TW" sz="1400" dirty="0">
                <a:latin typeface="Arial" panose="020B0604020202020204" pitchFamily="34" charset="0"/>
                <a:cs typeface="Arial" panose="020B0604020202020204" pitchFamily="34" charset="0"/>
              </a:rPr>
              <a:t> of the mean</a:t>
            </a:r>
          </a:p>
          <a:p>
            <a:endParaRPr lang="zh-TW" altLang="en-US" sz="13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7127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514440" y="182172"/>
            <a:ext cx="7797384" cy="3311189"/>
          </a:xfrm>
        </p:spPr>
        <p:txBody>
          <a:bodyPr/>
          <a:lstStyle/>
          <a:p>
            <a:r>
              <a:rPr lang="en-US" altLang="zh-TW" dirty="0">
                <a:latin typeface="微軟正黑體" panose="020B0604030504040204" pitchFamily="34" charset="-120"/>
                <a:ea typeface="微軟正黑體" panose="020B0604030504040204" pitchFamily="34" charset="-120"/>
              </a:rPr>
              <a:t>Example: </a:t>
            </a:r>
            <a:r>
              <a:rPr lang="en-US" altLang="zh-TW" dirty="0">
                <a:effectLst/>
                <a:latin typeface="微軟正黑體" panose="020B0604030504040204" pitchFamily="34" charset="-120"/>
                <a:ea typeface="微軟正黑體" panose="020B0604030504040204" pitchFamily="34" charset="-120"/>
              </a:rPr>
              <a:t>95% of students at school are between 1.1m and 1.7m tall. What is the 99</a:t>
            </a:r>
            <a:r>
              <a:rPr lang="en-US" altLang="zh-TW" baseline="30000" dirty="0">
                <a:effectLst/>
                <a:latin typeface="微軟正黑體" panose="020B0604030504040204" pitchFamily="34" charset="-120"/>
                <a:ea typeface="微軟正黑體" panose="020B0604030504040204" pitchFamily="34" charset="-120"/>
              </a:rPr>
              <a:t>th</a:t>
            </a:r>
            <a:r>
              <a:rPr lang="en-US" altLang="zh-TW" dirty="0">
                <a:effectLst/>
                <a:latin typeface="微軟正黑體" panose="020B0604030504040204" pitchFamily="34" charset="-120"/>
                <a:ea typeface="微軟正黑體" panose="020B0604030504040204" pitchFamily="34" charset="-120"/>
              </a:rPr>
              <a:t> students height?</a:t>
            </a:r>
          </a:p>
          <a:p>
            <a:endParaRPr lang="en-US" altLang="zh-TW" dirty="0">
              <a:effectLst/>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Mean=(1.1+1.7)/2=1.4</a:t>
            </a:r>
          </a:p>
          <a:p>
            <a:pPr lvl="1"/>
            <a:r>
              <a:rPr lang="en-US" altLang="zh-TW" dirty="0">
                <a:latin typeface="微軟正黑體" panose="020B0604030504040204" pitchFamily="34" charset="-120"/>
                <a:ea typeface="微軟正黑體" panose="020B0604030504040204" pitchFamily="34" charset="-120"/>
              </a:rPr>
              <a:t>STD=(1.7-1.1)/4=0.15</a:t>
            </a:r>
          </a:p>
          <a:p>
            <a:pPr lvl="1"/>
            <a:r>
              <a:rPr lang="en-US" altLang="zh-TW" dirty="0">
                <a:latin typeface="微軟正黑體" panose="020B0604030504040204" pitchFamily="34" charset="-120"/>
                <a:ea typeface="微軟正黑體" panose="020B0604030504040204" pitchFamily="34" charset="-120"/>
              </a:rPr>
              <a:t>99</a:t>
            </a:r>
            <a:r>
              <a:rPr lang="en-US" altLang="zh-TW" baseline="30000" dirty="0">
                <a:latin typeface="微軟正黑體" panose="020B0604030504040204" pitchFamily="34" charset="-120"/>
                <a:ea typeface="微軟正黑體" panose="020B0604030504040204" pitchFamily="34" charset="-120"/>
              </a:rPr>
              <a:t>th</a:t>
            </a:r>
            <a:r>
              <a:rPr lang="en-US" altLang="zh-TW" dirty="0">
                <a:latin typeface="微軟正黑體" panose="020B0604030504040204" pitchFamily="34" charset="-120"/>
                <a:ea typeface="微軟正黑體" panose="020B0604030504040204" pitchFamily="34" charset="-120"/>
              </a:rPr>
              <a:t> student is around 1.4+0.15*3=1.85</a:t>
            </a:r>
            <a:endParaRPr lang="zh-TW" altLang="en-US" dirty="0">
              <a:latin typeface="微軟正黑體" panose="020B0604030504040204" pitchFamily="34" charset="-120"/>
              <a:ea typeface="微軟正黑體" panose="020B0604030504040204" pitchFamily="34" charset="-120"/>
            </a:endParaRPr>
          </a:p>
        </p:txBody>
      </p:sp>
      <p:pic>
        <p:nvPicPr>
          <p:cNvPr id="4" name="圖片 3" descr="Normal Distribution - Internet Explore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4143" t="69938" r="42429" b="16967"/>
          <a:stretch/>
        </p:blipFill>
        <p:spPr>
          <a:xfrm>
            <a:off x="2107096" y="3566647"/>
            <a:ext cx="4587902" cy="1943607"/>
          </a:xfrm>
          <a:prstGeom prst="rect">
            <a:avLst/>
          </a:prstGeom>
        </p:spPr>
      </p:pic>
      <p:sp>
        <p:nvSpPr>
          <p:cNvPr id="5" name="文字方塊 4"/>
          <p:cNvSpPr txBox="1"/>
          <p:nvPr/>
        </p:nvSpPr>
        <p:spPr>
          <a:xfrm>
            <a:off x="7512447" y="5697433"/>
            <a:ext cx="2155745" cy="219291"/>
          </a:xfrm>
          <a:prstGeom prst="rect">
            <a:avLst/>
          </a:prstGeom>
          <a:noFill/>
        </p:spPr>
        <p:txBody>
          <a:bodyPr wrap="square" rtlCol="0">
            <a:spAutoFit/>
          </a:bodyPr>
          <a:lstStyle/>
          <a:p>
            <a:r>
              <a:rPr lang="en-US" altLang="zh-TW" sz="825" i="1" dirty="0"/>
              <a:t>Retrieved from </a:t>
            </a:r>
            <a:r>
              <a:rPr lang="en-US" altLang="zh-TW" sz="825" i="1" dirty="0" err="1"/>
              <a:t>mathisfun</a:t>
            </a:r>
            <a:endParaRPr lang="zh-TW" altLang="en-US" sz="825" i="1" dirty="0"/>
          </a:p>
        </p:txBody>
      </p:sp>
    </p:spTree>
    <p:extLst>
      <p:ext uri="{BB962C8B-B14F-4D97-AF65-F5344CB8AC3E}">
        <p14:creationId xmlns:p14="http://schemas.microsoft.com/office/powerpoint/2010/main" val="2899599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7287" y="82486"/>
            <a:ext cx="7799016" cy="1151965"/>
          </a:xfrm>
        </p:spPr>
        <p:txBody>
          <a:bodyPr/>
          <a:lstStyle/>
          <a:p>
            <a:r>
              <a:rPr lang="zh-TW" altLang="en-US" dirty="0">
                <a:latin typeface="微軟正黑體" panose="020B0604030504040204" pitchFamily="34" charset="-120"/>
                <a:ea typeface="微軟正黑體" panose="020B0604030504040204" pitchFamily="34" charset="-120"/>
              </a:rPr>
              <a:t>標準化</a:t>
            </a:r>
          </a:p>
        </p:txBody>
      </p:sp>
      <p:sp>
        <p:nvSpPr>
          <p:cNvPr id="3" name="內容版面配置區 2"/>
          <p:cNvSpPr>
            <a:spLocks noGrp="1"/>
          </p:cNvSpPr>
          <p:nvPr>
            <p:ph sz="quarter" idx="13"/>
          </p:nvPr>
        </p:nvSpPr>
        <p:spPr>
          <a:xfrm>
            <a:off x="401318" y="526827"/>
            <a:ext cx="7797384" cy="3311189"/>
          </a:xfrm>
        </p:spPr>
        <p:txBody>
          <a:bodyPr/>
          <a:lstStyle/>
          <a:p>
            <a:r>
              <a:rPr lang="zh-TW" altLang="en-US" dirty="0">
                <a:latin typeface="微軟正黑體" panose="020B0604030504040204" pitchFamily="34" charset="-120"/>
                <a:ea typeface="微軟正黑體" panose="020B0604030504040204" pitchFamily="34" charset="-120"/>
              </a:rPr>
              <a:t>標準化</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數值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平均值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標準差</a:t>
            </a:r>
          </a:p>
        </p:txBody>
      </p:sp>
      <p:pic>
        <p:nvPicPr>
          <p:cNvPr id="4" name="圖片 3" descr="Normal Distribution - Internet Explorer"/>
          <p:cNvPicPr>
            <a:picLocks noChangeAspect="1"/>
          </p:cNvPicPr>
          <p:nvPr/>
        </p:nvPicPr>
        <p:blipFill rotWithShape="1">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l="34357" t="58545" r="35357" b="23122"/>
          <a:stretch/>
        </p:blipFill>
        <p:spPr>
          <a:xfrm>
            <a:off x="1160736" y="2544474"/>
            <a:ext cx="6512118" cy="2433042"/>
          </a:xfrm>
          <a:prstGeom prst="rect">
            <a:avLst/>
          </a:prstGeom>
        </p:spPr>
      </p:pic>
      <p:sp>
        <p:nvSpPr>
          <p:cNvPr id="5" name="Rectangle 2"/>
          <p:cNvSpPr>
            <a:spLocks noChangeArrowheads="1"/>
          </p:cNvSpPr>
          <p:nvPr/>
        </p:nvSpPr>
        <p:spPr bwMode="auto">
          <a:xfrm>
            <a:off x="3963089" y="4776652"/>
            <a:ext cx="138588" cy="277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92" tIns="34296" rIns="68592" bIns="34296" numCol="1" anchor="ctr" anchorCtr="0" compatLnSpc="1">
            <a:prstTxWarp prst="textNoShape">
              <a:avLst/>
            </a:prstTxWarp>
            <a:spAutoFit/>
          </a:bodyPr>
          <a:lstStyle/>
          <a:p>
            <a:endParaRPr lang="zh-TW" altLang="en-US" sz="1350"/>
          </a:p>
        </p:txBody>
      </p:sp>
      <p:graphicFrame>
        <p:nvGraphicFramePr>
          <p:cNvPr id="6" name="物件 5"/>
          <p:cNvGraphicFramePr>
            <a:graphicFrameLocks noChangeAspect="1"/>
          </p:cNvGraphicFramePr>
          <p:nvPr>
            <p:extLst>
              <p:ext uri="{D42A27DB-BD31-4B8C-83A1-F6EECF244321}">
                <p14:modId xmlns:p14="http://schemas.microsoft.com/office/powerpoint/2010/main" val="143472457"/>
              </p:ext>
            </p:extLst>
          </p:nvPr>
        </p:nvGraphicFramePr>
        <p:xfrm>
          <a:off x="3846303" y="5053663"/>
          <a:ext cx="907414" cy="478714"/>
        </p:xfrm>
        <a:graphic>
          <a:graphicData uri="http://schemas.openxmlformats.org/presentationml/2006/ole">
            <mc:AlternateContent xmlns:mc="http://schemas.openxmlformats.org/markup-compatibility/2006">
              <mc:Choice xmlns:v="urn:schemas-microsoft-com:vml" Requires="v">
                <p:oleObj name="方程式" r:id="rId3" imgW="1205977" imgH="634725" progId="Equation.3">
                  <p:embed/>
                </p:oleObj>
              </mc:Choice>
              <mc:Fallback>
                <p:oleObj name="方程式" r:id="rId3" imgW="1205977" imgH="63472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6303" y="5053663"/>
                        <a:ext cx="907414" cy="4787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14366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72440" y="0"/>
            <a:ext cx="8231029" cy="947351"/>
          </a:xfrm>
        </p:spPr>
        <p:txBody>
          <a:bodyPr>
            <a:normAutofit fontScale="90000"/>
          </a:bodyPr>
          <a:lstStyle/>
          <a:p>
            <a:r>
              <a:rPr lang="zh-TW" altLang="zh-TW" sz="4000" dirty="0">
                <a:latin typeface="微軟正黑體" panose="020B0604030504040204" pitchFamily="34" charset="-120"/>
                <a:ea typeface="微軟正黑體" panose="020B0604030504040204" pitchFamily="34" charset="-120"/>
              </a:rPr>
              <a:t>常態分配（</a:t>
            </a:r>
            <a:r>
              <a:rPr lang="en-US" altLang="zh-TW" sz="4000" dirty="0">
                <a:latin typeface="微軟正黑體" panose="020B0604030504040204" pitchFamily="34" charset="-120"/>
                <a:ea typeface="微軟正黑體" panose="020B0604030504040204" pitchFamily="34" charset="-120"/>
              </a:rPr>
              <a:t>Normal distribution</a:t>
            </a:r>
            <a:r>
              <a:rPr lang="zh-TW" altLang="zh-TW" sz="4000" dirty="0">
                <a:latin typeface="微軟正黑體" panose="020B0604030504040204" pitchFamily="34" charset="-120"/>
                <a:ea typeface="微軟正黑體" panose="020B0604030504040204" pitchFamily="34" charset="-120"/>
              </a:rPr>
              <a:t>）</a:t>
            </a:r>
            <a:endParaRPr lang="zh-TW" altLang="en-US" sz="4000"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3" name="內容版面配置區 2"/>
              <p:cNvSpPr>
                <a:spLocks noGrp="1"/>
              </p:cNvSpPr>
              <p:nvPr>
                <p:ph sz="quarter" idx="13"/>
              </p:nvPr>
            </p:nvSpPr>
            <p:spPr>
              <a:xfrm>
                <a:off x="372440" y="1106575"/>
                <a:ext cx="8231029" cy="4491534"/>
              </a:xfrm>
            </p:spPr>
            <p:txBody>
              <a:bodyPr>
                <a:normAutofit/>
              </a:bodyPr>
              <a:lstStyle/>
              <a:p>
                <a:r>
                  <a:rPr lang="zh-TW" altLang="zh-TW" dirty="0">
                    <a:latin typeface="微軟正黑體" panose="020B0604030504040204" pitchFamily="34" charset="-120"/>
                    <a:ea typeface="微軟正黑體" panose="020B0604030504040204" pitchFamily="34" charset="-120"/>
                  </a:rPr>
                  <a:t>平均數為</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且變異數為</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的分配稱為</a:t>
                </a:r>
                <a:r>
                  <a:rPr lang="zh-TW" altLang="zh-TW" b="1" dirty="0">
                    <a:latin typeface="微軟正黑體" panose="020B0604030504040204" pitchFamily="34" charset="-120"/>
                    <a:ea typeface="微軟正黑體" panose="020B0604030504040204" pitchFamily="34" charset="-120"/>
                  </a:rPr>
                  <a:t>標準常態分配</a:t>
                </a:r>
                <a:r>
                  <a:rPr lang="en-US" altLang="zh-TW" dirty="0">
                    <a:latin typeface="微軟正黑體" panose="020B0604030504040204" pitchFamily="34" charset="-120"/>
                    <a:ea typeface="微軟正黑體" panose="020B0604030504040204" pitchFamily="34" charset="-120"/>
                  </a:rPr>
                  <a:t>(standard normal distribution)</a:t>
                </a:r>
                <a:r>
                  <a:rPr lang="zh-TW" altLang="zh-TW" dirty="0">
                    <a:latin typeface="微軟正黑體" panose="020B0604030504040204" pitchFamily="34" charset="-120"/>
                    <a:ea typeface="微軟正黑體" panose="020B0604030504040204" pitchFamily="34" charset="-120"/>
                  </a:rPr>
                  <a:t>，通常會以</a:t>
                </a:r>
                <a:r>
                  <a:rPr lang="en-US" altLang="zh-TW" dirty="0">
                    <a:latin typeface="微軟正黑體" panose="020B0604030504040204" pitchFamily="34" charset="-120"/>
                    <a:ea typeface="微軟正黑體" panose="020B0604030504040204" pitchFamily="34" charset="-120"/>
                  </a:rPr>
                  <a:t>Z</a:t>
                </a:r>
                <a:r>
                  <a:rPr lang="zh-TW" altLang="zh-TW" dirty="0">
                    <a:latin typeface="微軟正黑體" panose="020B0604030504040204" pitchFamily="34" charset="-120"/>
                    <a:ea typeface="微軟正黑體" panose="020B0604030504040204" pitchFamily="34" charset="-120"/>
                  </a:rPr>
                  <a:t>分配表示，任何不同參數的常態分配隨機變數</a:t>
                </a:r>
                <a:r>
                  <a:rPr lang="en-US" altLang="zh-TW" dirty="0">
                    <a:latin typeface="微軟正黑體" panose="020B0604030504040204" pitchFamily="34" charset="-120"/>
                    <a:ea typeface="微軟正黑體" panose="020B0604030504040204" pitchFamily="34" charset="-120"/>
                  </a:rPr>
                  <a:t>(X)</a:t>
                </a:r>
                <a:r>
                  <a:rPr lang="zh-TW" altLang="zh-TW" dirty="0">
                    <a:latin typeface="微軟正黑體" panose="020B0604030504040204" pitchFamily="34" charset="-120"/>
                    <a:ea typeface="微軟正黑體" panose="020B0604030504040204" pitchFamily="34" charset="-120"/>
                  </a:rPr>
                  <a:t>減掉平均值除以標準差</a:t>
                </a:r>
                <a:r>
                  <a:rPr lang="en-US" altLang="zh-TW" dirty="0">
                    <a:latin typeface="微軟正黑體" panose="020B0604030504040204" pitchFamily="34" charset="-120"/>
                    <a:ea typeface="微軟正黑體" panose="020B0604030504040204" pitchFamily="34" charset="-120"/>
                  </a:rPr>
                  <a:t>(standard deviation)</a:t>
                </a:r>
                <a:r>
                  <a:rPr lang="zh-TW" altLang="zh-TW" dirty="0">
                    <a:latin typeface="微軟正黑體" panose="020B0604030504040204" pitchFamily="34" charset="-120"/>
                    <a:ea typeface="微軟正黑體" panose="020B0604030504040204" pitchFamily="34" charset="-120"/>
                  </a:rPr>
                  <a:t>會變成一個標準常態分配，</a:t>
                </a:r>
                <a:endParaRPr lang="en-US" altLang="zh-TW" sz="3200" i="1" dirty="0">
                  <a:latin typeface="微軟正黑體" panose="020B0604030504040204" pitchFamily="34" charset="-120"/>
                  <a:ea typeface="微軟正黑體" panose="020B0604030504040204" pitchFamily="34" charset="-120"/>
                </a:endParaRPr>
              </a:p>
              <a:p>
                <a:pPr marL="109728" indent="0">
                  <a:buNone/>
                </a:pPr>
                <a14:m>
                  <m:oMathPara xmlns:m="http://schemas.openxmlformats.org/officeDocument/2006/math">
                    <m:oMathParaPr>
                      <m:jc m:val="centerGroup"/>
                    </m:oMathParaPr>
                    <m:oMath xmlns:m="http://schemas.openxmlformats.org/officeDocument/2006/math">
                      <m:box>
                        <m:boxPr>
                          <m:ctrlPr>
                            <a:rPr lang="zh-TW" altLang="en-US" sz="3200" i="1" dirty="0">
                              <a:latin typeface="Cambria Math" panose="02040503050406030204" pitchFamily="18" charset="0"/>
                            </a:rPr>
                          </m:ctrlPr>
                        </m:boxPr>
                        <m:e>
                          <m:argPr>
                            <m:argSz m:val="-1"/>
                          </m:argPr>
                          <m:r>
                            <m:rPr>
                              <m:brk m:alnAt="63"/>
                            </m:rPr>
                            <a:rPr lang="en-US" altLang="zh-TW" sz="3200" i="1" dirty="0">
                              <a:latin typeface="Cambria Math" panose="02040503050406030204" pitchFamily="18" charset="0"/>
                            </a:rPr>
                            <m:t>𝑍</m:t>
                          </m:r>
                          <m:r>
                            <a:rPr lang="en-US" altLang="zh-TW" sz="3200" i="1" dirty="0">
                              <a:latin typeface="Cambria Math" panose="02040503050406030204" pitchFamily="18" charset="0"/>
                            </a:rPr>
                            <m:t>=</m:t>
                          </m:r>
                          <m:f>
                            <m:fPr>
                              <m:ctrlPr>
                                <a:rPr lang="en-US" altLang="zh-TW" sz="3200" i="1" dirty="0">
                                  <a:latin typeface="Cambria Math" panose="02040503050406030204" pitchFamily="18" charset="0"/>
                                </a:rPr>
                              </m:ctrlPr>
                            </m:fPr>
                            <m:num>
                              <m:r>
                                <a:rPr lang="en-US" altLang="zh-TW" sz="3200" i="1" dirty="0">
                                  <a:latin typeface="Cambria Math" panose="02040503050406030204" pitchFamily="18" charset="0"/>
                                </a:rPr>
                                <m:t>𝑋</m:t>
                              </m:r>
                              <m:r>
                                <a:rPr lang="en-US" altLang="zh-TW" sz="3200" i="1" dirty="0">
                                  <a:latin typeface="Cambria Math" panose="02040503050406030204" pitchFamily="18" charset="0"/>
                                </a:rPr>
                                <m:t>−</m:t>
                              </m:r>
                              <m:r>
                                <a:rPr lang="zh-TW" altLang="en-US" sz="3200" i="1" dirty="0">
                                  <a:latin typeface="Cambria Math" panose="02040503050406030204" pitchFamily="18" charset="0"/>
                                </a:rPr>
                                <m:t>𝜇</m:t>
                              </m:r>
                            </m:num>
                            <m:den>
                              <m:r>
                                <a:rPr lang="zh-TW" altLang="en-US" sz="3200" i="1" dirty="0">
                                  <a:latin typeface="Cambria Math" panose="02040503050406030204" pitchFamily="18" charset="0"/>
                                </a:rPr>
                                <m:t>𝜎</m:t>
                              </m:r>
                            </m:den>
                          </m:f>
                        </m:e>
                      </m:box>
                      <m:r>
                        <a:rPr lang="en-US" altLang="zh-TW" sz="3200" b="0" i="1" dirty="0" smtClean="0">
                          <a:latin typeface="Cambria Math" panose="02040503050406030204" pitchFamily="18" charset="0"/>
                        </a:rPr>
                        <m:t>~</m:t>
                      </m:r>
                      <m:r>
                        <a:rPr lang="en-US" altLang="zh-TW" sz="3200" b="0" i="1" dirty="0" smtClean="0">
                          <a:latin typeface="Cambria Math" panose="02040503050406030204" pitchFamily="18" charset="0"/>
                        </a:rPr>
                        <m:t>𝑁</m:t>
                      </m:r>
                      <m:r>
                        <a:rPr lang="en-US" altLang="zh-TW" sz="3200" b="0" i="1" dirty="0" smtClean="0">
                          <a:latin typeface="Cambria Math" panose="02040503050406030204" pitchFamily="18" charset="0"/>
                        </a:rPr>
                        <m:t>(0,1)</m:t>
                      </m:r>
                      <m:r>
                        <a:rPr lang="zh-TW" altLang="en-US" sz="3200" i="1" dirty="0">
                          <a:latin typeface="Cambria Math" panose="02040503050406030204" pitchFamily="18" charset="0"/>
                        </a:rPr>
                        <m:t>，</m:t>
                      </m:r>
                    </m:oMath>
                  </m:oMathPara>
                </a14:m>
                <a:endParaRPr lang="en-US" altLang="zh-TW" sz="3200" dirty="0">
                  <a:latin typeface="微軟正黑體" panose="020B0604030504040204" pitchFamily="34" charset="-120"/>
                  <a:ea typeface="微軟正黑體" panose="020B0604030504040204" pitchFamily="34" charset="-120"/>
                </a:endParaRPr>
              </a:p>
              <a:p>
                <a:pPr marL="109728" indent="0">
                  <a:spcBef>
                    <a:spcPts val="1200"/>
                  </a:spcBef>
                  <a:buNone/>
                </a:pPr>
                <a:r>
                  <a:rPr lang="zh-TW" altLang="zh-TW" dirty="0">
                    <a:latin typeface="微軟正黑體" panose="020B0604030504040204" pitchFamily="34" charset="-120"/>
                    <a:ea typeface="微軟正黑體" panose="020B0604030504040204" pitchFamily="34" charset="-120"/>
                  </a:rPr>
                  <a:t>此步驟稱為標準化</a:t>
                </a:r>
                <a:r>
                  <a:rPr lang="en-US" altLang="zh-TW" dirty="0">
                    <a:latin typeface="微軟正黑體" panose="020B0604030504040204" pitchFamily="34" charset="-120"/>
                    <a:ea typeface="微軟正黑體" panose="020B0604030504040204" pitchFamily="34" charset="-120"/>
                  </a:rPr>
                  <a:t>(standardize)</a:t>
                </a:r>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在計算常態分配的機率時，都會透過標準化步驟求得機率。</a:t>
                </a:r>
                <a:endParaRPr lang="en-US" altLang="zh-TW" dirty="0">
                  <a:latin typeface="微軟正黑體" panose="020B0604030504040204" pitchFamily="34" charset="-120"/>
                  <a:ea typeface="微軟正黑體" panose="020B0604030504040204" pitchFamily="34" charset="-120"/>
                </a:endParaRPr>
              </a:p>
              <a:p>
                <a:pPr marL="109728" indent="0">
                  <a:spcBef>
                    <a:spcPts val="1200"/>
                  </a:spcBef>
                  <a:buNone/>
                </a:pPr>
                <a:endParaRPr lang="en-US" altLang="zh-TW" sz="3200" dirty="0">
                  <a:latin typeface="微軟正黑體" panose="020B0604030504040204" pitchFamily="34" charset="-120"/>
                  <a:ea typeface="微軟正黑體" panose="020B0604030504040204" pitchFamily="34" charset="-120"/>
                </a:endParaRPr>
              </a:p>
            </p:txBody>
          </p:sp>
        </mc:Choice>
        <mc:Fallback>
          <p:sp>
            <p:nvSpPr>
              <p:cNvPr id="3" name="內容版面配置區 2"/>
              <p:cNvSpPr>
                <a:spLocks noGrp="1" noRot="1" noChangeAspect="1" noMove="1" noResize="1" noEditPoints="1" noAdjustHandles="1" noChangeArrowheads="1" noChangeShapeType="1" noTextEdit="1"/>
              </p:cNvSpPr>
              <p:nvPr>
                <p:ph sz="quarter" idx="13"/>
              </p:nvPr>
            </p:nvSpPr>
            <p:spPr>
              <a:xfrm>
                <a:off x="372440" y="1106575"/>
                <a:ext cx="8231029" cy="4491534"/>
              </a:xfrm>
              <a:blipFill>
                <a:blip r:embed="rId2"/>
                <a:stretch>
                  <a:fillRect l="-1704" r="-22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E2A80D49-6E30-4745-93AC-9D9D7F079020}" type="slidenum">
              <a:rPr lang="zh-TW" altLang="en-US" smtClean="0"/>
              <a:pPr/>
              <a:t>25</a:t>
            </a:fld>
            <a:endParaRPr lang="zh-TW" altLang="en-US"/>
          </a:p>
        </p:txBody>
      </p:sp>
    </p:spTree>
    <p:extLst>
      <p:ext uri="{BB962C8B-B14F-4D97-AF65-F5344CB8AC3E}">
        <p14:creationId xmlns:p14="http://schemas.microsoft.com/office/powerpoint/2010/main" val="3205606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07050" y="-202353"/>
            <a:ext cx="7799016" cy="1151965"/>
          </a:xfrm>
        </p:spPr>
        <p:txBody>
          <a:bodyPr/>
          <a:lstStyle/>
          <a:p>
            <a:r>
              <a:rPr lang="zh-TW" altLang="zh-TW" sz="3200" dirty="0">
                <a:latin typeface="微軟正黑體" panose="020B0604030504040204" pitchFamily="34" charset="-120"/>
                <a:ea typeface="微軟正黑體" panose="020B0604030504040204" pitchFamily="34" charset="-120"/>
              </a:rPr>
              <a:t>常態分配（</a:t>
            </a:r>
            <a:r>
              <a:rPr lang="en-US" altLang="zh-TW" sz="3200" dirty="0">
                <a:latin typeface="微軟正黑體" panose="020B0604030504040204" pitchFamily="34" charset="-120"/>
                <a:ea typeface="微軟正黑體" panose="020B0604030504040204" pitchFamily="34" charset="-120"/>
              </a:rPr>
              <a:t>Normal distribution</a:t>
            </a:r>
            <a:r>
              <a:rPr lang="zh-TW" altLang="zh-TW" sz="3200" dirty="0">
                <a:latin typeface="微軟正黑體" panose="020B0604030504040204" pitchFamily="34" charset="-120"/>
                <a:ea typeface="微軟正黑體" panose="020B0604030504040204" pitchFamily="34" charset="-120"/>
              </a:rPr>
              <a:t>）</a:t>
            </a:r>
            <a:endParaRPr lang="zh-TW" altLang="en-US" sz="3200"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307050" y="-411151"/>
            <a:ext cx="8231029" cy="4367965"/>
          </a:xfrm>
        </p:spPr>
        <p:txBody>
          <a:bodyPr/>
          <a:lstStyle/>
          <a:p>
            <a:r>
              <a:rPr lang="zh-TW" altLang="en-US" sz="2000" dirty="0">
                <a:latin typeface="微軟正黑體" panose="020B0604030504040204" pitchFamily="34" charset="-120"/>
                <a:ea typeface="微軟正黑體" panose="020B0604030504040204" pitchFamily="34" charset="-120"/>
              </a:rPr>
              <a:t>由</a:t>
            </a:r>
            <a:r>
              <a:rPr lang="zh-TW" altLang="zh-TW" sz="2000" dirty="0">
                <a:latin typeface="微軟正黑體" panose="020B0604030504040204" pitchFamily="34" charset="-120"/>
                <a:ea typeface="微軟正黑體" panose="020B0604030504040204" pitchFamily="34" charset="-120"/>
              </a:rPr>
              <a:t>於常態分配</a:t>
            </a:r>
            <a:r>
              <a:rPr lang="zh-TW" altLang="en-US" sz="2000" dirty="0">
                <a:latin typeface="微軟正黑體" panose="020B0604030504040204" pitchFamily="34" charset="-120"/>
                <a:ea typeface="微軟正黑體" panose="020B0604030504040204" pitchFamily="34" charset="-120"/>
              </a:rPr>
              <a:t>之</a:t>
            </a:r>
            <a:r>
              <a:rPr lang="zh-TW" altLang="zh-TW" sz="2000" dirty="0">
                <a:latin typeface="微軟正黑體" panose="020B0604030504040204" pitchFamily="34" charset="-120"/>
                <a:ea typeface="微軟正黑體" panose="020B0604030504040204" pitchFamily="34" charset="-120"/>
              </a:rPr>
              <a:t>機率分</a:t>
            </a:r>
            <a:r>
              <a:rPr lang="zh-TW" altLang="en-US" sz="2000" dirty="0">
                <a:latin typeface="微軟正黑體" panose="020B0604030504040204" pitchFamily="34" charset="-120"/>
                <a:ea typeface="微軟正黑體" panose="020B0604030504040204" pitchFamily="34" charset="-120"/>
              </a:rPr>
              <a:t>布</a:t>
            </a:r>
            <a:r>
              <a:rPr lang="zh-TW" altLang="zh-TW" sz="2000" dirty="0">
                <a:latin typeface="微軟正黑體" panose="020B0604030504040204" pitchFamily="34" charset="-120"/>
                <a:ea typeface="微軟正黑體" panose="020B0604030504040204" pitchFamily="34" charset="-120"/>
              </a:rPr>
              <a:t>因計算不容易，通常會利用已計算好的標準常態分配表供大家查表求得機率，現在由於電腦計算的發達，不須再利用查表方式求得一個區間的機率，</a:t>
            </a:r>
            <a:r>
              <a:rPr lang="zh-TW" altLang="en-US" sz="2000" dirty="0">
                <a:latin typeface="微軟正黑體" panose="020B0604030504040204" pitchFamily="34" charset="-120"/>
                <a:ea typeface="微軟正黑體" panose="020B0604030504040204" pitchFamily="34" charset="-120"/>
              </a:rPr>
              <a:t>如，</a:t>
            </a:r>
            <a:r>
              <a:rPr lang="en-US" altLang="zh-TW" dirty="0" err="1">
                <a:latin typeface="微軟正黑體" panose="020B0604030504040204" pitchFamily="34" charset="-120"/>
                <a:ea typeface="微軟正黑體" panose="020B0604030504040204" pitchFamily="34" charset="-120"/>
                <a:hlinkClick r:id="rId2"/>
              </a:rPr>
              <a:t>Univ</a:t>
            </a:r>
            <a:r>
              <a:rPr lang="en-US" altLang="zh-TW" dirty="0">
                <a:latin typeface="微軟正黑體" panose="020B0604030504040204" pitchFamily="34" charset="-120"/>
                <a:ea typeface="微軟正黑體" panose="020B0604030504040204" pitchFamily="34" charset="-120"/>
                <a:hlinkClick r:id="rId2"/>
              </a:rPr>
              <a:t> of IOWA</a:t>
            </a:r>
            <a:r>
              <a:rPr lang="zh-TW" altLang="zh-TW" sz="2000" dirty="0">
                <a:latin typeface="微軟正黑體" panose="020B0604030504040204" pitchFamily="34" charset="-120"/>
                <a:ea typeface="微軟正黑體" panose="020B0604030504040204" pitchFamily="34" charset="-120"/>
              </a:rPr>
              <a:t>亦提供計算常態分配機率的功能</a:t>
            </a:r>
            <a:r>
              <a:rPr lang="zh-TW" altLang="en-US" sz="2000" dirty="0">
                <a:latin typeface="微軟正黑體" panose="020B0604030504040204" pitchFamily="34" charset="-120"/>
                <a:ea typeface="微軟正黑體" panose="020B0604030504040204" pitchFamily="34" charset="-120"/>
              </a:rPr>
              <a:t>。</a:t>
            </a:r>
          </a:p>
          <a:p>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E2A80D49-6E30-4745-93AC-9D9D7F079020}" type="slidenum">
              <a:rPr lang="zh-TW" altLang="en-US" smtClean="0"/>
              <a:pPr/>
              <a:t>26</a:t>
            </a:fld>
            <a:endParaRPr lang="zh-TW" altLang="en-US"/>
          </a:p>
        </p:txBody>
      </p:sp>
      <p:pic>
        <p:nvPicPr>
          <p:cNvPr id="6" name="圖片 5" descr="常態累積機率表 - Internet Explorer"/>
          <p:cNvPicPr>
            <a:picLocks noChangeAspect="1"/>
          </p:cNvPicPr>
          <p:nvPr/>
        </p:nvPicPr>
        <p:blipFill rotWithShape="1">
          <a:blip r:embed="rId3">
            <a:extLst>
              <a:ext uri="{28A0092B-C50C-407E-A947-70E740481C1C}">
                <a14:useLocalDpi xmlns:a14="http://schemas.microsoft.com/office/drawing/2010/main" val="0"/>
              </a:ext>
            </a:extLst>
          </a:blip>
          <a:srcRect l="5963" t="12873" r="6504" b="709"/>
          <a:stretch/>
        </p:blipFill>
        <p:spPr>
          <a:xfrm>
            <a:off x="0" y="2257112"/>
            <a:ext cx="8838538" cy="4181395"/>
          </a:xfrm>
          <a:prstGeom prst="rect">
            <a:avLst/>
          </a:prstGeom>
        </p:spPr>
      </p:pic>
    </p:spTree>
    <p:extLst>
      <p:ext uri="{BB962C8B-B14F-4D97-AF65-F5344CB8AC3E}">
        <p14:creationId xmlns:p14="http://schemas.microsoft.com/office/powerpoint/2010/main" val="1889739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82" y="274638"/>
            <a:ext cx="8217162" cy="1143000"/>
          </a:xfrm>
        </p:spPr>
        <p:txBody>
          <a:bodyPr/>
          <a:lstStyle/>
          <a:p>
            <a:r>
              <a:rPr lang="zh-TW" altLang="en-US" sz="3600" dirty="0">
                <a:latin typeface="微軟正黑體" panose="020B0604030504040204" pitchFamily="34" charset="-120"/>
                <a:ea typeface="微軟正黑體" panose="020B0604030504040204" pitchFamily="34" charset="-120"/>
              </a:rPr>
              <a:t>抽樣分配</a:t>
            </a:r>
            <a:r>
              <a:rPr lang="en-US" altLang="zh-TW" sz="3600" dirty="0">
                <a:latin typeface="微軟正黑體" panose="020B0604030504040204" pitchFamily="34" charset="-120"/>
                <a:ea typeface="微軟正黑體" panose="020B0604030504040204" pitchFamily="34" charset="-120"/>
              </a:rPr>
              <a:t>(sampling distribution)</a:t>
            </a:r>
            <a:endParaRPr lang="zh-TW" altLang="en-US" sz="3600" dirty="0">
              <a:latin typeface="微軟正黑體" panose="020B0604030504040204" pitchFamily="34" charset="-120"/>
              <a:ea typeface="微軟正黑體" panose="020B0604030504040204" pitchFamily="34" charset="-120"/>
            </a:endParaRPr>
          </a:p>
        </p:txBody>
      </p:sp>
      <p:sp>
        <p:nvSpPr>
          <p:cNvPr id="3" name="內容版面配置區 2"/>
          <p:cNvSpPr>
            <a:spLocks noGrp="1" noRot="1" noChangeAspect="1" noMove="1" noResize="1" noEditPoints="1" noAdjustHandles="1" noChangeArrowheads="1" noChangeShapeType="1" noTextEdit="1"/>
          </p:cNvSpPr>
          <p:nvPr>
            <p:ph sz="quarter" idx="13"/>
          </p:nvPr>
        </p:nvSpPr>
        <p:spPr>
          <a:blipFill rotWithShape="0">
            <a:blip r:embed="rId2" cstate="print"/>
            <a:stretch>
              <a:fillRect l="-1043" t="-2381" r="-4522"/>
            </a:stretch>
          </a:blipFill>
        </p:spPr>
        <p:txBody>
          <a:bodyPr/>
          <a:lstStyle/>
          <a:p>
            <a:pPr>
              <a:buNone/>
            </a:pPr>
            <a:endParaRPr lang="zh-TW" altLang="en-US" dirty="0">
              <a:noFill/>
            </a:endParaRPr>
          </a:p>
        </p:txBody>
      </p:sp>
      <p:sp>
        <p:nvSpPr>
          <p:cNvPr id="4" name="投影片編號版面配置區 3"/>
          <p:cNvSpPr>
            <a:spLocks noGrp="1"/>
          </p:cNvSpPr>
          <p:nvPr>
            <p:ph type="sldNum" sz="quarter" idx="12"/>
          </p:nvPr>
        </p:nvSpPr>
        <p:spPr/>
        <p:txBody>
          <a:bodyPr/>
          <a:lstStyle/>
          <a:p>
            <a:fld id="{E2A80D49-6E30-4745-93AC-9D9D7F079020}" type="slidenum">
              <a:rPr lang="zh-TW" altLang="en-US" smtClean="0"/>
              <a:pPr/>
              <a:t>27</a:t>
            </a:fld>
            <a:endParaRPr lang="zh-TW" altLang="en-US"/>
          </a:p>
        </p:txBody>
      </p:sp>
      <p:pic>
        <p:nvPicPr>
          <p:cNvPr id="7" name="內容版面配置區 4" descr="http://www.aui.ma/personal/~F.Chaatit/mth3301slides/5-27-CLT.pdf - Internet Explorer"/>
          <p:cNvPicPr>
            <a:picLocks noChangeAspect="1"/>
          </p:cNvPicPr>
          <p:nvPr/>
        </p:nvPicPr>
        <p:blipFill rotWithShape="1">
          <a:blip r:embed="rId3">
            <a:extLst>
              <a:ext uri="{28A0092B-C50C-407E-A947-70E740481C1C}">
                <a14:useLocalDpi xmlns:a14="http://schemas.microsoft.com/office/drawing/2010/main" val="0"/>
              </a:ext>
            </a:extLst>
          </a:blip>
          <a:srcRect l="29665" t="53745" r="31672" b="33594"/>
          <a:stretch/>
        </p:blipFill>
        <p:spPr>
          <a:xfrm>
            <a:off x="2025460" y="4606152"/>
            <a:ext cx="5096256" cy="959807"/>
          </a:xfrm>
          <a:prstGeom prst="rect">
            <a:avLst/>
          </a:prstGeom>
          <a:blipFill rotWithShape="0">
            <a:blip r:embed="rId2" cstate="print"/>
            <a:stretch>
              <a:fillRect l="-1043" t="-2381" r="-4522"/>
            </a:stretch>
          </a:blipFill>
        </p:spPr>
      </p:pic>
    </p:spTree>
    <p:extLst>
      <p:ext uri="{BB962C8B-B14F-4D97-AF65-F5344CB8AC3E}">
        <p14:creationId xmlns:p14="http://schemas.microsoft.com/office/powerpoint/2010/main" val="2059823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sz="quarter" idx="13"/>
              </p:nvPr>
            </p:nvSpPr>
            <p:spPr>
              <a:xfrm>
                <a:off x="458073" y="685802"/>
                <a:ext cx="8231029" cy="4525963"/>
              </a:xfrm>
            </p:spPr>
            <p:txBody>
              <a:bodyPr>
                <a:normAutofit fontScale="85000" lnSpcReduction="10000"/>
              </a:bodyPr>
              <a:lstStyle/>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很多種統計量的分配都可以用常用的機率分配來計算，但還有許多對生物統計分析重要的統計量的分配不知道如何計算？</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中央集限定理說明若是統計量是可以寫成 </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平均數</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的形態，則統計量的</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抽樣</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分配在樣本大時，可以用常態分配的公式計算</a:t>
                </a:r>
                <a14:m>
                  <m:oMath xmlns:m="http://schemas.openxmlformats.org/officeDocument/2006/math">
                    <m:r>
                      <a:rPr lang="zh-TW" altLang="zh-TW" sz="2800">
                        <a:latin typeface="Cambria Math" panose="02040503050406030204" pitchFamily="18" charset="0"/>
                      </a:rPr>
                      <m:t>。</m:t>
                    </m:r>
                  </m:oMath>
                </a14:m>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有些統計量不可以寫成 </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平均數</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的形態，但他們的機率分配經常可用</a:t>
                </a:r>
                <a:r>
                  <a:rPr lang="en-US" altLang="zh-TW" dirty="0">
                    <a:latin typeface="微軟正黑體" panose="020B0604030504040204" pitchFamily="34" charset="-120"/>
                    <a:ea typeface="微軟正黑體" panose="020B0604030504040204" pitchFamily="34" charset="-120"/>
                  </a:rPr>
                  <a:t>t</a:t>
                </a:r>
                <a:r>
                  <a:rPr lang="zh-TW" altLang="en-US" dirty="0">
                    <a:latin typeface="微軟正黑體" panose="020B0604030504040204" pitchFamily="34" charset="-120"/>
                    <a:ea typeface="微軟正黑體" panose="020B0604030504040204" pitchFamily="34" charset="-120"/>
                  </a:rPr>
                  <a:t>分配，卡方</a:t>
                </a:r>
                <a:r>
                  <a:rPr lang="en-US" altLang="zh-TW" dirty="0">
                    <a:latin typeface="微軟正黑體" panose="020B0604030504040204" pitchFamily="34" charset="-120"/>
                    <a:ea typeface="微軟正黑體" panose="020B0604030504040204" pitchFamily="34" charset="-120"/>
                  </a:rPr>
                  <a:t>(chi-square) </a:t>
                </a:r>
                <a:r>
                  <a:rPr lang="zh-TW" altLang="en-US" dirty="0">
                    <a:latin typeface="微軟正黑體" panose="020B0604030504040204" pitchFamily="34" charset="-120"/>
                    <a:ea typeface="微軟正黑體" panose="020B0604030504040204" pitchFamily="34" charset="-120"/>
                  </a:rPr>
                  <a:t>或 </a:t>
                </a:r>
                <a:r>
                  <a:rPr lang="en-US" altLang="zh-TW" dirty="0">
                    <a:latin typeface="微軟正黑體" panose="020B0604030504040204" pitchFamily="34" charset="-120"/>
                    <a:ea typeface="微軟正黑體" panose="020B0604030504040204" pitchFamily="34" charset="-120"/>
                  </a:rPr>
                  <a:t>F</a:t>
                </a:r>
                <a:r>
                  <a:rPr lang="zh-TW" altLang="en-US" dirty="0">
                    <a:latin typeface="微軟正黑體" panose="020B0604030504040204" pitchFamily="34" charset="-120"/>
                    <a:ea typeface="微軟正黑體" panose="020B0604030504040204" pitchFamily="34" charset="-120"/>
                  </a:rPr>
                  <a:t>分配，或模擬的技術來計算</a:t>
                </a:r>
                <a14:m>
                  <m:oMath xmlns:m="http://schemas.openxmlformats.org/officeDocument/2006/math">
                    <m:r>
                      <a:rPr lang="zh-TW" altLang="zh-TW">
                        <a:latin typeface="Cambria Math" panose="02040503050406030204" pitchFamily="18" charset="0"/>
                      </a:rPr>
                      <m:t>。</m:t>
                    </m:r>
                    <m:r>
                      <a:rPr lang="zh-TW" altLang="en-US" b="0" i="1" smtClean="0">
                        <a:latin typeface="Cambria Math"/>
                      </a:rPr>
                      <m:t>目的通常是為</m:t>
                    </m:r>
                  </m:oMath>
                </a14:m>
                <a:r>
                  <a:rPr lang="zh-TW" altLang="en-US" b="0" dirty="0">
                    <a:latin typeface="微軟正黑體" panose="020B0604030504040204" pitchFamily="34" charset="-120"/>
                    <a:ea typeface="微軟正黑體" panose="020B0604030504040204" pitchFamily="34" charset="-120"/>
                  </a:rPr>
                  <a:t>了計算尾部機率。</a:t>
                </a:r>
                <a:endParaRPr lang="en-US" altLang="zh-TW" b="0" dirty="0">
                  <a:latin typeface="微軟正黑體" panose="020B0604030504040204" pitchFamily="34" charset="-120"/>
                  <a:ea typeface="微軟正黑體" panose="020B0604030504040204" pitchFamily="34" charset="-120"/>
                </a:endParaRPr>
              </a:p>
              <a:p>
                <a:endParaRPr lang="en-US" altLang="zh-TW" b="0"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https://yzhu.shinyapps.io/ds9devdataprod/</a:t>
                </a:r>
                <a:endParaRPr lang="en-US" altLang="zh-TW" b="0"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sz="quarter" idx="13"/>
              </p:nvPr>
            </p:nvSpPr>
            <p:spPr>
              <a:xfrm>
                <a:off x="458073" y="685802"/>
                <a:ext cx="8231029" cy="4525963"/>
              </a:xfrm>
              <a:blipFill>
                <a:blip r:embed="rId2"/>
                <a:stretch>
                  <a:fillRect l="-1259" r="-3185"/>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E2A80D49-6E30-4745-93AC-9D9D7F079020}" type="slidenum">
              <a:rPr lang="zh-TW" altLang="en-US" smtClean="0"/>
              <a:pPr/>
              <a:t>28</a:t>
            </a:fld>
            <a:endParaRPr lang="zh-TW" altLang="en-US"/>
          </a:p>
        </p:txBody>
      </p:sp>
    </p:spTree>
    <p:extLst>
      <p:ext uri="{BB962C8B-B14F-4D97-AF65-F5344CB8AC3E}">
        <p14:creationId xmlns:p14="http://schemas.microsoft.com/office/powerpoint/2010/main" val="2454533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523867" y="26712"/>
            <a:ext cx="7799016" cy="1151965"/>
          </a:xfrm>
        </p:spPr>
        <p:txBody>
          <a:bodyPr/>
          <a:lstStyle/>
          <a:p>
            <a:r>
              <a:rPr lang="zh-TW" altLang="en-US" dirty="0">
                <a:solidFill>
                  <a:srgbClr val="FF0000"/>
                </a:solidFill>
                <a:latin typeface="微軟正黑體" panose="020B0604030504040204" pitchFamily="34" charset="-120"/>
                <a:ea typeface="微軟正黑體" panose="020B0604030504040204" pitchFamily="34" charset="-120"/>
              </a:rPr>
              <a:t>作業</a:t>
            </a:r>
            <a:r>
              <a:rPr lang="en-US" altLang="zh-TW" dirty="0">
                <a:solidFill>
                  <a:srgbClr val="FF0000"/>
                </a:solidFill>
                <a:latin typeface="微軟正黑體" panose="020B0604030504040204" pitchFamily="34" charset="-120"/>
                <a:ea typeface="微軟正黑體" panose="020B0604030504040204" pitchFamily="34" charset="-120"/>
              </a:rPr>
              <a:t>(1)</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458073" y="953529"/>
            <a:ext cx="8231029" cy="4950941"/>
          </a:xfrm>
        </p:spPr>
        <p:txBody>
          <a:bodyPr/>
          <a:lstStyle/>
          <a:p>
            <a:pPr marL="109728" indent="0">
              <a:buNone/>
            </a:pP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下表為某城市母體的抽菸與肺癌的人口統計表，今有一研究者在此母群體抽樣欲探討肺癌與吸菸的關係。</a:t>
            </a: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lvl="0" indent="0">
              <a:buClrTx/>
              <a:buNone/>
            </a:pPr>
            <a:endParaRPr lang="en-US" altLang="zh-TW" dirty="0">
              <a:latin typeface="微軟正黑體" panose="020B0604030504040204" pitchFamily="34" charset="-120"/>
              <a:ea typeface="微軟正黑體" panose="020B0604030504040204" pitchFamily="34" charset="-120"/>
            </a:endParaRPr>
          </a:p>
          <a:p>
            <a:pPr marL="109728" lvl="0" indent="0">
              <a:buClrTx/>
              <a:buNone/>
            </a:pPr>
            <a:r>
              <a:rPr lang="en-US" altLang="zh-TW" dirty="0">
                <a:latin typeface="微軟正黑體" panose="020B0604030504040204" pitchFamily="34" charset="-120"/>
                <a:ea typeface="微軟正黑體" panose="020B0604030504040204" pitchFamily="34" charset="-120"/>
              </a:rPr>
              <a:t>(1) </a:t>
            </a:r>
            <a:r>
              <a:rPr lang="zh-TW" altLang="zh-TW" dirty="0">
                <a:latin typeface="微軟正黑體" panose="020B0604030504040204" pitchFamily="34" charset="-120"/>
                <a:ea typeface="微軟正黑體" panose="020B0604030504040204" pitchFamily="34" charset="-120"/>
              </a:rPr>
              <a:t>若隨機抽樣一名，這個人有抽菸習慣的機率為何？</a:t>
            </a:r>
          </a:p>
          <a:p>
            <a:pPr marL="109728" lvl="0" indent="0">
              <a:buClrTx/>
              <a:buNone/>
            </a:pPr>
            <a:r>
              <a:rPr lang="en-US" altLang="zh-TW" dirty="0">
                <a:latin typeface="微軟正黑體" panose="020B0604030504040204" pitchFamily="34" charset="-120"/>
                <a:ea typeface="微軟正黑體" panose="020B0604030504040204" pitchFamily="34" charset="-120"/>
              </a:rPr>
              <a:t>(2) </a:t>
            </a:r>
            <a:r>
              <a:rPr lang="zh-TW" altLang="zh-TW" dirty="0">
                <a:latin typeface="微軟正黑體" panose="020B0604030504040204" pitchFamily="34" charset="-120"/>
                <a:ea typeface="微軟正黑體" panose="020B0604030504040204" pitchFamily="34" charset="-120"/>
              </a:rPr>
              <a:t>隨機抽到有抽菸習慣且沒有肺癌的人機率為何？</a:t>
            </a:r>
          </a:p>
          <a:p>
            <a:pPr marL="109728" indent="0">
              <a:buClrTx/>
              <a:buNone/>
            </a:pPr>
            <a:r>
              <a:rPr lang="en-US" altLang="zh-TW" dirty="0">
                <a:latin typeface="微軟正黑體" panose="020B0604030504040204" pitchFamily="34" charset="-120"/>
                <a:ea typeface="微軟正黑體" panose="020B0604030504040204" pitchFamily="34" charset="-120"/>
              </a:rPr>
              <a:t>(3) </a:t>
            </a:r>
            <a:r>
              <a:rPr lang="zh-TW" altLang="zh-TW" dirty="0">
                <a:latin typeface="微軟正黑體" panose="020B0604030504040204" pitchFamily="34" charset="-120"/>
                <a:ea typeface="微軟正黑體" panose="020B0604030504040204" pitchFamily="34" charset="-120"/>
              </a:rPr>
              <a:t>已知隨機抽到一名有抽菸習慣者，請問此人有肺癌的機率為何？</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E2A80D49-6E30-4745-93AC-9D9D7F079020}" type="slidenum">
              <a:rPr lang="zh-TW" altLang="en-US" smtClean="0"/>
              <a:pPr/>
              <a:t>29</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2365105618"/>
              </p:ext>
            </p:extLst>
          </p:nvPr>
        </p:nvGraphicFramePr>
        <p:xfrm>
          <a:off x="2542267" y="2299546"/>
          <a:ext cx="3525792" cy="1466335"/>
        </p:xfrm>
        <a:graphic>
          <a:graphicData uri="http://schemas.openxmlformats.org/drawingml/2006/table">
            <a:tbl>
              <a:tblPr firstRow="1" firstCol="1" bandRow="1">
                <a:tableStyleId>{5C22544A-7EE6-4342-B048-85BDC9FD1C3A}</a:tableStyleId>
              </a:tblPr>
              <a:tblGrid>
                <a:gridCol w="1040247">
                  <a:extLst>
                    <a:ext uri="{9D8B030D-6E8A-4147-A177-3AD203B41FA5}">
                      <a16:colId xmlns:a16="http://schemas.microsoft.com/office/drawing/2014/main" val="20000"/>
                    </a:ext>
                  </a:extLst>
                </a:gridCol>
                <a:gridCol w="828515">
                  <a:extLst>
                    <a:ext uri="{9D8B030D-6E8A-4147-A177-3AD203B41FA5}">
                      <a16:colId xmlns:a16="http://schemas.microsoft.com/office/drawing/2014/main" val="20001"/>
                    </a:ext>
                  </a:extLst>
                </a:gridCol>
                <a:gridCol w="828515">
                  <a:extLst>
                    <a:ext uri="{9D8B030D-6E8A-4147-A177-3AD203B41FA5}">
                      <a16:colId xmlns:a16="http://schemas.microsoft.com/office/drawing/2014/main" val="20002"/>
                    </a:ext>
                  </a:extLst>
                </a:gridCol>
                <a:gridCol w="828515">
                  <a:extLst>
                    <a:ext uri="{9D8B030D-6E8A-4147-A177-3AD203B41FA5}">
                      <a16:colId xmlns:a16="http://schemas.microsoft.com/office/drawing/2014/main" val="20003"/>
                    </a:ext>
                  </a:extLst>
                </a:gridCol>
              </a:tblGrid>
              <a:tr h="278928">
                <a:tc rowSpan="2">
                  <a:txBody>
                    <a:bodyPr/>
                    <a:lstStyle/>
                    <a:p>
                      <a:pPr algn="ctr">
                        <a:spcAft>
                          <a:spcPts val="0"/>
                        </a:spcAft>
                      </a:pPr>
                      <a:r>
                        <a:rPr lang="zh-TW" sz="1600" kern="0" dirty="0">
                          <a:effectLst/>
                        </a:rPr>
                        <a:t>吸菸習慣</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gridSpan="3">
                  <a:txBody>
                    <a:bodyPr/>
                    <a:lstStyle/>
                    <a:p>
                      <a:pPr algn="ctr">
                        <a:spcAft>
                          <a:spcPts val="0"/>
                        </a:spcAft>
                      </a:pPr>
                      <a:r>
                        <a:rPr lang="zh-TW" sz="1600" kern="0">
                          <a:effectLst/>
                        </a:rPr>
                        <a:t>肺癌</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278928">
                <a:tc vMerge="1">
                  <a:txBody>
                    <a:bodyPr/>
                    <a:lstStyle/>
                    <a:p>
                      <a:endParaRPr lang="zh-TW" altLang="en-US"/>
                    </a:p>
                  </a:txBody>
                  <a:tcPr/>
                </a:tc>
                <a:tc>
                  <a:txBody>
                    <a:bodyPr/>
                    <a:lstStyle/>
                    <a:p>
                      <a:pPr algn="ctr">
                        <a:spcAft>
                          <a:spcPts val="0"/>
                        </a:spcAft>
                      </a:pPr>
                      <a:r>
                        <a:rPr lang="zh-TW" sz="1600" kern="0" dirty="0">
                          <a:effectLst/>
                        </a:rPr>
                        <a:t>無（</a:t>
                      </a:r>
                      <a:r>
                        <a:rPr lang="en-US" sz="1600" kern="0" dirty="0">
                          <a:effectLst/>
                        </a:rPr>
                        <a:t>0</a:t>
                      </a:r>
                      <a:r>
                        <a:rPr lang="zh-TW" sz="1600" kern="0" dirty="0">
                          <a:effectLst/>
                        </a:rPr>
                        <a:t>）</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dirty="0">
                          <a:effectLst/>
                        </a:rPr>
                        <a:t>有（</a:t>
                      </a:r>
                      <a:r>
                        <a:rPr lang="en-US" sz="1600" kern="0" dirty="0">
                          <a:effectLst/>
                        </a:rPr>
                        <a:t>1</a:t>
                      </a:r>
                      <a:r>
                        <a:rPr lang="zh-TW" sz="1600" kern="0" dirty="0">
                          <a:effectLst/>
                        </a:rPr>
                        <a:t>）</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a:effectLst/>
                        </a:rPr>
                        <a:t>合計</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278928">
                <a:tc>
                  <a:txBody>
                    <a:bodyPr/>
                    <a:lstStyle/>
                    <a:p>
                      <a:pPr algn="ctr">
                        <a:spcAft>
                          <a:spcPts val="0"/>
                        </a:spcAft>
                      </a:pPr>
                      <a:r>
                        <a:rPr lang="zh-TW" sz="1600" kern="0">
                          <a:effectLst/>
                        </a:rPr>
                        <a:t>無</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latin typeface="Arial" panose="020B0604020202020204" pitchFamily="34" charset="0"/>
                          <a:cs typeface="Arial" panose="020B0604020202020204" pitchFamily="34" charset="0"/>
                        </a:rPr>
                        <a:t>7970</a:t>
                      </a:r>
                      <a:endParaRPr lang="zh-TW" sz="1600" kern="100" dirty="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tc>
                  <a:txBody>
                    <a:bodyPr/>
                    <a:lstStyle/>
                    <a:p>
                      <a:pPr algn="ctr">
                        <a:spcAft>
                          <a:spcPts val="0"/>
                        </a:spcAft>
                      </a:pPr>
                      <a:r>
                        <a:rPr lang="en-US" sz="1600" kern="0" dirty="0">
                          <a:effectLst/>
                          <a:latin typeface="Arial" panose="020B0604020202020204" pitchFamily="34" charset="0"/>
                          <a:cs typeface="Arial" panose="020B0604020202020204" pitchFamily="34" charset="0"/>
                        </a:rPr>
                        <a:t>30</a:t>
                      </a:r>
                      <a:endParaRPr lang="zh-TW" sz="1600" kern="100" dirty="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tc>
                  <a:txBody>
                    <a:bodyPr/>
                    <a:lstStyle/>
                    <a:p>
                      <a:pPr algn="ctr">
                        <a:spcAft>
                          <a:spcPts val="0"/>
                        </a:spcAft>
                      </a:pPr>
                      <a:r>
                        <a:rPr lang="en-US" sz="1600" kern="100">
                          <a:effectLst/>
                          <a:latin typeface="Arial" panose="020B0604020202020204" pitchFamily="34" charset="0"/>
                          <a:cs typeface="Arial" panose="020B0604020202020204" pitchFamily="34" charset="0"/>
                        </a:rPr>
                        <a:t>8000</a:t>
                      </a:r>
                      <a:endParaRPr lang="zh-TW" sz="1600" kern="10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278928">
                <a:tc>
                  <a:txBody>
                    <a:bodyPr/>
                    <a:lstStyle/>
                    <a:p>
                      <a:pPr algn="ctr">
                        <a:spcAft>
                          <a:spcPts val="0"/>
                        </a:spcAft>
                      </a:pPr>
                      <a:r>
                        <a:rPr lang="zh-TW" sz="1600" kern="0">
                          <a:effectLst/>
                        </a:rPr>
                        <a:t>有</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latin typeface="Arial" panose="020B0604020202020204" pitchFamily="34" charset="0"/>
                          <a:cs typeface="Arial" panose="020B0604020202020204" pitchFamily="34" charset="0"/>
                        </a:rPr>
                        <a:t>1980</a:t>
                      </a:r>
                      <a:endParaRPr lang="zh-TW" sz="1600" kern="100" dirty="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tc>
                  <a:txBody>
                    <a:bodyPr/>
                    <a:lstStyle/>
                    <a:p>
                      <a:pPr algn="ctr">
                        <a:spcAft>
                          <a:spcPts val="0"/>
                        </a:spcAft>
                      </a:pPr>
                      <a:r>
                        <a:rPr lang="en-US" sz="1600" kern="0" dirty="0">
                          <a:effectLst/>
                          <a:latin typeface="Arial" panose="020B0604020202020204" pitchFamily="34" charset="0"/>
                          <a:cs typeface="Arial" panose="020B0604020202020204" pitchFamily="34" charset="0"/>
                        </a:rPr>
                        <a:t>20</a:t>
                      </a:r>
                      <a:endParaRPr lang="zh-TW" sz="1600" kern="100" dirty="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tc>
                  <a:txBody>
                    <a:bodyPr/>
                    <a:lstStyle/>
                    <a:p>
                      <a:pPr algn="ctr">
                        <a:spcAft>
                          <a:spcPts val="0"/>
                        </a:spcAft>
                      </a:pPr>
                      <a:r>
                        <a:rPr lang="en-US" sz="1600" kern="100">
                          <a:effectLst/>
                          <a:latin typeface="Arial" panose="020B0604020202020204" pitchFamily="34" charset="0"/>
                          <a:cs typeface="Arial" panose="020B0604020202020204" pitchFamily="34" charset="0"/>
                        </a:rPr>
                        <a:t>2000</a:t>
                      </a:r>
                      <a:endParaRPr lang="zh-TW" sz="1600" kern="10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extLst>
                  <a:ext uri="{0D108BD9-81ED-4DB2-BD59-A6C34878D82A}">
                    <a16:rowId xmlns:a16="http://schemas.microsoft.com/office/drawing/2014/main" val="10003"/>
                  </a:ext>
                </a:extLst>
              </a:tr>
              <a:tr h="350623">
                <a:tc>
                  <a:txBody>
                    <a:bodyPr/>
                    <a:lstStyle/>
                    <a:p>
                      <a:pPr algn="ctr">
                        <a:spcAft>
                          <a:spcPts val="0"/>
                        </a:spcAft>
                      </a:pPr>
                      <a:r>
                        <a:rPr lang="zh-TW" sz="1600" kern="0">
                          <a:effectLst/>
                        </a:rPr>
                        <a:t>合計</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100">
                          <a:effectLst/>
                          <a:latin typeface="Arial" panose="020B0604020202020204" pitchFamily="34" charset="0"/>
                          <a:cs typeface="Arial" panose="020B0604020202020204" pitchFamily="34" charset="0"/>
                        </a:rPr>
                        <a:t>9950</a:t>
                      </a:r>
                      <a:endParaRPr lang="zh-TW" sz="1600" kern="10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tc>
                  <a:txBody>
                    <a:bodyPr/>
                    <a:lstStyle/>
                    <a:p>
                      <a:pPr algn="ctr">
                        <a:spcAft>
                          <a:spcPts val="0"/>
                        </a:spcAft>
                      </a:pPr>
                      <a:r>
                        <a:rPr lang="en-US" sz="1600" kern="100" dirty="0">
                          <a:effectLst/>
                          <a:latin typeface="Arial" panose="020B0604020202020204" pitchFamily="34" charset="0"/>
                          <a:cs typeface="Arial" panose="020B0604020202020204" pitchFamily="34" charset="0"/>
                        </a:rPr>
                        <a:t>50</a:t>
                      </a:r>
                      <a:endParaRPr lang="zh-TW" sz="1600" kern="100" dirty="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tc>
                  <a:txBody>
                    <a:bodyPr/>
                    <a:lstStyle/>
                    <a:p>
                      <a:pPr algn="ctr">
                        <a:spcAft>
                          <a:spcPts val="0"/>
                        </a:spcAft>
                      </a:pPr>
                      <a:r>
                        <a:rPr lang="en-US" sz="1600" kern="100" dirty="0">
                          <a:effectLst/>
                          <a:latin typeface="Arial" panose="020B0604020202020204" pitchFamily="34" charset="0"/>
                          <a:cs typeface="Arial" panose="020B0604020202020204" pitchFamily="34" charset="0"/>
                        </a:rPr>
                        <a:t>10000</a:t>
                      </a:r>
                      <a:endParaRPr lang="zh-TW" sz="1600" kern="100" dirty="0">
                        <a:effectLst/>
                        <a:latin typeface="Arial" panose="020B0604020202020204" pitchFamily="34" charset="0"/>
                        <a:ea typeface="新細明體" panose="02020500000000000000" pitchFamily="18" charset="-120"/>
                        <a:cs typeface="Arial" panose="020B0604020202020204" pitchFamily="34" charset="0"/>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06297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81" y="59724"/>
            <a:ext cx="8231029" cy="1143000"/>
          </a:xfrm>
        </p:spPr>
        <p:txBody>
          <a:bodyPr/>
          <a:lstStyle/>
          <a:p>
            <a:r>
              <a:rPr lang="zh-TW" altLang="en-US" dirty="0">
                <a:solidFill>
                  <a:srgbClr val="FF0000"/>
                </a:solidFill>
                <a:latin typeface="微軟正黑體" panose="020B0604030504040204" pitchFamily="34" charset="-120"/>
                <a:ea typeface="微軟正黑體" panose="020B0604030504040204" pitchFamily="34" charset="-120"/>
              </a:rPr>
              <a:t>作業</a:t>
            </a:r>
            <a:r>
              <a:rPr lang="en-US" altLang="zh-TW" dirty="0">
                <a:solidFill>
                  <a:srgbClr val="FF0000"/>
                </a:solidFill>
                <a:latin typeface="微軟正黑體" panose="020B0604030504040204" pitchFamily="34" charset="-120"/>
                <a:ea typeface="微軟正黑體" panose="020B0604030504040204" pitchFamily="34" charset="-120"/>
              </a:rPr>
              <a:t>(2)</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265202" y="766207"/>
            <a:ext cx="8423108" cy="5427645"/>
          </a:xfrm>
        </p:spPr>
        <p:txBody>
          <a:bodyPr>
            <a:normAutofit/>
          </a:bodyPr>
          <a:lstStyle/>
          <a:p>
            <a:pPr marL="109728" lvl="0" indent="0">
              <a:buNone/>
            </a:pPr>
            <a:r>
              <a:rPr lang="en-US" altLang="zh-TW" dirty="0">
                <a:latin typeface="微軟正黑體" panose="020B0604030504040204" pitchFamily="34" charset="-120"/>
                <a:ea typeface="微軟正黑體" panose="020B0604030504040204" pitchFamily="34" charset="-120"/>
              </a:rPr>
              <a:t>2. </a:t>
            </a:r>
            <a:r>
              <a:rPr lang="zh-TW" altLang="zh-TW" dirty="0">
                <a:latin typeface="微軟正黑體" panose="020B0604030504040204" pitchFamily="34" charset="-120"/>
                <a:ea typeface="微軟正黑體" panose="020B0604030504040204" pitchFamily="34" charset="-120"/>
              </a:rPr>
              <a:t>若</a:t>
            </a:r>
            <a:r>
              <a:rPr lang="zh-TW" altLang="en-US" dirty="0">
                <a:latin typeface="微軟正黑體" panose="020B0604030504040204" pitchFamily="34" charset="-120"/>
                <a:ea typeface="微軟正黑體" panose="020B0604030504040204" pitchFamily="34" charset="-120"/>
              </a:rPr>
              <a:t>運動選手</a:t>
            </a:r>
            <a:r>
              <a:rPr lang="zh-TW" altLang="zh-TW" dirty="0">
                <a:latin typeface="微軟正黑體" panose="020B0604030504040204" pitchFamily="34" charset="-120"/>
                <a:ea typeface="微軟正黑體" panose="020B0604030504040204" pitchFamily="34" charset="-120"/>
              </a:rPr>
              <a:t>暴露在</a:t>
            </a:r>
            <a:r>
              <a:rPr lang="zh-TW" altLang="en-US" dirty="0">
                <a:latin typeface="微軟正黑體" panose="020B0604030504040204" pitchFamily="34" charset="-120"/>
                <a:ea typeface="微軟正黑體" panose="020B0604030504040204" pitchFamily="34" charset="-120"/>
              </a:rPr>
              <a:t>過強的訓練下，</a:t>
            </a:r>
            <a:r>
              <a:rPr lang="zh-TW" altLang="zh-TW" dirty="0">
                <a:latin typeface="微軟正黑體" panose="020B0604030504040204" pitchFamily="34" charset="-120"/>
                <a:ea typeface="微軟正黑體" panose="020B0604030504040204" pitchFamily="34" charset="-120"/>
              </a:rPr>
              <a:t>下一個月發生</a:t>
            </a:r>
            <a:r>
              <a:rPr lang="zh-TW" altLang="en-US" dirty="0">
                <a:latin typeface="微軟正黑體" panose="020B0604030504040204" pitchFamily="34" charset="-120"/>
                <a:ea typeface="微軟正黑體" panose="020B0604030504040204" pitchFamily="34" charset="-120"/>
              </a:rPr>
              <a:t>運動傷害</a:t>
            </a:r>
            <a:r>
              <a:rPr lang="zh-TW" altLang="zh-TW" dirty="0">
                <a:latin typeface="微軟正黑體" panose="020B0604030504040204" pitchFamily="34" charset="-120"/>
                <a:ea typeface="微軟正黑體" panose="020B0604030504040204" pitchFamily="34" charset="-120"/>
              </a:rPr>
              <a:t>的機率為</a:t>
            </a:r>
            <a:r>
              <a:rPr lang="en-US" altLang="zh-TW" dirty="0">
                <a:latin typeface="微軟正黑體" panose="020B0604030504040204" pitchFamily="34" charset="-120"/>
                <a:ea typeface="微軟正黑體" panose="020B0604030504040204" pitchFamily="34" charset="-120"/>
              </a:rPr>
              <a:t>0.2</a:t>
            </a:r>
            <a:r>
              <a:rPr lang="zh-TW" altLang="zh-TW" dirty="0">
                <a:latin typeface="微軟正黑體" panose="020B0604030504040204" pitchFamily="34" charset="-120"/>
                <a:ea typeface="微軟正黑體" panose="020B0604030504040204" pitchFamily="34" charset="-120"/>
              </a:rPr>
              <a:t>，某研究讓</a:t>
            </a:r>
            <a:r>
              <a:rPr lang="en-US" altLang="zh-TW" dirty="0">
                <a:latin typeface="微軟正黑體" panose="020B0604030504040204" pitchFamily="34" charset="-120"/>
                <a:ea typeface="微軟正黑體" panose="020B0604030504040204" pitchFamily="34" charset="-120"/>
              </a:rPr>
              <a:t>30</a:t>
            </a:r>
            <a:r>
              <a:rPr lang="zh-TW" altLang="en-US" dirty="0">
                <a:latin typeface="微軟正黑體" panose="020B0604030504040204" pitchFamily="34" charset="-120"/>
                <a:ea typeface="微軟正黑體" panose="020B0604030504040204" pitchFamily="34" charset="-120"/>
              </a:rPr>
              <a:t>各選手</a:t>
            </a:r>
            <a:r>
              <a:rPr lang="zh-TW" altLang="zh-TW" dirty="0">
                <a:latin typeface="微軟正黑體" panose="020B0604030504040204" pitchFamily="34" charset="-120"/>
                <a:ea typeface="微軟正黑體" panose="020B0604030504040204" pitchFamily="34" charset="-120"/>
              </a:rPr>
              <a:t>暴露在</a:t>
            </a:r>
            <a:r>
              <a:rPr lang="zh-TW" altLang="en-US" dirty="0">
                <a:latin typeface="微軟正黑體" panose="020B0604030504040204" pitchFamily="34" charset="-120"/>
                <a:ea typeface="微軟正黑體" panose="020B0604030504040204" pitchFamily="34" charset="-120"/>
              </a:rPr>
              <a:t>過強運動訓練</a:t>
            </a:r>
            <a:r>
              <a:rPr lang="zh-TW" altLang="zh-TW" dirty="0">
                <a:latin typeface="微軟正黑體" panose="020B0604030504040204" pitchFamily="34" charset="-120"/>
                <a:ea typeface="微軟正黑體" panose="020B0604030504040204" pitchFamily="34" charset="-120"/>
              </a:rPr>
              <a:t>下。</a:t>
            </a:r>
            <a:endParaRPr lang="en-US" altLang="zh-TW" dirty="0">
              <a:latin typeface="微軟正黑體" panose="020B0604030504040204" pitchFamily="34" charset="-120"/>
              <a:ea typeface="微軟正黑體" panose="020B0604030504040204" pitchFamily="34" charset="-120"/>
            </a:endParaRPr>
          </a:p>
          <a:p>
            <a:pPr marL="109728" lvl="0" indent="0">
              <a:buNone/>
            </a:pP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此研究一個月後有</a:t>
            </a:r>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位選手發生運動傷害</a:t>
            </a:r>
            <a:r>
              <a:rPr lang="zh-TW" altLang="zh-TW" dirty="0">
                <a:latin typeface="微軟正黑體" panose="020B0604030504040204" pitchFamily="34" charset="-120"/>
                <a:ea typeface="微軟正黑體" panose="020B0604030504040204" pitchFamily="34" charset="-120"/>
              </a:rPr>
              <a:t>的機率為何？</a:t>
            </a:r>
            <a:endParaRPr lang="en-US" altLang="zh-TW" dirty="0">
              <a:latin typeface="微軟正黑體" panose="020B0604030504040204" pitchFamily="34" charset="-120"/>
              <a:ea typeface="微軟正黑體" panose="020B0604030504040204" pitchFamily="34" charset="-120"/>
            </a:endParaRPr>
          </a:p>
          <a:p>
            <a:pPr marL="109728" lvl="0" indent="0">
              <a:buNone/>
            </a:pP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一個月後得到</a:t>
            </a:r>
            <a:r>
              <a:rPr lang="zh-TW" altLang="en-US" dirty="0">
                <a:latin typeface="微軟正黑體" panose="020B0604030504040204" pitchFamily="34" charset="-120"/>
                <a:ea typeface="微軟正黑體" panose="020B0604030504040204" pitchFamily="34" charset="-120"/>
              </a:rPr>
              <a:t>運動傷害的選手</a:t>
            </a:r>
            <a:r>
              <a:rPr lang="zh-TW" altLang="zh-TW" dirty="0">
                <a:latin typeface="微軟正黑體" panose="020B0604030504040204" pitchFamily="34" charset="-120"/>
                <a:ea typeface="微軟正黑體" panose="020B0604030504040204" pitchFamily="34" charset="-120"/>
              </a:rPr>
              <a:t>個數的平均值和變異數為何？</a:t>
            </a: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indent="0">
              <a:buNone/>
            </a:pP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E2A80D49-6E30-4745-93AC-9D9D7F079020}" type="slidenum">
              <a:rPr lang="zh-TW" altLang="en-US" smtClean="0"/>
              <a:pPr/>
              <a:t>30</a:t>
            </a:fld>
            <a:endParaRPr lang="zh-TW" altLang="en-US"/>
          </a:p>
        </p:txBody>
      </p:sp>
    </p:spTree>
    <p:extLst>
      <p:ext uri="{BB962C8B-B14F-4D97-AF65-F5344CB8AC3E}">
        <p14:creationId xmlns:p14="http://schemas.microsoft.com/office/powerpoint/2010/main" val="3031745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81" y="190803"/>
            <a:ext cx="7799016" cy="1151965"/>
          </a:xfrm>
        </p:spPr>
        <p:txBody>
          <a:bodyPr/>
          <a:lstStyle/>
          <a:p>
            <a:r>
              <a:rPr lang="zh-TW" altLang="en-US" dirty="0">
                <a:solidFill>
                  <a:srgbClr val="FF0000"/>
                </a:solidFill>
                <a:latin typeface="微軟正黑體" panose="020B0604030504040204" pitchFamily="34" charset="-120"/>
                <a:ea typeface="微軟正黑體" panose="020B0604030504040204" pitchFamily="34" charset="-120"/>
              </a:rPr>
              <a:t>作業</a:t>
            </a:r>
            <a:r>
              <a:rPr lang="en-US" altLang="zh-TW" dirty="0">
                <a:solidFill>
                  <a:srgbClr val="FF0000"/>
                </a:solidFill>
                <a:latin typeface="微軟正黑體" panose="020B0604030504040204" pitchFamily="34" charset="-120"/>
                <a:ea typeface="微軟正黑體" panose="020B0604030504040204" pitchFamily="34" charset="-120"/>
              </a:rPr>
              <a:t>(3)</a:t>
            </a:r>
            <a:endParaRPr lang="zh-TW" altLang="en-US" dirty="0">
              <a:solidFill>
                <a:srgbClr val="FF0000"/>
              </a:solidFill>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sz="quarter" idx="13"/>
          </p:nvPr>
        </p:nvSpPr>
        <p:spPr>
          <a:xfrm>
            <a:off x="363013" y="918561"/>
            <a:ext cx="8231029" cy="4664527"/>
          </a:xfrm>
        </p:spPr>
        <p:txBody>
          <a:bodyPr/>
          <a:lstStyle/>
          <a:p>
            <a:pPr marL="109728" lvl="0" indent="0">
              <a:buNone/>
            </a:pPr>
            <a:r>
              <a:rPr lang="en-US" altLang="zh-TW" dirty="0">
                <a:latin typeface="微軟正黑體" panose="020B0604030504040204" pitchFamily="34" charset="-120"/>
                <a:ea typeface="微軟正黑體" panose="020B0604030504040204" pitchFamily="34" charset="-120"/>
              </a:rPr>
              <a:t>4. </a:t>
            </a:r>
            <a:r>
              <a:rPr lang="zh-TW" altLang="zh-TW" dirty="0">
                <a:latin typeface="微軟正黑體" panose="020B0604030504040204" pitchFamily="34" charset="-120"/>
                <a:ea typeface="微軟正黑體" panose="020B0604030504040204" pitchFamily="34" charset="-120"/>
              </a:rPr>
              <a:t>某研究抽樣</a:t>
            </a:r>
            <a:r>
              <a:rPr lang="en-US" altLang="zh-TW" dirty="0">
                <a:latin typeface="微軟正黑體" panose="020B0604030504040204" pitchFamily="34" charset="-120"/>
                <a:ea typeface="微軟正黑體" panose="020B0604030504040204" pitchFamily="34" charset="-120"/>
              </a:rPr>
              <a:t>40</a:t>
            </a:r>
            <a:r>
              <a:rPr lang="zh-TW" altLang="zh-TW" dirty="0">
                <a:latin typeface="微軟正黑體" panose="020B0604030504040204" pitchFamily="34" charset="-120"/>
                <a:ea typeface="微軟正黑體" panose="020B0604030504040204" pitchFamily="34" charset="-120"/>
              </a:rPr>
              <a:t>人，已知母體平均身高為</a:t>
            </a:r>
            <a:r>
              <a:rPr lang="en-US" altLang="zh-TW" dirty="0">
                <a:latin typeface="微軟正黑體" panose="020B0604030504040204" pitchFamily="34" charset="-120"/>
                <a:ea typeface="微軟正黑體" panose="020B0604030504040204" pitchFamily="34" charset="-120"/>
              </a:rPr>
              <a:t>170</a:t>
            </a:r>
            <a:r>
              <a:rPr lang="zh-TW" altLang="zh-TW" dirty="0">
                <a:latin typeface="微軟正黑體" panose="020B0604030504040204" pitchFamily="34" charset="-120"/>
                <a:ea typeface="微軟正黑體" panose="020B0604030504040204" pitchFamily="34" charset="-120"/>
              </a:rPr>
              <a:t>公分，標準差為</a:t>
            </a:r>
            <a:r>
              <a:rPr lang="en-US" altLang="zh-TW" dirty="0">
                <a:latin typeface="微軟正黑體" panose="020B0604030504040204" pitchFamily="34" charset="-120"/>
                <a:ea typeface="微軟正黑體" panose="020B0604030504040204" pitchFamily="34" charset="-120"/>
              </a:rPr>
              <a:t>10</a:t>
            </a:r>
            <a:r>
              <a:rPr lang="zh-TW" altLang="zh-TW" dirty="0">
                <a:latin typeface="微軟正黑體" panose="020B0604030504040204" pitchFamily="34" charset="-120"/>
                <a:ea typeface="微軟正黑體" panose="020B0604030504040204" pitchFamily="34" charset="-120"/>
              </a:rPr>
              <a:t>公分。</a:t>
            </a:r>
            <a:endParaRPr lang="en-US" altLang="zh-TW" dirty="0">
              <a:latin typeface="微軟正黑體" panose="020B0604030504040204" pitchFamily="34" charset="-120"/>
              <a:ea typeface="微軟正黑體" panose="020B0604030504040204" pitchFamily="34" charset="-120"/>
            </a:endParaRPr>
          </a:p>
          <a:p>
            <a:pPr marL="109728" lvl="0" indent="0">
              <a:buNone/>
            </a:pP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請問此</a:t>
            </a:r>
            <a:r>
              <a:rPr lang="en-US" altLang="zh-TW" dirty="0">
                <a:latin typeface="微軟正黑體" panose="020B0604030504040204" pitchFamily="34" charset="-120"/>
                <a:ea typeface="微軟正黑體" panose="020B0604030504040204" pitchFamily="34" charset="-120"/>
              </a:rPr>
              <a:t>40</a:t>
            </a:r>
            <a:r>
              <a:rPr lang="zh-TW" altLang="zh-TW" dirty="0">
                <a:latin typeface="微軟正黑體" panose="020B0604030504040204" pitchFamily="34" charset="-120"/>
                <a:ea typeface="微軟正黑體" panose="020B0604030504040204" pitchFamily="34" charset="-120"/>
              </a:rPr>
              <a:t>人的樣本平均數近似於什麼分配，此分配的平均值與標準差為何？</a:t>
            </a:r>
            <a:endParaRPr lang="en-US" altLang="zh-TW" dirty="0">
              <a:latin typeface="微軟正黑體" panose="020B0604030504040204" pitchFamily="34" charset="-120"/>
              <a:ea typeface="微軟正黑體" panose="020B0604030504040204" pitchFamily="34" charset="-120"/>
            </a:endParaRPr>
          </a:p>
          <a:p>
            <a:pPr marL="109728" lvl="0" indent="0">
              <a:buNone/>
            </a:pP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此</a:t>
            </a:r>
            <a:r>
              <a:rPr lang="en-US" altLang="zh-TW" dirty="0">
                <a:latin typeface="微軟正黑體" panose="020B0604030504040204" pitchFamily="34" charset="-120"/>
                <a:ea typeface="微軟正黑體" panose="020B0604030504040204" pitchFamily="34" charset="-120"/>
              </a:rPr>
              <a:t>40</a:t>
            </a:r>
            <a:r>
              <a:rPr lang="zh-TW" altLang="zh-TW" dirty="0">
                <a:latin typeface="微軟正黑體" panose="020B0604030504040204" pitchFamily="34" charset="-120"/>
                <a:ea typeface="微軟正黑體" panose="020B0604030504040204" pitchFamily="34" charset="-120"/>
              </a:rPr>
              <a:t>人平均身高超過</a:t>
            </a:r>
            <a:r>
              <a:rPr lang="en-US" altLang="zh-TW" dirty="0">
                <a:latin typeface="微軟正黑體" panose="020B0604030504040204" pitchFamily="34" charset="-120"/>
                <a:ea typeface="微軟正黑體" panose="020B0604030504040204" pitchFamily="34" charset="-120"/>
              </a:rPr>
              <a:t>175</a:t>
            </a:r>
            <a:r>
              <a:rPr lang="zh-TW" altLang="zh-TW" dirty="0">
                <a:latin typeface="微軟正黑體" panose="020B0604030504040204" pitchFamily="34" charset="-120"/>
                <a:ea typeface="微軟正黑體" panose="020B0604030504040204" pitchFamily="34" charset="-120"/>
              </a:rPr>
              <a:t>的機率為何？</a:t>
            </a:r>
          </a:p>
          <a:p>
            <a:pPr marL="109728" indent="0">
              <a:buNone/>
            </a:pP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E2A80D49-6E30-4745-93AC-9D9D7F079020}" type="slidenum">
              <a:rPr lang="zh-TW" altLang="en-US" smtClean="0"/>
              <a:pPr/>
              <a:t>31</a:t>
            </a:fld>
            <a:endParaRPr lang="zh-TW" altLang="en-US"/>
          </a:p>
        </p:txBody>
      </p:sp>
    </p:spTree>
    <p:extLst>
      <p:ext uri="{BB962C8B-B14F-4D97-AF65-F5344CB8AC3E}">
        <p14:creationId xmlns:p14="http://schemas.microsoft.com/office/powerpoint/2010/main" val="51554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投影片編號版面配置區 4"/>
          <p:cNvSpPr>
            <a:spLocks noGrp="1"/>
          </p:cNvSpPr>
          <p:nvPr>
            <p:ph type="sldNum" sz="quarter" idx="12"/>
          </p:nvPr>
        </p:nvSpPr>
        <p:spPr>
          <a:xfrm>
            <a:off x="8505371" y="6407948"/>
            <a:ext cx="509226" cy="365125"/>
          </a:xfrm>
        </p:spPr>
        <p:txBody>
          <a:bodyPr/>
          <a:lstStyle/>
          <a:p>
            <a:pPr>
              <a:defRPr/>
            </a:pPr>
            <a:r>
              <a:rPr lang="en-US" altLang="zh-TW"/>
              <a:t>31</a:t>
            </a:r>
            <a:endParaRPr lang="en-US" altLang="zh-TW" dirty="0"/>
          </a:p>
        </p:txBody>
      </p:sp>
      <p:pic>
        <p:nvPicPr>
          <p:cNvPr id="4" name="圖片 3">
            <a:extLst>
              <a:ext uri="{FF2B5EF4-FFF2-40B4-BE49-F238E27FC236}">
                <a16:creationId xmlns:a16="http://schemas.microsoft.com/office/drawing/2014/main" id="{23AB0B65-39AD-AA93-7A07-9BC5DBC7FF8B}"/>
              </a:ext>
            </a:extLst>
          </p:cNvPr>
          <p:cNvPicPr>
            <a:picLocks noChangeAspect="1"/>
          </p:cNvPicPr>
          <p:nvPr/>
        </p:nvPicPr>
        <p:blipFill>
          <a:blip r:embed="rId2"/>
          <a:stretch>
            <a:fillRect/>
          </a:stretch>
        </p:blipFill>
        <p:spPr>
          <a:xfrm>
            <a:off x="0" y="-90057"/>
            <a:ext cx="9145587" cy="6948057"/>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主要賽事">
  <a:themeElements>
    <a:clrScheme name="中庸">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主要賽事">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主要賽事">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499227-3959-4114-B9FE-4E456AA208BC}">
  <we:reference id="wa104380862" version="1.5.0.0" store="zh-TW" storeType="OMEX"/>
  <we:alternateReferences>
    <we:reference id="WA104380862" version="1.5.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0</TotalTime>
  <Words>2235</Words>
  <Application>Microsoft Office PowerPoint</Application>
  <PresentationFormat>自訂</PresentationFormat>
  <Paragraphs>249</Paragraphs>
  <Slides>32</Slides>
  <Notes>0</Notes>
  <HiddenSlides>0</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2</vt:i4>
      </vt:variant>
      <vt:variant>
        <vt:lpstr>投影片標題</vt:lpstr>
      </vt:variant>
      <vt:variant>
        <vt:i4>32</vt:i4>
      </vt:variant>
    </vt:vector>
  </HeadingPairs>
  <TitlesOfParts>
    <vt:vector size="42" baseType="lpstr">
      <vt:lpstr>微軟正黑體</vt:lpstr>
      <vt:lpstr>標楷體</vt:lpstr>
      <vt:lpstr>Abadi</vt:lpstr>
      <vt:lpstr>Arial</vt:lpstr>
      <vt:lpstr>Calibri</vt:lpstr>
      <vt:lpstr>Cambria Math</vt:lpstr>
      <vt:lpstr>Impact</vt:lpstr>
      <vt:lpstr>主要賽事</vt:lpstr>
      <vt:lpstr>Equation</vt:lpstr>
      <vt:lpstr>方程式</vt:lpstr>
      <vt:lpstr>第二章　 基礎機率及抽樣分配</vt:lpstr>
      <vt:lpstr>關鍵字(Key words)</vt:lpstr>
      <vt:lpstr>PowerPoint 簡報</vt:lpstr>
      <vt:lpstr>機率概念</vt:lpstr>
      <vt:lpstr>機率應用</vt:lpstr>
      <vt:lpstr>機率計算</vt:lpstr>
      <vt:lpstr>表2-1. 心血管疾病與吸菸量人數表 （每日菸量之邊際機率marginal probability）</vt:lpstr>
      <vt:lpstr>聯合機率(joint probability)</vt:lpstr>
      <vt:lpstr>表2-2. 心血管疾與吸菸量機率 （聯合機率及邊際機率）</vt:lpstr>
      <vt:lpstr>機率分配(probability distribution)</vt:lpstr>
      <vt:lpstr>二項式分配(Binomial distribution)</vt:lpstr>
      <vt:lpstr>二項式分配</vt:lpstr>
      <vt:lpstr>參數(parameter)</vt:lpstr>
      <vt:lpstr>參數(parameters)</vt:lpstr>
      <vt:lpstr>二項式分配機率質量函數的變化圖</vt:lpstr>
      <vt:lpstr>例:擲銅板四次</vt:lpstr>
      <vt:lpstr>PowerPoint 簡報</vt:lpstr>
      <vt:lpstr>連續型隨機變數</vt:lpstr>
      <vt:lpstr>常態分配（Normal distribution）</vt:lpstr>
      <vt:lpstr>圖2-4. 57,387名無心血管疾病基隆市民收縮壓</vt:lpstr>
      <vt:lpstr>常態分配（Normal distribution）</vt:lpstr>
      <vt:lpstr>常態分配</vt:lpstr>
      <vt:lpstr>PowerPoint 簡報</vt:lpstr>
      <vt:lpstr>標準化</vt:lpstr>
      <vt:lpstr>常態分配（Normal distribution）</vt:lpstr>
      <vt:lpstr>常態分配（Normal distribution）</vt:lpstr>
      <vt:lpstr>抽樣分配(sampling distribution)</vt:lpstr>
      <vt:lpstr>PowerPoint 簡報</vt:lpstr>
      <vt:lpstr>作業(1)</vt:lpstr>
      <vt:lpstr>作業(2)</vt:lpstr>
      <vt:lpstr>作業(3)</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基礎機率及分配、抽樣分配（樣本平均數）</dc:title>
  <dc:creator>hongka</dc:creator>
  <cp:lastModifiedBy>YK Lin</cp:lastModifiedBy>
  <cp:revision>195</cp:revision>
  <cp:lastPrinted>2014-09-25T02:09:24Z</cp:lastPrinted>
  <dcterms:created xsi:type="dcterms:W3CDTF">2014-07-02T02:24:03Z</dcterms:created>
  <dcterms:modified xsi:type="dcterms:W3CDTF">2025-03-07T00:44:56Z</dcterms:modified>
</cp:coreProperties>
</file>