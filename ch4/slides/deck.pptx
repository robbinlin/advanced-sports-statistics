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25"/>
  </p:notesMasterIdLst>
  <p:handoutMasterIdLst>
    <p:handoutMasterId r:id="rId26"/>
  </p:handoutMasterIdLst>
  <p:sldIdLst>
    <p:sldId id="285" r:id="rId2"/>
    <p:sldId id="379" r:id="rId3"/>
    <p:sldId id="386" r:id="rId4"/>
    <p:sldId id="387" r:id="rId5"/>
    <p:sldId id="388" r:id="rId6"/>
    <p:sldId id="389" r:id="rId7"/>
    <p:sldId id="409" r:id="rId8"/>
    <p:sldId id="390" r:id="rId9"/>
    <p:sldId id="412" r:id="rId10"/>
    <p:sldId id="410" r:id="rId11"/>
    <p:sldId id="411" r:id="rId12"/>
    <p:sldId id="391" r:id="rId13"/>
    <p:sldId id="408" r:id="rId14"/>
    <p:sldId id="394" r:id="rId15"/>
    <p:sldId id="395" r:id="rId16"/>
    <p:sldId id="396" r:id="rId17"/>
    <p:sldId id="397" r:id="rId18"/>
    <p:sldId id="404" r:id="rId19"/>
    <p:sldId id="405" r:id="rId20"/>
    <p:sldId id="406" r:id="rId21"/>
    <p:sldId id="384" r:id="rId22"/>
    <p:sldId id="385" r:id="rId23"/>
    <p:sldId id="303" r:id="rId24"/>
  </p:sldIdLst>
  <p:sldSz cx="9144000" cy="6858000" type="screen4x3"/>
  <p:notesSz cx="7010400" cy="9167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7">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0"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42563C"/>
    <a:srgbClr val="FF6600"/>
    <a:srgbClr val="FF0000"/>
    <a:srgbClr val="FFFF00"/>
    <a:srgbClr val="CCECFF"/>
    <a:srgbClr val="FFFFCC"/>
    <a:srgbClr val="FFCC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6353" autoAdjust="0"/>
  </p:normalViewPr>
  <p:slideViewPr>
    <p:cSldViewPr>
      <p:cViewPr varScale="1">
        <p:scale>
          <a:sx n="110" d="100"/>
          <a:sy n="110" d="100"/>
        </p:scale>
        <p:origin x="1656" y="96"/>
      </p:cViewPr>
      <p:guideLst>
        <p:guide orient="horz" pos="2160"/>
        <p:guide pos="2880"/>
      </p:guideLst>
    </p:cSldViewPr>
  </p:slideViewPr>
  <p:outlineViewPr>
    <p:cViewPr>
      <p:scale>
        <a:sx n="33" d="100"/>
        <a:sy n="33" d="100"/>
      </p:scale>
      <p:origin x="0" y="-1257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887"/>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4099" name="Rectangle 3"/>
          <p:cNvSpPr>
            <a:spLocks noGrp="1" noChangeArrowheads="1"/>
          </p:cNvSpPr>
          <p:nvPr>
            <p:ph type="dt" sz="quarter"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4100" name="Rectangle 4"/>
          <p:cNvSpPr>
            <a:spLocks noGrp="1" noChangeArrowheads="1"/>
          </p:cNvSpPr>
          <p:nvPr>
            <p:ph type="ftr" sz="quarter" idx="2"/>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4101" name="Rectangle 5"/>
          <p:cNvSpPr>
            <a:spLocks noGrp="1" noChangeArrowheads="1"/>
          </p:cNvSpPr>
          <p:nvPr>
            <p:ph type="sldNum" sz="quarter" idx="3"/>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70F4BBA2-0881-46FD-9FE3-D2C6230B5628}" type="slidenum">
              <a:rPr lang="zh-TW" altLang="en-US"/>
              <a:pPr>
                <a:defRPr/>
              </a:pPr>
              <a:t>‹#›</a:t>
            </a:fld>
            <a:endParaRPr lang="en-US" altLang="zh-TW"/>
          </a:p>
        </p:txBody>
      </p:sp>
    </p:spTree>
    <p:extLst>
      <p:ext uri="{BB962C8B-B14F-4D97-AF65-F5344CB8AC3E}">
        <p14:creationId xmlns:p14="http://schemas.microsoft.com/office/powerpoint/2010/main" val="26431231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6147" name="Rectangle 3"/>
          <p:cNvSpPr>
            <a:spLocks noGrp="1" noChangeArrowheads="1"/>
          </p:cNvSpPr>
          <p:nvPr>
            <p:ph type="dt"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18436" name="Rectangle 4"/>
          <p:cNvSpPr>
            <a:spLocks noGrp="1" noRot="1" noChangeAspect="1" noChangeArrowheads="1"/>
          </p:cNvSpPr>
          <p:nvPr>
            <p:ph type="sldImg" idx="2"/>
          </p:nvPr>
        </p:nvSpPr>
        <p:spPr bwMode="auto">
          <a:xfrm>
            <a:off x="1212850" y="687388"/>
            <a:ext cx="4584700" cy="3438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354513"/>
            <a:ext cx="5140325" cy="412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150" name="Rectangle 6"/>
          <p:cNvSpPr>
            <a:spLocks noGrp="1" noChangeArrowheads="1"/>
          </p:cNvSpPr>
          <p:nvPr>
            <p:ph type="ftr" sz="quarter" idx="4"/>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6151" name="Rectangle 7"/>
          <p:cNvSpPr>
            <a:spLocks noGrp="1" noChangeArrowheads="1"/>
          </p:cNvSpPr>
          <p:nvPr>
            <p:ph type="sldNum" sz="quarter" idx="5"/>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F6CB8617-DEA2-4C3F-A6C7-D26FB938FA71}" type="slidenum">
              <a:rPr lang="zh-TW" altLang="en-US"/>
              <a:pPr>
                <a:defRPr/>
              </a:pPr>
              <a:t>‹#›</a:t>
            </a:fld>
            <a:endParaRPr lang="en-US" altLang="zh-TW"/>
          </a:p>
        </p:txBody>
      </p:sp>
    </p:spTree>
    <p:extLst>
      <p:ext uri="{BB962C8B-B14F-4D97-AF65-F5344CB8AC3E}">
        <p14:creationId xmlns:p14="http://schemas.microsoft.com/office/powerpoint/2010/main" val="15322680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23925" eaLnBrk="0" hangingPunct="0">
              <a:defRPr sz="2400">
                <a:solidFill>
                  <a:schemeClr val="tx1"/>
                </a:solidFill>
                <a:latin typeface="Times New Roman" pitchFamily="18" charset="0"/>
                <a:ea typeface="新細明體" pitchFamily="18" charset="-120"/>
              </a:defRPr>
            </a:lvl1pPr>
            <a:lvl2pPr marL="742950" indent="-285750" defTabSz="923925" eaLnBrk="0" hangingPunct="0">
              <a:defRPr sz="2400">
                <a:solidFill>
                  <a:schemeClr val="tx1"/>
                </a:solidFill>
                <a:latin typeface="Times New Roman" pitchFamily="18" charset="0"/>
                <a:ea typeface="新細明體" pitchFamily="18" charset="-120"/>
              </a:defRPr>
            </a:lvl2pPr>
            <a:lvl3pPr marL="1143000" indent="-228600" defTabSz="923925" eaLnBrk="0" hangingPunct="0">
              <a:defRPr sz="2400">
                <a:solidFill>
                  <a:schemeClr val="tx1"/>
                </a:solidFill>
                <a:latin typeface="Times New Roman" pitchFamily="18" charset="0"/>
                <a:ea typeface="新細明體" pitchFamily="18" charset="-120"/>
              </a:defRPr>
            </a:lvl3pPr>
            <a:lvl4pPr marL="1600200" indent="-228600" defTabSz="923925" eaLnBrk="0" hangingPunct="0">
              <a:defRPr sz="2400">
                <a:solidFill>
                  <a:schemeClr val="tx1"/>
                </a:solidFill>
                <a:latin typeface="Times New Roman" pitchFamily="18" charset="0"/>
                <a:ea typeface="新細明體" pitchFamily="18" charset="-120"/>
              </a:defRPr>
            </a:lvl4pPr>
            <a:lvl5pPr marL="2057400" indent="-228600" defTabSz="923925" eaLnBrk="0" hangingPunct="0">
              <a:defRPr sz="2400">
                <a:solidFill>
                  <a:schemeClr val="tx1"/>
                </a:solidFill>
                <a:latin typeface="Times New Roman" pitchFamily="18" charset="0"/>
                <a:ea typeface="新細明體" pitchFamily="18" charset="-120"/>
              </a:defRPr>
            </a:lvl5pPr>
            <a:lvl6pPr marL="25146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fld id="{B09CE4B1-9B23-4BEE-837D-E673249EFD8C}" type="slidenum">
              <a:rPr lang="zh-TW" altLang="en-US" sz="1200"/>
              <a:pPr eaLnBrk="1" hangingPunct="1"/>
              <a:t>1</a:t>
            </a:fld>
            <a:endParaRPr lang="en-US" altLang="zh-TW" sz="1200"/>
          </a:p>
        </p:txBody>
      </p:sp>
      <p:sp>
        <p:nvSpPr>
          <p:cNvPr id="19459" name="Rectangle 2"/>
          <p:cNvSpPr>
            <a:spLocks noGrp="1" noRot="1" noChangeAspect="1" noChangeArrowheads="1" noTextEdit="1"/>
          </p:cNvSpPr>
          <p:nvPr>
            <p:ph type="sldImg"/>
          </p:nvPr>
        </p:nvSpPr>
        <p:spPr>
          <a:xfrm>
            <a:off x="1220788" y="693738"/>
            <a:ext cx="4567237" cy="3425825"/>
          </a:xfrm>
          <a:ln/>
        </p:spPr>
      </p:sp>
    </p:spTree>
    <p:extLst>
      <p:ext uri="{BB962C8B-B14F-4D97-AF65-F5344CB8AC3E}">
        <p14:creationId xmlns:p14="http://schemas.microsoft.com/office/powerpoint/2010/main" val="64896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2">
        <a:schemeClr val="bg2"/>
      </p:bgRef>
    </p:bg>
    <p:spTree>
      <p:nvGrpSpPr>
        <p:cNvPr id="1" name=""/>
        <p:cNvGrpSpPr/>
        <p:nvPr/>
      </p:nvGrpSpPr>
      <p:grpSpPr>
        <a:xfrm>
          <a:off x="0" y="0"/>
          <a:ext cx="0" cy="0"/>
          <a:chOff x="0" y="0"/>
          <a:chExt cx="0" cy="0"/>
        </a:xfrm>
      </p:grpSpPr>
      <p:sp>
        <p:nvSpPr>
          <p:cNvPr id="7" name="Rectangle 6"/>
          <p:cNvSpPr/>
          <p:nvPr/>
        </p:nvSpPr>
        <p:spPr>
          <a:xfrm>
            <a:off x="-5132" y="2059012"/>
            <a:ext cx="9146751"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74319" y="2166365"/>
            <a:ext cx="8603674" cy="1739347"/>
          </a:xfrm>
        </p:spPr>
        <p:txBody>
          <a:bodyPr tIns="45720" bIns="45720" anchor="ctr">
            <a:normAutofit/>
          </a:bodyPr>
          <a:lstStyle>
            <a:lvl1pPr algn="ctr">
              <a:lnSpc>
                <a:spcPct val="80000"/>
              </a:lnSpc>
              <a:defRPr sz="6000" spc="0"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992086"/>
            <a:ext cx="6858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832035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96717462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2">
        <a:schemeClr val="bg2"/>
      </p:bgRef>
    </p:bg>
    <p:spTree>
      <p:nvGrpSpPr>
        <p:cNvPr id="1" name=""/>
        <p:cNvGrpSpPr/>
        <p:nvPr/>
      </p:nvGrpSpPr>
      <p:grpSpPr>
        <a:xfrm>
          <a:off x="0" y="0"/>
          <a:ext cx="0" cy="0"/>
          <a:chOff x="0" y="0"/>
          <a:chExt cx="0" cy="0"/>
        </a:xfrm>
      </p:grpSpPr>
      <p:sp>
        <p:nvSpPr>
          <p:cNvPr id="7" name="Rectangle 6"/>
          <p:cNvSpPr/>
          <p:nvPr/>
        </p:nvSpPr>
        <p:spPr>
          <a:xfrm>
            <a:off x="-5132" y="2059012"/>
            <a:ext cx="9146751"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24893" y="2208879"/>
            <a:ext cx="7886700" cy="1676400"/>
          </a:xfrm>
        </p:spPr>
        <p:txBody>
          <a:bodyPr anchor="ctr">
            <a:noAutofit/>
          </a:bodyPr>
          <a:lstStyle>
            <a:lvl1pPr algn="ctr">
              <a:lnSpc>
                <a:spcPct val="80000"/>
              </a:lnSpc>
              <a:defRPr sz="6000" b="0" spc="0" baseline="0">
                <a:solidFill>
                  <a:schemeClr val="bg1"/>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624893" y="4006171"/>
            <a:ext cx="78867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lvl1pPr>
              <a:defRPr>
                <a:solidFill>
                  <a:schemeClr val="tx2"/>
                </a:solidFill>
              </a:defRPr>
            </a:lvl1pPr>
          </a:lstStyle>
          <a:p>
            <a:pPr>
              <a:defRPr/>
            </a:pPr>
            <a:endParaRPr lang="en-US" altLang="zh-TW"/>
          </a:p>
        </p:txBody>
      </p:sp>
      <p:sp>
        <p:nvSpPr>
          <p:cNvPr id="5" name="Footer Placeholder 4"/>
          <p:cNvSpPr>
            <a:spLocks noGrp="1"/>
          </p:cNvSpPr>
          <p:nvPr>
            <p:ph type="ftr" sz="quarter" idx="11"/>
          </p:nvPr>
        </p:nvSpPr>
        <p:spPr/>
        <p:txBody>
          <a:bodyPr/>
          <a:lstStyle>
            <a:lvl1pPr>
              <a:defRPr>
                <a:solidFill>
                  <a:schemeClr val="tx2"/>
                </a:solidFill>
              </a:defRPr>
            </a:lvl1pPr>
          </a:lstStyle>
          <a:p>
            <a:pPr>
              <a:defRPr/>
            </a:pPr>
            <a:endParaRPr lang="zh-TW" alt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pPr>
              <a:defRPr/>
            </a:pPr>
            <a:endParaRPr lang="en-US" altLang="zh-TW"/>
          </a:p>
        </p:txBody>
      </p:sp>
    </p:spTree>
    <p:extLst>
      <p:ext uri="{BB962C8B-B14F-4D97-AF65-F5344CB8AC3E}">
        <p14:creationId xmlns:p14="http://schemas.microsoft.com/office/powerpoint/2010/main" val="1251006087"/>
      </p:ext>
    </p:extLst>
  </p:cSld>
  <p:clrMapOvr>
    <a:overrideClrMapping bg1="lt1" tx1="dk1" bg2="lt2" tx2="dk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85797" y="2011680"/>
            <a:ext cx="365760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800600" y="2011680"/>
            <a:ext cx="365760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zh-TW" altLang="en-US"/>
          </a:p>
        </p:txBody>
      </p:sp>
      <p:sp>
        <p:nvSpPr>
          <p:cNvPr id="7" name="Slide Number Placeholder 6"/>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3075278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85800" y="1913470"/>
            <a:ext cx="3657600" cy="743094"/>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685800" y="2656566"/>
            <a:ext cx="365760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800428" y="1913470"/>
            <a:ext cx="3657600" cy="743094"/>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800428" y="2656564"/>
            <a:ext cx="365760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5161452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pPr>
              <a:defRPr/>
            </a:pPr>
            <a:endParaRPr lang="en-US" altLang="zh-TW"/>
          </a:p>
        </p:txBody>
      </p:sp>
      <p:sp>
        <p:nvSpPr>
          <p:cNvPr id="4" name="Footer Placeholder 3"/>
          <p:cNvSpPr>
            <a:spLocks noGrp="1"/>
          </p:cNvSpPr>
          <p:nvPr>
            <p:ph type="ftr" sz="quarter" idx="11"/>
          </p:nvPr>
        </p:nvSpPr>
        <p:spPr/>
        <p:txBody>
          <a:bodyPr/>
          <a:lstStyle/>
          <a:p>
            <a:pPr>
              <a:defRPr/>
            </a:pPr>
            <a:endParaRPr lang="zh-TW" altLang="en-US"/>
          </a:p>
        </p:txBody>
      </p:sp>
      <p:sp>
        <p:nvSpPr>
          <p:cNvPr id="5" name="Slide Number Placeholder 4"/>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71026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TW"/>
          </a:p>
        </p:txBody>
      </p:sp>
      <p:sp>
        <p:nvSpPr>
          <p:cNvPr id="3" name="Footer Placeholder 2"/>
          <p:cNvSpPr>
            <a:spLocks noGrp="1"/>
          </p:cNvSpPr>
          <p:nvPr>
            <p:ph type="ftr" sz="quarter" idx="11"/>
          </p:nvPr>
        </p:nvSpPr>
        <p:spPr/>
        <p:txBody>
          <a:bodyPr/>
          <a:lstStyle/>
          <a:p>
            <a:pPr>
              <a:defRPr/>
            </a:pPr>
            <a:endParaRPr lang="zh-TW" altLang="en-US"/>
          </a:p>
        </p:txBody>
      </p:sp>
      <p:sp>
        <p:nvSpPr>
          <p:cNvPr id="4" name="Slide Number Placeholder 3"/>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672794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a:xfrm>
            <a:off x="685800" y="2148840"/>
            <a:ext cx="4572000" cy="38404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5892568" y="2147487"/>
            <a:ext cx="2560320" cy="3432319"/>
          </a:xfrm>
        </p:spPr>
        <p:txBody>
          <a:bodyPr>
            <a:normAutofit/>
          </a:bodyPr>
          <a:lstStyle>
            <a:lvl1pPr marL="0" indent="0">
              <a:lnSpc>
                <a:spcPct val="95000"/>
              </a:lnSpc>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zh-TW" altLang="en-US"/>
          </a:p>
        </p:txBody>
      </p:sp>
      <p:sp>
        <p:nvSpPr>
          <p:cNvPr id="7" name="Slide Number Placeholder 6"/>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7401601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685800" y="2211494"/>
            <a:ext cx="4754880" cy="384048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5885351" y="2150621"/>
            <a:ext cx="2560320" cy="3429000"/>
          </a:xfrm>
        </p:spPr>
        <p:txBody>
          <a:bodyPr>
            <a:normAutofit/>
          </a:bodyPr>
          <a:lstStyle>
            <a:lvl1pPr marL="0" indent="0">
              <a:lnSpc>
                <a:spcPct val="95000"/>
              </a:lnSpc>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zh-TW" altLang="en-US"/>
          </a:p>
        </p:txBody>
      </p:sp>
      <p:sp>
        <p:nvSpPr>
          <p:cNvPr id="7" name="Slide Number Placeholder 6"/>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430835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762903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6764484" y="0"/>
            <a:ext cx="20574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870468" y="609600"/>
            <a:ext cx="1801785" cy="5638800"/>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609600"/>
            <a:ext cx="5979968" cy="56388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a:xfrm>
            <a:off x="628650" y="6422855"/>
            <a:ext cx="2057397" cy="365125"/>
          </a:xfrm>
        </p:spPr>
        <p:txBody>
          <a:bodyPr/>
          <a:lstStyle/>
          <a:p>
            <a:pPr>
              <a:defRPr/>
            </a:pPr>
            <a:endParaRPr lang="en-US" altLang="zh-TW"/>
          </a:p>
        </p:txBody>
      </p:sp>
      <p:sp>
        <p:nvSpPr>
          <p:cNvPr id="5" name="Footer Placeholder 4"/>
          <p:cNvSpPr>
            <a:spLocks noGrp="1"/>
          </p:cNvSpPr>
          <p:nvPr>
            <p:ph type="ftr" sz="quarter" idx="11"/>
          </p:nvPr>
        </p:nvSpPr>
        <p:spPr>
          <a:xfrm>
            <a:off x="2832102" y="6422855"/>
            <a:ext cx="3209752" cy="365125"/>
          </a:xfrm>
        </p:spPr>
        <p:txBody>
          <a:bodyPr/>
          <a:lstStyle/>
          <a:p>
            <a:pPr>
              <a:defRPr/>
            </a:pPr>
            <a:endParaRPr lang="zh-TW" altLang="en-US"/>
          </a:p>
        </p:txBody>
      </p:sp>
      <p:sp>
        <p:nvSpPr>
          <p:cNvPr id="6" name="Slide Number Placeholder 5"/>
          <p:cNvSpPr>
            <a:spLocks noGrp="1"/>
          </p:cNvSpPr>
          <p:nvPr>
            <p:ph type="sldNum" sz="quarter" idx="12"/>
          </p:nvPr>
        </p:nvSpPr>
        <p:spPr>
          <a:xfrm>
            <a:off x="6054787" y="6422855"/>
            <a:ext cx="659819" cy="365125"/>
          </a:xfrm>
        </p:spPr>
        <p:txBody>
          <a:bodyPr/>
          <a:lstStyle/>
          <a:p>
            <a:pPr>
              <a:defRPr/>
            </a:pPr>
            <a:endParaRPr lang="en-US" altLang="zh-TW"/>
          </a:p>
        </p:txBody>
      </p:sp>
    </p:spTree>
    <p:extLst>
      <p:ext uri="{BB962C8B-B14F-4D97-AF65-F5344CB8AC3E}">
        <p14:creationId xmlns:p14="http://schemas.microsoft.com/office/powerpoint/2010/main" val="2060988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362" y="176109"/>
            <a:ext cx="9141714"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85019" y="284176"/>
            <a:ext cx="7772400" cy="150876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85019" y="2011680"/>
            <a:ext cx="7772400" cy="420624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81557" y="6422855"/>
            <a:ext cx="2595043" cy="365125"/>
          </a:xfrm>
          <a:prstGeom prst="rect">
            <a:avLst/>
          </a:prstGeom>
        </p:spPr>
        <p:txBody>
          <a:bodyPr vert="horz" lIns="91440" tIns="45720" rIns="45720" bIns="45720" rtlCol="0" anchor="ctr"/>
          <a:lstStyle>
            <a:lvl1pPr algn="l">
              <a:defRPr sz="1050">
                <a:solidFill>
                  <a:schemeClr val="tx1"/>
                </a:solidFill>
              </a:defRPr>
            </a:lvl1pPr>
          </a:lstStyle>
          <a:p>
            <a:pPr>
              <a:defRPr/>
            </a:pPr>
            <a:endParaRPr lang="en-US" altLang="zh-TW"/>
          </a:p>
        </p:txBody>
      </p:sp>
      <p:sp>
        <p:nvSpPr>
          <p:cNvPr id="5" name="Footer Placeholder 4"/>
          <p:cNvSpPr>
            <a:spLocks noGrp="1"/>
          </p:cNvSpPr>
          <p:nvPr>
            <p:ph type="ftr" sz="quarter" idx="3"/>
          </p:nvPr>
        </p:nvSpPr>
        <p:spPr>
          <a:xfrm>
            <a:off x="4191000" y="6422855"/>
            <a:ext cx="4060627" cy="365125"/>
          </a:xfrm>
          <a:prstGeom prst="rect">
            <a:avLst/>
          </a:prstGeom>
        </p:spPr>
        <p:txBody>
          <a:bodyPr vert="horz" lIns="91440" tIns="45720" rIns="91440" bIns="45720" rtlCol="0" anchor="ctr"/>
          <a:lstStyle>
            <a:lvl1pPr algn="r">
              <a:defRPr sz="1050">
                <a:solidFill>
                  <a:schemeClr val="tx1"/>
                </a:solidFill>
              </a:defRPr>
            </a:lvl1pPr>
          </a:lstStyle>
          <a:p>
            <a:pPr>
              <a:defRPr/>
            </a:pPr>
            <a:endParaRPr lang="zh-TW" altLang="en-US"/>
          </a:p>
        </p:txBody>
      </p:sp>
      <p:sp>
        <p:nvSpPr>
          <p:cNvPr id="6" name="Slide Number Placeholder 5"/>
          <p:cNvSpPr>
            <a:spLocks noGrp="1"/>
          </p:cNvSpPr>
          <p:nvPr>
            <p:ph type="sldNum" sz="quarter" idx="4"/>
          </p:nvPr>
        </p:nvSpPr>
        <p:spPr>
          <a:xfrm>
            <a:off x="8265139" y="6422855"/>
            <a:ext cx="709698" cy="365125"/>
          </a:xfrm>
          <a:prstGeom prst="rect">
            <a:avLst/>
          </a:prstGeom>
        </p:spPr>
        <p:txBody>
          <a:bodyPr vert="horz" lIns="45720" tIns="45720" rIns="91440" bIns="45720" rtlCol="0" anchor="ctr"/>
          <a:lstStyle>
            <a:lvl1pPr algn="l">
              <a:defRPr sz="1200" b="0">
                <a:solidFill>
                  <a:schemeClr val="tx1"/>
                </a:solidFill>
              </a:defRPr>
            </a:lvl1pPr>
          </a:lstStyle>
          <a:p>
            <a:pPr>
              <a:defRPr/>
            </a:pPr>
            <a:endParaRPr lang="en-US" altLang="zh-TW"/>
          </a:p>
        </p:txBody>
      </p:sp>
    </p:spTree>
    <p:extLst>
      <p:ext uri="{BB962C8B-B14F-4D97-AF65-F5344CB8AC3E}">
        <p14:creationId xmlns:p14="http://schemas.microsoft.com/office/powerpoint/2010/main" val="906949424"/>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8.tmp"/></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3"/>
          <p:cNvSpPr txBox="1">
            <a:spLocks noChangeArrowheads="1"/>
          </p:cNvSpPr>
          <p:nvPr/>
        </p:nvSpPr>
        <p:spPr bwMode="auto">
          <a:xfrm>
            <a:off x="0" y="6521450"/>
            <a:ext cx="220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400">
                <a:solidFill>
                  <a:schemeClr val="tx1"/>
                </a:solidFill>
                <a:latin typeface="Times New Roman" pitchFamily="18" charset="0"/>
                <a:ea typeface="新細明體" pitchFamily="18" charset="-120"/>
              </a:defRPr>
            </a:lvl1pPr>
            <a:lvl2pPr marL="742950" indent="-285750" defTabSz="762000" eaLnBrk="0" hangingPunct="0">
              <a:defRPr sz="2400">
                <a:solidFill>
                  <a:schemeClr val="tx1"/>
                </a:solidFill>
                <a:latin typeface="Times New Roman" pitchFamily="18" charset="0"/>
                <a:ea typeface="新細明體" pitchFamily="18" charset="-120"/>
              </a:defRPr>
            </a:lvl2pPr>
            <a:lvl3pPr marL="1143000" indent="-228600" defTabSz="762000" eaLnBrk="0" hangingPunct="0">
              <a:defRPr sz="2400">
                <a:solidFill>
                  <a:schemeClr val="tx1"/>
                </a:solidFill>
                <a:latin typeface="Times New Roman" pitchFamily="18" charset="0"/>
                <a:ea typeface="新細明體" pitchFamily="18" charset="-120"/>
              </a:defRPr>
            </a:lvl3pPr>
            <a:lvl4pPr marL="1600200" indent="-228600" defTabSz="762000" eaLnBrk="0" hangingPunct="0">
              <a:defRPr sz="2400">
                <a:solidFill>
                  <a:schemeClr val="tx1"/>
                </a:solidFill>
                <a:latin typeface="Times New Roman" pitchFamily="18" charset="0"/>
                <a:ea typeface="新細明體" pitchFamily="18" charset="-120"/>
              </a:defRPr>
            </a:lvl4pPr>
            <a:lvl5pPr marL="2057400" indent="-228600" defTabSz="762000" eaLnBrk="0" hangingPunct="0">
              <a:defRPr sz="2400">
                <a:solidFill>
                  <a:schemeClr val="tx1"/>
                </a:solidFill>
                <a:latin typeface="Times New Roman" pitchFamily="18" charset="0"/>
                <a:ea typeface="新細明體" pitchFamily="18" charset="-120"/>
              </a:defRPr>
            </a:lvl5pPr>
            <a:lvl6pPr marL="25146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ctr" eaLnBrk="1" hangingPunct="1">
              <a:spcBef>
                <a:spcPct val="50000"/>
              </a:spcBef>
            </a:pPr>
            <a:r>
              <a:rPr kumimoji="1" lang="zh-TW" altLang="en-US" sz="1600">
                <a:ea typeface="標楷體" pitchFamily="65" charset="-120"/>
              </a:rPr>
              <a:t> </a:t>
            </a:r>
            <a:endParaRPr kumimoji="1" lang="en-US" altLang="zh-TW" sz="1600">
              <a:ea typeface="標楷體" pitchFamily="65" charset="-120"/>
            </a:endParaRPr>
          </a:p>
        </p:txBody>
      </p:sp>
      <p:sp>
        <p:nvSpPr>
          <p:cNvPr id="2" name="矩形 1"/>
          <p:cNvSpPr/>
          <p:nvPr/>
        </p:nvSpPr>
        <p:spPr>
          <a:xfrm>
            <a:off x="992331" y="1052736"/>
            <a:ext cx="7272808" cy="2308324"/>
          </a:xfrm>
          <a:prstGeom prst="rect">
            <a:avLst/>
          </a:prstGeom>
        </p:spPr>
        <p:txBody>
          <a:bodyPr wrap="square">
            <a:spAutoFit/>
          </a:bodyPr>
          <a:lstStyle/>
          <a:p>
            <a:pPr algn="ctr"/>
            <a:r>
              <a:rPr lang="zh-TW" altLang="zh-TW" sz="4800" b="1" dirty="0">
                <a:latin typeface="微軟正黑體" panose="020B0604030504040204" pitchFamily="34" charset="-120"/>
                <a:ea typeface="微軟正黑體" panose="020B0604030504040204" pitchFamily="34" charset="-120"/>
              </a:rPr>
              <a:t> </a:t>
            </a:r>
            <a:endParaRPr lang="en-US" altLang="zh-TW" sz="4800" b="1" dirty="0">
              <a:latin typeface="微軟正黑體" panose="020B0604030504040204" pitchFamily="34" charset="-120"/>
              <a:ea typeface="微軟正黑體" panose="020B0604030504040204" pitchFamily="34" charset="-120"/>
            </a:endParaRPr>
          </a:p>
          <a:p>
            <a:pPr algn="ctr"/>
            <a:endParaRPr lang="en-US" altLang="zh-TW" sz="4800" b="1" dirty="0">
              <a:latin typeface="微軟正黑體" panose="020B0604030504040204" pitchFamily="34" charset="-120"/>
              <a:ea typeface="微軟正黑體" panose="020B0604030504040204" pitchFamily="34" charset="-120"/>
            </a:endParaRPr>
          </a:p>
          <a:p>
            <a:pPr algn="ctr"/>
            <a:r>
              <a:rPr lang="zh-TW" altLang="zh-TW" sz="4800" b="1" dirty="0">
                <a:solidFill>
                  <a:schemeClr val="accent4">
                    <a:lumMod val="75000"/>
                  </a:schemeClr>
                </a:solidFill>
                <a:latin typeface="微軟正黑體" panose="020B0604030504040204" pitchFamily="34" charset="-120"/>
                <a:ea typeface="微軟正黑體" panose="020B0604030504040204" pitchFamily="34" charset="-120"/>
              </a:rPr>
              <a:t>單樣本及雙樣本檢定</a:t>
            </a:r>
            <a:endParaRPr lang="zh-TW" altLang="en-US" sz="4800" dirty="0">
              <a:solidFill>
                <a:schemeClr val="accent4">
                  <a:lumMod val="75000"/>
                </a:schemeClr>
              </a:solidFill>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pPr>
              <a:defRPr/>
            </a:pPr>
            <a:r>
              <a:rPr lang="en-US" altLang="zh-TW" dirty="0"/>
              <a:t>1</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611560" y="476672"/>
            <a:ext cx="8075240" cy="940966"/>
          </a:xfrm>
        </p:spPr>
        <p:txBody>
          <a:bodyPr/>
          <a:lstStyle/>
          <a:p>
            <a:r>
              <a:rPr lang="zh-TW" altLang="zh-TW" dirty="0">
                <a:latin typeface="微軟正黑體" panose="020B0604030504040204" pitchFamily="34" charset="-120"/>
                <a:ea typeface="微軟正黑體" panose="020B0604030504040204" pitchFamily="34" charset="-120"/>
              </a:rPr>
              <a:t>關鍵字</a:t>
            </a:r>
            <a:r>
              <a:rPr lang="en-US" altLang="zh-TW" dirty="0">
                <a:latin typeface="微軟正黑體" panose="020B0604030504040204" pitchFamily="34" charset="-120"/>
                <a:ea typeface="微軟正黑體" panose="020B0604030504040204" pitchFamily="34" charset="-120"/>
                <a:cs typeface="Times New Roman" pitchFamily="18" charset="0"/>
              </a:rPr>
              <a:t>(Key words)</a:t>
            </a:r>
            <a:endParaRPr lang="zh-TW" altLang="en-US" dirty="0">
              <a:latin typeface="微軟正黑體" panose="020B0604030504040204" pitchFamily="34" charset="-120"/>
              <a:ea typeface="微軟正黑體" panose="020B0604030504040204" pitchFamily="34" charset="-120"/>
              <a:cs typeface="Times New Roman" pitchFamily="18" charset="0"/>
            </a:endParaRPr>
          </a:p>
        </p:txBody>
      </p:sp>
      <p:sp>
        <p:nvSpPr>
          <p:cNvPr id="2" name="內容版面配置區 1"/>
          <p:cNvSpPr>
            <a:spLocks noGrp="1"/>
          </p:cNvSpPr>
          <p:nvPr>
            <p:ph idx="1"/>
          </p:nvPr>
        </p:nvSpPr>
        <p:spPr>
          <a:xfrm>
            <a:off x="827584" y="1862732"/>
            <a:ext cx="3394720" cy="4525963"/>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雙樣本</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單樣本</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en-US" dirty="0">
                <a:latin typeface="微軟正黑體" panose="020B0604030504040204" pitchFamily="34" charset="-120"/>
                <a:ea typeface="微軟正黑體" panose="020B0604030504040204" pitchFamily="34" charset="-120"/>
              </a:rPr>
              <a:t>成對樣本</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平均數檢定</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中位數檢定</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比例檢定</a:t>
            </a:r>
          </a:p>
          <a:p>
            <a:endParaRPr lang="en-US" altLang="zh-TW" dirty="0">
              <a:latin typeface="微軟正黑體" panose="020B0604030504040204" pitchFamily="34" charset="-120"/>
              <a:ea typeface="微軟正黑體" panose="020B0604030504040204" pitchFamily="34" charset="-120"/>
            </a:endParaRPr>
          </a:p>
          <a:p>
            <a:endParaRPr lang="zh-TW" altLang="zh-TW"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2</a:t>
            </a:r>
          </a:p>
        </p:txBody>
      </p:sp>
    </p:spTree>
    <p:extLst>
      <p:ext uri="{BB962C8B-B14F-4D97-AF65-F5344CB8AC3E}">
        <p14:creationId xmlns:p14="http://schemas.microsoft.com/office/powerpoint/2010/main" val="14237765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251520" y="284176"/>
            <a:ext cx="8568952" cy="1508760"/>
          </a:xfrm>
        </p:spPr>
        <p:txBody>
          <a:bodyPr>
            <a:normAutofit/>
          </a:bodyPr>
          <a:lstStyle/>
          <a:p>
            <a:pPr algn="ctr"/>
            <a:r>
              <a:rPr lang="zh-TW" altLang="zh-TW" sz="3100" dirty="0">
                <a:effectLst/>
                <a:latin typeface="微軟正黑體" panose="020B0604030504040204" pitchFamily="34" charset="-120"/>
                <a:ea typeface="微軟正黑體" panose="020B0604030504040204" pitchFamily="34" charset="-120"/>
              </a:rPr>
              <a:t>新生兒持續性肺動脈高壓（</a:t>
            </a:r>
            <a:r>
              <a:rPr lang="en-US" altLang="zh-TW" sz="3100" dirty="0">
                <a:effectLst/>
                <a:latin typeface="微軟正黑體" panose="020B0604030504040204" pitchFamily="34" charset="-120"/>
                <a:ea typeface="微軟正黑體" panose="020B0604030504040204" pitchFamily="34" charset="-120"/>
              </a:rPr>
              <a:t>persistent pulmonary hypertension of newborn</a:t>
            </a:r>
            <a:r>
              <a:rPr lang="zh-TW" altLang="zh-TW" sz="3100" dirty="0">
                <a:effectLst/>
                <a:latin typeface="微軟正黑體" panose="020B0604030504040204" pitchFamily="34" charset="-120"/>
                <a:ea typeface="微軟正黑體" panose="020B0604030504040204" pitchFamily="34" charset="-120"/>
              </a:rPr>
              <a:t>，</a:t>
            </a:r>
            <a:r>
              <a:rPr lang="en-US" altLang="zh-TW" sz="3100" dirty="0">
                <a:effectLst/>
                <a:latin typeface="微軟正黑體" panose="020B0604030504040204" pitchFamily="34" charset="-120"/>
                <a:ea typeface="微軟正黑體" panose="020B0604030504040204" pitchFamily="34" charset="-120"/>
              </a:rPr>
              <a:t>PPHN</a:t>
            </a:r>
            <a:r>
              <a:rPr lang="zh-TW" altLang="zh-TW" sz="3100" dirty="0">
                <a:effectLst/>
                <a:latin typeface="微軟正黑體" panose="020B0604030504040204" pitchFamily="34" charset="-120"/>
                <a:ea typeface="微軟正黑體" panose="020B0604030504040204" pitchFamily="34" charset="-120"/>
              </a:rPr>
              <a:t>）之相關研究</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p:txBody>
          <a:bodyPr/>
          <a:lstStyle/>
          <a:p>
            <a:r>
              <a:rPr lang="zh-TW" altLang="zh-TW" dirty="0">
                <a:latin typeface="微軟正黑體" panose="020B0604030504040204" pitchFamily="34" charset="-120"/>
                <a:ea typeface="微軟正黑體" panose="020B0604030504040204" pitchFamily="34" charset="-120"/>
              </a:rPr>
              <a:t>此疾病多發生於足月兒或過期產兒，出現臨床上低血氧等之症狀，發生原因可能和子宮或生產時之因素有關。由於某些國家持續性肺動脈高壓之死亡率高達</a:t>
            </a:r>
            <a:r>
              <a:rPr lang="en-US" altLang="zh-TW" dirty="0">
                <a:latin typeface="微軟正黑體" panose="020B0604030504040204" pitchFamily="34" charset="-120"/>
                <a:ea typeface="微軟正黑體" panose="020B0604030504040204" pitchFamily="34" charset="-120"/>
              </a:rPr>
              <a:t>19%</a:t>
            </a:r>
            <a:r>
              <a:rPr lang="zh-TW" altLang="zh-TW" dirty="0">
                <a:latin typeface="微軟正黑體" panose="020B0604030504040204" pitchFamily="34" charset="-120"/>
                <a:ea typeface="微軟正黑體" panose="020B0604030504040204" pitchFamily="34" charset="-120"/>
              </a:rPr>
              <a:t>，若能找出和死亡相關之危險因子，即可預防死亡之發生。</a:t>
            </a:r>
            <a:endParaRPr lang="en-US" altLang="zh-TW" dirty="0">
              <a:latin typeface="微軟正黑體" panose="020B0604030504040204" pitchFamily="34" charset="-120"/>
              <a:ea typeface="微軟正黑體" panose="020B0604030504040204" pitchFamily="34" charset="-120"/>
            </a:endParaRPr>
          </a:p>
          <a:p>
            <a:r>
              <a:rPr lang="zh-TW" altLang="zh-TW" dirty="0">
                <a:latin typeface="微軟正黑體" panose="020B0604030504040204" pitchFamily="34" charset="-120"/>
                <a:ea typeface="微軟正黑體" panose="020B0604030504040204" pitchFamily="34" charset="-120"/>
              </a:rPr>
              <a:t>在新生兒加護病房，新生兒持續性肺動脈高壓則納入欲收集之樣本，研究的關鍵結果（</a:t>
            </a:r>
            <a:r>
              <a:rPr lang="en-US" altLang="zh-TW" dirty="0">
                <a:latin typeface="微軟正黑體" panose="020B0604030504040204" pitchFamily="34" charset="-120"/>
                <a:ea typeface="微軟正黑體" panose="020B0604030504040204" pitchFamily="34" charset="-120"/>
              </a:rPr>
              <a:t>outcome</a:t>
            </a:r>
            <a:r>
              <a:rPr lang="zh-TW" altLang="zh-TW" dirty="0">
                <a:latin typeface="微軟正黑體" panose="020B0604030504040204" pitchFamily="34" charset="-120"/>
                <a:ea typeface="微軟正黑體" panose="020B0604030504040204" pitchFamily="34" charset="-120"/>
              </a:rPr>
              <a:t>）或事件（</a:t>
            </a:r>
            <a:r>
              <a:rPr lang="en-US" altLang="zh-TW" dirty="0">
                <a:latin typeface="微軟正黑體" panose="020B0604030504040204" pitchFamily="34" charset="-120"/>
                <a:ea typeface="微軟正黑體" panose="020B0604030504040204" pitchFamily="34" charset="-120"/>
              </a:rPr>
              <a:t>event</a:t>
            </a:r>
            <a:r>
              <a:rPr lang="zh-TW" altLang="zh-TW" dirty="0">
                <a:latin typeface="微軟正黑體" panose="020B0604030504040204" pitchFamily="34" charset="-120"/>
                <a:ea typeface="微軟正黑體" panose="020B0604030504040204" pitchFamily="34" charset="-120"/>
              </a:rPr>
              <a:t>）是死亡與否，共有</a:t>
            </a:r>
            <a:r>
              <a:rPr lang="en-US" altLang="zh-TW" dirty="0">
                <a:latin typeface="微軟正黑體" panose="020B0604030504040204" pitchFamily="34" charset="-120"/>
                <a:ea typeface="微軟正黑體" panose="020B0604030504040204" pitchFamily="34" charset="-120"/>
              </a:rPr>
              <a:t>131</a:t>
            </a:r>
            <a:r>
              <a:rPr lang="zh-TW" altLang="zh-TW" dirty="0">
                <a:latin typeface="微軟正黑體" panose="020B0604030504040204" pitchFamily="34" charset="-120"/>
                <a:ea typeface="微軟正黑體" panose="020B0604030504040204" pitchFamily="34" charset="-120"/>
              </a:rPr>
              <a:t>名新生兒納入。</a:t>
            </a:r>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3</a:t>
            </a:r>
          </a:p>
        </p:txBody>
      </p:sp>
    </p:spTree>
    <p:extLst>
      <p:ext uri="{BB962C8B-B14F-4D97-AF65-F5344CB8AC3E}">
        <p14:creationId xmlns:p14="http://schemas.microsoft.com/office/powerpoint/2010/main" val="33216680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17672" y="764704"/>
            <a:ext cx="8229600" cy="1143000"/>
          </a:xfrm>
        </p:spPr>
        <p:txBody>
          <a:bodyPr>
            <a:normAutofit/>
          </a:bodyPr>
          <a:lstStyle/>
          <a:p>
            <a:pPr algn="ctr"/>
            <a:r>
              <a:rPr lang="zh-TW" altLang="zh-TW" dirty="0">
                <a:effectLst/>
                <a:latin typeface="微軟正黑體" panose="020B0604030504040204" pitchFamily="34" charset="-120"/>
                <a:ea typeface="微軟正黑體" panose="020B0604030504040204" pitchFamily="34" charset="-120"/>
              </a:rPr>
              <a:t>死亡組及存活組</a:t>
            </a:r>
            <a:r>
              <a:rPr lang="zh-TW" altLang="en-US" dirty="0">
                <a:effectLst/>
                <a:latin typeface="微軟正黑體" panose="020B0604030504040204" pitchFamily="34" charset="-120"/>
                <a:ea typeface="微軟正黑體" panose="020B0604030504040204" pitchFamily="34" charset="-120"/>
              </a:rPr>
              <a:t>之</a:t>
            </a:r>
            <a:r>
              <a:rPr lang="zh-TW" altLang="zh-TW" dirty="0">
                <a:effectLst/>
                <a:latin typeface="微軟正黑體" panose="020B0604030504040204" pitchFamily="34" charset="-120"/>
                <a:ea typeface="微軟正黑體" panose="020B0604030504040204" pitchFamily="34" charset="-120"/>
              </a:rPr>
              <a:t>描述</a:t>
            </a:r>
            <a:r>
              <a:rPr lang="zh-TW" altLang="en-US" dirty="0">
                <a:effectLst/>
                <a:latin typeface="微軟正黑體" panose="020B0604030504040204" pitchFamily="34" charset="-120"/>
                <a:ea typeface="微軟正黑體" panose="020B0604030504040204" pitchFamily="34" charset="-120"/>
              </a:rPr>
              <a:t>性</a:t>
            </a:r>
            <a:r>
              <a:rPr lang="zh-TW" altLang="zh-TW" dirty="0">
                <a:effectLst/>
                <a:latin typeface="微軟正黑體" panose="020B0604030504040204" pitchFamily="34" charset="-120"/>
                <a:ea typeface="微軟正黑體" panose="020B0604030504040204" pitchFamily="34" charset="-120"/>
              </a:rPr>
              <a:t>統</a:t>
            </a:r>
            <a:r>
              <a:rPr lang="zh-TW" altLang="en-US" dirty="0">
                <a:effectLst/>
                <a:latin typeface="微軟正黑體" panose="020B0604030504040204" pitchFamily="34" charset="-120"/>
                <a:ea typeface="微軟正黑體" panose="020B0604030504040204" pitchFamily="34" charset="-120"/>
              </a:rPr>
              <a:t>計</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graphicFrame>
            <p:nvGraphicFramePr>
              <p:cNvPr id="5" name="內容版面配置區 4"/>
              <p:cNvGraphicFramePr>
                <a:graphicFrameLocks noGrp="1"/>
              </p:cNvGraphicFramePr>
              <p:nvPr>
                <p:ph idx="1"/>
                <p:extLst>
                  <p:ext uri="{D42A27DB-BD31-4B8C-83A1-F6EECF244321}">
                    <p14:modId xmlns:p14="http://schemas.microsoft.com/office/powerpoint/2010/main" val="517564422"/>
                  </p:ext>
                </p:extLst>
              </p:nvPr>
            </p:nvGraphicFramePr>
            <p:xfrm>
              <a:off x="294347" y="2060849"/>
              <a:ext cx="8526125" cy="3780183"/>
            </p:xfrm>
            <a:graphic>
              <a:graphicData uri="http://schemas.openxmlformats.org/drawingml/2006/table">
                <a:tbl>
                  <a:tblPr firstRow="1" firstCol="1" bandRow="1">
                    <a:tableStyleId>{D7AC3CCA-C797-4891-BE02-D94E43425B78}</a:tableStyleId>
                  </a:tblPr>
                  <a:tblGrid>
                    <a:gridCol w="1397333">
                      <a:extLst>
                        <a:ext uri="{9D8B030D-6E8A-4147-A177-3AD203B41FA5}">
                          <a16:colId xmlns:a16="http://schemas.microsoft.com/office/drawing/2014/main" val="20000"/>
                        </a:ext>
                      </a:extLst>
                    </a:gridCol>
                    <a:gridCol w="1915335">
                      <a:extLst>
                        <a:ext uri="{9D8B030D-6E8A-4147-A177-3AD203B41FA5}">
                          <a16:colId xmlns:a16="http://schemas.microsoft.com/office/drawing/2014/main" val="20001"/>
                        </a:ext>
                      </a:extLst>
                    </a:gridCol>
                    <a:gridCol w="1656334">
                      <a:extLst>
                        <a:ext uri="{9D8B030D-6E8A-4147-A177-3AD203B41FA5}">
                          <a16:colId xmlns:a16="http://schemas.microsoft.com/office/drawing/2014/main" val="20002"/>
                        </a:ext>
                      </a:extLst>
                    </a:gridCol>
                    <a:gridCol w="1896387">
                      <a:extLst>
                        <a:ext uri="{9D8B030D-6E8A-4147-A177-3AD203B41FA5}">
                          <a16:colId xmlns:a16="http://schemas.microsoft.com/office/drawing/2014/main" val="20003"/>
                        </a:ext>
                      </a:extLst>
                    </a:gridCol>
                    <a:gridCol w="1660736">
                      <a:extLst>
                        <a:ext uri="{9D8B030D-6E8A-4147-A177-3AD203B41FA5}">
                          <a16:colId xmlns:a16="http://schemas.microsoft.com/office/drawing/2014/main" val="20004"/>
                        </a:ext>
                      </a:extLst>
                    </a:gridCol>
                  </a:tblGrid>
                  <a:tr h="347467">
                    <a:tc rowSpan="2">
                      <a:txBody>
                        <a:bodyPr/>
                        <a:lstStyle/>
                        <a:p>
                          <a:pPr algn="ctr">
                            <a:spcAft>
                              <a:spcPts val="0"/>
                            </a:spcAft>
                          </a:pPr>
                          <a:r>
                            <a:rPr lang="zh-TW" sz="1600" kern="0" dirty="0">
                              <a:effectLst/>
                            </a:rPr>
                            <a:t>變數名稱</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gridSpan="2">
                      <a:txBody>
                        <a:bodyPr/>
                        <a:lstStyle/>
                        <a:p>
                          <a:pPr algn="ctr">
                            <a:spcAft>
                              <a:spcPts val="0"/>
                            </a:spcAft>
                          </a:pPr>
                          <a:r>
                            <a:rPr lang="zh-TW" sz="1600" kern="0" dirty="0">
                              <a:effectLst/>
                            </a:rPr>
                            <a:t>死亡</a:t>
                          </a:r>
                          <a:r>
                            <a:rPr lang="en-US" sz="1600" kern="0" dirty="0">
                              <a:effectLst/>
                            </a:rPr>
                            <a:t> (n =19)</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tc gridSpan="2">
                      <a:txBody>
                        <a:bodyPr/>
                        <a:lstStyle/>
                        <a:p>
                          <a:pPr algn="ctr">
                            <a:spcAft>
                              <a:spcPts val="0"/>
                            </a:spcAft>
                          </a:pPr>
                          <a:r>
                            <a:rPr lang="zh-TW" sz="1600" kern="0" dirty="0">
                              <a:effectLst/>
                            </a:rPr>
                            <a:t>存活</a:t>
                          </a:r>
                          <a:r>
                            <a:rPr lang="en-US" sz="1600" kern="0" dirty="0">
                              <a:effectLst/>
                            </a:rPr>
                            <a:t>(n=112)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extLst>
                      <a:ext uri="{0D108BD9-81ED-4DB2-BD59-A6C34878D82A}">
                        <a16:rowId xmlns:a16="http://schemas.microsoft.com/office/drawing/2014/main" val="10000"/>
                      </a:ext>
                    </a:extLst>
                  </a:tr>
                  <a:tr h="652976">
                    <a:tc vMerge="1">
                      <a:txBody>
                        <a:bodyPr/>
                        <a:lstStyle/>
                        <a:p>
                          <a:endParaRPr lang="zh-TW" altLang="en-US"/>
                        </a:p>
                      </a:txBody>
                      <a:tcPr/>
                    </a:tc>
                    <a:tc>
                      <a:txBody>
                        <a:bodyPr/>
                        <a:lstStyle/>
                        <a:p>
                          <a:pPr algn="ctr">
                            <a:spcAft>
                              <a:spcPts val="0"/>
                            </a:spcAft>
                          </a:pPr>
                          <a:r>
                            <a:rPr lang="zh-TW" sz="1600" kern="0" dirty="0">
                              <a:effectLst/>
                            </a:rPr>
                            <a:t>平均數</a:t>
                          </a:r>
                          <a14:m>
                            <m:oMath xmlns:m="http://schemas.openxmlformats.org/officeDocument/2006/math">
                              <m:r>
                                <a:rPr lang="en-US" sz="1600" kern="0">
                                  <a:effectLst/>
                                </a:rPr>
                                <m:t>±</m:t>
                              </m:r>
                            </m:oMath>
                          </a14:m>
                          <a:r>
                            <a:rPr lang="zh-TW" sz="1600" kern="0" dirty="0">
                              <a:effectLst/>
                            </a:rPr>
                            <a:t>標準差</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dirty="0">
                              <a:effectLst/>
                            </a:rPr>
                            <a:t>中位數</a:t>
                          </a:r>
                          <a:r>
                            <a:rPr lang="en-US" sz="1600" kern="0" dirty="0">
                              <a:effectLst/>
                            </a:rPr>
                            <a:t> (IQR)</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a:effectLst/>
                            </a:rPr>
                            <a:t>平均數</a:t>
                          </a:r>
                          <a14:m>
                            <m:oMath xmlns:m="http://schemas.openxmlformats.org/officeDocument/2006/math">
                              <m:r>
                                <a:rPr lang="en-US" sz="1600" kern="0">
                                  <a:effectLst/>
                                </a:rPr>
                                <m:t>±</m:t>
                              </m:r>
                            </m:oMath>
                          </a14:m>
                          <a:r>
                            <a:rPr lang="zh-TW" sz="1600" kern="0">
                              <a:effectLst/>
                            </a:rPr>
                            <a:t>標準差</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a:effectLst/>
                            </a:rPr>
                            <a:t>中位數</a:t>
                          </a:r>
                          <a:r>
                            <a:rPr lang="en-US" sz="1600" kern="0">
                              <a:effectLst/>
                            </a:rPr>
                            <a:t> (IQR)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47467">
                    <a:tc>
                      <a:txBody>
                        <a:bodyPr/>
                        <a:lstStyle/>
                        <a:p>
                          <a:pPr algn="ctr">
                            <a:spcAft>
                              <a:spcPts val="0"/>
                            </a:spcAft>
                          </a:pPr>
                          <a:r>
                            <a:rPr lang="zh-TW" sz="1600" kern="100" dirty="0">
                              <a:effectLst/>
                            </a:rPr>
                            <a:t>懷孕</a:t>
                          </a:r>
                          <a:r>
                            <a:rPr lang="zh-TW" sz="1600" kern="0" dirty="0">
                              <a:effectLst/>
                            </a:rPr>
                            <a:t>週數</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34.89</a:t>
                          </a:r>
                          <a14:m>
                            <m:oMath xmlns:m="http://schemas.openxmlformats.org/officeDocument/2006/math">
                              <m:r>
                                <a:rPr lang="en-US" sz="1600" kern="0">
                                  <a:effectLst/>
                                </a:rPr>
                                <m:t>±</m:t>
                              </m:r>
                            </m:oMath>
                          </a14:m>
                          <a:r>
                            <a:rPr lang="en-US" sz="1600" kern="0" dirty="0">
                              <a:effectLst/>
                            </a:rPr>
                            <a:t>6.27</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37(11.5)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36.49</a:t>
                          </a:r>
                          <a14:m>
                            <m:oMath xmlns:m="http://schemas.openxmlformats.org/officeDocument/2006/math">
                              <m:r>
                                <a:rPr lang="en-US" sz="1600" kern="0">
                                  <a:effectLst/>
                                </a:rPr>
                                <m:t>±</m:t>
                              </m:r>
                            </m:oMath>
                          </a14:m>
                          <a:r>
                            <a:rPr lang="en-US" sz="1600" kern="0" dirty="0">
                              <a:effectLst/>
                            </a:rPr>
                            <a:t>4.83</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38(6)</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94936">
                    <a:tc>
                      <a:txBody>
                        <a:bodyPr/>
                        <a:lstStyle/>
                        <a:p>
                          <a:pPr algn="ctr">
                            <a:spcAft>
                              <a:spcPts val="0"/>
                            </a:spcAft>
                          </a:pPr>
                          <a:r>
                            <a:rPr lang="zh-TW" sz="1600" kern="100" dirty="0">
                              <a:effectLst/>
                            </a:rPr>
                            <a:t>出生</a:t>
                          </a:r>
                          <a:r>
                            <a:rPr lang="zh-TW" sz="1600" kern="0" dirty="0">
                              <a:effectLst/>
                            </a:rPr>
                            <a:t>體重</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2194.72</a:t>
                          </a:r>
                          <a14:m>
                            <m:oMath xmlns:m="http://schemas.openxmlformats.org/officeDocument/2006/math">
                              <m:r>
                                <a:rPr lang="en-US" sz="1600" kern="0">
                                  <a:effectLst/>
                                </a:rPr>
                                <m:t>±</m:t>
                              </m:r>
                            </m:oMath>
                          </a14:m>
                          <a:r>
                            <a:rPr lang="en-US" sz="1600" kern="0" dirty="0">
                              <a:effectLst/>
                            </a:rPr>
                            <a:t>952.37</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2420 (1352.5)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2700.03</a:t>
                          </a:r>
                          <a14:m>
                            <m:oMath xmlns:m="http://schemas.openxmlformats.org/officeDocument/2006/math">
                              <m:r>
                                <a:rPr lang="en-US" sz="1600" kern="0">
                                  <a:effectLst/>
                                </a:rPr>
                                <m:t>±</m:t>
                              </m:r>
                            </m:oMath>
                          </a14:m>
                          <a:r>
                            <a:rPr lang="en-US" sz="1600" kern="0" dirty="0">
                              <a:effectLst/>
                            </a:rPr>
                            <a:t>955.90</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2950 (1092.5)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47467">
                    <a:tc>
                      <a:txBody>
                        <a:bodyPr/>
                        <a:lstStyle/>
                        <a:p>
                          <a:pPr algn="ctr">
                            <a:spcAft>
                              <a:spcPts val="0"/>
                            </a:spcAft>
                          </a:pPr>
                          <a:r>
                            <a:rPr lang="en-US" sz="1600" kern="0">
                              <a:effectLst/>
                            </a:rPr>
                            <a:t>1</a:t>
                          </a:r>
                          <a:r>
                            <a:rPr lang="zh-TW" sz="1600" kern="0">
                              <a:effectLst/>
                            </a:rPr>
                            <a:t>分鐘</a:t>
                          </a:r>
                          <a:r>
                            <a:rPr lang="en-US" sz="1600" kern="100">
                              <a:effectLst/>
                            </a:rPr>
                            <a:t>apgar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4.84</a:t>
                          </a:r>
                          <a14:m>
                            <m:oMath xmlns:m="http://schemas.openxmlformats.org/officeDocument/2006/math">
                              <m:r>
                                <a:rPr lang="en-US" sz="1600" kern="0">
                                  <a:effectLst/>
                                </a:rPr>
                                <m:t>±</m:t>
                              </m:r>
                            </m:oMath>
                          </a14:m>
                          <a:r>
                            <a:rPr lang="en-US" sz="1600" kern="0" dirty="0">
                              <a:effectLst/>
                            </a:rPr>
                            <a:t>2.12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solidFill>
                                <a:schemeClr val="bg1"/>
                              </a:solidFill>
                              <a:effectLst/>
                            </a:rPr>
                            <a:t>5(3.5)</a:t>
                          </a:r>
                          <a:endParaRPr lang="zh-TW" sz="1600"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4.96</a:t>
                          </a:r>
                          <a14:m>
                            <m:oMath xmlns:m="http://schemas.openxmlformats.org/officeDocument/2006/math">
                              <m:r>
                                <a:rPr lang="en-US" sz="1600" kern="0">
                                  <a:effectLst/>
                                </a:rPr>
                                <m:t>±</m:t>
                              </m:r>
                            </m:oMath>
                          </a14:m>
                          <a:r>
                            <a:rPr lang="en-US" sz="1600" kern="0" dirty="0">
                              <a:effectLst/>
                            </a:rPr>
                            <a:t>2.05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5(3)</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47467">
                    <a:tc>
                      <a:txBody>
                        <a:bodyPr/>
                        <a:lstStyle/>
                        <a:p>
                          <a:pPr algn="ctr">
                            <a:spcAft>
                              <a:spcPts val="0"/>
                            </a:spcAft>
                          </a:pPr>
                          <a:r>
                            <a:rPr lang="en-US" sz="1600" kern="0">
                              <a:effectLst/>
                            </a:rPr>
                            <a:t>5</a:t>
                          </a:r>
                          <a:r>
                            <a:rPr lang="zh-TW" sz="1600" kern="0">
                              <a:effectLst/>
                            </a:rPr>
                            <a:t>分鐘</a:t>
                          </a:r>
                          <a:r>
                            <a:rPr lang="en-US" sz="1600" kern="100">
                              <a:effectLst/>
                            </a:rPr>
                            <a:t>apgar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5.26</a:t>
                          </a:r>
                          <a14:m>
                            <m:oMath xmlns:m="http://schemas.openxmlformats.org/officeDocument/2006/math">
                              <m:r>
                                <a:rPr lang="en-US" sz="1600" kern="0">
                                  <a:effectLst/>
                                </a:rPr>
                                <m:t>±</m:t>
                              </m:r>
                            </m:oMath>
                          </a14:m>
                          <a:r>
                            <a:rPr lang="en-US" sz="1600" kern="0" dirty="0">
                              <a:effectLst/>
                            </a:rPr>
                            <a:t>2.47</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solidFill>
                                <a:schemeClr val="bg1"/>
                              </a:solidFill>
                              <a:effectLst/>
                            </a:rPr>
                            <a:t>4(5)</a:t>
                          </a:r>
                          <a:endParaRPr lang="zh-TW" sz="1600"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5.80</a:t>
                          </a:r>
                          <a14:m>
                            <m:oMath xmlns:m="http://schemas.openxmlformats.org/officeDocument/2006/math">
                              <m:r>
                                <a:rPr lang="en-US" sz="1600" kern="0">
                                  <a:effectLst/>
                                </a:rPr>
                                <m:t>±</m:t>
                              </m:r>
                            </m:oMath>
                          </a14:m>
                          <a:r>
                            <a:rPr lang="en-US" sz="1600" kern="0" dirty="0">
                              <a:effectLst/>
                            </a:rPr>
                            <a:t>2.27</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6(4)</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47467">
                    <a:tc>
                      <a:txBody>
                        <a:bodyPr/>
                        <a:lstStyle/>
                        <a:p>
                          <a:pPr algn="ctr">
                            <a:spcAft>
                              <a:spcPts val="0"/>
                            </a:spcAft>
                          </a:pPr>
                          <a:r>
                            <a:rPr lang="zh-TW" sz="1600" kern="100">
                              <a:effectLst/>
                            </a:rPr>
                            <a:t>酸鹼值</a:t>
                          </a:r>
                          <a:r>
                            <a:rPr lang="en-US" sz="1600" kern="100">
                              <a:effectLst/>
                            </a:rPr>
                            <a:t>(PH</a:t>
                          </a:r>
                          <a:r>
                            <a:rPr lang="zh-TW" sz="1600" kern="100">
                              <a:effectLst/>
                            </a:rPr>
                            <a:t>值</a:t>
                          </a:r>
                          <a:r>
                            <a:rPr lang="en-US" sz="1600" kern="100">
                              <a:effectLst/>
                            </a:rPr>
                            <a:t>)</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7.07</a:t>
                          </a:r>
                          <a14:m>
                            <m:oMath xmlns:m="http://schemas.openxmlformats.org/officeDocument/2006/math">
                              <m:r>
                                <a:rPr lang="en-US" sz="1600" kern="0">
                                  <a:effectLst/>
                                </a:rPr>
                                <m:t>±</m:t>
                              </m:r>
                            </m:oMath>
                          </a14:m>
                          <a:r>
                            <a:rPr lang="en-US" sz="1600" kern="0" dirty="0">
                              <a:effectLst/>
                            </a:rPr>
                            <a:t>0.19</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7(0.2)</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7.14</a:t>
                          </a:r>
                          <a14:m>
                            <m:oMath xmlns:m="http://schemas.openxmlformats.org/officeDocument/2006/math">
                              <m:r>
                                <a:rPr lang="en-US" sz="1600" kern="0">
                                  <a:effectLst/>
                                </a:rPr>
                                <m:t>±</m:t>
                              </m:r>
                            </m:oMath>
                          </a14:m>
                          <a:r>
                            <a:rPr lang="en-US" sz="1600" kern="0" dirty="0">
                              <a:effectLst/>
                            </a:rPr>
                            <a:t>0.20</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7.2(0.3)</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694936">
                    <a:tc>
                      <a:txBody>
                        <a:bodyPr/>
                        <a:lstStyle/>
                        <a:p>
                          <a:pPr algn="ctr">
                            <a:spcAft>
                              <a:spcPts val="0"/>
                            </a:spcAft>
                          </a:pPr>
                          <a:r>
                            <a:rPr lang="en-US" sz="1600" kern="0" dirty="0">
                              <a:effectLst/>
                            </a:rPr>
                            <a:t>AaDO2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596.99</a:t>
                          </a:r>
                          <a14:m>
                            <m:oMath xmlns:m="http://schemas.openxmlformats.org/officeDocument/2006/math">
                              <m:r>
                                <a:rPr lang="en-US" sz="1600" kern="0">
                                  <a:effectLst/>
                                </a:rPr>
                                <m:t>±</m:t>
                              </m:r>
                            </m:oMath>
                          </a14:m>
                          <a:r>
                            <a:rPr lang="en-US" sz="1600" kern="0">
                              <a:effectLst/>
                            </a:rPr>
                            <a:t>52.99</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612 (43.50)</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590.16</a:t>
                          </a:r>
                          <a14:m>
                            <m:oMath xmlns:m="http://schemas.openxmlformats.org/officeDocument/2006/math">
                              <m:r>
                                <a:rPr lang="en-US" sz="1600" kern="0">
                                  <a:effectLst/>
                                </a:rPr>
                                <m:t>±</m:t>
                              </m:r>
                            </m:oMath>
                          </a14:m>
                          <a:r>
                            <a:rPr lang="en-US" sz="1600" kern="0" dirty="0">
                              <a:effectLst/>
                            </a:rPr>
                            <a:t>66.38</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607.1 (45.25)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mc:Choice>
        <mc:Fallback>
          <p:graphicFrame>
            <p:nvGraphicFramePr>
              <p:cNvPr id="5" name="內容版面配置區 4"/>
              <p:cNvGraphicFramePr>
                <a:graphicFrameLocks noGrp="1"/>
              </p:cNvGraphicFramePr>
              <p:nvPr>
                <p:ph idx="1"/>
                <p:extLst>
                  <p:ext uri="{D42A27DB-BD31-4B8C-83A1-F6EECF244321}">
                    <p14:modId xmlns:p14="http://schemas.microsoft.com/office/powerpoint/2010/main" val="517564422"/>
                  </p:ext>
                </p:extLst>
              </p:nvPr>
            </p:nvGraphicFramePr>
            <p:xfrm>
              <a:off x="294347" y="2060849"/>
              <a:ext cx="8526125" cy="3780183"/>
            </p:xfrm>
            <a:graphic>
              <a:graphicData uri="http://schemas.openxmlformats.org/drawingml/2006/table">
                <a:tbl>
                  <a:tblPr firstRow="1" firstCol="1" bandRow="1">
                    <a:tableStyleId>{D7AC3CCA-C797-4891-BE02-D94E43425B78}</a:tableStyleId>
                  </a:tblPr>
                  <a:tblGrid>
                    <a:gridCol w="1397333">
                      <a:extLst>
                        <a:ext uri="{9D8B030D-6E8A-4147-A177-3AD203B41FA5}">
                          <a16:colId xmlns:a16="http://schemas.microsoft.com/office/drawing/2014/main" val="20000"/>
                        </a:ext>
                      </a:extLst>
                    </a:gridCol>
                    <a:gridCol w="1915335">
                      <a:extLst>
                        <a:ext uri="{9D8B030D-6E8A-4147-A177-3AD203B41FA5}">
                          <a16:colId xmlns:a16="http://schemas.microsoft.com/office/drawing/2014/main" val="20001"/>
                        </a:ext>
                      </a:extLst>
                    </a:gridCol>
                    <a:gridCol w="1656334">
                      <a:extLst>
                        <a:ext uri="{9D8B030D-6E8A-4147-A177-3AD203B41FA5}">
                          <a16:colId xmlns:a16="http://schemas.microsoft.com/office/drawing/2014/main" val="20002"/>
                        </a:ext>
                      </a:extLst>
                    </a:gridCol>
                    <a:gridCol w="1896387">
                      <a:extLst>
                        <a:ext uri="{9D8B030D-6E8A-4147-A177-3AD203B41FA5}">
                          <a16:colId xmlns:a16="http://schemas.microsoft.com/office/drawing/2014/main" val="20003"/>
                        </a:ext>
                      </a:extLst>
                    </a:gridCol>
                    <a:gridCol w="1660736">
                      <a:extLst>
                        <a:ext uri="{9D8B030D-6E8A-4147-A177-3AD203B41FA5}">
                          <a16:colId xmlns:a16="http://schemas.microsoft.com/office/drawing/2014/main" val="20004"/>
                        </a:ext>
                      </a:extLst>
                    </a:gridCol>
                  </a:tblGrid>
                  <a:tr h="347467">
                    <a:tc rowSpan="2">
                      <a:txBody>
                        <a:bodyPr/>
                        <a:lstStyle/>
                        <a:p>
                          <a:pPr algn="ctr">
                            <a:spcAft>
                              <a:spcPts val="0"/>
                            </a:spcAft>
                          </a:pPr>
                          <a:r>
                            <a:rPr lang="zh-TW" sz="1600" kern="0" dirty="0">
                              <a:effectLst/>
                            </a:rPr>
                            <a:t>變數名稱</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gridSpan="2">
                      <a:txBody>
                        <a:bodyPr/>
                        <a:lstStyle/>
                        <a:p>
                          <a:pPr algn="ctr">
                            <a:spcAft>
                              <a:spcPts val="0"/>
                            </a:spcAft>
                          </a:pPr>
                          <a:r>
                            <a:rPr lang="zh-TW" sz="1600" kern="0" dirty="0">
                              <a:effectLst/>
                            </a:rPr>
                            <a:t>死亡</a:t>
                          </a:r>
                          <a:r>
                            <a:rPr lang="en-US" sz="1600" kern="0" dirty="0">
                              <a:effectLst/>
                            </a:rPr>
                            <a:t> (n =19)</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tc gridSpan="2">
                      <a:txBody>
                        <a:bodyPr/>
                        <a:lstStyle/>
                        <a:p>
                          <a:pPr algn="ctr">
                            <a:spcAft>
                              <a:spcPts val="0"/>
                            </a:spcAft>
                          </a:pPr>
                          <a:r>
                            <a:rPr lang="zh-TW" sz="1600" kern="0" dirty="0">
                              <a:effectLst/>
                            </a:rPr>
                            <a:t>存活</a:t>
                          </a:r>
                          <a:r>
                            <a:rPr lang="en-US" sz="1600" kern="0" dirty="0">
                              <a:effectLst/>
                            </a:rPr>
                            <a:t>(n=112)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extLst>
                      <a:ext uri="{0D108BD9-81ED-4DB2-BD59-A6C34878D82A}">
                        <a16:rowId xmlns:a16="http://schemas.microsoft.com/office/drawing/2014/main" val="10000"/>
                      </a:ext>
                    </a:extLst>
                  </a:tr>
                  <a:tr h="652976">
                    <a:tc vMerge="1">
                      <a:txBody>
                        <a:bodyPr/>
                        <a:lstStyle/>
                        <a:p>
                          <a:endParaRPr lang="zh-TW" altLang="en-US"/>
                        </a:p>
                      </a:txBody>
                      <a:tcPr/>
                    </a:tc>
                    <a:tc>
                      <a:txBody>
                        <a:bodyPr/>
                        <a:lstStyle/>
                        <a:p>
                          <a:endParaRPr lang="zh-TW"/>
                        </a:p>
                      </a:txBody>
                      <a:tcPr marL="68580" marR="68580" marT="0" marB="0" anchor="ctr">
                        <a:blipFill>
                          <a:blip r:embed="rId2"/>
                          <a:stretch>
                            <a:fillRect l="-73016" t="-56075" r="-272381" b="-428972"/>
                          </a:stretch>
                        </a:blipFill>
                      </a:tcPr>
                    </a:tc>
                    <a:tc>
                      <a:txBody>
                        <a:bodyPr/>
                        <a:lstStyle/>
                        <a:p>
                          <a:pPr algn="ctr">
                            <a:spcAft>
                              <a:spcPts val="0"/>
                            </a:spcAft>
                          </a:pPr>
                          <a:r>
                            <a:rPr lang="zh-TW" sz="1600" kern="0" dirty="0">
                              <a:effectLst/>
                            </a:rPr>
                            <a:t>中位數</a:t>
                          </a:r>
                          <a:r>
                            <a:rPr lang="en-US" sz="1600" kern="0" dirty="0">
                              <a:effectLst/>
                            </a:rPr>
                            <a:t> (IQR)</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56075" r="-88746" b="-428972"/>
                          </a:stretch>
                        </a:blipFill>
                      </a:tcPr>
                    </a:tc>
                    <a:tc>
                      <a:txBody>
                        <a:bodyPr/>
                        <a:lstStyle/>
                        <a:p>
                          <a:pPr algn="ctr">
                            <a:spcAft>
                              <a:spcPts val="0"/>
                            </a:spcAft>
                          </a:pPr>
                          <a:r>
                            <a:rPr lang="zh-TW" sz="1600" kern="0">
                              <a:effectLst/>
                            </a:rPr>
                            <a:t>中位數</a:t>
                          </a:r>
                          <a:r>
                            <a:rPr lang="en-US" sz="1600" kern="0">
                              <a:effectLst/>
                            </a:rPr>
                            <a:t> (IQR)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347467">
                    <a:tc>
                      <a:txBody>
                        <a:bodyPr/>
                        <a:lstStyle/>
                        <a:p>
                          <a:pPr algn="ctr">
                            <a:spcAft>
                              <a:spcPts val="0"/>
                            </a:spcAft>
                          </a:pPr>
                          <a:r>
                            <a:rPr lang="zh-TW" sz="1600" kern="100" dirty="0">
                              <a:effectLst/>
                            </a:rPr>
                            <a:t>懷孕</a:t>
                          </a:r>
                          <a:r>
                            <a:rPr lang="zh-TW" sz="1600" kern="0" dirty="0">
                              <a:effectLst/>
                            </a:rPr>
                            <a:t>週數</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292982" r="-272381" b="-705263"/>
                          </a:stretch>
                        </a:blipFill>
                      </a:tcPr>
                    </a:tc>
                    <a:tc>
                      <a:txBody>
                        <a:bodyPr/>
                        <a:lstStyle/>
                        <a:p>
                          <a:pPr algn="ctr">
                            <a:spcAft>
                              <a:spcPts val="0"/>
                            </a:spcAft>
                          </a:pPr>
                          <a:r>
                            <a:rPr lang="en-US" sz="1600" kern="0" dirty="0">
                              <a:effectLst/>
                            </a:rPr>
                            <a:t>37(11.5)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292982" r="-88746" b="-705263"/>
                          </a:stretch>
                        </a:blipFill>
                      </a:tcPr>
                    </a:tc>
                    <a:tc>
                      <a:txBody>
                        <a:bodyPr/>
                        <a:lstStyle/>
                        <a:p>
                          <a:pPr algn="ctr">
                            <a:spcAft>
                              <a:spcPts val="0"/>
                            </a:spcAft>
                          </a:pPr>
                          <a:r>
                            <a:rPr lang="en-US" sz="1600" kern="0">
                              <a:effectLst/>
                            </a:rPr>
                            <a:t>38(6)</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94936">
                    <a:tc>
                      <a:txBody>
                        <a:bodyPr/>
                        <a:lstStyle/>
                        <a:p>
                          <a:pPr algn="ctr">
                            <a:spcAft>
                              <a:spcPts val="0"/>
                            </a:spcAft>
                          </a:pPr>
                          <a:r>
                            <a:rPr lang="zh-TW" sz="1600" kern="100" dirty="0">
                              <a:effectLst/>
                            </a:rPr>
                            <a:t>出生</a:t>
                          </a:r>
                          <a:r>
                            <a:rPr lang="zh-TW" sz="1600" kern="0" dirty="0">
                              <a:effectLst/>
                            </a:rPr>
                            <a:t>體重</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194783" r="-272381" b="-249565"/>
                          </a:stretch>
                        </a:blipFill>
                      </a:tcPr>
                    </a:tc>
                    <a:tc>
                      <a:txBody>
                        <a:bodyPr/>
                        <a:lstStyle/>
                        <a:p>
                          <a:pPr algn="ctr">
                            <a:spcAft>
                              <a:spcPts val="0"/>
                            </a:spcAft>
                          </a:pPr>
                          <a:r>
                            <a:rPr lang="en-US" sz="1600" kern="0" dirty="0">
                              <a:effectLst/>
                            </a:rPr>
                            <a:t>2420 (1352.5)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194783" r="-88746" b="-249565"/>
                          </a:stretch>
                        </a:blipFill>
                      </a:tcPr>
                    </a:tc>
                    <a:tc>
                      <a:txBody>
                        <a:bodyPr/>
                        <a:lstStyle/>
                        <a:p>
                          <a:pPr algn="ctr">
                            <a:spcAft>
                              <a:spcPts val="0"/>
                            </a:spcAft>
                          </a:pPr>
                          <a:r>
                            <a:rPr lang="en-US" sz="1600" kern="0" dirty="0">
                              <a:effectLst/>
                            </a:rPr>
                            <a:t>2950 (1092.5)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47467">
                    <a:tc>
                      <a:txBody>
                        <a:bodyPr/>
                        <a:lstStyle/>
                        <a:p>
                          <a:pPr algn="ctr">
                            <a:spcAft>
                              <a:spcPts val="0"/>
                            </a:spcAft>
                          </a:pPr>
                          <a:r>
                            <a:rPr lang="en-US" sz="1600" kern="0">
                              <a:effectLst/>
                            </a:rPr>
                            <a:t>1</a:t>
                          </a:r>
                          <a:r>
                            <a:rPr lang="zh-TW" sz="1600" kern="0">
                              <a:effectLst/>
                            </a:rPr>
                            <a:t>分鐘</a:t>
                          </a:r>
                          <a:r>
                            <a:rPr lang="en-US" sz="1600" kern="100">
                              <a:effectLst/>
                            </a:rPr>
                            <a:t>apgar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594737" r="-272381" b="-403509"/>
                          </a:stretch>
                        </a:blipFill>
                      </a:tcPr>
                    </a:tc>
                    <a:tc>
                      <a:txBody>
                        <a:bodyPr/>
                        <a:lstStyle/>
                        <a:p>
                          <a:pPr algn="ctr">
                            <a:spcAft>
                              <a:spcPts val="0"/>
                            </a:spcAft>
                          </a:pPr>
                          <a:r>
                            <a:rPr lang="en-US" sz="1600" kern="0" dirty="0">
                              <a:solidFill>
                                <a:schemeClr val="bg1"/>
                              </a:solidFill>
                              <a:effectLst/>
                            </a:rPr>
                            <a:t>5(3.5)</a:t>
                          </a:r>
                          <a:endParaRPr lang="zh-TW" sz="1600"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594737" r="-88746" b="-403509"/>
                          </a:stretch>
                        </a:blipFill>
                      </a:tcPr>
                    </a:tc>
                    <a:tc>
                      <a:txBody>
                        <a:bodyPr/>
                        <a:lstStyle/>
                        <a:p>
                          <a:pPr algn="ctr">
                            <a:spcAft>
                              <a:spcPts val="0"/>
                            </a:spcAft>
                          </a:pPr>
                          <a:r>
                            <a:rPr lang="en-US" sz="1600" kern="0">
                              <a:effectLst/>
                            </a:rPr>
                            <a:t>5(3)</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47467">
                    <a:tc>
                      <a:txBody>
                        <a:bodyPr/>
                        <a:lstStyle/>
                        <a:p>
                          <a:pPr algn="ctr">
                            <a:spcAft>
                              <a:spcPts val="0"/>
                            </a:spcAft>
                          </a:pPr>
                          <a:r>
                            <a:rPr lang="en-US" sz="1600" kern="0">
                              <a:effectLst/>
                            </a:rPr>
                            <a:t>5</a:t>
                          </a:r>
                          <a:r>
                            <a:rPr lang="zh-TW" sz="1600" kern="0">
                              <a:effectLst/>
                            </a:rPr>
                            <a:t>分鐘</a:t>
                          </a:r>
                          <a:r>
                            <a:rPr lang="en-US" sz="1600" kern="100">
                              <a:effectLst/>
                            </a:rPr>
                            <a:t>apgar</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694737" r="-272381" b="-303509"/>
                          </a:stretch>
                        </a:blipFill>
                      </a:tcPr>
                    </a:tc>
                    <a:tc>
                      <a:txBody>
                        <a:bodyPr/>
                        <a:lstStyle/>
                        <a:p>
                          <a:pPr algn="ctr">
                            <a:spcAft>
                              <a:spcPts val="0"/>
                            </a:spcAft>
                          </a:pPr>
                          <a:r>
                            <a:rPr lang="en-US" sz="1600" kern="0" dirty="0">
                              <a:solidFill>
                                <a:schemeClr val="bg1"/>
                              </a:solidFill>
                              <a:effectLst/>
                            </a:rPr>
                            <a:t>4(5)</a:t>
                          </a:r>
                          <a:endParaRPr lang="zh-TW" sz="1600" kern="100" dirty="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694737" r="-88746" b="-303509"/>
                          </a:stretch>
                        </a:blipFill>
                      </a:tcPr>
                    </a:tc>
                    <a:tc>
                      <a:txBody>
                        <a:bodyPr/>
                        <a:lstStyle/>
                        <a:p>
                          <a:pPr algn="ctr">
                            <a:spcAft>
                              <a:spcPts val="0"/>
                            </a:spcAft>
                          </a:pPr>
                          <a:r>
                            <a:rPr lang="en-US" sz="1600" kern="0">
                              <a:effectLst/>
                            </a:rPr>
                            <a:t>6(4)</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47467">
                    <a:tc>
                      <a:txBody>
                        <a:bodyPr/>
                        <a:lstStyle/>
                        <a:p>
                          <a:pPr algn="ctr">
                            <a:spcAft>
                              <a:spcPts val="0"/>
                            </a:spcAft>
                          </a:pPr>
                          <a:r>
                            <a:rPr lang="zh-TW" sz="1600" kern="100">
                              <a:effectLst/>
                            </a:rPr>
                            <a:t>酸鹼值</a:t>
                          </a:r>
                          <a:r>
                            <a:rPr lang="en-US" sz="1600" kern="100">
                              <a:effectLst/>
                            </a:rPr>
                            <a:t>(PH</a:t>
                          </a:r>
                          <a:r>
                            <a:rPr lang="zh-TW" sz="1600" kern="100">
                              <a:effectLst/>
                            </a:rPr>
                            <a:t>值</a:t>
                          </a:r>
                          <a:r>
                            <a:rPr lang="en-US" sz="1600" kern="100">
                              <a:effectLst/>
                            </a:rPr>
                            <a:t>)</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794737" r="-272381" b="-203509"/>
                          </a:stretch>
                        </a:blipFill>
                      </a:tcPr>
                    </a:tc>
                    <a:tc>
                      <a:txBody>
                        <a:bodyPr/>
                        <a:lstStyle/>
                        <a:p>
                          <a:pPr algn="ctr">
                            <a:spcAft>
                              <a:spcPts val="0"/>
                            </a:spcAft>
                          </a:pPr>
                          <a:r>
                            <a:rPr lang="en-US" sz="1600" kern="0">
                              <a:effectLst/>
                            </a:rPr>
                            <a:t>7(0.2)</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794737" r="-88746" b="-203509"/>
                          </a:stretch>
                        </a:blipFill>
                      </a:tcPr>
                    </a:tc>
                    <a:tc>
                      <a:txBody>
                        <a:bodyPr/>
                        <a:lstStyle/>
                        <a:p>
                          <a:pPr algn="ctr">
                            <a:spcAft>
                              <a:spcPts val="0"/>
                            </a:spcAft>
                          </a:pPr>
                          <a:r>
                            <a:rPr lang="en-US" sz="1600" kern="0">
                              <a:effectLst/>
                            </a:rPr>
                            <a:t>7.2(0.3)</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694936">
                    <a:tc>
                      <a:txBody>
                        <a:bodyPr/>
                        <a:lstStyle/>
                        <a:p>
                          <a:pPr algn="ctr">
                            <a:spcAft>
                              <a:spcPts val="0"/>
                            </a:spcAft>
                          </a:pPr>
                          <a:r>
                            <a:rPr lang="en-US" sz="1600" kern="0" dirty="0">
                              <a:effectLst/>
                            </a:rPr>
                            <a:t>AaDO2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73016" t="-447368" r="-272381" b="-1754"/>
                          </a:stretch>
                        </a:blipFill>
                      </a:tcPr>
                    </a:tc>
                    <a:tc>
                      <a:txBody>
                        <a:bodyPr/>
                        <a:lstStyle/>
                        <a:p>
                          <a:pPr algn="ctr">
                            <a:spcAft>
                              <a:spcPts val="0"/>
                            </a:spcAft>
                          </a:pPr>
                          <a:r>
                            <a:rPr lang="en-US" sz="1600" kern="0" dirty="0">
                              <a:effectLst/>
                            </a:rPr>
                            <a:t>612 (43.50)</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2"/>
                          <a:stretch>
                            <a:fillRect l="-262379" t="-447368" r="-88746" b="-1754"/>
                          </a:stretch>
                        </a:blipFill>
                      </a:tcPr>
                    </a:tc>
                    <a:tc>
                      <a:txBody>
                        <a:bodyPr/>
                        <a:lstStyle/>
                        <a:p>
                          <a:pPr algn="ctr">
                            <a:spcAft>
                              <a:spcPts val="0"/>
                            </a:spcAft>
                          </a:pPr>
                          <a:r>
                            <a:rPr lang="en-US" sz="1600" kern="0" dirty="0">
                              <a:effectLst/>
                            </a:rPr>
                            <a:t>607.1 (45.25)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bl>
              </a:graphicData>
            </a:graphic>
          </p:graphicFrame>
        </mc:Fallback>
      </mc:AlternateContent>
      <p:sp>
        <p:nvSpPr>
          <p:cNvPr id="2" name="投影片編號版面配置區 1"/>
          <p:cNvSpPr>
            <a:spLocks noGrp="1"/>
          </p:cNvSpPr>
          <p:nvPr>
            <p:ph type="sldNum" sz="quarter" idx="12"/>
          </p:nvPr>
        </p:nvSpPr>
        <p:spPr/>
        <p:txBody>
          <a:bodyPr/>
          <a:lstStyle/>
          <a:p>
            <a:pPr>
              <a:defRPr/>
            </a:pPr>
            <a:r>
              <a:rPr lang="en-US" altLang="zh-TW" dirty="0"/>
              <a:t>4</a:t>
            </a:r>
          </a:p>
        </p:txBody>
      </p:sp>
      <p:sp>
        <p:nvSpPr>
          <p:cNvPr id="3" name="矩形 2"/>
          <p:cNvSpPr/>
          <p:nvPr/>
        </p:nvSpPr>
        <p:spPr>
          <a:xfrm>
            <a:off x="647564" y="5841033"/>
            <a:ext cx="7848872" cy="707886"/>
          </a:xfrm>
          <a:prstGeom prst="rect">
            <a:avLst/>
          </a:prstGeom>
        </p:spPr>
        <p:txBody>
          <a:bodyPr wrap="square">
            <a:spAutoFit/>
          </a:bodyPr>
          <a:lstStyle/>
          <a:p>
            <a:r>
              <a:rPr lang="en-US" altLang="zh-TW" sz="2000" dirty="0" err="1">
                <a:ea typeface="標楷體" panose="03000509000000000000" pitchFamily="65" charset="-120"/>
                <a:cs typeface="Times New Roman" panose="02020603050405020304" pitchFamily="18" charset="0"/>
              </a:rPr>
              <a:t>apgar</a:t>
            </a:r>
            <a:r>
              <a:rPr lang="zh-TW" altLang="en-US" sz="2000" dirty="0">
                <a:ea typeface="標楷體" panose="03000509000000000000" pitchFamily="65" charset="-120"/>
                <a:cs typeface="Times New Roman" panose="02020603050405020304" pitchFamily="18" charset="0"/>
              </a:rPr>
              <a:t> </a:t>
            </a:r>
            <a:r>
              <a:rPr lang="en-US" altLang="zh-TW" sz="2000" dirty="0">
                <a:ea typeface="標楷體" panose="03000509000000000000" pitchFamily="65" charset="-120"/>
                <a:cs typeface="Times New Roman" panose="02020603050405020304" pitchFamily="18" charset="0"/>
              </a:rPr>
              <a:t>score</a:t>
            </a:r>
            <a:r>
              <a:rPr lang="zh-TW" altLang="en-US" sz="2000" dirty="0">
                <a:ea typeface="標楷體" panose="03000509000000000000" pitchFamily="65" charset="-120"/>
                <a:cs typeface="Times New Roman" panose="02020603050405020304" pitchFamily="18" charset="0"/>
              </a:rPr>
              <a:t>愈高表示出生嬰兒之身體狀況愈佳</a:t>
            </a:r>
            <a:endParaRPr lang="en-US" altLang="zh-TW" sz="2000" dirty="0">
              <a:ea typeface="標楷體" panose="03000509000000000000" pitchFamily="65" charset="-120"/>
            </a:endParaRPr>
          </a:p>
          <a:p>
            <a:r>
              <a:rPr lang="en-US" altLang="zh-TW" sz="2000" dirty="0">
                <a:ea typeface="標楷體" panose="03000509000000000000" pitchFamily="65" charset="-120"/>
              </a:rPr>
              <a:t>AaDO2</a:t>
            </a:r>
            <a:r>
              <a:rPr lang="zh-TW" altLang="zh-TW" sz="2000" dirty="0">
                <a:ea typeface="標楷體" panose="03000509000000000000" pitchFamily="65" charset="-120"/>
                <a:cs typeface="Times New Roman" panose="02020603050405020304" pitchFamily="18" charset="0"/>
              </a:rPr>
              <a:t>：肺泡氣中所含的氧與動脈血所含的氧兩者的差值</a:t>
            </a:r>
            <a:endParaRPr lang="zh-TW" altLang="en-US" sz="2000" dirty="0"/>
          </a:p>
        </p:txBody>
      </p:sp>
    </p:spTree>
    <p:extLst>
      <p:ext uri="{BB962C8B-B14F-4D97-AF65-F5344CB8AC3E}">
        <p14:creationId xmlns:p14="http://schemas.microsoft.com/office/powerpoint/2010/main" val="14497475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a:xfrm>
            <a:off x="457200" y="1124744"/>
            <a:ext cx="8229600" cy="4882547"/>
          </a:xfrm>
        </p:spPr>
        <p:txBody>
          <a:bodyPr/>
          <a:lstStyle/>
          <a:p>
            <a:r>
              <a:rPr lang="zh-TW" altLang="zh-TW" sz="2800" dirty="0">
                <a:latin typeface="微軟正黑體" panose="020B0604030504040204" pitchFamily="34" charset="-120"/>
                <a:ea typeface="微軟正黑體" panose="020B0604030504040204" pitchFamily="34" charset="-120"/>
              </a:rPr>
              <a:t>問題</a:t>
            </a:r>
            <a:r>
              <a:rPr lang="zh-TW" altLang="en-US" sz="28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什麼變數</a:t>
            </a:r>
            <a:r>
              <a:rPr lang="en-US" altLang="zh-TW" sz="28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或稱因子</a:t>
            </a:r>
            <a:r>
              <a:rPr lang="en-US" altLang="zh-TW" sz="2800" dirty="0">
                <a:latin typeface="微軟正黑體" panose="020B0604030504040204" pitchFamily="34" charset="-120"/>
                <a:ea typeface="微軟正黑體" panose="020B0604030504040204" pitchFamily="34" charset="-120"/>
              </a:rPr>
              <a:t>)</a:t>
            </a:r>
            <a:r>
              <a:rPr lang="zh-TW" altLang="zh-TW" sz="2800" dirty="0">
                <a:latin typeface="微軟正黑體" panose="020B0604030504040204" pitchFamily="34" charset="-120"/>
                <a:ea typeface="微軟正黑體" panose="020B0604030504040204" pitchFamily="34" charset="-120"/>
              </a:rPr>
              <a:t>是影響存活的關鍵變數</a:t>
            </a:r>
            <a:r>
              <a:rPr lang="zh-TW" altLang="en-US" sz="2800" dirty="0">
                <a:latin typeface="微軟正黑體" panose="020B0604030504040204" pitchFamily="34" charset="-120"/>
                <a:ea typeface="微軟正黑體" panose="020B0604030504040204" pitchFamily="34" charset="-120"/>
              </a:rPr>
              <a:t>？</a:t>
            </a:r>
            <a:endParaRPr lang="zh-TW" altLang="zh-TW" sz="2800" dirty="0">
              <a:latin typeface="微軟正黑體" panose="020B0604030504040204" pitchFamily="34" charset="-120"/>
              <a:ea typeface="微軟正黑體" panose="020B0604030504040204" pitchFamily="34" charset="-120"/>
            </a:endParaRPr>
          </a:p>
          <a:p>
            <a:endParaRPr lang="en-US" altLang="zh-TW" sz="2800" b="1" dirty="0">
              <a:latin typeface="微軟正黑體" panose="020B0604030504040204" pitchFamily="34" charset="-120"/>
              <a:ea typeface="微軟正黑體" panose="020B0604030504040204" pitchFamily="34" charset="-120"/>
            </a:endParaRPr>
          </a:p>
          <a:p>
            <a:pPr marL="0" indent="0">
              <a:buNone/>
            </a:pPr>
            <a:r>
              <a:rPr lang="zh-TW" altLang="zh-TW" sz="3200" dirty="0">
                <a:latin typeface="微軟正黑體" panose="020B0604030504040204" pitchFamily="34" charset="-120"/>
                <a:ea typeface="微軟正黑體" panose="020B0604030504040204" pitchFamily="34" charset="-120"/>
              </a:rPr>
              <a:t>比較死亡組及存活組他們變數間平均數或比率的差異</a:t>
            </a:r>
            <a:r>
              <a:rPr lang="zh-TW" altLang="en-US" sz="3200" dirty="0">
                <a:latin typeface="微軟正黑體" panose="020B0604030504040204" pitchFamily="34" charset="-120"/>
                <a:ea typeface="微軟正黑體" panose="020B0604030504040204" pitchFamily="34" charset="-120"/>
              </a:rPr>
              <a:t>，</a:t>
            </a:r>
            <a:r>
              <a:rPr lang="zh-TW" altLang="zh-TW" sz="3200" dirty="0">
                <a:latin typeface="微軟正黑體" panose="020B0604030504040204" pitchFamily="34" charset="-120"/>
                <a:ea typeface="微軟正黑體" panose="020B0604030504040204" pitchFamily="34" charset="-120"/>
              </a:rPr>
              <a:t>若有差異表示變數有可能是影響存活的關鍵變數</a:t>
            </a:r>
            <a:r>
              <a:rPr lang="en-US" altLang="zh-TW" sz="3200" dirty="0">
                <a:latin typeface="微軟正黑體" panose="020B0604030504040204" pitchFamily="34" charset="-120"/>
                <a:ea typeface="微軟正黑體" panose="020B0604030504040204" pitchFamily="34" charset="-120"/>
              </a:rPr>
              <a:t>!</a:t>
            </a:r>
            <a:endParaRPr lang="zh-TW" altLang="zh-TW" sz="320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6</a:t>
            </a:r>
          </a:p>
        </p:txBody>
      </p:sp>
    </p:spTree>
    <p:extLst>
      <p:ext uri="{BB962C8B-B14F-4D97-AF65-F5344CB8AC3E}">
        <p14:creationId xmlns:p14="http://schemas.microsoft.com/office/powerpoint/2010/main" val="14925435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1642194"/>
          </a:xfrm>
        </p:spPr>
        <p:txBody>
          <a:bodyPr>
            <a:normAutofit/>
          </a:bodyPr>
          <a:lstStyle/>
          <a:p>
            <a:r>
              <a:rPr lang="zh-TW" altLang="zh-TW" dirty="0">
                <a:effectLst/>
                <a:latin typeface="微軟正黑體" panose="020B0604030504040204" pitchFamily="34" charset="-120"/>
                <a:ea typeface="微軟正黑體" panose="020B0604030504040204" pitchFamily="34" charset="-120"/>
              </a:rPr>
              <a:t>連續型資料的平均數檢定</a:t>
            </a:r>
            <a:br>
              <a:rPr lang="en-US" altLang="zh-TW" dirty="0">
                <a:effectLst/>
                <a:latin typeface="微軟正黑體" panose="020B0604030504040204" pitchFamily="34" charset="-120"/>
                <a:ea typeface="微軟正黑體" panose="020B0604030504040204" pitchFamily="34" charset="-120"/>
              </a:rPr>
            </a:br>
            <a:endParaRPr lang="zh-TW" altLang="en-US" sz="3100" dirty="0">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251520" y="2060848"/>
                <a:ext cx="8784976" cy="3946443"/>
              </a:xfrm>
            </p:spPr>
            <p:txBody>
              <a:bodyPr>
                <a:normAutofit/>
              </a:bodyPr>
              <a:lstStyle/>
              <a:p>
                <a:r>
                  <a:rPr lang="zh-TW" altLang="zh-TW" b="1" dirty="0">
                    <a:latin typeface="微軟正黑體" panose="020B0604030504040204" pitchFamily="34" charset="-120"/>
                    <a:ea typeface="微軟正黑體" panose="020B0604030504040204" pitchFamily="34" charset="-120"/>
                  </a:rPr>
                  <a:t>單樣本</a:t>
                </a:r>
                <a:r>
                  <a:rPr lang="en-US" altLang="zh-TW" b="1" dirty="0">
                    <a:latin typeface="微軟正黑體" panose="020B0604030504040204" pitchFamily="34" charset="-120"/>
                    <a:ea typeface="微軟正黑體" panose="020B0604030504040204" pitchFamily="34" charset="-120"/>
                  </a:rPr>
                  <a:t>t </a:t>
                </a:r>
                <a:r>
                  <a:rPr lang="zh-TW" altLang="zh-TW" b="1" dirty="0">
                    <a:latin typeface="微軟正黑體" panose="020B0604030504040204" pitchFamily="34" charset="-120"/>
                    <a:ea typeface="微軟正黑體" panose="020B0604030504040204" pitchFamily="34" charset="-120"/>
                  </a:rPr>
                  <a:t>檢定</a:t>
                </a:r>
                <a:r>
                  <a:rPr lang="en-US" altLang="zh-TW" b="1" dirty="0">
                    <a:latin typeface="微軟正黑體" panose="020B0604030504040204" pitchFamily="34" charset="-120"/>
                    <a:ea typeface="微軟正黑體" panose="020B0604030504040204" pitchFamily="34" charset="-120"/>
                  </a:rPr>
                  <a:t> (one-sample t test)</a:t>
                </a:r>
              </a:p>
              <a:p>
                <a:endParaRPr lang="en-US" altLang="zh-TW" b="1" dirty="0">
                  <a:latin typeface="微軟正黑體" panose="020B0604030504040204" pitchFamily="34" charset="-120"/>
                  <a:ea typeface="微軟正黑體" panose="020B0604030504040204" pitchFamily="34" charset="-120"/>
                </a:endParaRPr>
              </a:p>
              <a:p>
                <a:pPr marL="109728" indent="0">
                  <a:buNone/>
                </a:pPr>
                <a:r>
                  <a:rPr lang="zh-TW" altLang="zh-TW" sz="2000" dirty="0">
                    <a:latin typeface="微軟正黑體" panose="020B0604030504040204" pitchFamily="34" charset="-120"/>
                    <a:ea typeface="微軟正黑體" panose="020B0604030504040204" pitchFamily="34" charset="-120"/>
                  </a:rPr>
                  <a:t>虛無假設：</a:t>
                </a:r>
                <a:r>
                  <a:rPr lang="en-US" altLang="zh-TW" sz="2000" dirty="0">
                    <a:latin typeface="微軟正黑體" panose="020B0604030504040204" pitchFamily="34" charset="-120"/>
                    <a:ea typeface="微軟正黑體" panose="020B0604030504040204" pitchFamily="34" charset="-120"/>
                  </a:rPr>
                  <a:t>PPHN</a:t>
                </a:r>
                <a:r>
                  <a:rPr lang="zh-TW" altLang="zh-TW" sz="2000" dirty="0">
                    <a:latin typeface="微軟正黑體" panose="020B0604030504040204" pitchFamily="34" charset="-120"/>
                    <a:ea typeface="微軟正黑體" panose="020B0604030504040204" pitchFamily="34" charset="-120"/>
                  </a:rPr>
                  <a:t>新生兒酸鹼值</a:t>
                </a:r>
                <a:r>
                  <a:rPr lang="en-US" altLang="zh-TW" sz="2000" dirty="0">
                    <a:latin typeface="微軟正黑體" panose="020B0604030504040204" pitchFamily="34" charset="-120"/>
                    <a:ea typeface="微軟正黑體" panose="020B0604030504040204" pitchFamily="34" charset="-120"/>
                  </a:rPr>
                  <a:t>(PH)</a:t>
                </a:r>
                <a:r>
                  <a:rPr lang="zh-TW" altLang="zh-TW" sz="2000" dirty="0">
                    <a:latin typeface="微軟正黑體" panose="020B0604030504040204" pitchFamily="34" charset="-120"/>
                    <a:ea typeface="微軟正黑體" panose="020B0604030504040204" pitchFamily="34" charset="-120"/>
                  </a:rPr>
                  <a:t>之母體平均數為</a:t>
                </a:r>
                <a:r>
                  <a:rPr lang="en-US" altLang="zh-TW" sz="2000" dirty="0">
                    <a:latin typeface="微軟正黑體" panose="020B0604030504040204" pitchFamily="34" charset="-120"/>
                    <a:ea typeface="微軟正黑體" panose="020B0604030504040204" pitchFamily="34" charset="-120"/>
                  </a:rPr>
                  <a:t>7</a:t>
                </a:r>
                <a:r>
                  <a:rPr lang="zh-TW" altLang="zh-TW"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H</a:t>
                </a:r>
                <a:r>
                  <a:rPr lang="en-US" altLang="zh-TW" sz="2000" baseline="-25000" dirty="0">
                    <a:latin typeface="微軟正黑體" panose="020B0604030504040204" pitchFamily="34" charset="-120"/>
                    <a:ea typeface="微軟正黑體" panose="020B0604030504040204" pitchFamily="34" charset="-120"/>
                  </a:rPr>
                  <a:t>0</a:t>
                </a:r>
                <a:r>
                  <a:rPr lang="zh-TW" altLang="zh-TW" sz="2000" dirty="0">
                    <a:latin typeface="微軟正黑體" panose="020B0604030504040204" pitchFamily="34" charset="-120"/>
                    <a:ea typeface="微軟正黑體" panose="020B0604030504040204" pitchFamily="34" charset="-120"/>
                  </a:rPr>
                  <a:t>：</a:t>
                </a:r>
                <a14:m>
                  <m:oMath xmlns:m="http://schemas.openxmlformats.org/officeDocument/2006/math">
                    <m:r>
                      <a:rPr lang="en-US" altLang="zh-TW" sz="2000" i="1" dirty="0" smtClean="0">
                        <a:latin typeface="Cambria Math" panose="02040503050406030204" pitchFamily="18" charset="0"/>
                      </a:rPr>
                      <m:t>𝜇</m:t>
                    </m:r>
                    <m:r>
                      <a:rPr lang="en-US" altLang="zh-TW" sz="2000" b="0" i="1" dirty="0" smtClean="0">
                        <a:latin typeface="Cambria Math" panose="02040503050406030204" pitchFamily="18" charset="0"/>
                      </a:rPr>
                      <m:t>=</m:t>
                    </m:r>
                    <m:r>
                      <a:rPr lang="en-US" altLang="zh-TW" sz="2000" b="0" i="0" dirty="0" smtClean="0">
                        <a:latin typeface="Cambria Math" panose="02040503050406030204" pitchFamily="18" charset="0"/>
                      </a:rPr>
                      <m:t>7</m:t>
                    </m:r>
                    <m:r>
                      <a:rPr lang="en-US" altLang="zh-TW" sz="2000">
                        <a:latin typeface="Cambria Math" panose="02040503050406030204" pitchFamily="18" charset="0"/>
                      </a:rPr>
                      <m:t>=</m:t>
                    </m:r>
                    <m:sSub>
                      <m:sSubPr>
                        <m:ctrlPr>
                          <a:rPr lang="zh-TW" altLang="zh-TW" sz="2000" i="1">
                            <a:latin typeface="Cambria Math" panose="02040503050406030204" pitchFamily="18" charset="0"/>
                          </a:rPr>
                        </m:ctrlPr>
                      </m:sSubPr>
                      <m:e>
                        <m:r>
                          <a:rPr lang="en-US" altLang="zh-TW" sz="2000" i="1">
                            <a:latin typeface="Cambria Math" panose="02040503050406030204" pitchFamily="18" charset="0"/>
                          </a:rPr>
                          <m:t>𝜇</m:t>
                        </m:r>
                      </m:e>
                      <m:sub>
                        <m:r>
                          <a:rPr lang="en-US" altLang="zh-TW" sz="2000" i="1">
                            <a:latin typeface="Cambria Math" panose="02040503050406030204" pitchFamily="18" charset="0"/>
                          </a:rPr>
                          <m:t>0</m:t>
                        </m:r>
                      </m:sub>
                    </m:sSub>
                  </m:oMath>
                </a14:m>
                <a:r>
                  <a:rPr lang="zh-TW" altLang="zh-TW" sz="2000" dirty="0">
                    <a:latin typeface="微軟正黑體" panose="020B0604030504040204" pitchFamily="34" charset="-120"/>
                    <a:ea typeface="微軟正黑體" panose="020B0604030504040204" pitchFamily="34" charset="-120"/>
                  </a:rPr>
                  <a:t>）</a:t>
                </a:r>
                <a:endParaRPr lang="zh-TW" altLang="en-US" sz="2000"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251520" y="2060848"/>
                <a:ext cx="8784976" cy="3946443"/>
              </a:xfrm>
              <a:blipFill>
                <a:blip r:embed="rId2"/>
                <a:stretch>
                  <a:fillRect l="-763" t="-2009"/>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7</a:t>
            </a:r>
          </a:p>
        </p:txBody>
      </p:sp>
      <mc:AlternateContent xmlns:mc="http://schemas.openxmlformats.org/markup-compatibility/2006" xmlns:a14="http://schemas.microsoft.com/office/drawing/2010/main">
        <mc:Choice Requires="a14">
          <p:sp>
            <p:nvSpPr>
              <p:cNvPr id="6" name="矩形 5"/>
              <p:cNvSpPr/>
              <p:nvPr/>
            </p:nvSpPr>
            <p:spPr>
              <a:xfrm>
                <a:off x="2843808" y="4509120"/>
                <a:ext cx="3631572" cy="11846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sz="3200">
                          <a:latin typeface="Cambria Math" panose="02040503050406030204" pitchFamily="18" charset="0"/>
                        </a:rPr>
                        <m:t>t</m:t>
                      </m:r>
                      <m:r>
                        <a:rPr lang="en-US" altLang="zh-TW" sz="3200">
                          <a:latin typeface="Cambria Math" panose="02040503050406030204" pitchFamily="18" charset="0"/>
                        </a:rPr>
                        <m:t>=</m:t>
                      </m:r>
                      <m:f>
                        <m:fPr>
                          <m:ctrlPr>
                            <a:rPr lang="zh-TW" altLang="zh-TW" sz="3200" i="1">
                              <a:latin typeface="Cambria Math" panose="02040503050406030204" pitchFamily="18" charset="0"/>
                            </a:rPr>
                          </m:ctrlPr>
                        </m:fPr>
                        <m:num>
                          <m:acc>
                            <m:accPr>
                              <m:chr m:val="̅"/>
                              <m:ctrlPr>
                                <a:rPr lang="zh-TW" altLang="zh-TW" sz="3200" i="1">
                                  <a:latin typeface="Cambria Math" panose="02040503050406030204" pitchFamily="18" charset="0"/>
                                </a:rPr>
                              </m:ctrlPr>
                            </m:accPr>
                            <m:e>
                              <m:r>
                                <a:rPr lang="zh-TW" altLang="zh-TW" sz="3200" i="1">
                                  <a:latin typeface="Cambria Math" panose="02040503050406030204" pitchFamily="18" charset="0"/>
                                </a:rPr>
                                <m:t>Ｘ</m:t>
                              </m:r>
                            </m:e>
                          </m:acc>
                          <m:r>
                            <a:rPr lang="en-US" altLang="zh-TW" sz="3200" i="1">
                              <a:latin typeface="Cambria Math" panose="02040503050406030204" pitchFamily="18" charset="0"/>
                            </a:rPr>
                            <m:t>−</m:t>
                          </m:r>
                          <m:sSub>
                            <m:sSubPr>
                              <m:ctrlPr>
                                <a:rPr lang="zh-TW" altLang="zh-TW" sz="3200" i="1">
                                  <a:latin typeface="Cambria Math" panose="02040503050406030204" pitchFamily="18" charset="0"/>
                                </a:rPr>
                              </m:ctrlPr>
                            </m:sSubPr>
                            <m:e>
                              <m:r>
                                <a:rPr lang="en-US" altLang="zh-TW" sz="3200" i="1">
                                  <a:latin typeface="Cambria Math" panose="02040503050406030204" pitchFamily="18" charset="0"/>
                                </a:rPr>
                                <m:t>𝜇</m:t>
                              </m:r>
                            </m:e>
                            <m:sub>
                              <m:r>
                                <a:rPr lang="en-US" altLang="zh-TW" sz="3200" i="1">
                                  <a:latin typeface="Cambria Math" panose="02040503050406030204" pitchFamily="18" charset="0"/>
                                </a:rPr>
                                <m:t>0</m:t>
                              </m:r>
                            </m:sub>
                          </m:sSub>
                        </m:num>
                        <m:den>
                          <m:f>
                            <m:fPr>
                              <m:type m:val="lin"/>
                              <m:ctrlPr>
                                <a:rPr lang="zh-TW" altLang="zh-TW" sz="3200" i="1">
                                  <a:latin typeface="Cambria Math" panose="02040503050406030204" pitchFamily="18" charset="0"/>
                                </a:rPr>
                              </m:ctrlPr>
                            </m:fPr>
                            <m:num>
                              <m:r>
                                <a:rPr lang="en-US" altLang="zh-TW" sz="3200" i="1">
                                  <a:latin typeface="Cambria Math" panose="02040503050406030204" pitchFamily="18" charset="0"/>
                                </a:rPr>
                                <m:t>𝑠</m:t>
                              </m:r>
                            </m:num>
                            <m:den>
                              <m:rad>
                                <m:radPr>
                                  <m:degHide m:val="on"/>
                                  <m:ctrlPr>
                                    <a:rPr lang="zh-TW" altLang="zh-TW" sz="3200" i="1">
                                      <a:latin typeface="Cambria Math" panose="02040503050406030204" pitchFamily="18" charset="0"/>
                                    </a:rPr>
                                  </m:ctrlPr>
                                </m:radPr>
                                <m:deg/>
                                <m:e>
                                  <m:r>
                                    <a:rPr lang="en-US" altLang="zh-TW" sz="3200" i="1">
                                      <a:latin typeface="Cambria Math" panose="02040503050406030204" pitchFamily="18" charset="0"/>
                                    </a:rPr>
                                    <m:t>𝑛</m:t>
                                  </m:r>
                                </m:e>
                              </m:rad>
                            </m:den>
                          </m:f>
                        </m:den>
                      </m:f>
                      <m:r>
                        <a:rPr lang="en-US" altLang="zh-TW" sz="3200" i="1">
                          <a:latin typeface="Cambria Math" panose="02040503050406030204" pitchFamily="18" charset="0"/>
                        </a:rPr>
                        <m:t>~</m:t>
                      </m:r>
                      <m:sSub>
                        <m:sSubPr>
                          <m:ctrlPr>
                            <a:rPr lang="zh-TW" altLang="zh-TW" sz="3200" i="1">
                              <a:latin typeface="Cambria Math" panose="02040503050406030204" pitchFamily="18" charset="0"/>
                            </a:rPr>
                          </m:ctrlPr>
                        </m:sSubPr>
                        <m:e>
                          <m:r>
                            <a:rPr lang="en-US" altLang="zh-TW" sz="3200" i="1">
                              <a:latin typeface="Cambria Math" panose="02040503050406030204" pitchFamily="18" charset="0"/>
                            </a:rPr>
                            <m:t>𝑡</m:t>
                          </m:r>
                        </m:e>
                        <m:sub>
                          <m:d>
                            <m:dPr>
                              <m:ctrlPr>
                                <a:rPr lang="zh-TW" altLang="zh-TW" sz="3200" i="1">
                                  <a:latin typeface="Cambria Math" panose="02040503050406030204" pitchFamily="18" charset="0"/>
                                </a:rPr>
                              </m:ctrlPr>
                            </m:dPr>
                            <m:e>
                              <m:r>
                                <a:rPr lang="en-US" altLang="zh-TW" sz="3200" i="1">
                                  <a:latin typeface="Cambria Math" panose="02040503050406030204" pitchFamily="18" charset="0"/>
                                </a:rPr>
                                <m:t>𝑛</m:t>
                              </m:r>
                              <m:r>
                                <a:rPr lang="en-US" altLang="zh-TW" sz="3200" i="1">
                                  <a:latin typeface="Cambria Math" panose="02040503050406030204" pitchFamily="18" charset="0"/>
                                </a:rPr>
                                <m:t>−1</m:t>
                              </m:r>
                            </m:e>
                          </m:d>
                        </m:sub>
                      </m:sSub>
                    </m:oMath>
                  </m:oMathPara>
                </a14:m>
                <a:endParaRPr lang="zh-TW" altLang="en-US" sz="3200" dirty="0"/>
              </a:p>
            </p:txBody>
          </p:sp>
        </mc:Choice>
        <mc:Fallback xmlns="">
          <p:sp>
            <p:nvSpPr>
              <p:cNvPr id="6" name="矩形 5"/>
              <p:cNvSpPr>
                <a:spLocks noRot="1" noChangeAspect="1" noMove="1" noResize="1" noEditPoints="1" noAdjustHandles="1" noChangeArrowheads="1" noChangeShapeType="1" noTextEdit="1"/>
              </p:cNvSpPr>
              <p:nvPr/>
            </p:nvSpPr>
            <p:spPr>
              <a:xfrm>
                <a:off x="2843808" y="4509120"/>
                <a:ext cx="3631572" cy="118462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85482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latin typeface="微軟正黑體" panose="020B0604030504040204" pitchFamily="34" charset="-120"/>
                <a:ea typeface="微軟正黑體" panose="020B0604030504040204" pitchFamily="34" charset="-120"/>
              </a:rPr>
              <a:t>T-Distribution</a:t>
            </a:r>
            <a:endParaRPr lang="zh-TW" altLang="en-US" dirty="0">
              <a:latin typeface="微軟正黑體" panose="020B0604030504040204" pitchFamily="34" charset="-120"/>
              <a:ea typeface="微軟正黑體" panose="020B0604030504040204" pitchFamily="34" charset="-120"/>
            </a:endParaRP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2103502"/>
            <a:ext cx="5903937" cy="3816424"/>
          </a:xfrm>
        </p:spPr>
      </p:pic>
      <p:sp>
        <p:nvSpPr>
          <p:cNvPr id="3" name="投影片編號版面配置區 2"/>
          <p:cNvSpPr>
            <a:spLocks noGrp="1"/>
          </p:cNvSpPr>
          <p:nvPr>
            <p:ph type="sldNum" sz="quarter" idx="12"/>
          </p:nvPr>
        </p:nvSpPr>
        <p:spPr/>
        <p:txBody>
          <a:bodyPr/>
          <a:lstStyle/>
          <a:p>
            <a:pPr>
              <a:defRPr/>
            </a:pPr>
            <a:endParaRPr lang="en-US" altLang="zh-TW"/>
          </a:p>
        </p:txBody>
      </p:sp>
      <p:sp>
        <p:nvSpPr>
          <p:cNvPr id="6" name="文字方塊 5"/>
          <p:cNvSpPr txBox="1"/>
          <p:nvPr/>
        </p:nvSpPr>
        <p:spPr>
          <a:xfrm>
            <a:off x="3707904" y="5949280"/>
            <a:ext cx="3960440" cy="276999"/>
          </a:xfrm>
          <a:prstGeom prst="rect">
            <a:avLst/>
          </a:prstGeom>
          <a:noFill/>
        </p:spPr>
        <p:txBody>
          <a:bodyPr wrap="square" rtlCol="0">
            <a:spAutoFit/>
          </a:bodyPr>
          <a:lstStyle/>
          <a:p>
            <a:r>
              <a:rPr lang="en-US" altLang="zh-TW" sz="1200" dirty="0"/>
              <a:t>http://en.wikipedia.org/wiki/Student's_t-distribution</a:t>
            </a:r>
            <a:endParaRPr lang="zh-TW" altLang="en-US" sz="1200" dirty="0"/>
          </a:p>
        </p:txBody>
      </p:sp>
    </p:spTree>
    <p:extLst>
      <p:ext uri="{BB962C8B-B14F-4D97-AF65-F5344CB8AC3E}">
        <p14:creationId xmlns:p14="http://schemas.microsoft.com/office/powerpoint/2010/main" val="27363783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pPr algn="ctr"/>
            <a:r>
              <a:rPr lang="zh-TW" altLang="zh-TW" sz="3600" dirty="0">
                <a:effectLst/>
                <a:latin typeface="微軟正黑體" panose="020B0604030504040204" pitchFamily="34" charset="-120"/>
                <a:ea typeface="微軟正黑體" panose="020B0604030504040204" pitchFamily="34" charset="-120"/>
              </a:rPr>
              <a:t>連續型資料的平均數檢定</a:t>
            </a:r>
            <a:r>
              <a:rPr lang="en-US" altLang="zh-TW" sz="3600" dirty="0">
                <a:effectLst/>
                <a:latin typeface="微軟正黑體" panose="020B0604030504040204" pitchFamily="34" charset="-120"/>
                <a:ea typeface="微軟正黑體" panose="020B0604030504040204" pitchFamily="34" charset="-120"/>
              </a:rPr>
              <a:t>—</a:t>
            </a:r>
            <a:br>
              <a:rPr lang="en-US" altLang="zh-TW" sz="3600" dirty="0">
                <a:effectLst/>
                <a:latin typeface="微軟正黑體" panose="020B0604030504040204" pitchFamily="34" charset="-120"/>
                <a:ea typeface="微軟正黑體" panose="020B0604030504040204" pitchFamily="34" charset="-120"/>
              </a:rPr>
            </a:br>
            <a:r>
              <a:rPr lang="zh-TW" altLang="zh-TW" sz="3600" dirty="0">
                <a:solidFill>
                  <a:schemeClr val="bg1"/>
                </a:solidFill>
                <a:latin typeface="微軟正黑體" panose="020B0604030504040204" pitchFamily="34" charset="-120"/>
                <a:ea typeface="微軟正黑體" panose="020B0604030504040204" pitchFamily="34" charset="-120"/>
              </a:rPr>
              <a:t>單樣本</a:t>
            </a:r>
            <a:r>
              <a:rPr lang="en-US" altLang="zh-TW" sz="3600" dirty="0">
                <a:solidFill>
                  <a:schemeClr val="bg1"/>
                </a:solidFill>
                <a:latin typeface="微軟正黑體" panose="020B0604030504040204" pitchFamily="34" charset="-120"/>
                <a:ea typeface="微軟正黑體" panose="020B0604030504040204" pitchFamily="34" charset="-120"/>
              </a:rPr>
              <a:t>t </a:t>
            </a:r>
            <a:r>
              <a:rPr lang="zh-TW" altLang="zh-TW" sz="3600" dirty="0">
                <a:solidFill>
                  <a:schemeClr val="bg1"/>
                </a:solidFill>
                <a:latin typeface="微軟正黑體" panose="020B0604030504040204" pitchFamily="34" charset="-120"/>
                <a:ea typeface="微軟正黑體" panose="020B0604030504040204" pitchFamily="34" charset="-120"/>
              </a:rPr>
              <a:t>檢定</a:t>
            </a:r>
            <a:r>
              <a:rPr lang="en-US" altLang="zh-TW" sz="3600" dirty="0">
                <a:solidFill>
                  <a:schemeClr val="bg1"/>
                </a:solidFill>
                <a:latin typeface="微軟正黑體" panose="020B0604030504040204" pitchFamily="34" charset="-120"/>
                <a:ea typeface="微軟正黑體" panose="020B0604030504040204" pitchFamily="34" charset="-120"/>
              </a:rPr>
              <a:t> (one-sample t test)</a:t>
            </a: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1" y="1844824"/>
                <a:ext cx="8974838" cy="5291741"/>
              </a:xfrm>
            </p:spPr>
            <p:txBody>
              <a:bodyPr>
                <a:normAutofit/>
              </a:bodyPr>
              <a:lstStyle/>
              <a:p>
                <a:pPr marL="109728" indent="0">
                  <a:buNone/>
                </a:pPr>
                <a:r>
                  <a:rPr lang="en-US" altLang="zh-TW" sz="1600" dirty="0">
                    <a:latin typeface="微軟正黑體" panose="020B0604030504040204" pitchFamily="34" charset="-120"/>
                    <a:ea typeface="微軟正黑體" panose="020B0604030504040204" pitchFamily="34" charset="-120"/>
                  </a:rPr>
                  <a:t>1</a:t>
                </a:r>
                <a:r>
                  <a:rPr lang="en-US" altLang="zh-TW" sz="2000" dirty="0">
                    <a:latin typeface="微軟正黑體" panose="020B0604030504040204" pitchFamily="34" charset="-120"/>
                    <a:ea typeface="微軟正黑體" panose="020B0604030504040204" pitchFamily="34" charset="-120"/>
                  </a:rPr>
                  <a:t>.</a:t>
                </a:r>
                <a:r>
                  <a:rPr lang="zh-TW" altLang="zh-TW" sz="2000" dirty="0">
                    <a:latin typeface="微軟正黑體" panose="020B0604030504040204" pitchFamily="34" charset="-120"/>
                    <a:ea typeface="微軟正黑體" panose="020B0604030504040204" pitchFamily="34" charset="-120"/>
                  </a:rPr>
                  <a:t>對立假設：</a:t>
                </a:r>
                <a:r>
                  <a:rPr lang="en-US" altLang="zh-TW" sz="2000" dirty="0">
                    <a:latin typeface="微軟正黑體" panose="020B0604030504040204" pitchFamily="34" charset="-120"/>
                    <a:ea typeface="微軟正黑體" panose="020B0604030504040204" pitchFamily="34" charset="-120"/>
                  </a:rPr>
                  <a:t>PPHN</a:t>
                </a:r>
                <a:r>
                  <a:rPr lang="zh-TW" altLang="zh-TW" sz="2000" dirty="0">
                    <a:latin typeface="微軟正黑體" panose="020B0604030504040204" pitchFamily="34" charset="-120"/>
                    <a:ea typeface="微軟正黑體" panose="020B0604030504040204" pitchFamily="34" charset="-120"/>
                  </a:rPr>
                  <a:t>新生兒酸鹼值之母體平均數不為</a:t>
                </a:r>
                <a:r>
                  <a:rPr lang="en-US" altLang="zh-TW" sz="2000" dirty="0">
                    <a:latin typeface="微軟正黑體" panose="020B0604030504040204" pitchFamily="34" charset="-120"/>
                    <a:ea typeface="微軟正黑體" panose="020B0604030504040204" pitchFamily="34" charset="-120"/>
                  </a:rPr>
                  <a:t>7  (H</a:t>
                </a:r>
                <a:r>
                  <a:rPr lang="en-US" altLang="zh-TW" sz="2000" baseline="-25000" dirty="0">
                    <a:latin typeface="微軟正黑體" panose="020B0604030504040204" pitchFamily="34" charset="-120"/>
                    <a:ea typeface="微軟正黑體" panose="020B0604030504040204" pitchFamily="34" charset="-120"/>
                  </a:rPr>
                  <a:t>a</a:t>
                </a:r>
                <a:r>
                  <a:rPr lang="zh-TW" altLang="zh-TW"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μ</a:t>
                </a:r>
                <a14:m>
                  <m:oMath xmlns:m="http://schemas.openxmlformats.org/officeDocument/2006/math">
                    <m:r>
                      <a:rPr lang="en-US" altLang="zh-TW" sz="2000">
                        <a:latin typeface="Cambria Math" panose="02040503050406030204" pitchFamily="18" charset="0"/>
                      </a:rPr>
                      <m:t>≠</m:t>
                    </m:r>
                  </m:oMath>
                </a14:m>
                <a:r>
                  <a:rPr lang="en-US" altLang="zh-TW" sz="2000" dirty="0">
                    <a:latin typeface="微軟正黑體" panose="020B0604030504040204" pitchFamily="34" charset="-120"/>
                    <a:ea typeface="微軟正黑體" panose="020B0604030504040204" pitchFamily="34" charset="-120"/>
                  </a:rPr>
                  <a:t>7,  </a:t>
                </a:r>
                <a:r>
                  <a:rPr lang="zh-TW" altLang="zh-TW" sz="2000" dirty="0">
                    <a:latin typeface="微軟正黑體" panose="020B0604030504040204" pitchFamily="34" charset="-120"/>
                    <a:ea typeface="微軟正黑體" panose="020B0604030504040204" pitchFamily="34" charset="-120"/>
                  </a:rPr>
                  <a:t>雙尾檢定</a:t>
                </a:r>
                <a:r>
                  <a:rPr lang="zh-TW" altLang="en-US" sz="2000" dirty="0">
                    <a:latin typeface="微軟正黑體" panose="020B0604030504040204" pitchFamily="34" charset="-120"/>
                    <a:ea typeface="微軟正黑體" panose="020B0604030504040204" pitchFamily="34" charset="-120"/>
                  </a:rPr>
                  <a:t>）</a:t>
                </a:r>
                <a:endParaRPr lang="zh-TW" altLang="zh-TW" sz="2000" dirty="0">
                  <a:latin typeface="微軟正黑體" panose="020B0604030504040204" pitchFamily="34" charset="-120"/>
                  <a:ea typeface="微軟正黑體" panose="020B0604030504040204" pitchFamily="34" charset="-120"/>
                </a:endParaRPr>
              </a:p>
              <a:p>
                <a:pPr marL="365760" lvl="1" indent="0">
                  <a:buNone/>
                </a:pPr>
                <a:r>
                  <a:rPr lang="en-US" altLang="zh-TW" sz="1800" dirty="0">
                    <a:latin typeface="微軟正黑體" panose="020B0604030504040204" pitchFamily="34" charset="-120"/>
                    <a:ea typeface="微軟正黑體" panose="020B0604030504040204" pitchFamily="34" charset="-120"/>
                  </a:rPr>
                  <a:t>t=7.57 , P</a:t>
                </a:r>
                <a:r>
                  <a:rPr lang="zh-TW" altLang="zh-TW" sz="1800" dirty="0">
                    <a:latin typeface="微軟正黑體" panose="020B0604030504040204" pitchFamily="34" charset="-120"/>
                    <a:ea typeface="微軟正黑體" panose="020B0604030504040204" pitchFamily="34" charset="-120"/>
                  </a:rPr>
                  <a:t>值＝</a:t>
                </a:r>
                <a:r>
                  <a:rPr lang="en-US" altLang="zh-TW" sz="1800" dirty="0">
                    <a:latin typeface="微軟正黑體" panose="020B0604030504040204" pitchFamily="34" charset="-120"/>
                    <a:ea typeface="微軟正黑體" panose="020B0604030504040204" pitchFamily="34" charset="-120"/>
                  </a:rPr>
                  <a:t>2*</a:t>
                </a:r>
                <a14:m>
                  <m:oMath xmlns:m="http://schemas.openxmlformats.org/officeDocument/2006/math">
                    <m:r>
                      <m:rPr>
                        <m:sty m:val="p"/>
                      </m:rPr>
                      <a:rPr lang="en-US" altLang="zh-TW" sz="1800">
                        <a:latin typeface="Cambria Math" panose="02040503050406030204" pitchFamily="18" charset="0"/>
                      </a:rPr>
                      <m:t>P</m:t>
                    </m:r>
                    <m:d>
                      <m:dPr>
                        <m:ctrlPr>
                          <a:rPr lang="zh-TW" altLang="zh-TW" sz="1800" i="1">
                            <a:latin typeface="Cambria Math" panose="02040503050406030204" pitchFamily="18" charset="0"/>
                          </a:rPr>
                        </m:ctrlPr>
                      </m:dPr>
                      <m:e>
                        <m:sSub>
                          <m:sSubPr>
                            <m:ctrlPr>
                              <a:rPr lang="zh-TW" altLang="zh-TW" sz="1800" i="1">
                                <a:latin typeface="Cambria Math" panose="02040503050406030204" pitchFamily="18" charset="0"/>
                              </a:rPr>
                            </m:ctrlPr>
                          </m:sSubPr>
                          <m:e>
                            <m:r>
                              <a:rPr lang="en-US" altLang="zh-TW" sz="1800" i="1">
                                <a:latin typeface="Cambria Math" panose="02040503050406030204" pitchFamily="18" charset="0"/>
                              </a:rPr>
                              <m:t>𝑡</m:t>
                            </m:r>
                          </m:e>
                          <m:sub>
                            <m:d>
                              <m:dPr>
                                <m:ctrlPr>
                                  <a:rPr lang="zh-TW" altLang="zh-TW" sz="1800" i="1">
                                    <a:latin typeface="Cambria Math" panose="02040503050406030204" pitchFamily="18" charset="0"/>
                                  </a:rPr>
                                </m:ctrlPr>
                              </m:dPr>
                              <m:e>
                                <m:r>
                                  <m:rPr>
                                    <m:sty m:val="p"/>
                                  </m:rPr>
                                  <a:rPr lang="en-US" altLang="zh-TW" sz="1800">
                                    <a:latin typeface="Cambria Math" panose="02040503050406030204" pitchFamily="18" charset="0"/>
                                  </a:rPr>
                                  <m:t>n</m:t>
                                </m:r>
                                <m:r>
                                  <a:rPr lang="en-US" altLang="zh-TW" sz="1800" i="1">
                                    <a:latin typeface="Cambria Math" panose="02040503050406030204" pitchFamily="18" charset="0"/>
                                  </a:rPr>
                                  <m:t>−</m:t>
                                </m:r>
                                <m:r>
                                  <a:rPr lang="en-US" altLang="zh-TW" sz="1800">
                                    <a:latin typeface="Cambria Math" panose="02040503050406030204" pitchFamily="18" charset="0"/>
                                  </a:rPr>
                                  <m:t>1</m:t>
                                </m:r>
                              </m:e>
                            </m:d>
                          </m:sub>
                        </m:sSub>
                        <m:r>
                          <a:rPr lang="en-US" altLang="zh-TW" sz="1800">
                            <a:latin typeface="Cambria Math" panose="02040503050406030204" pitchFamily="18" charset="0"/>
                          </a:rPr>
                          <m:t>≥</m:t>
                        </m:r>
                        <m:r>
                          <m:rPr>
                            <m:sty m:val="p"/>
                          </m:rPr>
                          <a:rPr lang="en-US" altLang="zh-TW" sz="1800">
                            <a:latin typeface="Cambria Math" panose="02040503050406030204" pitchFamily="18" charset="0"/>
                          </a:rPr>
                          <m:t>t</m:t>
                        </m:r>
                      </m:e>
                    </m:d>
                  </m:oMath>
                </a14:m>
                <a:r>
                  <a:rPr lang="en-US" altLang="zh-TW" sz="1800" dirty="0">
                    <a:latin typeface="微軟正黑體" panose="020B0604030504040204" pitchFamily="34" charset="-120"/>
                    <a:ea typeface="微軟正黑體" panose="020B0604030504040204" pitchFamily="34" charset="-120"/>
                  </a:rPr>
                  <a:t>=&lt;0.0001 </a:t>
                </a:r>
                <a:r>
                  <a:rPr lang="zh-TW" altLang="en-US" sz="1800" dirty="0">
                    <a:latin typeface="微軟正黑體" panose="020B0604030504040204" pitchFamily="34" charset="-120"/>
                    <a:ea typeface="微軟正黑體" panose="020B0604030504040204" pitchFamily="34" charset="-120"/>
                  </a:rPr>
                  <a:t>；</a:t>
                </a:r>
                <a:endParaRPr lang="en-US" altLang="zh-TW" sz="1800" dirty="0">
                  <a:latin typeface="微軟正黑體" panose="020B0604030504040204" pitchFamily="34" charset="-120"/>
                  <a:ea typeface="微軟正黑體" panose="020B0604030504040204" pitchFamily="34" charset="-120"/>
                </a:endParaRPr>
              </a:p>
              <a:p>
                <a:pPr marL="365760" lvl="1" indent="0">
                  <a:buNone/>
                </a:pPr>
                <a14:m>
                  <m:oMath xmlns:m="http://schemas.openxmlformats.org/officeDocument/2006/math">
                    <m:r>
                      <a:rPr lang="en-US" altLang="zh-TW" sz="1600" i="1">
                        <a:latin typeface="Cambria Math" panose="02040503050406030204" pitchFamily="18" charset="0"/>
                      </a:rPr>
                      <m:t>(</m:t>
                    </m:r>
                    <m:sSub>
                      <m:sSubPr>
                        <m:ctrlPr>
                          <a:rPr lang="zh-TW" altLang="zh-TW" sz="1600" i="1">
                            <a:latin typeface="Cambria Math" panose="02040503050406030204" pitchFamily="18" charset="0"/>
                          </a:rPr>
                        </m:ctrlPr>
                      </m:sSubPr>
                      <m:e>
                        <m:r>
                          <a:rPr lang="en-US" altLang="zh-TW" sz="1600" i="1">
                            <a:latin typeface="Cambria Math" panose="02040503050406030204" pitchFamily="18" charset="0"/>
                          </a:rPr>
                          <m:t>𝑡</m:t>
                        </m:r>
                      </m:e>
                      <m:sub>
                        <m:d>
                          <m:dPr>
                            <m:ctrlPr>
                              <a:rPr lang="zh-TW" altLang="zh-TW" sz="1600" i="1">
                                <a:latin typeface="Cambria Math" panose="02040503050406030204" pitchFamily="18" charset="0"/>
                              </a:rPr>
                            </m:ctrlPr>
                          </m:dPr>
                          <m:e>
                            <m:r>
                              <m:rPr>
                                <m:sty m:val="p"/>
                              </m:rPr>
                              <a:rPr lang="en-US" altLang="zh-TW" sz="1600">
                                <a:latin typeface="Cambria Math" panose="02040503050406030204" pitchFamily="18" charset="0"/>
                              </a:rPr>
                              <m:t>n</m:t>
                            </m:r>
                            <m:r>
                              <a:rPr lang="en-US" altLang="zh-TW" sz="1600" i="1">
                                <a:latin typeface="Cambria Math" panose="02040503050406030204" pitchFamily="18" charset="0"/>
                              </a:rPr>
                              <m:t>−</m:t>
                            </m:r>
                            <m:r>
                              <a:rPr lang="en-US" altLang="zh-TW" sz="1600">
                                <a:latin typeface="Cambria Math" panose="02040503050406030204" pitchFamily="18" charset="0"/>
                              </a:rPr>
                              <m:t>1</m:t>
                            </m:r>
                          </m:e>
                        </m:d>
                      </m:sub>
                    </m:sSub>
                  </m:oMath>
                </a14:m>
                <a:r>
                  <a:rPr lang="zh-TW" altLang="zh-TW" sz="1600" dirty="0">
                    <a:latin typeface="微軟正黑體" panose="020B0604030504040204" pitchFamily="34" charset="-120"/>
                    <a:ea typeface="微軟正黑體" panose="020B0604030504040204" pitchFamily="34" charset="-120"/>
                  </a:rPr>
                  <a:t>是自由度為</a:t>
                </a:r>
                <a:r>
                  <a:rPr lang="en-US" altLang="zh-TW" sz="1600" dirty="0">
                    <a:latin typeface="微軟正黑體" panose="020B0604030504040204" pitchFamily="34" charset="-120"/>
                    <a:ea typeface="微軟正黑體" panose="020B0604030504040204" pitchFamily="34" charset="-120"/>
                  </a:rPr>
                  <a:t>n-1 </a:t>
                </a:r>
                <a:r>
                  <a:rPr lang="zh-TW" altLang="zh-TW" sz="1600" dirty="0">
                    <a:latin typeface="微軟正黑體" panose="020B0604030504040204" pitchFamily="34" charset="-120"/>
                    <a:ea typeface="微軟正黑體" panose="020B0604030504040204" pitchFamily="34" charset="-120"/>
                  </a:rPr>
                  <a:t>的</a:t>
                </a:r>
                <a:r>
                  <a:rPr lang="en-US" altLang="zh-TW" sz="1600" dirty="0">
                    <a:latin typeface="微軟正黑體" panose="020B0604030504040204" pitchFamily="34" charset="-120"/>
                    <a:ea typeface="微軟正黑體" panose="020B0604030504040204" pitchFamily="34" charset="-120"/>
                  </a:rPr>
                  <a:t>t </a:t>
                </a:r>
                <a:r>
                  <a:rPr lang="zh-TW" altLang="zh-TW" sz="1600" dirty="0">
                    <a:latin typeface="微軟正黑體" panose="020B0604030504040204" pitchFamily="34" charset="-120"/>
                    <a:ea typeface="微軟正黑體" panose="020B0604030504040204" pitchFamily="34" charset="-120"/>
                  </a:rPr>
                  <a:t>分配</a:t>
                </a:r>
                <a:r>
                  <a:rPr lang="zh-TW" altLang="en-US" sz="1600" dirty="0">
                    <a:latin typeface="微軟正黑體" panose="020B0604030504040204" pitchFamily="34" charset="-120"/>
                    <a:ea typeface="微軟正黑體" panose="020B0604030504040204" pitchFamily="34" charset="-120"/>
                  </a:rPr>
                  <a:t>。</a:t>
                </a:r>
                <a:r>
                  <a:rPr lang="en-US" altLang="zh-TW" sz="1600" dirty="0">
                    <a:latin typeface="微軟正黑體" panose="020B0604030504040204" pitchFamily="34" charset="-120"/>
                    <a:ea typeface="微軟正黑體" panose="020B0604030504040204" pitchFamily="34" charset="-120"/>
                  </a:rPr>
                  <a:t>)</a:t>
                </a:r>
              </a:p>
              <a:p>
                <a:pPr marL="109728" indent="0">
                  <a:buNone/>
                </a:pPr>
                <a:endParaRPr lang="en-US" altLang="zh-TW" sz="2000" dirty="0">
                  <a:latin typeface="微軟正黑體" panose="020B0604030504040204" pitchFamily="34" charset="-120"/>
                  <a:ea typeface="微軟正黑體" panose="020B0604030504040204" pitchFamily="34" charset="-120"/>
                </a:endParaRPr>
              </a:p>
              <a:p>
                <a:pPr marL="109728" indent="0">
                  <a:buNone/>
                </a:pPr>
                <a:r>
                  <a:rPr lang="en-US" altLang="zh-TW" sz="2000" dirty="0">
                    <a:latin typeface="微軟正黑體" panose="020B0604030504040204" pitchFamily="34" charset="-120"/>
                    <a:ea typeface="微軟正黑體" panose="020B0604030504040204" pitchFamily="34" charset="-120"/>
                  </a:rPr>
                  <a:t>2.</a:t>
                </a:r>
                <a:r>
                  <a:rPr lang="zh-TW" altLang="zh-TW" sz="2000" dirty="0">
                    <a:latin typeface="微軟正黑體" panose="020B0604030504040204" pitchFamily="34" charset="-120"/>
                    <a:ea typeface="微軟正黑體" panose="020B0604030504040204" pitchFamily="34" charset="-120"/>
                  </a:rPr>
                  <a:t>對立假設：</a:t>
                </a:r>
                <a:r>
                  <a:rPr lang="en-US" altLang="zh-TW" sz="2000" dirty="0">
                    <a:latin typeface="微軟正黑體" panose="020B0604030504040204" pitchFamily="34" charset="-120"/>
                    <a:ea typeface="微軟正黑體" panose="020B0604030504040204" pitchFamily="34" charset="-120"/>
                  </a:rPr>
                  <a:t>PPHN</a:t>
                </a:r>
                <a:r>
                  <a:rPr lang="zh-TW" altLang="zh-TW" sz="2000" dirty="0">
                    <a:latin typeface="微軟正黑體" panose="020B0604030504040204" pitchFamily="34" charset="-120"/>
                    <a:ea typeface="微軟正黑體" panose="020B0604030504040204" pitchFamily="34" charset="-120"/>
                  </a:rPr>
                  <a:t>新生兒酸鹼值之母體平均數</a:t>
                </a:r>
                <a:r>
                  <a:rPr lang="en-US" altLang="zh-TW" sz="2000" dirty="0">
                    <a:latin typeface="微軟正黑體" panose="020B0604030504040204" pitchFamily="34" charset="-120"/>
                    <a:ea typeface="微軟正黑體" panose="020B0604030504040204" pitchFamily="34" charset="-120"/>
                  </a:rPr>
                  <a:t>&gt;7 </a:t>
                </a:r>
                <a:r>
                  <a:rPr lang="zh-TW" altLang="zh-TW"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H</a:t>
                </a:r>
                <a:r>
                  <a:rPr lang="en-US" altLang="zh-TW" sz="2000" baseline="-25000" dirty="0">
                    <a:latin typeface="微軟正黑體" panose="020B0604030504040204" pitchFamily="34" charset="-120"/>
                    <a:ea typeface="微軟正黑體" panose="020B0604030504040204" pitchFamily="34" charset="-120"/>
                  </a:rPr>
                  <a:t>a</a:t>
                </a:r>
                <a:r>
                  <a:rPr lang="zh-TW" altLang="zh-TW" sz="2000" dirty="0">
                    <a:latin typeface="微軟正黑體" panose="020B0604030504040204" pitchFamily="34" charset="-120"/>
                    <a:ea typeface="微軟正黑體" panose="020B0604030504040204" pitchFamily="34" charset="-120"/>
                  </a:rPr>
                  <a:t>：</a:t>
                </a:r>
                <a:r>
                  <a:rPr lang="en-US" altLang="zh-TW" sz="2000" dirty="0">
                    <a:latin typeface="微軟正黑體" panose="020B0604030504040204" pitchFamily="34" charset="-120"/>
                    <a:ea typeface="微軟正黑體" panose="020B0604030504040204" pitchFamily="34" charset="-120"/>
                  </a:rPr>
                  <a:t>μ</a:t>
                </a:r>
                <a14:m>
                  <m:oMath xmlns:m="http://schemas.openxmlformats.org/officeDocument/2006/math">
                    <m:r>
                      <a:rPr lang="en-US" altLang="zh-TW" sz="2000">
                        <a:latin typeface="Cambria Math" panose="02040503050406030204" pitchFamily="18" charset="0"/>
                      </a:rPr>
                      <m:t>&gt;</m:t>
                    </m:r>
                  </m:oMath>
                </a14:m>
                <a:r>
                  <a:rPr lang="en-US" altLang="zh-TW" sz="2000" dirty="0">
                    <a:latin typeface="微軟正黑體" panose="020B0604030504040204" pitchFamily="34" charset="-120"/>
                    <a:ea typeface="微軟正黑體" panose="020B0604030504040204" pitchFamily="34" charset="-120"/>
                  </a:rPr>
                  <a:t>7,  </a:t>
                </a:r>
                <a14:m>
                  <m:oMath xmlns:m="http://schemas.openxmlformats.org/officeDocument/2006/math">
                    <m:r>
                      <a:rPr lang="zh-TW" altLang="zh-TW" sz="2000" b="1">
                        <a:latin typeface="Cambria Math" panose="02040503050406030204" pitchFamily="18" charset="0"/>
                      </a:rPr>
                      <m:t>單尾檢定</m:t>
                    </m:r>
                  </m:oMath>
                </a14:m>
                <a:r>
                  <a:rPr lang="zh-TW" altLang="en-US" sz="2000" dirty="0">
                    <a:latin typeface="微軟正黑體" panose="020B0604030504040204" pitchFamily="34" charset="-120"/>
                    <a:ea typeface="微軟正黑體" panose="020B0604030504040204" pitchFamily="34" charset="-120"/>
                  </a:rPr>
                  <a:t>）</a:t>
                </a:r>
                <a:endParaRPr lang="zh-TW" altLang="zh-TW" sz="2000" dirty="0">
                  <a:latin typeface="微軟正黑體" panose="020B0604030504040204" pitchFamily="34" charset="-120"/>
                  <a:ea typeface="微軟正黑體" panose="020B0604030504040204" pitchFamily="34" charset="-120"/>
                </a:endParaRPr>
              </a:p>
              <a:p>
                <a:pPr marL="365760" lvl="1" indent="0">
                  <a:buNone/>
                </a:pPr>
                <a:r>
                  <a:rPr lang="en-US" altLang="zh-TW" sz="1800" dirty="0">
                    <a:latin typeface="微軟正黑體" panose="020B0604030504040204" pitchFamily="34" charset="-120"/>
                    <a:ea typeface="微軟正黑體" panose="020B0604030504040204" pitchFamily="34" charset="-120"/>
                  </a:rPr>
                  <a:t>P</a:t>
                </a:r>
                <a:r>
                  <a:rPr lang="zh-TW" altLang="zh-TW" sz="1800" dirty="0">
                    <a:latin typeface="微軟正黑體" panose="020B0604030504040204" pitchFamily="34" charset="-120"/>
                    <a:ea typeface="微軟正黑體" panose="020B0604030504040204" pitchFamily="34" charset="-120"/>
                  </a:rPr>
                  <a:t>值＝</a:t>
                </a:r>
                <a14:m>
                  <m:oMath xmlns:m="http://schemas.openxmlformats.org/officeDocument/2006/math">
                    <m:r>
                      <m:rPr>
                        <m:sty m:val="p"/>
                      </m:rPr>
                      <a:rPr lang="en-US" altLang="zh-TW" sz="1800">
                        <a:latin typeface="Cambria Math" panose="02040503050406030204" pitchFamily="18" charset="0"/>
                      </a:rPr>
                      <m:t>P</m:t>
                    </m:r>
                    <m:d>
                      <m:dPr>
                        <m:ctrlPr>
                          <a:rPr lang="zh-TW" altLang="zh-TW" sz="1800" i="1">
                            <a:latin typeface="Cambria Math" panose="02040503050406030204" pitchFamily="18" charset="0"/>
                          </a:rPr>
                        </m:ctrlPr>
                      </m:dPr>
                      <m:e>
                        <m:sSub>
                          <m:sSubPr>
                            <m:ctrlPr>
                              <a:rPr lang="zh-TW" altLang="zh-TW" sz="1800" i="1">
                                <a:latin typeface="Cambria Math" panose="02040503050406030204" pitchFamily="18" charset="0"/>
                              </a:rPr>
                            </m:ctrlPr>
                          </m:sSubPr>
                          <m:e>
                            <m:r>
                              <a:rPr lang="en-US" altLang="zh-TW" sz="1800" i="1">
                                <a:latin typeface="Cambria Math" panose="02040503050406030204" pitchFamily="18" charset="0"/>
                              </a:rPr>
                              <m:t>𝑡</m:t>
                            </m:r>
                          </m:e>
                          <m:sub>
                            <m:d>
                              <m:dPr>
                                <m:ctrlPr>
                                  <a:rPr lang="zh-TW" altLang="zh-TW" sz="1800" i="1">
                                    <a:latin typeface="Cambria Math" panose="02040503050406030204" pitchFamily="18" charset="0"/>
                                  </a:rPr>
                                </m:ctrlPr>
                              </m:dPr>
                              <m:e>
                                <m:r>
                                  <m:rPr>
                                    <m:sty m:val="p"/>
                                  </m:rPr>
                                  <a:rPr lang="en-US" altLang="zh-TW" sz="1800">
                                    <a:latin typeface="Cambria Math" panose="02040503050406030204" pitchFamily="18" charset="0"/>
                                  </a:rPr>
                                  <m:t>n</m:t>
                                </m:r>
                                <m:r>
                                  <a:rPr lang="en-US" altLang="zh-TW" sz="1800" i="1">
                                    <a:latin typeface="Cambria Math" panose="02040503050406030204" pitchFamily="18" charset="0"/>
                                  </a:rPr>
                                  <m:t>−</m:t>
                                </m:r>
                                <m:r>
                                  <a:rPr lang="en-US" altLang="zh-TW" sz="1800">
                                    <a:latin typeface="Cambria Math" panose="02040503050406030204" pitchFamily="18" charset="0"/>
                                  </a:rPr>
                                  <m:t>1</m:t>
                                </m:r>
                              </m:e>
                            </m:d>
                          </m:sub>
                        </m:sSub>
                        <m:r>
                          <a:rPr lang="en-US" altLang="zh-TW" sz="1800">
                            <a:latin typeface="Cambria Math" panose="02040503050406030204" pitchFamily="18" charset="0"/>
                          </a:rPr>
                          <m:t>≥</m:t>
                        </m:r>
                        <m:r>
                          <m:rPr>
                            <m:sty m:val="p"/>
                          </m:rPr>
                          <a:rPr lang="en-US" altLang="zh-TW" sz="1800">
                            <a:latin typeface="Cambria Math" panose="02040503050406030204" pitchFamily="18" charset="0"/>
                          </a:rPr>
                          <m:t>t</m:t>
                        </m:r>
                      </m:e>
                    </m:d>
                  </m:oMath>
                </a14:m>
                <a:r>
                  <a:rPr lang="en-US" altLang="zh-TW" sz="1800" dirty="0">
                    <a:latin typeface="微軟正黑體" panose="020B0604030504040204" pitchFamily="34" charset="-120"/>
                    <a:ea typeface="微軟正黑體" panose="020B0604030504040204" pitchFamily="34" charset="-120"/>
                  </a:rPr>
                  <a:t>=&lt;0.0001</a:t>
                </a:r>
              </a:p>
              <a:p>
                <a:pPr marL="109728" indent="0">
                  <a:buNone/>
                </a:pPr>
                <a:endParaRPr lang="en-US" altLang="zh-TW" sz="2000" dirty="0">
                  <a:latin typeface="微軟正黑體" panose="020B0604030504040204" pitchFamily="34" charset="-120"/>
                  <a:ea typeface="微軟正黑體" panose="020B0604030504040204" pitchFamily="34" charset="-120"/>
                </a:endParaRPr>
              </a:p>
              <a:p>
                <a:pPr marL="109728" indent="0">
                  <a:buNone/>
                </a:pPr>
                <a:r>
                  <a:rPr lang="en-US" altLang="zh-TW" sz="2000" dirty="0">
                    <a:latin typeface="微軟正黑體" panose="020B0604030504040204" pitchFamily="34" charset="-120"/>
                    <a:ea typeface="微軟正黑體" panose="020B0604030504040204" pitchFamily="34" charset="-120"/>
                  </a:rPr>
                  <a:t>SPSS:</a:t>
                </a:r>
                <a:endParaRPr lang="zh-TW" altLang="zh-TW" sz="2000" dirty="0">
                  <a:latin typeface="微軟正黑體" panose="020B0604030504040204" pitchFamily="34" charset="-120"/>
                  <a:ea typeface="微軟正黑體" panose="020B0604030504040204" pitchFamily="34" charset="-120"/>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1: </a:t>
                </a:r>
                <a:r>
                  <a:rPr lang="zh-TW" altLang="zh-TW" sz="2000" dirty="0">
                    <a:latin typeface="微軟正黑體" panose="020B0604030504040204" pitchFamily="34" charset="-120"/>
                    <a:ea typeface="微軟正黑體" panose="020B0604030504040204" pitchFamily="34" charset="-120"/>
                  </a:rPr>
                  <a:t>分析</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2000" dirty="0">
                    <a:latin typeface="微軟正黑體" panose="020B0604030504040204" pitchFamily="34" charset="-120"/>
                    <a:ea typeface="微軟正黑體" panose="020B0604030504040204" pitchFamily="34" charset="-120"/>
                  </a:rPr>
                  <a:t>平均數檢定</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2000" dirty="0">
                    <a:latin typeface="微軟正黑體" panose="020B0604030504040204" pitchFamily="34" charset="-120"/>
                    <a:ea typeface="微軟正黑體" panose="020B0604030504040204" pitchFamily="34" charset="-120"/>
                  </a:rPr>
                  <a:t>單一樣本</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a:t>
                </a:r>
                <a:endParaRPr lang="zh-TW" altLang="en-US" sz="2000"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1" y="1844824"/>
                <a:ext cx="8974838" cy="5291741"/>
              </a:xfrm>
              <a:blipFill>
                <a:blip r:embed="rId2"/>
                <a:stretch>
                  <a:fillRect t="-1267"/>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8</a:t>
            </a:r>
          </a:p>
        </p:txBody>
      </p:sp>
    </p:spTree>
    <p:extLst>
      <p:ext uri="{BB962C8B-B14F-4D97-AF65-F5344CB8AC3E}">
        <p14:creationId xmlns:p14="http://schemas.microsoft.com/office/powerpoint/2010/main" val="15645782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07C33D-9755-46FA-A295-31217914E0FC}"/>
              </a:ext>
            </a:extLst>
          </p:cNvPr>
          <p:cNvSpPr>
            <a:spLocks noGrp="1"/>
          </p:cNvSpPr>
          <p:nvPr>
            <p:ph type="title"/>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p:pic>
        <p:nvPicPr>
          <p:cNvPr id="8" name="內容版面配置區 7">
            <a:extLst>
              <a:ext uri="{FF2B5EF4-FFF2-40B4-BE49-F238E27FC236}">
                <a16:creationId xmlns:a16="http://schemas.microsoft.com/office/drawing/2014/main" id="{DCA8278F-6A77-4C17-96C7-DF0738184C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76872"/>
            <a:ext cx="8967568" cy="2600595"/>
          </a:xfrm>
        </p:spPr>
      </p:pic>
      <p:sp>
        <p:nvSpPr>
          <p:cNvPr id="4" name="投影片編號版面配置區 3">
            <a:extLst>
              <a:ext uri="{FF2B5EF4-FFF2-40B4-BE49-F238E27FC236}">
                <a16:creationId xmlns:a16="http://schemas.microsoft.com/office/drawing/2014/main" id="{F75E719D-6DEE-4D80-8AB7-B235FC86DBAC}"/>
              </a:ext>
            </a:extLst>
          </p:cNvPr>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9885581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pPr algn="ctr"/>
            <a:r>
              <a:rPr lang="zh-TW" altLang="zh-TW" sz="3200" dirty="0">
                <a:effectLst/>
                <a:latin typeface="微軟正黑體" panose="020B0604030504040204" pitchFamily="34" charset="-120"/>
                <a:ea typeface="微軟正黑體" panose="020B0604030504040204" pitchFamily="34" charset="-120"/>
              </a:rPr>
              <a:t>連續型資料的平均數檢定</a:t>
            </a:r>
            <a:r>
              <a:rPr lang="en-US" altLang="zh-TW" sz="3200" dirty="0">
                <a:effectLst/>
                <a:latin typeface="微軟正黑體" panose="020B0604030504040204" pitchFamily="34" charset="-120"/>
                <a:ea typeface="微軟正黑體" panose="020B0604030504040204" pitchFamily="34" charset="-120"/>
              </a:rPr>
              <a:t>—</a:t>
            </a:r>
            <a:br>
              <a:rPr lang="en-US" altLang="zh-TW" sz="3200" dirty="0">
                <a:effectLst/>
                <a:latin typeface="微軟正黑體" panose="020B0604030504040204" pitchFamily="34" charset="-120"/>
                <a:ea typeface="微軟正黑體" panose="020B0604030504040204" pitchFamily="34" charset="-120"/>
              </a:rPr>
            </a:br>
            <a:r>
              <a:rPr lang="zh-TW" altLang="zh-TW" sz="3200" dirty="0">
                <a:solidFill>
                  <a:schemeClr val="bg1"/>
                </a:solidFill>
                <a:effectLst/>
                <a:latin typeface="微軟正黑體" panose="020B0604030504040204" pitchFamily="34" charset="-120"/>
                <a:ea typeface="微軟正黑體" panose="020B0604030504040204" pitchFamily="34" charset="-120"/>
              </a:rPr>
              <a:t>獨立雙樣本</a:t>
            </a:r>
            <a:r>
              <a:rPr lang="en-US" altLang="zh-TW" sz="3200" dirty="0">
                <a:solidFill>
                  <a:schemeClr val="bg1"/>
                </a:solidFill>
                <a:effectLst/>
                <a:latin typeface="微軟正黑體" panose="020B0604030504040204" pitchFamily="34" charset="-120"/>
                <a:ea typeface="微軟正黑體" panose="020B0604030504040204" pitchFamily="34" charset="-120"/>
              </a:rPr>
              <a:t>t</a:t>
            </a:r>
            <a:r>
              <a:rPr lang="zh-TW" altLang="zh-TW" sz="3200" dirty="0">
                <a:solidFill>
                  <a:schemeClr val="bg1"/>
                </a:solidFill>
                <a:effectLst/>
                <a:latin typeface="微軟正黑體" panose="020B0604030504040204" pitchFamily="34" charset="-120"/>
                <a:ea typeface="微軟正黑體" panose="020B0604030504040204" pitchFamily="34" charset="-120"/>
              </a:rPr>
              <a:t>檢定</a:t>
            </a:r>
            <a:r>
              <a:rPr lang="en-US" altLang="zh-TW" sz="3200" dirty="0">
                <a:solidFill>
                  <a:schemeClr val="bg1"/>
                </a:solidFill>
                <a:effectLst/>
                <a:latin typeface="微軟正黑體" panose="020B0604030504040204" pitchFamily="34" charset="-120"/>
                <a:ea typeface="微軟正黑體" panose="020B0604030504040204" pitchFamily="34" charset="-120"/>
              </a:rPr>
              <a:t>(two-sample t test)</a:t>
            </a:r>
            <a:endParaRPr lang="zh-TW" altLang="en-US" sz="3200" dirty="0">
              <a:solidFill>
                <a:schemeClr val="bg1"/>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323528" y="1417638"/>
                <a:ext cx="8622502" cy="2506283"/>
              </a:xfrm>
            </p:spPr>
            <p:txBody>
              <a:bodyPr>
                <a:normAutofit/>
              </a:bodyPr>
              <a:lstStyle/>
              <a:p>
                <a:r>
                  <a:rPr lang="zh-TW" altLang="zh-TW" dirty="0">
                    <a:latin typeface="微軟正黑體" panose="020B0604030504040204" pitchFamily="34" charset="-120"/>
                    <a:ea typeface="微軟正黑體" panose="020B0604030504040204" pitchFamily="34" charset="-120"/>
                  </a:rPr>
                  <a:t>虛無假設：存活組平均出生體重和死亡組無差異（</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0</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en-US" altLang="zh-TW" baseline="-25000" dirty="0">
                    <a:latin typeface="微軟正黑體" panose="020B0604030504040204" pitchFamily="34" charset="-120"/>
                    <a:ea typeface="微軟正黑體" panose="020B0604030504040204" pitchFamily="34" charset="-120"/>
                  </a:rPr>
                  <a:t>1</a:t>
                </a:r>
                <a:r>
                  <a:rPr lang="en-US" altLang="zh-TW" dirty="0">
                    <a:latin typeface="微軟正黑體" panose="020B0604030504040204" pitchFamily="34" charset="-120"/>
                    <a:ea typeface="微軟正黑體" panose="020B0604030504040204" pitchFamily="34" charset="-120"/>
                  </a:rPr>
                  <a:t>-μ</a:t>
                </a:r>
                <a:r>
                  <a:rPr lang="en-US" altLang="zh-TW" baseline="-25000" dirty="0">
                    <a:latin typeface="微軟正黑體" panose="020B0604030504040204" pitchFamily="34" charset="-120"/>
                    <a:ea typeface="微軟正黑體" panose="020B0604030504040204" pitchFamily="34" charset="-120"/>
                  </a:rPr>
                  <a:t>2</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r>
                  <a:rPr lang="zh-TW" altLang="zh-TW" dirty="0">
                    <a:latin typeface="微軟正黑體" panose="020B0604030504040204" pitchFamily="34" charset="-120"/>
                    <a:ea typeface="微軟正黑體" panose="020B0604030504040204" pitchFamily="34" charset="-120"/>
                  </a:rPr>
                  <a:t>對立假設：存活組平均出生體重和死亡組有差異</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a</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en-US" altLang="zh-TW" baseline="-25000" dirty="0">
                    <a:latin typeface="微軟正黑體" panose="020B0604030504040204" pitchFamily="34" charset="-120"/>
                    <a:ea typeface="微軟正黑體" panose="020B0604030504040204" pitchFamily="34" charset="-120"/>
                  </a:rPr>
                  <a:t>1 </a:t>
                </a:r>
                <a:r>
                  <a:rPr lang="en-US" altLang="zh-TW" dirty="0">
                    <a:latin typeface="微軟正黑體" panose="020B0604030504040204" pitchFamily="34" charset="-120"/>
                    <a:ea typeface="微軟正黑體" panose="020B0604030504040204" pitchFamily="34" charset="-120"/>
                  </a:rPr>
                  <a:t>- μ</a:t>
                </a:r>
                <a:r>
                  <a:rPr lang="en-US" altLang="zh-TW" baseline="-25000" dirty="0">
                    <a:latin typeface="微軟正黑體" panose="020B0604030504040204" pitchFamily="34" charset="-120"/>
                    <a:ea typeface="微軟正黑體" panose="020B0604030504040204" pitchFamily="34" charset="-120"/>
                  </a:rPr>
                  <a:t>2 </a:t>
                </a:r>
                <a14:m>
                  <m:oMath xmlns:m="http://schemas.openxmlformats.org/officeDocument/2006/math">
                    <m:r>
                      <a:rPr lang="en-US" altLang="zh-TW">
                        <a:latin typeface="Cambria Math" panose="02040503050406030204" pitchFamily="18" charset="0"/>
                      </a:rPr>
                      <m:t>≠</m:t>
                    </m:r>
                  </m:oMath>
                </a14:m>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323528" y="1417638"/>
                <a:ext cx="8622502" cy="2506283"/>
              </a:xfrm>
              <a:blipFill>
                <a:blip r:embed="rId2"/>
                <a:stretch>
                  <a:fillRect l="-777" t="-3163" r="-707"/>
                </a:stretch>
              </a:blipFill>
            </p:spPr>
            <p:txBody>
              <a:bodyPr/>
              <a:lstStyle/>
              <a:p>
                <a:r>
                  <a:rPr lang="zh-TW" altLang="en-US">
                    <a:noFill/>
                  </a:rPr>
                  <a:t> </a:t>
                </a:r>
              </a:p>
            </p:txBody>
          </p:sp>
        </mc:Fallback>
      </mc:AlternateContent>
      <p:sp>
        <p:nvSpPr>
          <p:cNvPr id="6" name="投影片編號版面配置區 5"/>
          <p:cNvSpPr>
            <a:spLocks noGrp="1"/>
          </p:cNvSpPr>
          <p:nvPr>
            <p:ph type="sldNum" sz="quarter" idx="12"/>
          </p:nvPr>
        </p:nvSpPr>
        <p:spPr/>
        <p:txBody>
          <a:bodyPr/>
          <a:lstStyle/>
          <a:p>
            <a:pPr>
              <a:defRPr/>
            </a:pPr>
            <a:r>
              <a:rPr lang="en-US" altLang="zh-TW" dirty="0"/>
              <a:t>10</a:t>
            </a:r>
          </a:p>
        </p:txBody>
      </p:sp>
      <p:sp>
        <p:nvSpPr>
          <p:cNvPr id="11" name="Rectangle 6"/>
          <p:cNvSpPr>
            <a:spLocks noChangeArrowheads="1"/>
          </p:cNvSpPr>
          <p:nvPr/>
        </p:nvSpPr>
        <p:spPr bwMode="auto">
          <a:xfrm>
            <a:off x="-252536" y="1915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mc:AlternateContent xmlns:mc="http://schemas.openxmlformats.org/markup-compatibility/2006" xmlns:a14="http://schemas.microsoft.com/office/drawing/2010/main">
        <mc:Choice Requires="a14">
          <p:sp>
            <p:nvSpPr>
              <p:cNvPr id="14" name="矩形 13"/>
              <p:cNvSpPr/>
              <p:nvPr/>
            </p:nvSpPr>
            <p:spPr>
              <a:xfrm>
                <a:off x="1081656" y="5572932"/>
                <a:ext cx="7809808" cy="536494"/>
              </a:xfrm>
              <a:prstGeom prst="rect">
                <a:avLst/>
              </a:prstGeom>
            </p:spPr>
            <p:txBody>
              <a:bodyPr wrap="square">
                <a:spAutoFit/>
              </a:bodyPr>
              <a:lstStyle/>
              <a:p>
                <a:pPr algn="ctr">
                  <a:lnSpc>
                    <a:spcPct val="150000"/>
                  </a:lnSpc>
                  <a:spcAft>
                    <a:spcPts val="0"/>
                  </a:spcAft>
                </a:pPr>
                <a:r>
                  <a:rPr lang="en-US" altLang="zh-TW" sz="2000" kern="0" dirty="0">
                    <a:solidFill>
                      <a:schemeClr val="tx1"/>
                    </a:solidFill>
                    <a:ea typeface="標楷體" panose="03000509000000000000" pitchFamily="65" charset="-120"/>
                    <a:cs typeface="Times New Roman" panose="02020603050405020304" pitchFamily="18" charset="0"/>
                  </a:rPr>
                  <a:t>P</a:t>
                </a:r>
                <a:r>
                  <a:rPr lang="zh-TW" altLang="zh-TW" sz="2000" kern="0" dirty="0">
                    <a:solidFill>
                      <a:schemeClr val="tx1"/>
                    </a:solidFill>
                    <a:ea typeface="標楷體" panose="03000509000000000000" pitchFamily="65" charset="-120"/>
                    <a:cs typeface="Times New Roman" panose="02020603050405020304" pitchFamily="18" charset="0"/>
                  </a:rPr>
                  <a:t>值＝</a:t>
                </a:r>
                <a14:m>
                  <m:oMath xmlns:m="http://schemas.openxmlformats.org/officeDocument/2006/math">
                    <m:r>
                      <a:rPr lang="en-US" altLang="zh-TW" b="1" i="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𝟐</m:t>
                    </m:r>
                    <m:r>
                      <a:rPr lang="en-US" altLang="zh-TW" b="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m:t>
                    </m:r>
                    <m:r>
                      <a:rPr lang="en-US" altLang="zh-TW" b="1" i="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𝐏</m:t>
                    </m:r>
                    <m:d>
                      <m:dPr>
                        <m:ctrlPr>
                          <a:rPr lang="zh-TW" altLang="zh-TW" b="1" i="1" ker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b="1" i="1" ker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1" i="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𝐭</m:t>
                            </m:r>
                          </m:e>
                          <m:sub>
                            <m:r>
                              <a:rPr lang="en-US" altLang="zh-TW" b="1" i="1" kern="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𝒅𝒇</m:t>
                            </m:r>
                          </m:sub>
                        </m:sSub>
                        <m:r>
                          <a:rPr lang="en-US" altLang="zh-TW" b="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m:t>
                        </m:r>
                        <m:r>
                          <a:rPr lang="en-US" altLang="zh-TW" b="1" i="1"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𝐭</m:t>
                        </m:r>
                      </m:e>
                    </m:d>
                    <m:r>
                      <a:rPr lang="en-US" altLang="zh-TW"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=0.0</m:t>
                    </m:r>
                    <m:r>
                      <a:rPr lang="en-US" altLang="zh-TW" b="0" i="0" kern="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394</m:t>
                    </m:r>
                  </m:oMath>
                </a14:m>
                <a:r>
                  <a:rPr lang="zh-TW" altLang="zh-TW" sz="2000" kern="100" dirty="0">
                    <a:solidFill>
                      <a:schemeClr val="tx1"/>
                    </a:solidFill>
                    <a:effectLst/>
                    <a:ea typeface="標楷體" panose="03000509000000000000" pitchFamily="65" charset="-120"/>
                    <a:cs typeface="Times New Roman" panose="02020603050405020304" pitchFamily="18" charset="0"/>
                  </a:rPr>
                  <a:t>，</a:t>
                </a:r>
                <a:r>
                  <a:rPr lang="en-US" altLang="zh-TW" sz="2000" kern="100" dirty="0">
                    <a:solidFill>
                      <a:schemeClr val="tx1"/>
                    </a:solidFill>
                    <a:effectLst/>
                    <a:ea typeface="標楷體" panose="03000509000000000000" pitchFamily="65" charset="-120"/>
                    <a:cs typeface="Times New Roman" panose="02020603050405020304" pitchFamily="18" charset="0"/>
                  </a:rPr>
                  <a:t>t=2.081</a:t>
                </a:r>
                <a:r>
                  <a:rPr lang="zh-TW" altLang="en-US" sz="2000" kern="100" dirty="0">
                    <a:solidFill>
                      <a:schemeClr val="tx1"/>
                    </a:solidFill>
                    <a:effectLst/>
                    <a:ea typeface="標楷體" panose="03000509000000000000" pitchFamily="65" charset="-120"/>
                    <a:cs typeface="Times New Roman" panose="02020603050405020304" pitchFamily="18" charset="0"/>
                  </a:rPr>
                  <a:t>，</a:t>
                </a:r>
                <a:r>
                  <a:rPr lang="en-US" altLang="zh-TW" sz="2000" i="1" kern="100" dirty="0" err="1">
                    <a:solidFill>
                      <a:schemeClr val="tx1"/>
                    </a:solidFill>
                    <a:effectLst/>
                    <a:ea typeface="標楷體" panose="03000509000000000000" pitchFamily="65" charset="-120"/>
                    <a:cs typeface="Times New Roman" panose="02020603050405020304" pitchFamily="18" charset="0"/>
                  </a:rPr>
                  <a:t>df</a:t>
                </a:r>
                <a:r>
                  <a:rPr lang="en-US" altLang="zh-TW" sz="2000" kern="100" dirty="0">
                    <a:solidFill>
                      <a:schemeClr val="tx1"/>
                    </a:solidFill>
                    <a:effectLst/>
                    <a:ea typeface="標楷體" panose="03000509000000000000" pitchFamily="65" charset="-120"/>
                    <a:cs typeface="Times New Roman" panose="02020603050405020304" pitchFamily="18" charset="0"/>
                  </a:rPr>
                  <a:t>=</a:t>
                </a:r>
                <a:r>
                  <a:rPr lang="en-US" altLang="zh-TW" sz="2000" dirty="0">
                    <a:solidFill>
                      <a:schemeClr val="tx1"/>
                    </a:solidFill>
                  </a:rPr>
                  <a:t>127</a:t>
                </a:r>
                <a:endParaRPr lang="en-US" altLang="zh-TW" sz="2000" kern="100" dirty="0">
                  <a:solidFill>
                    <a:schemeClr val="tx1"/>
                  </a:solidFill>
                  <a:ea typeface="標楷體" panose="03000509000000000000" pitchFamily="65" charset="-120"/>
                  <a:cs typeface="Times New Roman" panose="020206030504050203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1081656" y="5572932"/>
                <a:ext cx="7809808" cy="536494"/>
              </a:xfrm>
              <a:prstGeom prst="rect">
                <a:avLst/>
              </a:prstGeom>
              <a:blipFill>
                <a:blip r:embed="rId3"/>
                <a:stretch>
                  <a:fillRect b="-17045"/>
                </a:stretch>
              </a:blipFill>
            </p:spPr>
            <p:txBody>
              <a:bodyPr/>
              <a:lstStyle/>
              <a:p>
                <a:r>
                  <a:rPr lang="zh-TW" altLang="en-US">
                    <a:noFill/>
                  </a:rPr>
                  <a:t> </a:t>
                </a:r>
              </a:p>
            </p:txBody>
          </p:sp>
        </mc:Fallback>
      </mc:AlternateContent>
      <p:pic>
        <p:nvPicPr>
          <p:cNvPr id="3" name="圖片 2" descr="Student's t-test - Wikipedia, the free encyclopedia - Internet Explorer"/>
          <p:cNvPicPr>
            <a:picLocks noChangeAspect="1"/>
          </p:cNvPicPr>
          <p:nvPr/>
        </p:nvPicPr>
        <p:blipFill rotWithShape="1">
          <a:blip r:embed="rId4">
            <a:extLst>
              <a:ext uri="{28A0092B-C50C-407E-A947-70E740481C1C}">
                <a14:useLocalDpi xmlns:a14="http://schemas.microsoft.com/office/drawing/2010/main" val="0"/>
              </a:ext>
            </a:extLst>
          </a:blip>
          <a:srcRect l="15351" t="26401" r="55512" b="50000"/>
          <a:stretch/>
        </p:blipFill>
        <p:spPr>
          <a:xfrm>
            <a:off x="899592" y="2881260"/>
            <a:ext cx="4930504" cy="2305981"/>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6030792" y="4901180"/>
                <a:ext cx="245861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𝑑𝑓</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−2</m:t>
                      </m:r>
                    </m:oMath>
                  </m:oMathPara>
                </a14:m>
                <a:endParaRPr lang="zh-TW" altLang="en-US"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6030792" y="4901180"/>
                <a:ext cx="2458616" cy="461665"/>
              </a:xfrm>
              <a:prstGeom prst="rect">
                <a:avLst/>
              </a:prstGeom>
              <a:blipFill rotWithShape="0">
                <a:blip r:embed="rId5"/>
                <a:stretch>
                  <a:fillRect l="-1733" r="-495" b="-184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7336594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pPr algn="ctr"/>
            <a:r>
              <a:rPr lang="zh-TW" altLang="zh-TW" sz="3200" dirty="0">
                <a:effectLst/>
                <a:latin typeface="微軟正黑體" panose="020B0604030504040204" pitchFamily="34" charset="-120"/>
                <a:ea typeface="微軟正黑體" panose="020B0604030504040204" pitchFamily="34" charset="-120"/>
              </a:rPr>
              <a:t>連續型資料的平均數檢定</a:t>
            </a:r>
            <a:r>
              <a:rPr lang="en-US" altLang="zh-TW" sz="3200" dirty="0">
                <a:effectLst/>
                <a:latin typeface="微軟正黑體" panose="020B0604030504040204" pitchFamily="34" charset="-120"/>
                <a:ea typeface="微軟正黑體" panose="020B0604030504040204" pitchFamily="34" charset="-120"/>
              </a:rPr>
              <a:t>—</a:t>
            </a:r>
            <a:br>
              <a:rPr lang="en-US" altLang="zh-TW" sz="3200" dirty="0">
                <a:effectLst/>
                <a:latin typeface="微軟正黑體" panose="020B0604030504040204" pitchFamily="34" charset="-120"/>
                <a:ea typeface="微軟正黑體" panose="020B0604030504040204" pitchFamily="34" charset="-120"/>
              </a:rPr>
            </a:br>
            <a:r>
              <a:rPr lang="zh-TW" altLang="zh-TW" sz="3200" dirty="0">
                <a:solidFill>
                  <a:schemeClr val="bg1"/>
                </a:solidFill>
                <a:effectLst/>
                <a:latin typeface="微軟正黑體" panose="020B0604030504040204" pitchFamily="34" charset="-120"/>
                <a:ea typeface="微軟正黑體" panose="020B0604030504040204" pitchFamily="34" charset="-120"/>
              </a:rPr>
              <a:t>獨立雙樣本</a:t>
            </a:r>
            <a:r>
              <a:rPr lang="en-US" altLang="zh-TW" sz="3200" dirty="0">
                <a:solidFill>
                  <a:schemeClr val="bg1"/>
                </a:solidFill>
                <a:effectLst/>
                <a:latin typeface="微軟正黑體" panose="020B0604030504040204" pitchFamily="34" charset="-120"/>
                <a:ea typeface="微軟正黑體" panose="020B0604030504040204" pitchFamily="34" charset="-120"/>
              </a:rPr>
              <a:t>t</a:t>
            </a:r>
            <a:r>
              <a:rPr lang="zh-TW" altLang="zh-TW" sz="3200" dirty="0">
                <a:solidFill>
                  <a:schemeClr val="bg1"/>
                </a:solidFill>
                <a:effectLst/>
                <a:latin typeface="微軟正黑體" panose="020B0604030504040204" pitchFamily="34" charset="-120"/>
                <a:ea typeface="微軟正黑體" panose="020B0604030504040204" pitchFamily="34" charset="-120"/>
              </a:rPr>
              <a:t>檢定</a:t>
            </a:r>
            <a:r>
              <a:rPr lang="en-US" altLang="zh-TW" sz="3200" dirty="0">
                <a:solidFill>
                  <a:schemeClr val="bg1"/>
                </a:solidFill>
                <a:effectLst/>
                <a:latin typeface="微軟正黑體" panose="020B0604030504040204" pitchFamily="34" charset="-120"/>
                <a:ea typeface="微軟正黑體" panose="020B0604030504040204" pitchFamily="34" charset="-120"/>
              </a:rPr>
              <a:t>(two-sample t test)</a:t>
            </a:r>
            <a:endParaRPr lang="zh-TW" altLang="en-US" sz="3200" dirty="0">
              <a:solidFill>
                <a:schemeClr val="bg1"/>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107504" y="2204864"/>
                <a:ext cx="8229600" cy="3747872"/>
              </a:xfrm>
            </p:spPr>
            <p:txBody>
              <a:bodyPr>
                <a:normAutofit/>
              </a:bodyPr>
              <a:lstStyle/>
              <a:p>
                <a:pPr marL="109728" indent="0">
                  <a:buNone/>
                </a:pP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對立假設：存活組平均出生體重比死亡組較大</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a</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en-US" altLang="zh-TW" baseline="-25000" dirty="0">
                    <a:latin typeface="微軟正黑體" panose="020B0604030504040204" pitchFamily="34" charset="-120"/>
                    <a:ea typeface="微軟正黑體" panose="020B0604030504040204" pitchFamily="34" charset="-120"/>
                  </a:rPr>
                  <a:t>1</a:t>
                </a:r>
                <a:r>
                  <a:rPr lang="en-US" altLang="zh-TW" dirty="0">
                    <a:latin typeface="微軟正黑體" panose="020B0604030504040204" pitchFamily="34" charset="-120"/>
                    <a:ea typeface="微軟正黑體" panose="020B0604030504040204" pitchFamily="34" charset="-120"/>
                  </a:rPr>
                  <a:t>-μ</a:t>
                </a:r>
                <a:r>
                  <a:rPr lang="en-US" altLang="zh-TW" baseline="-25000" dirty="0">
                    <a:latin typeface="微軟正黑體" panose="020B0604030504040204" pitchFamily="34" charset="-120"/>
                    <a:ea typeface="微軟正黑體" panose="020B0604030504040204" pitchFamily="34" charset="-120"/>
                  </a:rPr>
                  <a:t>2</a:t>
                </a:r>
                <a:r>
                  <a:rPr lang="en-US" altLang="zh-TW" dirty="0">
                    <a:latin typeface="微軟正黑體" panose="020B0604030504040204" pitchFamily="34" charset="-120"/>
                    <a:ea typeface="微軟正黑體" panose="020B0604030504040204" pitchFamily="34" charset="-120"/>
                  </a:rPr>
                  <a:t> &gt; 0</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a:t>
                </a:r>
              </a:p>
              <a:p>
                <a:pPr marL="109728" indent="0">
                  <a:buNone/>
                </a:pPr>
                <a:r>
                  <a:rPr lang="en-US" altLang="zh-TW" dirty="0">
                    <a:latin typeface="微軟正黑體" panose="020B0604030504040204" pitchFamily="34" charset="-120"/>
                    <a:ea typeface="微軟正黑體" panose="020B0604030504040204" pitchFamily="34" charset="-120"/>
                  </a:rPr>
                  <a:t>    P</a:t>
                </a:r>
                <a:r>
                  <a:rPr lang="zh-TW" altLang="zh-TW" dirty="0">
                    <a:latin typeface="微軟正黑體" panose="020B0604030504040204" pitchFamily="34" charset="-120"/>
                    <a:ea typeface="微軟正黑體" panose="020B0604030504040204" pitchFamily="34" charset="-120"/>
                  </a:rPr>
                  <a:t>值＝</a:t>
                </a:r>
                <a14:m>
                  <m:oMath xmlns:m="http://schemas.openxmlformats.org/officeDocument/2006/math">
                    <m:r>
                      <a:rPr lang="en-US" altLang="zh-TW" b="1" i="1">
                        <a:latin typeface="Cambria Math" panose="02040503050406030204" pitchFamily="18" charset="0"/>
                      </a:rPr>
                      <m:t>𝐏</m:t>
                    </m:r>
                    <m:d>
                      <m:dPr>
                        <m:ctrlPr>
                          <a:rPr lang="zh-TW" altLang="zh-TW" b="1" i="1">
                            <a:latin typeface="Cambria Math" panose="02040503050406030204" pitchFamily="18" charset="0"/>
                          </a:rPr>
                        </m:ctrlPr>
                      </m:dPr>
                      <m:e>
                        <m:sSub>
                          <m:sSubPr>
                            <m:ctrlPr>
                              <a:rPr lang="zh-TW" altLang="zh-TW" b="1" i="1">
                                <a:latin typeface="Cambria Math" panose="02040503050406030204" pitchFamily="18" charset="0"/>
                              </a:rPr>
                            </m:ctrlPr>
                          </m:sSubPr>
                          <m:e>
                            <m:r>
                              <a:rPr lang="en-US" altLang="zh-TW" b="1" i="1">
                                <a:latin typeface="Cambria Math" panose="02040503050406030204" pitchFamily="18" charset="0"/>
                              </a:rPr>
                              <m:t>𝐭</m:t>
                            </m:r>
                          </m:e>
                          <m:sub>
                            <m:r>
                              <a:rPr lang="en-US" altLang="zh-TW" b="1" i="1" smtClean="0">
                                <a:latin typeface="Cambria Math" panose="02040503050406030204" pitchFamily="18" charset="0"/>
                              </a:rPr>
                              <m:t>𝒅𝒇</m:t>
                            </m:r>
                            <m:r>
                              <a:rPr lang="en-US" altLang="zh-TW" b="1" i="1" smtClean="0">
                                <a:latin typeface="Cambria Math" panose="02040503050406030204" pitchFamily="18" charset="0"/>
                              </a:rPr>
                              <m:t>=</m:t>
                            </m:r>
                            <m:r>
                              <a:rPr lang="en-US" altLang="zh-TW" b="1" i="1" smtClean="0">
                                <a:latin typeface="Cambria Math" panose="02040503050406030204" pitchFamily="18" charset="0"/>
                              </a:rPr>
                              <m:t>𝟏𝟐𝟕</m:t>
                            </m:r>
                          </m:sub>
                        </m:sSub>
                        <m:r>
                          <a:rPr lang="en-US" altLang="zh-TW" b="1">
                            <a:latin typeface="Cambria Math" panose="02040503050406030204" pitchFamily="18" charset="0"/>
                          </a:rPr>
                          <m:t>≥</m:t>
                        </m:r>
                        <m:r>
                          <a:rPr lang="en-US" altLang="zh-TW" b="1" i="1">
                            <a:latin typeface="Cambria Math" panose="02040503050406030204" pitchFamily="18" charset="0"/>
                          </a:rPr>
                          <m:t>𝐭</m:t>
                        </m:r>
                      </m:e>
                    </m:d>
                    <m:r>
                      <a:rPr lang="en-US" altLang="zh-TW">
                        <a:latin typeface="Cambria Math" panose="02040503050406030204" pitchFamily="18" charset="0"/>
                      </a:rPr>
                      <m:t>=0.0</m:t>
                    </m:r>
                    <m:r>
                      <a:rPr lang="en-US" altLang="zh-TW" b="0" i="0" smtClean="0">
                        <a:latin typeface="Cambria Math" panose="02040503050406030204" pitchFamily="18" charset="0"/>
                      </a:rPr>
                      <m:t>192</m:t>
                    </m:r>
                  </m:oMath>
                </a14:m>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SPSS: </a:t>
                </a:r>
                <a:endParaRPr lang="zh-TW" altLang="zh-TW" dirty="0">
                  <a:latin typeface="微軟正黑體" panose="020B0604030504040204" pitchFamily="34" charset="-120"/>
                  <a:ea typeface="微軟正黑體" panose="020B0604030504040204" pitchFamily="34" charset="-120"/>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1:</a:t>
                </a:r>
                <a:r>
                  <a:rPr lang="zh-TW" altLang="zh-TW" sz="2000" dirty="0">
                    <a:latin typeface="微軟正黑體" panose="020B0604030504040204" pitchFamily="34" charset="-120"/>
                    <a:ea typeface="微軟正黑體" panose="020B0604030504040204" pitchFamily="34" charset="-120"/>
                  </a:rPr>
                  <a:t>分析方法</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000" dirty="0">
                    <a:latin typeface="微軟正黑體" panose="020B0604030504040204" pitchFamily="34" charset="-120"/>
                    <a:ea typeface="微軟正黑體" panose="020B0604030504040204" pitchFamily="34" charset="-120"/>
                    <a:sym typeface="Wingdings" panose="05000000000000000000" pitchFamily="2" charset="2"/>
                  </a:rPr>
                  <a:t>比較</a:t>
                </a:r>
                <a:r>
                  <a:rPr lang="zh-TW" altLang="zh-TW" sz="2000" dirty="0">
                    <a:latin typeface="微軟正黑體" panose="020B0604030504040204" pitchFamily="34" charset="-120"/>
                    <a:ea typeface="微軟正黑體" panose="020B0604030504040204" pitchFamily="34" charset="-120"/>
                  </a:rPr>
                  <a:t>平均數</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000" dirty="0">
                    <a:latin typeface="微軟正黑體" panose="020B0604030504040204" pitchFamily="34" charset="-120"/>
                    <a:ea typeface="微軟正黑體" panose="020B0604030504040204" pitchFamily="34" charset="-120"/>
                    <a:sym typeface="Wingdings" panose="05000000000000000000" pitchFamily="2" charset="2"/>
                  </a:rPr>
                  <a:t>獨立樣本</a:t>
                </a:r>
                <a:r>
                  <a:rPr lang="en-US" altLang="zh-TW" sz="2000" dirty="0">
                    <a:latin typeface="微軟正黑體" panose="020B0604030504040204" pitchFamily="34" charset="-120"/>
                    <a:ea typeface="微軟正黑體" panose="020B0604030504040204" pitchFamily="34" charset="-120"/>
                    <a:sym typeface="Wingdings" panose="05000000000000000000" pitchFamily="2" charset="2"/>
                  </a:rPr>
                  <a:t>T</a:t>
                </a:r>
                <a:r>
                  <a:rPr lang="zh-TW" altLang="en-US" sz="2000" dirty="0">
                    <a:latin typeface="微軟正黑體" panose="020B0604030504040204" pitchFamily="34" charset="-120"/>
                    <a:ea typeface="微軟正黑體" panose="020B0604030504040204" pitchFamily="34" charset="-120"/>
                    <a:sym typeface="Wingdings" panose="05000000000000000000" pitchFamily="2" charset="2"/>
                  </a:rPr>
                  <a:t>檢定</a:t>
                </a:r>
                <a:endParaRPr lang="en-US" altLang="zh-TW" sz="2000" dirty="0">
                  <a:latin typeface="微軟正黑體" panose="020B0604030504040204" pitchFamily="34" charset="-120"/>
                  <a:ea typeface="微軟正黑體" panose="020B0604030504040204" pitchFamily="34" charset="-120"/>
                  <a:sym typeface="Wingdings" panose="05000000000000000000" pitchFamily="2" charset="2"/>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檢定變數</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-&gt;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體重</a:t>
                </a:r>
                <a:endParaRPr lang="en-US" altLang="zh-TW" dirty="0">
                  <a:latin typeface="微軟正黑體" panose="020B0604030504040204" pitchFamily="34" charset="-120"/>
                  <a:ea typeface="微軟正黑體" panose="020B0604030504040204" pitchFamily="34" charset="-120"/>
                  <a:sym typeface="Wingdings" panose="05000000000000000000" pitchFamily="2" charset="2"/>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分組變數</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-&gt;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死亡</a:t>
                </a: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107504" y="2204864"/>
                <a:ext cx="8229600" cy="3747872"/>
              </a:xfrm>
              <a:blipFill>
                <a:blip r:embed="rId2"/>
                <a:stretch>
                  <a:fillRect l="-815" t="-1954" r="-963"/>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11</a:t>
            </a:r>
          </a:p>
        </p:txBody>
      </p:sp>
    </p:spTree>
    <p:extLst>
      <p:ext uri="{BB962C8B-B14F-4D97-AF65-F5344CB8AC3E}">
        <p14:creationId xmlns:p14="http://schemas.microsoft.com/office/powerpoint/2010/main" val="35278577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69031" y="478857"/>
            <a:ext cx="8229600" cy="948243"/>
          </a:xfrm>
        </p:spPr>
        <p:txBody>
          <a:bodyPr>
            <a:normAutofit fontScale="90000"/>
          </a:bodyPr>
          <a:lstStyle/>
          <a:p>
            <a:pPr algn="ctr"/>
            <a:r>
              <a:rPr lang="zh-TW" altLang="zh-TW" sz="3600" dirty="0">
                <a:effectLst/>
                <a:latin typeface="微軟正黑體" panose="020B0604030504040204" pitchFamily="34" charset="-120"/>
                <a:ea typeface="微軟正黑體" panose="020B0604030504040204" pitchFamily="34" charset="-120"/>
              </a:rPr>
              <a:t>連續型資料的平均數檢定</a:t>
            </a:r>
            <a:r>
              <a:rPr lang="en-US" altLang="zh-TW" dirty="0">
                <a:effectLst/>
                <a:latin typeface="微軟正黑體" panose="020B0604030504040204" pitchFamily="34" charset="-120"/>
                <a:ea typeface="微軟正黑體" panose="020B0604030504040204" pitchFamily="34" charset="-120"/>
              </a:rPr>
              <a:t>—</a:t>
            </a:r>
            <a:br>
              <a:rPr lang="en-US" altLang="zh-TW" dirty="0">
                <a:effectLst/>
                <a:latin typeface="微軟正黑體" panose="020B0604030504040204" pitchFamily="34" charset="-120"/>
                <a:ea typeface="微軟正黑體" panose="020B0604030504040204" pitchFamily="34" charset="-120"/>
              </a:rPr>
            </a:br>
            <a:r>
              <a:rPr lang="zh-TW" altLang="zh-TW" sz="3600" dirty="0">
                <a:solidFill>
                  <a:schemeClr val="bg1"/>
                </a:solidFill>
                <a:effectLst/>
                <a:latin typeface="微軟正黑體" panose="020B0604030504040204" pitchFamily="34" charset="-120"/>
                <a:ea typeface="微軟正黑體" panose="020B0604030504040204" pitchFamily="34" charset="-120"/>
              </a:rPr>
              <a:t>成對樣本</a:t>
            </a:r>
            <a:r>
              <a:rPr lang="en-US" altLang="zh-TW" sz="3600" dirty="0">
                <a:solidFill>
                  <a:schemeClr val="bg1"/>
                </a:solidFill>
                <a:effectLst/>
                <a:latin typeface="微軟正黑體" panose="020B0604030504040204" pitchFamily="34" charset="-120"/>
                <a:ea typeface="微軟正黑體" panose="020B0604030504040204" pitchFamily="34" charset="-120"/>
              </a:rPr>
              <a:t>t</a:t>
            </a:r>
            <a:r>
              <a:rPr lang="zh-TW" altLang="zh-TW" sz="3600" dirty="0">
                <a:solidFill>
                  <a:schemeClr val="bg1"/>
                </a:solidFill>
                <a:effectLst/>
                <a:latin typeface="微軟正黑體" panose="020B0604030504040204" pitchFamily="34" charset="-120"/>
                <a:ea typeface="微軟正黑體" panose="020B0604030504040204" pitchFamily="34" charset="-120"/>
              </a:rPr>
              <a:t>檢定</a:t>
            </a:r>
            <a:r>
              <a:rPr lang="en-US" altLang="zh-TW" sz="3600" dirty="0">
                <a:solidFill>
                  <a:schemeClr val="bg1"/>
                </a:solidFill>
                <a:effectLst/>
                <a:latin typeface="微軟正黑體" panose="020B0604030504040204" pitchFamily="34" charset="-120"/>
                <a:ea typeface="微軟正黑體" panose="020B0604030504040204" pitchFamily="34" charset="-120"/>
              </a:rPr>
              <a:t>(paired t test)</a:t>
            </a:r>
            <a:endParaRPr lang="zh-TW" altLang="en-US" sz="3600" dirty="0">
              <a:solidFill>
                <a:schemeClr val="bg1"/>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783432" y="1882016"/>
                <a:ext cx="8229600" cy="4678143"/>
              </a:xfrm>
            </p:spPr>
            <p:txBody>
              <a:bodyPr>
                <a:normAutofit/>
              </a:bodyPr>
              <a:lstStyle/>
              <a:p>
                <a:r>
                  <a:rPr lang="zh-TW" altLang="zh-TW" dirty="0">
                    <a:latin typeface="微軟正黑體" panose="020B0604030504040204" pitchFamily="34" charset="-120"/>
                    <a:ea typeface="微軟正黑體" panose="020B0604030504040204" pitchFamily="34" charset="-120"/>
                  </a:rPr>
                  <a:t>虛無假設：</a:t>
                </a:r>
                <a:r>
                  <a:rPr lang="zh-TW" altLang="en-US" dirty="0">
                    <a:latin typeface="微軟正黑體" panose="020B0604030504040204" pitchFamily="34" charset="-120"/>
                    <a:ea typeface="微軟正黑體" panose="020B0604030504040204" pitchFamily="34" charset="-120"/>
                  </a:rPr>
                  <a:t>一分鐘</a:t>
                </a:r>
                <a:r>
                  <a:rPr lang="en-US" altLang="zh-TW" dirty="0" err="1">
                    <a:latin typeface="微軟正黑體" panose="020B0604030504040204" pitchFamily="34" charset="-120"/>
                    <a:ea typeface="微軟正黑體" panose="020B0604030504040204" pitchFamily="34" charset="-120"/>
                  </a:rPr>
                  <a:t>agpar</a:t>
                </a:r>
                <a:r>
                  <a:rPr lang="en-US" altLang="zh-TW" dirty="0">
                    <a:latin typeface="微軟正黑體" panose="020B0604030504040204" pitchFamily="34" charset="-120"/>
                    <a:ea typeface="微軟正黑體" panose="020B0604030504040204" pitchFamily="34" charset="-120"/>
                  </a:rPr>
                  <a:t>=5</a:t>
                </a:r>
                <a:r>
                  <a:rPr lang="zh-TW" altLang="en-US" dirty="0">
                    <a:latin typeface="微軟正黑體" panose="020B0604030504040204" pitchFamily="34" charset="-120"/>
                    <a:ea typeface="微軟正黑體" panose="020B0604030504040204" pitchFamily="34" charset="-120"/>
                  </a:rPr>
                  <a:t>分鐘</a:t>
                </a:r>
                <a:r>
                  <a:rPr lang="en-US" altLang="zh-TW" dirty="0" err="1">
                    <a:latin typeface="微軟正黑體" panose="020B0604030504040204" pitchFamily="34" charset="-120"/>
                    <a:ea typeface="微軟正黑體" panose="020B0604030504040204" pitchFamily="34" charset="-120"/>
                  </a:rPr>
                  <a:t>agpar</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en-US" altLang="zh-TW" sz="2800" baseline="-25000" dirty="0">
                    <a:latin typeface="微軟正黑體" panose="020B0604030504040204" pitchFamily="34" charset="-120"/>
                    <a:ea typeface="微軟正黑體" panose="020B0604030504040204" pitchFamily="34" charset="-120"/>
                  </a:rPr>
                  <a:t>1 </a:t>
                </a:r>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r>
                      <a:rPr lang="en-US" altLang="zh-TW" b="0" i="0" smtClean="0">
                        <a:latin typeface="Cambria Math" panose="02040503050406030204" pitchFamily="18" charset="0"/>
                      </a:rPr>
                      <m:t> </m:t>
                    </m:r>
                    <m:sSub>
                      <m:sSubPr>
                        <m:ctrlPr>
                          <a:rPr lang="zh-TW" altLang="zh-TW" i="1">
                            <a:latin typeface="Cambria Math" panose="02040503050406030204" pitchFamily="18" charset="0"/>
                          </a:rPr>
                        </m:ctrlPr>
                      </m:sSubPr>
                      <m:e>
                        <m:r>
                          <a:rPr lang="en-US" altLang="zh-TW" i="1">
                            <a:latin typeface="Cambria Math" panose="02040503050406030204" pitchFamily="18" charset="0"/>
                          </a:rPr>
                          <m:t>𝜇</m:t>
                        </m:r>
                      </m:e>
                      <m:sub>
                        <m:r>
                          <a:rPr lang="en-US" altLang="zh-TW" i="1">
                            <a:latin typeface="Cambria Math" panose="02040503050406030204" pitchFamily="18" charset="0"/>
                          </a:rPr>
                          <m:t>5</m:t>
                        </m:r>
                      </m:sub>
                    </m:sSub>
                  </m:oMath>
                </a14:m>
                <a:r>
                  <a:rPr lang="zh-TW" altLang="en-US" dirty="0">
                    <a:latin typeface="微軟正黑體" panose="020B0604030504040204" pitchFamily="34" charset="-120"/>
                    <a:ea typeface="微軟正黑體" panose="020B0604030504040204" pitchFamily="34" charset="-120"/>
                  </a:rPr>
                  <a:t>    </a:t>
                </a:r>
                <a:r>
                  <a:rPr lang="en-US" altLang="zh-TW" dirty="0">
                    <a:latin typeface="微軟正黑體" panose="020B0604030504040204" pitchFamily="34" charset="-120"/>
                    <a:ea typeface="微軟正黑體" panose="020B0604030504040204" pitchFamily="34" charset="-120"/>
                  </a:rPr>
                  <a:t>or    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𝜇</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 − </m:t>
                    </m:r>
                    <m:sSub>
                      <m:sSubPr>
                        <m:ctrlPr>
                          <a:rPr lang="zh-TW" altLang="zh-TW" i="1">
                            <a:latin typeface="Cambria Math" panose="02040503050406030204" pitchFamily="18" charset="0"/>
                          </a:rPr>
                        </m:ctrlPr>
                      </m:sSubPr>
                      <m:e>
                        <m:r>
                          <a:rPr lang="en-US" altLang="zh-TW" i="1">
                            <a:latin typeface="Cambria Math" panose="02040503050406030204" pitchFamily="18" charset="0"/>
                          </a:rPr>
                          <m:t>𝜇</m:t>
                        </m:r>
                      </m:e>
                      <m:sub>
                        <m:r>
                          <a:rPr lang="en-US" altLang="zh-TW" i="1">
                            <a:latin typeface="Cambria Math" panose="02040503050406030204" pitchFamily="18" charset="0"/>
                          </a:rPr>
                          <m:t>5</m:t>
                        </m:r>
                      </m:sub>
                    </m:sSub>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a:rPr lang="en-US" altLang="zh-TW" i="1">
                            <a:latin typeface="Cambria Math" panose="02040503050406030204" pitchFamily="18" charset="0"/>
                          </a:rPr>
                          <m:t>𝜇</m:t>
                        </m:r>
                      </m:e>
                      <m:sub>
                        <m:r>
                          <a:rPr lang="en-US" altLang="zh-TW" i="1">
                            <a:latin typeface="Cambria Math" panose="02040503050406030204" pitchFamily="18" charset="0"/>
                          </a:rPr>
                          <m:t>𝑑𝑖𝑓𝑓</m:t>
                        </m:r>
                      </m:sub>
                    </m:sSub>
                    <m:r>
                      <a:rPr lang="en-US" altLang="zh-TW" i="1">
                        <a:latin typeface="Cambria Math" panose="02040503050406030204" pitchFamily="18" charset="0"/>
                      </a:rPr>
                      <m:t>=0</m:t>
                    </m:r>
                  </m:oMath>
                </a14:m>
                <a:endParaRPr lang="zh-TW" altLang="en-US"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err="1">
                    <a:latin typeface="微軟正黑體" panose="020B0604030504040204" pitchFamily="34" charset="-120"/>
                    <a:ea typeface="微軟正黑體" panose="020B0604030504040204" pitchFamily="34" charset="-120"/>
                  </a:rPr>
                  <a:t>X</a:t>
                </a:r>
                <a:r>
                  <a:rPr lang="en-US" altLang="zh-TW" baseline="-25000" dirty="0" err="1">
                    <a:latin typeface="微軟正黑體" panose="020B0604030504040204" pitchFamily="34" charset="-120"/>
                    <a:ea typeface="微軟正黑體" panose="020B0604030504040204" pitchFamily="34" charset="-120"/>
                  </a:rPr>
                  <a:t>d</a:t>
                </a:r>
                <a:r>
                  <a:rPr lang="zh-TW" altLang="zh-TW" dirty="0">
                    <a:latin typeface="微軟正黑體" panose="020B0604030504040204" pitchFamily="34" charset="-120"/>
                    <a:ea typeface="微軟正黑體" panose="020B0604030504040204" pitchFamily="34" charset="-120"/>
                  </a:rPr>
                  <a:t>是成對資料的差</a:t>
                </a:r>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sSub>
                      <m:sSubPr>
                        <m:ctrlPr>
                          <a:rPr lang="zh-TW" altLang="zh-TW" i="1">
                            <a:latin typeface="Cambria Math" panose="02040503050406030204" pitchFamily="18" charset="0"/>
                          </a:rPr>
                        </m:ctrlPr>
                      </m:sSubPr>
                      <m:e>
                        <m:acc>
                          <m:accPr>
                            <m:chr m:val="̅"/>
                            <m:ctrlPr>
                              <a:rPr lang="zh-TW" altLang="zh-TW" i="1">
                                <a:latin typeface="Cambria Math" panose="02040503050406030204" pitchFamily="18" charset="0"/>
                              </a:rPr>
                            </m:ctrlPr>
                          </m:accPr>
                          <m:e>
                            <m:r>
                              <a:rPr lang="zh-TW" altLang="zh-TW" i="1">
                                <a:latin typeface="Cambria Math" panose="02040503050406030204" pitchFamily="18" charset="0"/>
                              </a:rPr>
                              <m:t>Ｘ</m:t>
                            </m:r>
                          </m:e>
                        </m:acc>
                      </m:e>
                      <m:sub>
                        <m:r>
                          <m:rPr>
                            <m:sty m:val="p"/>
                          </m:rPr>
                          <a:rPr lang="en-US" altLang="zh-TW">
                            <a:latin typeface="Cambria Math" panose="02040503050406030204" pitchFamily="18" charset="0"/>
                          </a:rPr>
                          <m:t>d</m:t>
                        </m:r>
                      </m:sub>
                    </m:sSub>
                    <m:r>
                      <a:rPr lang="zh-TW" altLang="zh-TW">
                        <a:latin typeface="Cambria Math" panose="02040503050406030204" pitchFamily="18" charset="0"/>
                      </a:rPr>
                      <m:t>和</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rPr>
                          <m:t>s</m:t>
                        </m:r>
                      </m:e>
                      <m:sub>
                        <m:r>
                          <a:rPr lang="en-US" altLang="zh-TW" i="1">
                            <a:latin typeface="Cambria Math" panose="02040503050406030204" pitchFamily="18" charset="0"/>
                          </a:rPr>
                          <m:t>𝑑</m:t>
                        </m:r>
                      </m:sub>
                    </m:sSub>
                  </m:oMath>
                </a14:m>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為其樣本平均數及標準差</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其餘討論同上</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pPr marL="109728" indent="0">
                  <a:buNone/>
                </a:pPr>
                <a:endParaRPr lang="zh-TW" altLang="en-US"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783432" y="1882016"/>
                <a:ext cx="8229600" cy="4678143"/>
              </a:xfrm>
              <a:blipFill>
                <a:blip r:embed="rId2"/>
                <a:stretch>
                  <a:fillRect l="-815" t="-1695"/>
                </a:stretch>
              </a:blipFill>
            </p:spPr>
            <p:txBody>
              <a:bodyPr/>
              <a:lstStyle/>
              <a:p>
                <a:r>
                  <a:rPr lang="zh-TW" altLang="en-US">
                    <a:noFill/>
                  </a:rPr>
                  <a:t> </a:t>
                </a:r>
              </a:p>
            </p:txBody>
          </p:sp>
        </mc:Fallback>
      </mc:AlternateContent>
      <p:sp>
        <p:nvSpPr>
          <p:cNvPr id="6" name="投影片編號版面配置區 5"/>
          <p:cNvSpPr>
            <a:spLocks noGrp="1"/>
          </p:cNvSpPr>
          <p:nvPr>
            <p:ph type="sldNum" sz="quarter" idx="12"/>
          </p:nvPr>
        </p:nvSpPr>
        <p:spPr/>
        <p:txBody>
          <a:bodyPr/>
          <a:lstStyle/>
          <a:p>
            <a:pPr>
              <a:defRPr/>
            </a:pPr>
            <a:r>
              <a:rPr lang="en-US" altLang="zh-TW" dirty="0"/>
              <a:t>9</a:t>
            </a:r>
          </a:p>
        </p:txBody>
      </p:sp>
      <mc:AlternateContent xmlns:mc="http://schemas.openxmlformats.org/markup-compatibility/2006" xmlns:a14="http://schemas.microsoft.com/office/drawing/2010/main">
        <mc:Choice Requires="a14">
          <p:sp>
            <p:nvSpPr>
              <p:cNvPr id="5" name="矩形 4"/>
              <p:cNvSpPr/>
              <p:nvPr/>
            </p:nvSpPr>
            <p:spPr>
              <a:xfrm>
                <a:off x="3103265" y="4581128"/>
                <a:ext cx="3406510" cy="10579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zh-TW" altLang="en-US" sz="2800">
                          <a:latin typeface="Cambria Math" panose="02040503050406030204" pitchFamily="18" charset="0"/>
                        </a:rPr>
                        <m:t>t</m:t>
                      </m:r>
                      <m:r>
                        <a:rPr lang="zh-TW" altLang="en-US" sz="2800" i="0">
                          <a:latin typeface="Cambria Math" panose="02040503050406030204" pitchFamily="18" charset="0"/>
                        </a:rPr>
                        <m:t>=</m:t>
                      </m:r>
                      <m:f>
                        <m:fPr>
                          <m:ctrlPr>
                            <a:rPr lang="zh-TW" altLang="en-US" sz="2800" i="1">
                              <a:latin typeface="Cambria Math" panose="02040503050406030204" pitchFamily="18" charset="0"/>
                            </a:rPr>
                          </m:ctrlPr>
                        </m:fPr>
                        <m:num>
                          <m:sSub>
                            <m:sSubPr>
                              <m:ctrlPr>
                                <a:rPr lang="zh-TW" altLang="en-US" sz="2800" i="1">
                                  <a:latin typeface="Cambria Math" panose="02040503050406030204" pitchFamily="18" charset="0"/>
                                </a:rPr>
                              </m:ctrlPr>
                            </m:sSubPr>
                            <m:e>
                              <m:acc>
                                <m:accPr>
                                  <m:chr m:val="̅"/>
                                  <m:ctrlPr>
                                    <a:rPr lang="zh-TW" altLang="en-US" sz="2800" i="1">
                                      <a:latin typeface="Cambria Math" panose="02040503050406030204" pitchFamily="18" charset="0"/>
                                    </a:rPr>
                                  </m:ctrlPr>
                                </m:accPr>
                                <m:e>
                                  <m:r>
                                    <a:rPr lang="zh-TW" altLang="en-US" sz="2800" i="0">
                                      <a:latin typeface="Cambria Math" panose="02040503050406030204" pitchFamily="18" charset="0"/>
                                    </a:rPr>
                                    <m:t>Ｘ</m:t>
                                  </m:r>
                                </m:e>
                              </m:acc>
                            </m:e>
                            <m:sub>
                              <m:r>
                                <m:rPr>
                                  <m:sty m:val="p"/>
                                </m:rPr>
                                <a:rPr lang="zh-TW" altLang="en-US" sz="2800" i="0">
                                  <a:latin typeface="Cambria Math" panose="02040503050406030204" pitchFamily="18" charset="0"/>
                                </a:rPr>
                                <m:t>d</m:t>
                              </m:r>
                            </m:sub>
                          </m:sSub>
                          <m:r>
                            <a:rPr lang="zh-TW" altLang="en-US" sz="2800" i="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𝜇</m:t>
                              </m:r>
                            </m:e>
                            <m:sub>
                              <m:r>
                                <a:rPr lang="zh-TW" altLang="en-US" sz="2800" i="1">
                                  <a:latin typeface="Cambria Math" panose="02040503050406030204" pitchFamily="18" charset="0"/>
                                </a:rPr>
                                <m:t>𝑑</m:t>
                              </m:r>
                            </m:sub>
                          </m:sSub>
                        </m:num>
                        <m:den>
                          <m:f>
                            <m:fPr>
                              <m:type m:val="lin"/>
                              <m:ctrlPr>
                                <a:rPr lang="zh-TW" altLang="en-US" sz="2800" i="1">
                                  <a:latin typeface="Cambria Math" panose="02040503050406030204" pitchFamily="18" charset="0"/>
                                </a:rPr>
                              </m:ctrlPr>
                            </m:fPr>
                            <m:num>
                              <m:sSub>
                                <m:sSubPr>
                                  <m:ctrlPr>
                                    <a:rPr lang="zh-TW" altLang="en-US" sz="2800" i="1">
                                      <a:latin typeface="Cambria Math" panose="02040503050406030204" pitchFamily="18" charset="0"/>
                                    </a:rPr>
                                  </m:ctrlPr>
                                </m:sSubPr>
                                <m:e>
                                  <m:r>
                                    <m:rPr>
                                      <m:sty m:val="p"/>
                                    </m:rPr>
                                    <a:rPr lang="zh-TW" altLang="en-US" sz="2800" i="0">
                                      <a:latin typeface="Cambria Math" panose="02040503050406030204" pitchFamily="18" charset="0"/>
                                    </a:rPr>
                                    <m:t>s</m:t>
                                  </m:r>
                                </m:e>
                                <m:sub>
                                  <m:r>
                                    <a:rPr lang="zh-TW" altLang="en-US" sz="2800" i="1">
                                      <a:latin typeface="Cambria Math" panose="02040503050406030204" pitchFamily="18" charset="0"/>
                                    </a:rPr>
                                    <m:t>𝑑</m:t>
                                  </m:r>
                                </m:sub>
                              </m:sSub>
                            </m:num>
                            <m:den>
                              <m:rad>
                                <m:radPr>
                                  <m:degHide m:val="on"/>
                                  <m:ctrlPr>
                                    <a:rPr lang="zh-TW" altLang="en-US" sz="2800" i="1">
                                      <a:latin typeface="Cambria Math" panose="02040503050406030204" pitchFamily="18" charset="0"/>
                                    </a:rPr>
                                  </m:ctrlPr>
                                </m:radPr>
                                <m:deg/>
                                <m:e>
                                  <m:r>
                                    <a:rPr lang="zh-TW" altLang="en-US" sz="2800" i="1">
                                      <a:latin typeface="Cambria Math" panose="02040503050406030204" pitchFamily="18" charset="0"/>
                                    </a:rPr>
                                    <m:t>𝑛</m:t>
                                  </m:r>
                                </m:e>
                              </m:rad>
                            </m:den>
                          </m:f>
                        </m:den>
                      </m:f>
                      <m:r>
                        <a:rPr lang="zh-TW" altLang="en-US" sz="2800" i="0">
                          <a:latin typeface="Cambria Math" panose="02040503050406030204" pitchFamily="18" charset="0"/>
                        </a:rPr>
                        <m:t>~</m:t>
                      </m:r>
                      <m:sSub>
                        <m:sSubPr>
                          <m:ctrlPr>
                            <a:rPr lang="zh-TW" altLang="en-US" sz="2800" i="1">
                              <a:latin typeface="Cambria Math" panose="02040503050406030204" pitchFamily="18" charset="0"/>
                            </a:rPr>
                          </m:ctrlPr>
                        </m:sSubPr>
                        <m:e>
                          <m:r>
                            <a:rPr lang="zh-TW" altLang="en-US" sz="2800" i="1">
                              <a:latin typeface="Cambria Math" panose="02040503050406030204" pitchFamily="18" charset="0"/>
                            </a:rPr>
                            <m:t>𝑡</m:t>
                          </m:r>
                        </m:e>
                        <m:sub>
                          <m:d>
                            <m:dPr>
                              <m:ctrlPr>
                                <a:rPr lang="zh-TW" altLang="en-US" sz="2800" i="1">
                                  <a:latin typeface="Cambria Math" panose="02040503050406030204" pitchFamily="18" charset="0"/>
                                </a:rPr>
                              </m:ctrlPr>
                            </m:dPr>
                            <m:e>
                              <m:r>
                                <a:rPr lang="zh-TW" altLang="en-US" sz="2800" i="1">
                                  <a:latin typeface="Cambria Math" panose="02040503050406030204" pitchFamily="18" charset="0"/>
                                </a:rPr>
                                <m:t>𝑛</m:t>
                              </m:r>
                              <m:r>
                                <a:rPr lang="zh-TW" altLang="en-US" sz="2800" i="0">
                                  <a:latin typeface="Cambria Math" panose="02040503050406030204" pitchFamily="18" charset="0"/>
                                </a:rPr>
                                <m:t>−1</m:t>
                              </m:r>
                            </m:e>
                          </m:d>
                        </m:sub>
                      </m:sSub>
                    </m:oMath>
                  </m:oMathPara>
                </a14:m>
                <a:endParaRPr lang="zh-TW" altLang="en-US" sz="2800" dirty="0"/>
              </a:p>
            </p:txBody>
          </p:sp>
        </mc:Choice>
        <mc:Fallback xmlns="">
          <p:sp>
            <p:nvSpPr>
              <p:cNvPr id="5" name="矩形 4"/>
              <p:cNvSpPr>
                <a:spLocks noRot="1" noChangeAspect="1" noMove="1" noResize="1" noEditPoints="1" noAdjustHandles="1" noChangeArrowheads="1" noChangeShapeType="1" noTextEdit="1"/>
              </p:cNvSpPr>
              <p:nvPr/>
            </p:nvSpPr>
            <p:spPr>
              <a:xfrm>
                <a:off x="3103265" y="4581128"/>
                <a:ext cx="3406510" cy="1057982"/>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612063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p:txBody>
              <a:bodyPr>
                <a:normAutofit/>
              </a:bodyPr>
              <a:lstStyle/>
              <a:p>
                <a:r>
                  <a:rPr lang="en-US" altLang="zh-TW" b="1" dirty="0">
                    <a:solidFill>
                      <a:schemeClr val="tx1"/>
                    </a:solidFill>
                    <a:latin typeface="微軟正黑體" panose="020B0604030504040204" pitchFamily="34" charset="-120"/>
                    <a:ea typeface="微軟正黑體" panose="020B0604030504040204" pitchFamily="34" charset="-120"/>
                  </a:rPr>
                  <a:t>SPSS</a:t>
                </a:r>
                <a:r>
                  <a:rPr lang="zh-TW" altLang="en-US" b="1" dirty="0">
                    <a:solidFill>
                      <a:schemeClr val="tx1"/>
                    </a:solidFill>
                    <a:latin typeface="微軟正黑體" panose="020B0604030504040204" pitchFamily="34" charset="-120"/>
                    <a:ea typeface="微軟正黑體" panose="020B0604030504040204" pitchFamily="34" charset="-120"/>
                  </a:rPr>
                  <a:t>操作</a:t>
                </a:r>
                <a:endParaRPr lang="en-US" altLang="zh-TW" b="1" dirty="0">
                  <a:solidFill>
                    <a:schemeClr val="tx1"/>
                  </a:solidFill>
                  <a:latin typeface="微軟正黑體" panose="020B0604030504040204" pitchFamily="34" charset="-120"/>
                  <a:ea typeface="微軟正黑體" panose="020B0604030504040204" pitchFamily="34" charset="-120"/>
                </a:endParaRPr>
              </a:p>
              <a:p>
                <a:pPr marL="109728" indent="0">
                  <a:buNone/>
                </a:pPr>
                <a:r>
                  <a:rPr lang="zh-TW" altLang="en-US" sz="2800" dirty="0">
                    <a:solidFill>
                      <a:schemeClr val="tx1"/>
                    </a:solidFill>
                    <a:latin typeface="微軟正黑體" panose="020B0604030504040204" pitchFamily="34" charset="-120"/>
                    <a:ea typeface="微軟正黑體" panose="020B0604030504040204" pitchFamily="34" charset="-120"/>
                  </a:rPr>
                  <a:t>  </a:t>
                </a:r>
                <a:r>
                  <a:rPr lang="en-US" altLang="zh-TW" sz="2800" dirty="0">
                    <a:solidFill>
                      <a:schemeClr val="tx1"/>
                    </a:solidFill>
                    <a:latin typeface="微軟正黑體" panose="020B0604030504040204" pitchFamily="34" charset="-120"/>
                    <a:ea typeface="微軟正黑體" panose="020B0604030504040204" pitchFamily="34" charset="-120"/>
                  </a:rPr>
                  <a:t>1. </a:t>
                </a:r>
                <a:r>
                  <a:rPr lang="zh-TW" altLang="en-US" sz="2600" b="1" dirty="0">
                    <a:solidFill>
                      <a:schemeClr val="tx1"/>
                    </a:solidFill>
                    <a:latin typeface="微軟正黑體" panose="020B0604030504040204" pitchFamily="34" charset="-120"/>
                    <a:ea typeface="微軟正黑體" panose="020B0604030504040204" pitchFamily="34" charset="-120"/>
                  </a:rPr>
                  <a:t>檢定</a:t>
                </a:r>
                <a:r>
                  <a:rPr lang="en-US" altLang="zh-TW" sz="2600" b="1" dirty="0">
                    <a:solidFill>
                      <a:schemeClr val="tx1"/>
                    </a:solidFill>
                    <a:latin typeface="微軟正黑體" panose="020B0604030504040204" pitchFamily="34" charset="-120"/>
                    <a:ea typeface="微軟正黑體" panose="020B0604030504040204" pitchFamily="34" charset="-120"/>
                  </a:rPr>
                  <a:t>:  H</a:t>
                </a:r>
                <a:r>
                  <a:rPr lang="en-US" altLang="zh-TW" sz="2600" b="1" baseline="-25000" dirty="0">
                    <a:solidFill>
                      <a:schemeClr val="tx1"/>
                    </a:solidFill>
                    <a:latin typeface="微軟正黑體" panose="020B0604030504040204" pitchFamily="34" charset="-120"/>
                    <a:ea typeface="微軟正黑體" panose="020B0604030504040204" pitchFamily="34" charset="-120"/>
                  </a:rPr>
                  <a:t>0</a:t>
                </a:r>
                <a:r>
                  <a:rPr lang="zh-TW" altLang="zh-TW" sz="2600" b="1" dirty="0">
                    <a:solidFill>
                      <a:schemeClr val="tx1"/>
                    </a:solidFill>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2600" b="1" i="1" smtClean="0">
                            <a:solidFill>
                              <a:schemeClr val="tx1"/>
                            </a:solidFill>
                            <a:latin typeface="Cambria Math" panose="02040503050406030204" pitchFamily="18" charset="0"/>
                          </a:rPr>
                        </m:ctrlPr>
                      </m:sSubPr>
                      <m:e>
                        <m:r>
                          <a:rPr lang="en-US" altLang="zh-TW" sz="2600" b="1" i="1" smtClean="0">
                            <a:solidFill>
                              <a:schemeClr val="tx1"/>
                            </a:solidFill>
                            <a:latin typeface="Cambria Math" panose="02040503050406030204" pitchFamily="18" charset="0"/>
                          </a:rPr>
                          <m:t>𝝁</m:t>
                        </m:r>
                      </m:e>
                      <m:sub>
                        <m:r>
                          <a:rPr lang="en-US" altLang="zh-TW" sz="2600" b="1" i="1" smtClean="0">
                            <a:solidFill>
                              <a:schemeClr val="tx1"/>
                            </a:solidFill>
                            <a:latin typeface="Cambria Math" panose="02040503050406030204" pitchFamily="18" charset="0"/>
                          </a:rPr>
                          <m:t>𝟏</m:t>
                        </m:r>
                      </m:sub>
                    </m:sSub>
                    <m:r>
                      <a:rPr lang="en-US" altLang="zh-TW" sz="2600" b="1" i="1" smtClean="0">
                        <a:solidFill>
                          <a:schemeClr val="tx1"/>
                        </a:solidFill>
                        <a:latin typeface="Cambria Math" panose="02040503050406030204" pitchFamily="18" charset="0"/>
                      </a:rPr>
                      <m:t>=</m:t>
                    </m:r>
                    <m:sSub>
                      <m:sSubPr>
                        <m:ctrlPr>
                          <a:rPr lang="zh-TW" altLang="zh-TW" sz="2600" b="1" i="1">
                            <a:solidFill>
                              <a:schemeClr val="tx1"/>
                            </a:solidFill>
                            <a:latin typeface="Cambria Math" panose="02040503050406030204" pitchFamily="18" charset="0"/>
                          </a:rPr>
                        </m:ctrlPr>
                      </m:sSubPr>
                      <m:e>
                        <m:r>
                          <a:rPr lang="en-US" altLang="zh-TW" sz="2600" b="1" i="1">
                            <a:solidFill>
                              <a:schemeClr val="tx1"/>
                            </a:solidFill>
                            <a:latin typeface="Cambria Math" panose="02040503050406030204" pitchFamily="18" charset="0"/>
                          </a:rPr>
                          <m:t>𝝁</m:t>
                        </m:r>
                      </m:e>
                      <m:sub>
                        <m:r>
                          <a:rPr lang="en-US" altLang="zh-TW" sz="2600" b="1" i="1">
                            <a:solidFill>
                              <a:schemeClr val="tx1"/>
                            </a:solidFill>
                            <a:latin typeface="Cambria Math" panose="02040503050406030204" pitchFamily="18" charset="0"/>
                          </a:rPr>
                          <m:t>𝟓</m:t>
                        </m:r>
                      </m:sub>
                    </m:sSub>
                  </m:oMath>
                </a14:m>
                <a:endParaRPr lang="en-US" altLang="zh-TW" sz="2600" b="1" dirty="0">
                  <a:solidFill>
                    <a:schemeClr val="tx1"/>
                  </a:solidFill>
                  <a:latin typeface="微軟正黑體" panose="020B0604030504040204" pitchFamily="34" charset="-120"/>
                  <a:ea typeface="微軟正黑體" panose="020B0604030504040204" pitchFamily="34" charset="-120"/>
                </a:endParaRPr>
              </a:p>
              <a:p>
                <a:pPr marL="109728" indent="0">
                  <a:buNone/>
                </a:pPr>
                <a:r>
                  <a:rPr lang="zh-TW" altLang="en-US" sz="1800" dirty="0">
                    <a:solidFill>
                      <a:schemeClr val="tx1"/>
                    </a:solidFill>
                    <a:latin typeface="微軟正黑體" panose="020B0604030504040204" pitchFamily="34" charset="-120"/>
                    <a:ea typeface="微軟正黑體" panose="020B0604030504040204" pitchFamily="34" charset="-120"/>
                  </a:rPr>
                  <a:t>步驟</a:t>
                </a:r>
                <a:r>
                  <a:rPr lang="en-US" altLang="zh-TW" sz="1800" dirty="0">
                    <a:solidFill>
                      <a:schemeClr val="tx1"/>
                    </a:solidFill>
                    <a:latin typeface="微軟正黑體" panose="020B0604030504040204" pitchFamily="34" charset="-120"/>
                    <a:ea typeface="微軟正黑體" panose="020B0604030504040204" pitchFamily="34" charset="-120"/>
                  </a:rPr>
                  <a:t>1:</a:t>
                </a:r>
                <a:r>
                  <a:rPr lang="zh-TW" altLang="en-US" sz="1800" dirty="0">
                    <a:solidFill>
                      <a:schemeClr val="tx1"/>
                    </a:solidFill>
                    <a:latin typeface="微軟正黑體" panose="020B0604030504040204" pitchFamily="34" charset="-120"/>
                    <a:ea typeface="微軟正黑體" panose="020B0604030504040204" pitchFamily="34" charset="-120"/>
                  </a:rPr>
                  <a:t> </a:t>
                </a:r>
                <a:r>
                  <a:rPr lang="zh-TW" altLang="zh-TW" sz="1800" dirty="0">
                    <a:solidFill>
                      <a:schemeClr val="tx1"/>
                    </a:solidFill>
                    <a:latin typeface="微軟正黑體" panose="020B0604030504040204" pitchFamily="34" charset="-120"/>
                    <a:ea typeface="微軟正黑體" panose="020B0604030504040204" pitchFamily="34" charset="-120"/>
                  </a:rPr>
                  <a:t>（成對）</a:t>
                </a:r>
                <a:r>
                  <a:rPr lang="zh-TW" altLang="zh-TW" sz="1800" dirty="0">
                    <a:latin typeface="微軟正黑體" panose="020B0604030504040204" pitchFamily="34" charset="-120"/>
                    <a:ea typeface="微軟正黑體" panose="020B0604030504040204" pitchFamily="34" charset="-120"/>
                  </a:rPr>
                  <a:t>分析方法</a:t>
                </a:r>
                <a:r>
                  <a:rPr lang="en-US" altLang="zh-TW" sz="18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800" dirty="0">
                    <a:latin typeface="微軟正黑體" panose="020B0604030504040204" pitchFamily="34" charset="-120"/>
                    <a:ea typeface="微軟正黑體" panose="020B0604030504040204" pitchFamily="34" charset="-120"/>
                    <a:sym typeface="Wingdings" panose="05000000000000000000" pitchFamily="2" charset="2"/>
                  </a:rPr>
                  <a:t>比較</a:t>
                </a:r>
                <a:r>
                  <a:rPr lang="zh-TW" altLang="zh-TW" sz="1800" dirty="0">
                    <a:latin typeface="微軟正黑體" panose="020B0604030504040204" pitchFamily="34" charset="-120"/>
                    <a:ea typeface="微軟正黑體" panose="020B0604030504040204" pitchFamily="34" charset="-120"/>
                  </a:rPr>
                  <a:t>平均數</a:t>
                </a:r>
                <a:r>
                  <a:rPr lang="en-US" altLang="zh-TW" sz="18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1800" dirty="0">
                    <a:latin typeface="微軟正黑體" panose="020B0604030504040204" pitchFamily="34" charset="-120"/>
                    <a:ea typeface="微軟正黑體" panose="020B0604030504040204" pitchFamily="34" charset="-120"/>
                    <a:sym typeface="Wingdings" panose="05000000000000000000" pitchFamily="2" charset="2"/>
                  </a:rPr>
                  <a:t>成對樣本</a:t>
                </a:r>
                <a:r>
                  <a:rPr lang="en-US" altLang="zh-TW" sz="1800" dirty="0">
                    <a:latin typeface="微軟正黑體" panose="020B0604030504040204" pitchFamily="34" charset="-120"/>
                    <a:ea typeface="微軟正黑體" panose="020B0604030504040204" pitchFamily="34" charset="-120"/>
                    <a:sym typeface="Wingdings" panose="05000000000000000000" pitchFamily="2" charset="2"/>
                  </a:rPr>
                  <a:t>T</a:t>
                </a:r>
                <a:r>
                  <a:rPr lang="zh-TW" altLang="en-US" sz="1800" dirty="0">
                    <a:latin typeface="微軟正黑體" panose="020B0604030504040204" pitchFamily="34" charset="-120"/>
                    <a:ea typeface="微軟正黑體" panose="020B0604030504040204" pitchFamily="34" charset="-120"/>
                    <a:sym typeface="Wingdings" panose="05000000000000000000" pitchFamily="2" charset="2"/>
                  </a:rPr>
                  <a:t>檢定</a:t>
                </a:r>
                <a:endParaRPr lang="en-US" altLang="zh-TW" sz="1800" dirty="0">
                  <a:latin typeface="微軟正黑體" panose="020B0604030504040204" pitchFamily="34" charset="-120"/>
                  <a:ea typeface="微軟正黑體" panose="020B0604030504040204" pitchFamily="34" charset="-120"/>
                  <a:sym typeface="Wingdings" panose="05000000000000000000" pitchFamily="2" charset="2"/>
                </a:endParaRPr>
              </a:p>
              <a:p>
                <a:pPr marL="365760" lvl="1" indent="0">
                  <a:buNone/>
                </a:pPr>
                <a:r>
                  <a:rPr lang="en-US" altLang="zh-TW" sz="2000" kern="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P</a:t>
                </a:r>
                <a:r>
                  <a:rPr lang="zh-TW" altLang="zh-TW" sz="2000" kern="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值＝</a:t>
                </a:r>
                <a14:m>
                  <m:oMath xmlns:m="http://schemas.openxmlformats.org/officeDocument/2006/math">
                    <m:r>
                      <a:rPr lang="en-US" altLang="zh-TW" sz="2400" b="1"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𝟐</m:t>
                    </m:r>
                    <m:r>
                      <a:rPr lang="en-US" altLang="zh-TW" sz="2400" b="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2400" b="1"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𝐏</m:t>
                    </m:r>
                    <m:d>
                      <m:dPr>
                        <m:ctrlPr>
                          <a:rPr lang="zh-TW" altLang="zh-TW" sz="2400" b="1" i="1" ker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2400" b="1" i="1" ker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b="1"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𝐭</m:t>
                            </m:r>
                          </m:e>
                          <m:sub>
                            <m:r>
                              <a:rPr lang="en-US" altLang="zh-TW" sz="2400" b="1"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𝒅𝒇</m:t>
                            </m:r>
                          </m:sub>
                        </m:sSub>
                        <m:r>
                          <a:rPr lang="en-US" altLang="zh-TW" sz="2400" b="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2400" b="1" i="1"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2400" b="1"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𝐭</m:t>
                        </m:r>
                        <m:r>
                          <a:rPr lang="en-US" altLang="zh-TW" sz="2400" b="1" i="1"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e>
                    </m:d>
                    <m:r>
                      <a:rPr lang="en-US" altLang="zh-TW" sz="2400"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m:t>
                    </m:r>
                    <m:r>
                      <a:rPr lang="en-US" altLang="zh-TW" sz="2400" b="0" i="1"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 &lt;0.001</m:t>
                    </m:r>
                    <m:r>
                      <a:rPr lang="en-US" altLang="zh-TW" sz="2400" i="1"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 </m:t>
                    </m:r>
                  </m:oMath>
                </a14:m>
                <a:r>
                  <a:rPr lang="zh-TW" altLang="zh-TW" sz="20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0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t=7.52</a:t>
                </a:r>
                <a:r>
                  <a:rPr lang="zh-TW" altLang="en-US" sz="20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000" i="1" kern="100" dirty="0" err="1">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df</a:t>
                </a:r>
                <a:r>
                  <a:rPr lang="en-US" altLang="zh-TW" sz="20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=130</a:t>
                </a:r>
              </a:p>
              <a:p>
                <a:pPr marL="365760" lvl="1" indent="0">
                  <a:buNone/>
                </a:pPr>
                <a:endParaRPr lang="en-US" altLang="zh-TW" sz="2400" dirty="0">
                  <a:solidFill>
                    <a:schemeClr val="tx1"/>
                  </a:solidFill>
                  <a:latin typeface="微軟正黑體" panose="020B0604030504040204" pitchFamily="34" charset="-120"/>
                  <a:ea typeface="微軟正黑體" panose="020B0604030504040204" pitchFamily="34" charset="-120"/>
                </a:endParaRPr>
              </a:p>
              <a:p>
                <a:pPr marL="365760" lvl="1" indent="0">
                  <a:buNone/>
                </a:pPr>
                <a:endParaRPr lang="en-US" altLang="zh-TW" sz="2400" dirty="0">
                  <a:solidFill>
                    <a:schemeClr val="tx1"/>
                  </a:solidFill>
                  <a:latin typeface="微軟正黑體" panose="020B0604030504040204" pitchFamily="34" charset="-120"/>
                  <a:ea typeface="微軟正黑體" panose="020B0604030504040204" pitchFamily="34" charset="-120"/>
                </a:endParaRPr>
              </a:p>
              <a:p>
                <a:pPr marL="109728" indent="0">
                  <a:buNone/>
                </a:pPr>
                <a:r>
                  <a:rPr lang="zh-TW" altLang="en-US" sz="2600" b="1" dirty="0">
                    <a:solidFill>
                      <a:schemeClr val="tx1"/>
                    </a:solidFill>
                    <a:latin typeface="微軟正黑體" panose="020B0604030504040204" pitchFamily="34" charset="-120"/>
                    <a:ea typeface="微軟正黑體" panose="020B0604030504040204" pitchFamily="34" charset="-120"/>
                  </a:rPr>
                  <a:t>  </a:t>
                </a:r>
                <a:r>
                  <a:rPr lang="en-US" altLang="zh-TW" sz="2600" b="1" dirty="0">
                    <a:solidFill>
                      <a:schemeClr val="tx1"/>
                    </a:solidFill>
                    <a:latin typeface="微軟正黑體" panose="020B0604030504040204" pitchFamily="34" charset="-120"/>
                    <a:ea typeface="微軟正黑體" panose="020B0604030504040204" pitchFamily="34" charset="-120"/>
                  </a:rPr>
                  <a:t>2. </a:t>
                </a:r>
                <a:r>
                  <a:rPr lang="zh-TW" altLang="en-US" sz="2600" b="1" dirty="0">
                    <a:solidFill>
                      <a:schemeClr val="tx1"/>
                    </a:solidFill>
                    <a:latin typeface="微軟正黑體" panose="020B0604030504040204" pitchFamily="34" charset="-120"/>
                    <a:ea typeface="微軟正黑體" panose="020B0604030504040204" pitchFamily="34" charset="-120"/>
                  </a:rPr>
                  <a:t>檢定</a:t>
                </a:r>
                <a:r>
                  <a:rPr lang="en-US" altLang="zh-TW" sz="2600" b="1" dirty="0">
                    <a:solidFill>
                      <a:schemeClr val="tx1"/>
                    </a:solidFill>
                    <a:latin typeface="微軟正黑體" panose="020B0604030504040204" pitchFamily="34" charset="-120"/>
                    <a:ea typeface="微軟正黑體" panose="020B0604030504040204" pitchFamily="34" charset="-120"/>
                  </a:rPr>
                  <a:t>:  H</a:t>
                </a:r>
                <a:r>
                  <a:rPr lang="en-US" altLang="zh-TW" sz="2600" b="1" baseline="-25000" dirty="0">
                    <a:solidFill>
                      <a:schemeClr val="tx1"/>
                    </a:solidFill>
                    <a:latin typeface="微軟正黑體" panose="020B0604030504040204" pitchFamily="34" charset="-120"/>
                    <a:ea typeface="微軟正黑體" panose="020B0604030504040204" pitchFamily="34" charset="-120"/>
                  </a:rPr>
                  <a:t>0</a:t>
                </a:r>
                <a:r>
                  <a:rPr lang="zh-TW" altLang="zh-TW" sz="2600" b="1" dirty="0">
                    <a:solidFill>
                      <a:schemeClr val="tx1"/>
                    </a:solidFill>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sz="2600" b="1" i="1" smtClean="0">
                            <a:solidFill>
                              <a:schemeClr val="tx1"/>
                            </a:solidFill>
                            <a:latin typeface="Cambria Math" panose="02040503050406030204" pitchFamily="18" charset="0"/>
                          </a:rPr>
                        </m:ctrlPr>
                      </m:sSubPr>
                      <m:e>
                        <m:r>
                          <a:rPr lang="en-US" altLang="zh-TW" sz="2600" b="1" i="1" smtClean="0">
                            <a:solidFill>
                              <a:schemeClr val="tx1"/>
                            </a:solidFill>
                            <a:latin typeface="Cambria Math" panose="02040503050406030204" pitchFamily="18" charset="0"/>
                          </a:rPr>
                          <m:t>𝝁</m:t>
                        </m:r>
                      </m:e>
                      <m:sub>
                        <m:r>
                          <a:rPr lang="en-US" altLang="zh-TW" sz="2600" b="1" i="1" smtClean="0">
                            <a:solidFill>
                              <a:schemeClr val="tx1"/>
                            </a:solidFill>
                            <a:latin typeface="Cambria Math" panose="02040503050406030204" pitchFamily="18" charset="0"/>
                          </a:rPr>
                          <m:t>𝟏</m:t>
                        </m:r>
                      </m:sub>
                    </m:sSub>
                    <m:r>
                      <a:rPr lang="en-US" altLang="zh-TW" sz="2600" b="1" i="1" smtClean="0">
                        <a:solidFill>
                          <a:schemeClr val="tx1"/>
                        </a:solidFill>
                        <a:latin typeface="Cambria Math" panose="02040503050406030204" pitchFamily="18" charset="0"/>
                      </a:rPr>
                      <m:t> − </m:t>
                    </m:r>
                    <m:sSub>
                      <m:sSubPr>
                        <m:ctrlPr>
                          <a:rPr lang="zh-TW" altLang="zh-TW" sz="2600" b="1" i="1">
                            <a:solidFill>
                              <a:schemeClr val="tx1"/>
                            </a:solidFill>
                            <a:latin typeface="Cambria Math" panose="02040503050406030204" pitchFamily="18" charset="0"/>
                          </a:rPr>
                        </m:ctrlPr>
                      </m:sSubPr>
                      <m:e>
                        <m:r>
                          <a:rPr lang="en-US" altLang="zh-TW" sz="2600" b="1" i="1">
                            <a:solidFill>
                              <a:schemeClr val="tx1"/>
                            </a:solidFill>
                            <a:latin typeface="Cambria Math" panose="02040503050406030204" pitchFamily="18" charset="0"/>
                          </a:rPr>
                          <m:t>𝝁</m:t>
                        </m:r>
                      </m:e>
                      <m:sub>
                        <m:r>
                          <a:rPr lang="en-US" altLang="zh-TW" sz="2600" b="1" i="1">
                            <a:solidFill>
                              <a:schemeClr val="tx1"/>
                            </a:solidFill>
                            <a:latin typeface="Cambria Math" panose="02040503050406030204" pitchFamily="18" charset="0"/>
                          </a:rPr>
                          <m:t>𝟓</m:t>
                        </m:r>
                      </m:sub>
                    </m:sSub>
                    <m:r>
                      <a:rPr lang="en-US" altLang="zh-TW" sz="2600" b="1" i="1">
                        <a:solidFill>
                          <a:schemeClr val="tx1"/>
                        </a:solidFill>
                        <a:latin typeface="Cambria Math" panose="02040503050406030204" pitchFamily="18" charset="0"/>
                      </a:rPr>
                      <m:t>=</m:t>
                    </m:r>
                    <m:sSub>
                      <m:sSubPr>
                        <m:ctrlPr>
                          <a:rPr lang="zh-TW" altLang="zh-TW" sz="2600" b="1" i="1">
                            <a:solidFill>
                              <a:schemeClr val="tx1"/>
                            </a:solidFill>
                            <a:latin typeface="Cambria Math" panose="02040503050406030204" pitchFamily="18" charset="0"/>
                          </a:rPr>
                        </m:ctrlPr>
                      </m:sSubPr>
                      <m:e>
                        <m:r>
                          <a:rPr lang="en-US" altLang="zh-TW" sz="2600" b="1" i="1">
                            <a:solidFill>
                              <a:schemeClr val="tx1"/>
                            </a:solidFill>
                            <a:latin typeface="Cambria Math" panose="02040503050406030204" pitchFamily="18" charset="0"/>
                          </a:rPr>
                          <m:t>𝝁</m:t>
                        </m:r>
                      </m:e>
                      <m:sub>
                        <m:r>
                          <a:rPr lang="en-US" altLang="zh-TW" sz="2600" b="1" i="1">
                            <a:solidFill>
                              <a:schemeClr val="tx1"/>
                            </a:solidFill>
                            <a:latin typeface="Cambria Math" panose="02040503050406030204" pitchFamily="18" charset="0"/>
                          </a:rPr>
                          <m:t>𝒅𝒊𝒇𝒇</m:t>
                        </m:r>
                      </m:sub>
                    </m:sSub>
                    <m:r>
                      <a:rPr lang="en-US" altLang="zh-TW" sz="2600" b="1" i="1">
                        <a:solidFill>
                          <a:schemeClr val="tx1"/>
                        </a:solidFill>
                        <a:latin typeface="Cambria Math" panose="02040503050406030204" pitchFamily="18" charset="0"/>
                      </a:rPr>
                      <m:t>=</m:t>
                    </m:r>
                    <m:r>
                      <a:rPr lang="en-US" altLang="zh-TW" sz="2600" b="1" i="1">
                        <a:solidFill>
                          <a:schemeClr val="tx1"/>
                        </a:solidFill>
                        <a:latin typeface="Cambria Math" panose="02040503050406030204" pitchFamily="18" charset="0"/>
                      </a:rPr>
                      <m:t>𝟎</m:t>
                    </m:r>
                  </m:oMath>
                </a14:m>
                <a:endParaRPr lang="zh-TW" altLang="en-US" sz="2600" b="1" dirty="0">
                  <a:solidFill>
                    <a:schemeClr val="tx1"/>
                  </a:solidFill>
                  <a:latin typeface="微軟正黑體" panose="020B0604030504040204" pitchFamily="34" charset="-120"/>
                  <a:ea typeface="微軟正黑體" panose="020B0604030504040204" pitchFamily="34" charset="-120"/>
                </a:endParaRPr>
              </a:p>
              <a:p>
                <a:pPr marL="109728" indent="0">
                  <a:buNone/>
                </a:pPr>
                <a:r>
                  <a:rPr lang="zh-TW" altLang="en-US" sz="1800" dirty="0">
                    <a:solidFill>
                      <a:schemeClr val="tx1"/>
                    </a:solidFill>
                    <a:latin typeface="微軟正黑體" panose="020B0604030504040204" pitchFamily="34" charset="-120"/>
                    <a:ea typeface="微軟正黑體" panose="020B0604030504040204" pitchFamily="34" charset="-120"/>
                  </a:rPr>
                  <a:t>步驟</a:t>
                </a:r>
                <a:r>
                  <a:rPr lang="en-US" altLang="zh-TW" sz="1800" dirty="0">
                    <a:solidFill>
                      <a:schemeClr val="tx1"/>
                    </a:solidFill>
                    <a:latin typeface="微軟正黑體" panose="020B0604030504040204" pitchFamily="34" charset="-120"/>
                    <a:ea typeface="微軟正黑體" panose="020B0604030504040204" pitchFamily="34" charset="-120"/>
                  </a:rPr>
                  <a:t>1:</a:t>
                </a:r>
                <a:r>
                  <a:rPr lang="zh-TW" altLang="en-US" sz="1800" dirty="0">
                    <a:solidFill>
                      <a:schemeClr val="tx1"/>
                    </a:solidFill>
                    <a:latin typeface="微軟正黑體" panose="020B0604030504040204" pitchFamily="34" charset="-120"/>
                    <a:ea typeface="微軟正黑體" panose="020B0604030504040204" pitchFamily="34" charset="-120"/>
                  </a:rPr>
                  <a:t> </a:t>
                </a:r>
                <a:r>
                  <a:rPr lang="zh-TW" altLang="en-US" sz="1800" dirty="0">
                    <a:latin typeface="微軟正黑體" panose="020B0604030504040204" pitchFamily="34" charset="-120"/>
                    <a:ea typeface="微軟正黑體" panose="020B0604030504040204" pitchFamily="34" charset="-120"/>
                  </a:rPr>
                  <a:t>轉換</a:t>
                </a:r>
                <a:r>
                  <a:rPr lang="en-US" altLang="zh-TW" sz="1800" dirty="0">
                    <a:latin typeface="微軟正黑體" panose="020B0604030504040204" pitchFamily="34" charset="-120"/>
                    <a:ea typeface="微軟正黑體" panose="020B0604030504040204" pitchFamily="34" charset="-120"/>
                  </a:rPr>
                  <a:t>-&gt;</a:t>
                </a:r>
                <a:r>
                  <a:rPr lang="zh-TW" altLang="en-US" sz="1800" dirty="0">
                    <a:latin typeface="微軟正黑體" panose="020B0604030504040204" pitchFamily="34" charset="-120"/>
                    <a:ea typeface="微軟正黑體" panose="020B0604030504040204" pitchFamily="34" charset="-120"/>
                  </a:rPr>
                  <a:t>計算變數</a:t>
                </a:r>
                <a:r>
                  <a:rPr lang="en-US" altLang="zh-TW" sz="1800" dirty="0">
                    <a:latin typeface="微軟正黑體" panose="020B0604030504040204" pitchFamily="34" charset="-120"/>
                    <a:ea typeface="微軟正黑體" panose="020B0604030504040204" pitchFamily="34" charset="-120"/>
                  </a:rPr>
                  <a:t>Diff</a:t>
                </a:r>
              </a:p>
              <a:p>
                <a:pPr marL="109728" indent="0">
                  <a:buNone/>
                </a:pPr>
                <a:r>
                  <a:rPr lang="zh-TW" altLang="en-US" sz="1800" dirty="0">
                    <a:solidFill>
                      <a:schemeClr val="tx1"/>
                    </a:solidFill>
                    <a:latin typeface="微軟正黑體" panose="020B0604030504040204" pitchFamily="34" charset="-120"/>
                    <a:ea typeface="微軟正黑體" panose="020B0604030504040204" pitchFamily="34" charset="-120"/>
                  </a:rPr>
                  <a:t>步驟</a:t>
                </a:r>
                <a:r>
                  <a:rPr lang="en-US" altLang="zh-TW" sz="1800" dirty="0">
                    <a:solidFill>
                      <a:schemeClr val="tx1"/>
                    </a:solidFill>
                    <a:latin typeface="微軟正黑體" panose="020B0604030504040204" pitchFamily="34" charset="-120"/>
                    <a:ea typeface="微軟正黑體" panose="020B0604030504040204" pitchFamily="34" charset="-120"/>
                  </a:rPr>
                  <a:t>2: </a:t>
                </a:r>
                <a:r>
                  <a:rPr lang="zh-TW" altLang="zh-TW" sz="1800" dirty="0">
                    <a:latin typeface="微軟正黑體" panose="020B0604030504040204" pitchFamily="34" charset="-120"/>
                    <a:ea typeface="微軟正黑體" panose="020B0604030504040204" pitchFamily="34" charset="-120"/>
                  </a:rPr>
                  <a:t>分析</a:t>
                </a:r>
                <a:r>
                  <a:rPr lang="en-US" altLang="zh-TW" sz="18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1800" dirty="0">
                    <a:latin typeface="微軟正黑體" panose="020B0604030504040204" pitchFamily="34" charset="-120"/>
                    <a:ea typeface="微軟正黑體" panose="020B0604030504040204" pitchFamily="34" charset="-120"/>
                  </a:rPr>
                  <a:t>平均數檢定</a:t>
                </a:r>
                <a:r>
                  <a:rPr lang="en-US" altLang="zh-TW" sz="1800"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1800" dirty="0">
                    <a:latin typeface="微軟正黑體" panose="020B0604030504040204" pitchFamily="34" charset="-120"/>
                    <a:ea typeface="微軟正黑體" panose="020B0604030504040204" pitchFamily="34" charset="-120"/>
                  </a:rPr>
                  <a:t>單一樣本</a:t>
                </a:r>
                <a:endParaRPr lang="zh-TW" altLang="en-US" sz="1800" dirty="0">
                  <a:latin typeface="微軟正黑體" panose="020B0604030504040204" pitchFamily="34" charset="-120"/>
                  <a:ea typeface="微軟正黑體" panose="020B0604030504040204" pitchFamily="34" charset="-120"/>
                </a:endParaRPr>
              </a:p>
              <a:p>
                <a:pPr marL="624078" indent="-514350">
                  <a:buAutoNum type="arabicPeriod"/>
                </a:pPr>
                <a:endParaRPr lang="en-US" altLang="zh-TW" sz="2800" dirty="0">
                  <a:latin typeface="微軟正黑體" panose="020B0604030504040204" pitchFamily="34" charset="-120"/>
                  <a:ea typeface="微軟正黑體" panose="020B0604030504040204" pitchFamily="34" charset="-120"/>
                </a:endParaRPr>
              </a:p>
              <a:p>
                <a:pPr marL="624078" indent="-514350">
                  <a:buAutoNum type="arabicPeriod"/>
                </a:pPr>
                <a:endParaRPr lang="en-US" altLang="zh-TW" sz="2800" dirty="0">
                  <a:latin typeface="微軟正黑體" panose="020B0604030504040204" pitchFamily="34" charset="-120"/>
                  <a:ea typeface="微軟正黑體" panose="020B0604030504040204" pitchFamily="34" charset="-120"/>
                </a:endParaRPr>
              </a:p>
              <a:p>
                <a:pPr marL="624078" indent="-514350">
                  <a:buAutoNum type="arabicPeriod"/>
                </a:pPr>
                <a:endParaRPr lang="zh-TW" altLang="zh-TW" sz="280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blipFill>
                <a:blip r:embed="rId2"/>
                <a:stretch>
                  <a:fillRect l="-863" t="-1739"/>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0461204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95536" y="284176"/>
            <a:ext cx="8061883" cy="1508760"/>
          </a:xfrm>
        </p:spPr>
        <p:txBody>
          <a:bodyPr>
            <a:normAutofit/>
          </a:bodyPr>
          <a:lstStyle/>
          <a:p>
            <a:r>
              <a:rPr lang="zh-TW" altLang="zh-TW" sz="3200" dirty="0">
                <a:effectLst/>
                <a:latin typeface="微軟正黑體" panose="020B0604030504040204" pitchFamily="34" charset="-120"/>
                <a:ea typeface="微軟正黑體" panose="020B0604030504040204" pitchFamily="34" charset="-120"/>
              </a:rPr>
              <a:t>連續資料的中位數檢定</a:t>
            </a:r>
            <a:r>
              <a:rPr lang="en-US" altLang="zh-TW" sz="3200" dirty="0">
                <a:effectLst/>
                <a:latin typeface="微軟正黑體" panose="020B0604030504040204" pitchFamily="34" charset="-120"/>
                <a:ea typeface="微軟正黑體" panose="020B0604030504040204" pitchFamily="34" charset="-120"/>
              </a:rPr>
              <a:t>(</a:t>
            </a:r>
            <a:r>
              <a:rPr lang="zh-TW" altLang="zh-TW" sz="3100" dirty="0">
                <a:effectLst/>
                <a:latin typeface="微軟正黑體" panose="020B0604030504040204" pitchFamily="34" charset="-120"/>
                <a:ea typeface="微軟正黑體" panose="020B0604030504040204" pitchFamily="34" charset="-120"/>
              </a:rPr>
              <a:t>無母數統計方法</a:t>
            </a:r>
            <a:r>
              <a:rPr lang="en-US" altLang="zh-TW" sz="3100" dirty="0">
                <a:effectLst/>
                <a:latin typeface="微軟正黑體" panose="020B0604030504040204" pitchFamily="34" charset="-120"/>
                <a:ea typeface="微軟正黑體" panose="020B0604030504040204" pitchFamily="34" charset="-120"/>
              </a:rPr>
              <a:t>)</a:t>
            </a:r>
            <a:br>
              <a:rPr lang="en-US" altLang="zh-TW" sz="3100" dirty="0">
                <a:effectLst/>
                <a:latin typeface="微軟正黑體" panose="020B0604030504040204" pitchFamily="34" charset="-120"/>
                <a:ea typeface="微軟正黑體" panose="020B0604030504040204" pitchFamily="34" charset="-120"/>
              </a:rPr>
            </a:br>
            <a:r>
              <a:rPr lang="en-US" altLang="zh-TW" sz="3100" dirty="0">
                <a:solidFill>
                  <a:schemeClr val="bg1"/>
                </a:solidFill>
                <a:effectLst/>
                <a:latin typeface="微軟正黑體" panose="020B0604030504040204" pitchFamily="34" charset="-120"/>
                <a:ea typeface="微軟正黑體" panose="020B0604030504040204" pitchFamily="34" charset="-120"/>
              </a:rPr>
              <a:t>-</a:t>
            </a:r>
            <a:r>
              <a:rPr lang="zh-TW" altLang="zh-TW" sz="3200" b="1" dirty="0">
                <a:solidFill>
                  <a:schemeClr val="bg1"/>
                </a:solidFill>
                <a:latin typeface="微軟正黑體" panose="020B0604030504040204" pitchFamily="34" charset="-120"/>
                <a:ea typeface="微軟正黑體" panose="020B0604030504040204" pitchFamily="34" charset="-120"/>
              </a:rPr>
              <a:t>單樣本</a:t>
            </a:r>
            <a:r>
              <a:rPr lang="en-US" altLang="zh-TW" sz="3200" dirty="0">
                <a:solidFill>
                  <a:schemeClr val="bg1"/>
                </a:solidFill>
                <a:latin typeface="微軟正黑體" panose="020B0604030504040204" pitchFamily="34" charset="-120"/>
                <a:ea typeface="微軟正黑體" panose="020B0604030504040204" pitchFamily="34" charset="-120"/>
              </a:rPr>
              <a:t>:  </a:t>
            </a:r>
            <a:r>
              <a:rPr lang="zh-TW" altLang="zh-TW" sz="3200" dirty="0">
                <a:solidFill>
                  <a:schemeClr val="bg1"/>
                </a:solidFill>
                <a:latin typeface="微軟正黑體" panose="020B0604030504040204" pitchFamily="34" charset="-120"/>
                <a:ea typeface="微軟正黑體" panose="020B0604030504040204" pitchFamily="34" charset="-120"/>
              </a:rPr>
              <a:t>威爾考克森符號等級檢定</a:t>
            </a:r>
            <a:r>
              <a:rPr lang="en-US" altLang="zh-TW" sz="3200" dirty="0">
                <a:solidFill>
                  <a:schemeClr val="bg1"/>
                </a:solidFill>
                <a:latin typeface="微軟正黑體" panose="020B0604030504040204" pitchFamily="34" charset="-120"/>
                <a:ea typeface="微軟正黑體" panose="020B0604030504040204" pitchFamily="34" charset="-120"/>
              </a:rPr>
              <a:t>(Wilcoxon sign-rank test)</a:t>
            </a:r>
            <a:endParaRPr lang="zh-TW" altLang="en-US" sz="3100" dirty="0">
              <a:solidFill>
                <a:schemeClr val="bg1"/>
              </a:solidFill>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a:xfrm>
            <a:off x="179512" y="2005429"/>
            <a:ext cx="8507288" cy="4234475"/>
          </a:xfrm>
        </p:spPr>
        <p:txBody>
          <a:bodyPr/>
          <a:lstStyle/>
          <a:p>
            <a:pPr marL="109728" indent="0">
              <a:buNone/>
            </a:pPr>
            <a:endParaRPr lang="en-US" altLang="zh-TW" dirty="0">
              <a:solidFill>
                <a:srgbClr val="FF0000"/>
              </a:solidFill>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SPSS:</a:t>
            </a:r>
            <a:endParaRPr lang="zh-TW" altLang="zh-TW" dirty="0">
              <a:latin typeface="微軟正黑體" panose="020B0604030504040204" pitchFamily="34" charset="-120"/>
              <a:ea typeface="微軟正黑體" panose="020B0604030504040204" pitchFamily="34" charset="-120"/>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分析</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無母數</a:t>
            </a:r>
            <a:r>
              <a:rPr lang="zh-TW" altLang="en-US" dirty="0">
                <a:latin typeface="微軟正黑體" panose="020B0604030504040204" pitchFamily="34" charset="-120"/>
                <a:ea typeface="微軟正黑體" panose="020B0604030504040204" pitchFamily="34" charset="-120"/>
              </a:rPr>
              <a:t>檢定</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單一樣本</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中位數檢定</a:t>
            </a:r>
            <a:endParaRPr lang="en-US" altLang="zh-TW" dirty="0">
              <a:latin typeface="微軟正黑體" panose="020B0604030504040204" pitchFamily="34" charset="-120"/>
              <a:ea typeface="微軟正黑體" panose="020B0604030504040204" pitchFamily="34" charset="-120"/>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目標</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自訂分析</a:t>
            </a:r>
            <a:endParaRPr lang="en-US" altLang="zh-TW" dirty="0">
              <a:latin typeface="微軟正黑體" panose="020B0604030504040204" pitchFamily="34" charset="-120"/>
              <a:ea typeface="微軟正黑體" panose="020B0604030504040204" pitchFamily="34" charset="-120"/>
              <a:sym typeface="Wingdings" panose="05000000000000000000" pitchFamily="2" charset="2"/>
            </a:endParaRP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3:</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欄位</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-&gt;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檢定欄位</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:PH</a:t>
            </a:r>
          </a:p>
          <a:p>
            <a:pPr marL="109728" indent="0">
              <a:buNone/>
            </a:pPr>
            <a:r>
              <a:rPr lang="zh-TW" altLang="en-US" sz="2000" dirty="0">
                <a:solidFill>
                  <a:schemeClr val="tx1"/>
                </a:solidFill>
                <a:latin typeface="微軟正黑體" panose="020B0604030504040204" pitchFamily="34" charset="-120"/>
                <a:ea typeface="微軟正黑體" panose="020B0604030504040204" pitchFamily="34" charset="-120"/>
              </a:rPr>
              <a:t>步驟</a:t>
            </a:r>
            <a:r>
              <a:rPr lang="en-US" altLang="zh-TW" sz="2000" dirty="0">
                <a:solidFill>
                  <a:schemeClr val="tx1"/>
                </a:solidFill>
                <a:latin typeface="微軟正黑體" panose="020B0604030504040204" pitchFamily="34" charset="-120"/>
                <a:ea typeface="微軟正黑體" panose="020B0604030504040204" pitchFamily="34" charset="-120"/>
              </a:rPr>
              <a:t>4:</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自訂檢定 </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 比較中位數與假設的中位數</a:t>
            </a:r>
            <a:r>
              <a:rPr lang="zh-TW" altLang="zh-TW" dirty="0">
                <a:latin typeface="微軟正黑體" panose="020B0604030504040204" pitchFamily="34" charset="-120"/>
                <a:ea typeface="微軟正黑體" panose="020B0604030504040204" pitchFamily="34" charset="-120"/>
              </a:rPr>
              <a:t> （設為</a:t>
            </a:r>
            <a:r>
              <a:rPr lang="en-US" altLang="zh-TW" dirty="0">
                <a:latin typeface="微軟正黑體" panose="020B0604030504040204" pitchFamily="34" charset="-120"/>
                <a:ea typeface="微軟正黑體" panose="020B0604030504040204" pitchFamily="34" charset="-120"/>
              </a:rPr>
              <a:t>7</a:t>
            </a:r>
            <a:r>
              <a:rPr lang="zh-TW"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12</a:t>
            </a:r>
          </a:p>
        </p:txBody>
      </p:sp>
    </p:spTree>
    <p:extLst>
      <p:ext uri="{BB962C8B-B14F-4D97-AF65-F5344CB8AC3E}">
        <p14:creationId xmlns:p14="http://schemas.microsoft.com/office/powerpoint/2010/main" val="16076156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sz="3700" dirty="0">
                <a:effectLst/>
                <a:latin typeface="微軟正黑體" panose="020B0604030504040204" pitchFamily="34" charset="-120"/>
                <a:ea typeface="微軟正黑體" panose="020B0604030504040204" pitchFamily="34" charset="-120"/>
              </a:rPr>
              <a:t>B. </a:t>
            </a:r>
            <a:r>
              <a:rPr lang="zh-TW" altLang="zh-TW" sz="3700" dirty="0">
                <a:effectLst/>
                <a:latin typeface="微軟正黑體" panose="020B0604030504040204" pitchFamily="34" charset="-120"/>
                <a:ea typeface="微軟正黑體" panose="020B0604030504040204" pitchFamily="34" charset="-120"/>
              </a:rPr>
              <a:t>連續資料的中位數檢定</a:t>
            </a:r>
            <a:endParaRPr lang="zh-TW" altLang="en-US" sz="2800"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p:txBody>
          <a:bodyPr>
            <a:normAutofit/>
          </a:bodyPr>
          <a:lstStyle/>
          <a:p>
            <a:r>
              <a:rPr lang="zh-TW" altLang="zh-TW" b="1" dirty="0">
                <a:latin typeface="微軟正黑體" panose="020B0604030504040204" pitchFamily="34" charset="-120"/>
                <a:ea typeface="微軟正黑體" panose="020B0604030504040204" pitchFamily="34" charset="-120"/>
              </a:rPr>
              <a:t>成對樣本</a:t>
            </a:r>
            <a:endParaRPr lang="zh-TW" altLang="zh-TW" dirty="0">
              <a:latin typeface="微軟正黑體" panose="020B0604030504040204" pitchFamily="34" charset="-120"/>
              <a:ea typeface="微軟正黑體" panose="020B0604030504040204" pitchFamily="34" charset="-120"/>
            </a:endParaRPr>
          </a:p>
          <a:p>
            <a:pPr marL="109728" indent="0">
              <a:buNone/>
            </a:pPr>
            <a:r>
              <a:rPr lang="zh-TW" altLang="zh-TW" dirty="0">
                <a:latin typeface="微軟正黑體" panose="020B0604030504040204" pitchFamily="34" charset="-120"/>
                <a:ea typeface="微軟正黑體" panose="020B0604030504040204" pitchFamily="34" charset="-120"/>
              </a:rPr>
              <a:t>和單樣本做法相同</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但資料要先轉換成</a:t>
            </a:r>
            <a:r>
              <a:rPr lang="en-US" altLang="zh-TW" dirty="0" err="1">
                <a:latin typeface="微軟正黑體" panose="020B0604030504040204" pitchFamily="34" charset="-120"/>
                <a:ea typeface="微軟正黑體" panose="020B0604030504040204" pitchFamily="34" charset="-120"/>
              </a:rPr>
              <a:t>X</a:t>
            </a:r>
            <a:r>
              <a:rPr lang="en-US" altLang="zh-TW" baseline="-25000" dirty="0" err="1">
                <a:latin typeface="微軟正黑體" panose="020B0604030504040204" pitchFamily="34" charset="-120"/>
                <a:ea typeface="微軟正黑體" panose="020B0604030504040204" pitchFamily="34" charset="-120"/>
              </a:rPr>
              <a:t>d</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成對資料的差</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後再分析</a:t>
            </a: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r>
              <a:rPr lang="zh-TW" altLang="en-US" b="1" dirty="0">
                <a:latin typeface="微軟正黑體" panose="020B0604030504040204" pitchFamily="34" charset="-120"/>
                <a:ea typeface="微軟正黑體" panose="020B0604030504040204" pitchFamily="34" charset="-120"/>
              </a:rPr>
              <a:t>單一</a:t>
            </a:r>
            <a:r>
              <a:rPr lang="zh-TW" altLang="zh-TW" b="1" dirty="0">
                <a:latin typeface="微軟正黑體" panose="020B0604030504040204" pitchFamily="34" charset="-120"/>
                <a:ea typeface="微軟正黑體" panose="020B0604030504040204" pitchFamily="34" charset="-120"/>
              </a:rPr>
              <a:t>樣本</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威爾考克森符號等級</a:t>
            </a:r>
            <a:r>
              <a:rPr lang="zh-TW" altLang="zh-TW" dirty="0">
                <a:latin typeface="微軟正黑體" panose="020B0604030504040204" pitchFamily="34" charset="-120"/>
                <a:ea typeface="微軟正黑體" panose="020B0604030504040204" pitchFamily="34" charset="-120"/>
              </a:rPr>
              <a:t>檢定</a:t>
            </a:r>
            <a:endParaRPr lang="en-US" altLang="zh-TW"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13</a:t>
            </a:r>
          </a:p>
        </p:txBody>
      </p:sp>
    </p:spTree>
    <p:extLst>
      <p:ext uri="{BB962C8B-B14F-4D97-AF65-F5344CB8AC3E}">
        <p14:creationId xmlns:p14="http://schemas.microsoft.com/office/powerpoint/2010/main" val="29909294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79512" y="284176"/>
            <a:ext cx="8678769" cy="1508760"/>
          </a:xfrm>
        </p:spPr>
        <p:txBody>
          <a:bodyPr>
            <a:noAutofit/>
          </a:bodyPr>
          <a:lstStyle/>
          <a:p>
            <a:pPr algn="ctr"/>
            <a:r>
              <a:rPr lang="zh-TW" altLang="zh-TW" sz="3200" dirty="0">
                <a:effectLst/>
                <a:latin typeface="微軟正黑體" panose="020B0604030504040204" pitchFamily="34" charset="-120"/>
                <a:ea typeface="微軟正黑體" panose="020B0604030504040204" pitchFamily="34" charset="-120"/>
              </a:rPr>
              <a:t>連續資料的中位數檢定</a:t>
            </a:r>
            <a:r>
              <a:rPr lang="en-US" altLang="zh-TW" sz="3200" dirty="0">
                <a:effectLst/>
                <a:latin typeface="微軟正黑體" panose="020B0604030504040204" pitchFamily="34" charset="-120"/>
                <a:ea typeface="微軟正黑體" panose="020B0604030504040204" pitchFamily="34" charset="-120"/>
              </a:rPr>
              <a:t>—</a:t>
            </a:r>
            <a:br>
              <a:rPr lang="en-US" altLang="zh-TW" sz="3200" dirty="0">
                <a:effectLst/>
                <a:latin typeface="微軟正黑體" panose="020B0604030504040204" pitchFamily="34" charset="-120"/>
                <a:ea typeface="微軟正黑體" panose="020B0604030504040204" pitchFamily="34" charset="-120"/>
              </a:rPr>
            </a:br>
            <a:r>
              <a:rPr lang="zh-TW" altLang="en-US" sz="2800" dirty="0">
                <a:solidFill>
                  <a:srgbClr val="3333CC"/>
                </a:solidFill>
                <a:effectLst/>
                <a:latin typeface="微軟正黑體" panose="020B0604030504040204" pitchFamily="34" charset="-120"/>
                <a:ea typeface="微軟正黑體" panose="020B0604030504040204" pitchFamily="34" charset="-120"/>
              </a:rPr>
              <a:t>曼惠特尼</a:t>
            </a:r>
            <a:r>
              <a:rPr lang="en-US" altLang="zh-TW" sz="2800" dirty="0">
                <a:solidFill>
                  <a:srgbClr val="3333CC"/>
                </a:solidFill>
                <a:effectLst/>
                <a:latin typeface="微軟正黑體" panose="020B0604030504040204" pitchFamily="34" charset="-120"/>
                <a:ea typeface="微軟正黑體" panose="020B0604030504040204" pitchFamily="34" charset="-120"/>
              </a:rPr>
              <a:t>U</a:t>
            </a:r>
            <a:r>
              <a:rPr lang="zh-TW" altLang="zh-TW" sz="2800" dirty="0">
                <a:solidFill>
                  <a:srgbClr val="3333CC"/>
                </a:solidFill>
                <a:latin typeface="微軟正黑體" panose="020B0604030504040204" pitchFamily="34" charset="-120"/>
                <a:ea typeface="微軟正黑體" panose="020B0604030504040204" pitchFamily="34" charset="-120"/>
              </a:rPr>
              <a:t>檢定（</a:t>
            </a:r>
            <a:r>
              <a:rPr lang="en-US" altLang="zh-TW" sz="2800" dirty="0">
                <a:solidFill>
                  <a:srgbClr val="3333CC"/>
                </a:solidFill>
                <a:latin typeface="微軟正黑體" panose="020B0604030504040204" pitchFamily="34" charset="-120"/>
                <a:ea typeface="微軟正黑體" panose="020B0604030504040204" pitchFamily="34" charset="-120"/>
              </a:rPr>
              <a:t>Mann-Whitney U</a:t>
            </a:r>
            <a:r>
              <a:rPr lang="zh-TW" altLang="zh-TW" sz="2800" dirty="0">
                <a:solidFill>
                  <a:srgbClr val="3333CC"/>
                </a:solidFill>
                <a:latin typeface="微軟正黑體" panose="020B0604030504040204" pitchFamily="34" charset="-120"/>
                <a:ea typeface="微軟正黑體" panose="020B0604030504040204" pitchFamily="34" charset="-120"/>
              </a:rPr>
              <a:t>）</a:t>
            </a:r>
            <a:endParaRPr lang="zh-TW" altLang="en-US" sz="3200" dirty="0">
              <a:solidFill>
                <a:srgbClr val="3333CC"/>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284157" y="2852936"/>
                <a:ext cx="8574124" cy="3240360"/>
              </a:xfrm>
            </p:spPr>
            <p:txBody>
              <a:bodyPr>
                <a:normAutofit fontScale="92500"/>
              </a:bodyPr>
              <a:lstStyle/>
              <a:p>
                <a:pPr marL="109728" indent="0">
                  <a:buNone/>
                </a:pP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分別代表</a:t>
                </a:r>
                <a:r>
                  <a:rPr lang="zh-TW" altLang="en-US" dirty="0">
                    <a:latin typeface="微軟正黑體" panose="020B0604030504040204" pitchFamily="34" charset="-120"/>
                    <a:ea typeface="微軟正黑體" panose="020B0604030504040204" pitchFamily="34" charset="-120"/>
                  </a:rPr>
                  <a:t>存活組及死亡組出生</a:t>
                </a:r>
                <a:r>
                  <a:rPr lang="zh-TW" altLang="zh-TW" dirty="0">
                    <a:latin typeface="微軟正黑體" panose="020B0604030504040204" pitchFamily="34" charset="-120"/>
                    <a:ea typeface="微軟正黑體" panose="020B0604030504040204" pitchFamily="34" charset="-120"/>
                  </a:rPr>
                  <a:t>體重</a:t>
                </a:r>
                <a:r>
                  <a:rPr lang="zh-TW" altLang="en-US" dirty="0">
                    <a:latin typeface="微軟正黑體" panose="020B0604030504040204" pitchFamily="34" charset="-120"/>
                    <a:ea typeface="微軟正黑體" panose="020B0604030504040204" pitchFamily="34" charset="-120"/>
                  </a:rPr>
                  <a:t>之</a:t>
                </a:r>
                <a:r>
                  <a:rPr lang="zh-TW" altLang="zh-TW" dirty="0">
                    <a:latin typeface="微軟正黑體" panose="020B0604030504040204" pitchFamily="34" charset="-120"/>
                    <a:ea typeface="微軟正黑體" panose="020B0604030504040204" pitchFamily="34" charset="-120"/>
                  </a:rPr>
                  <a:t>母體中位數。</a:t>
                </a:r>
                <a:endParaRPr lang="en-US" altLang="zh-TW" dirty="0">
                  <a:latin typeface="微軟正黑體" panose="020B0604030504040204" pitchFamily="34" charset="-120"/>
                  <a:ea typeface="微軟正黑體" panose="020B0604030504040204" pitchFamily="34" charset="-120"/>
                </a:endParaRPr>
              </a:p>
              <a:p>
                <a:pPr marL="109728" indent="0">
                  <a:buNone/>
                </a:pPr>
                <a:r>
                  <a:rPr lang="zh-TW" altLang="zh-TW" dirty="0">
                    <a:latin typeface="微軟正黑體" panose="020B0604030504040204" pitchFamily="34" charset="-120"/>
                    <a:ea typeface="微軟正黑體" panose="020B0604030504040204" pitchFamily="34" charset="-120"/>
                  </a:rPr>
                  <a:t>虛無假設：存活組出生體重中位數和死亡組無差異 </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0</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1</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2</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br>
                  <a:rPr lang="en-US" altLang="zh-TW" dirty="0">
                    <a:latin typeface="微軟正黑體" panose="020B0604030504040204" pitchFamily="34" charset="-120"/>
                    <a:ea typeface="微軟正黑體" panose="020B0604030504040204" pitchFamily="34" charset="-120"/>
                  </a:rPr>
                </a:br>
                <a:endParaRPr lang="en-US" altLang="zh-TW" dirty="0">
                  <a:latin typeface="微軟正黑體" panose="020B0604030504040204" pitchFamily="34" charset="-120"/>
                  <a:ea typeface="微軟正黑體" panose="020B0604030504040204" pitchFamily="34" charset="-120"/>
                </a:endParaRPr>
              </a:p>
              <a:p>
                <a:pPr marL="109728" indent="0">
                  <a:buNone/>
                </a:pP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對立假設：存活組出生體重中位數和死亡組有差異 （</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a</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1</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2</a:t>
                </a:r>
                <a14:m>
                  <m:oMath xmlns:m="http://schemas.openxmlformats.org/officeDocument/2006/math">
                    <m:r>
                      <a:rPr lang="en-US" altLang="zh-TW">
                        <a:latin typeface="Cambria Math" panose="02040503050406030204" pitchFamily="18" charset="0"/>
                      </a:rPr>
                      <m:t>≠</m:t>
                    </m:r>
                  </m:oMath>
                </a14:m>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r>
                  <a:rPr lang="zh-TW" altLang="zh-TW" dirty="0">
                    <a:latin typeface="微軟正黑體" panose="020B0604030504040204" pitchFamily="34" charset="-120"/>
                    <a:ea typeface="微軟正黑體" panose="020B0604030504040204" pitchFamily="34" charset="-120"/>
                  </a:rPr>
                  <a:t>結論：顯著水準為</a:t>
                </a:r>
                <a:r>
                  <a:rPr lang="en-US" altLang="zh-TW" dirty="0">
                    <a:latin typeface="微軟正黑體" panose="020B0604030504040204" pitchFamily="34" charset="-120"/>
                    <a:ea typeface="微軟正黑體" panose="020B0604030504040204" pitchFamily="34" charset="-120"/>
                  </a:rPr>
                  <a:t>0.05</a:t>
                </a:r>
                <a:r>
                  <a:rPr lang="zh-TW" altLang="zh-TW" dirty="0">
                    <a:latin typeface="微軟正黑體" panose="020B0604030504040204" pitchFamily="34" charset="-120"/>
                    <a:ea typeface="微軟正黑體" panose="020B0604030504040204" pitchFamily="34" charset="-120"/>
                  </a:rPr>
                  <a:t>下，我們有充份證據顯示存活組別出生體重中位數和死亡組別有顯著差異</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a:p>
                <a:pPr marL="109728" indent="0">
                  <a:buNone/>
                </a:pPr>
                <a:endParaRPr lang="en-US" altLang="zh-TW"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284157" y="2852936"/>
                <a:ext cx="8574124" cy="3240360"/>
              </a:xfrm>
              <a:blipFill>
                <a:blip r:embed="rId2"/>
                <a:stretch>
                  <a:fillRect t="-2068" b="-1128"/>
                </a:stretch>
              </a:blipFill>
            </p:spPr>
            <p:txBody>
              <a:bodyPr/>
              <a:lstStyle/>
              <a:p>
                <a:r>
                  <a:rPr lang="zh-TW" altLang="en-US">
                    <a:noFill/>
                  </a:rPr>
                  <a:t> </a:t>
                </a:r>
              </a:p>
            </p:txBody>
          </p:sp>
        </mc:Fallback>
      </mc:AlternateContent>
      <p:sp>
        <p:nvSpPr>
          <p:cNvPr id="6" name="投影片編號版面配置區 5"/>
          <p:cNvSpPr>
            <a:spLocks noGrp="1"/>
          </p:cNvSpPr>
          <p:nvPr>
            <p:ph type="sldNum" sz="quarter" idx="12"/>
          </p:nvPr>
        </p:nvSpPr>
        <p:spPr/>
        <p:txBody>
          <a:bodyPr/>
          <a:lstStyle/>
          <a:p>
            <a:pPr>
              <a:defRPr/>
            </a:pPr>
            <a:r>
              <a:rPr lang="en-US" altLang="zh-TW" dirty="0"/>
              <a:t>14</a:t>
            </a:r>
          </a:p>
        </p:txBody>
      </p:sp>
      <mc:AlternateContent xmlns:mc="http://schemas.openxmlformats.org/markup-compatibility/2006" xmlns:a14="http://schemas.microsoft.com/office/drawing/2010/main">
        <mc:Choice Requires="a14">
          <p:sp>
            <p:nvSpPr>
              <p:cNvPr id="5" name="矩形 4"/>
              <p:cNvSpPr/>
              <p:nvPr/>
            </p:nvSpPr>
            <p:spPr>
              <a:xfrm>
                <a:off x="1907704" y="4653136"/>
                <a:ext cx="3345018" cy="369332"/>
              </a:xfrm>
              <a:prstGeom prst="rect">
                <a:avLst/>
              </a:prstGeom>
            </p:spPr>
            <p:txBody>
              <a:bodyPr wrap="none">
                <a:spAutoFit/>
              </a:bodyPr>
              <a:lstStyle/>
              <a:p>
                <a:r>
                  <a:rPr lang="en-US" altLang="zh-TW" kern="0" dirty="0">
                    <a:ea typeface="標楷體" panose="03000509000000000000" pitchFamily="65" charset="-120"/>
                  </a:rPr>
                  <a:t>P</a:t>
                </a:r>
                <a:r>
                  <a:rPr lang="zh-TW" altLang="zh-TW" kern="0" dirty="0">
                    <a:effectLst/>
                    <a:ea typeface="標楷體" panose="03000509000000000000" pitchFamily="65" charset="-120"/>
                    <a:cs typeface="Times New Roman" panose="02020603050405020304" pitchFamily="18" charset="0"/>
                  </a:rPr>
                  <a:t>值</a:t>
                </a:r>
                <a:r>
                  <a:rPr lang="zh-TW" altLang="zh-TW" kern="0" dirty="0">
                    <a:solidFill>
                      <a:schemeClr val="tx1"/>
                    </a:solidFill>
                    <a:effectLst/>
                    <a:ea typeface="標楷體" panose="03000509000000000000" pitchFamily="65" charset="-120"/>
                    <a:cs typeface="Times New Roman" panose="02020603050405020304" pitchFamily="18" charset="0"/>
                  </a:rPr>
                  <a:t>＝</a:t>
                </a:r>
                <a14:m>
                  <m:oMath xmlns:m="http://schemas.openxmlformats.org/officeDocument/2006/math">
                    <m:r>
                      <a:rPr lang="en-US" altLang="zh-TW"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2×</m:t>
                    </m:r>
                    <m:r>
                      <m:rPr>
                        <m:sty m:val="p"/>
                      </m:rPr>
                      <a:rPr lang="en-US" altLang="zh-TW"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P</m:t>
                    </m:r>
                    <m:d>
                      <m:dPr>
                        <m:ctrlPr>
                          <a:rPr lang="zh-TW" altLang="zh-TW" i="1" ker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TW"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Z</m:t>
                        </m:r>
                        <m:r>
                          <a:rPr lang="en-US" altLang="zh-TW" ker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≥2.20</m:t>
                        </m:r>
                      </m:e>
                    </m:d>
                    <m:r>
                      <a:rPr lang="en-US" altLang="zh-TW" kern="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=0.0</m:t>
                    </m:r>
                    <m:r>
                      <a:rPr lang="en-US" altLang="zh-TW" b="0" i="0" kern="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279</m:t>
                    </m:r>
                  </m:oMath>
                </a14:m>
                <a:endParaRPr lang="zh-TW" altLang="en-US" dirty="0"/>
              </a:p>
            </p:txBody>
          </p:sp>
        </mc:Choice>
        <mc:Fallback xmlns="">
          <p:sp>
            <p:nvSpPr>
              <p:cNvPr id="5" name="矩形 4"/>
              <p:cNvSpPr>
                <a:spLocks noRot="1" noChangeAspect="1" noMove="1" noResize="1" noEditPoints="1" noAdjustHandles="1" noChangeArrowheads="1" noChangeShapeType="1" noTextEdit="1"/>
              </p:cNvSpPr>
              <p:nvPr/>
            </p:nvSpPr>
            <p:spPr>
              <a:xfrm>
                <a:off x="1907704" y="4653136"/>
                <a:ext cx="3345018" cy="369332"/>
              </a:xfrm>
              <a:prstGeom prst="rect">
                <a:avLst/>
              </a:prstGeom>
              <a:blipFill>
                <a:blip r:embed="rId3"/>
                <a:stretch>
                  <a:fillRect l="-1639"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658862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227820" y="284176"/>
            <a:ext cx="8229599" cy="1508760"/>
          </a:xfrm>
        </p:spPr>
        <p:txBody>
          <a:bodyPr>
            <a:normAutofit/>
          </a:bodyPr>
          <a:lstStyle/>
          <a:p>
            <a:pPr algn="ctr"/>
            <a:r>
              <a:rPr lang="zh-TW" altLang="zh-TW" sz="3200" dirty="0">
                <a:effectLst/>
                <a:latin typeface="微軟正黑體" panose="020B0604030504040204" pitchFamily="34" charset="-120"/>
                <a:ea typeface="微軟正黑體" panose="020B0604030504040204" pitchFamily="34" charset="-120"/>
              </a:rPr>
              <a:t>連續資料的中位數檢定</a:t>
            </a:r>
            <a:r>
              <a:rPr lang="en-US" altLang="zh-TW" sz="3200" dirty="0">
                <a:effectLst/>
                <a:latin typeface="微軟正黑體" panose="020B0604030504040204" pitchFamily="34" charset="-120"/>
                <a:ea typeface="微軟正黑體" panose="020B0604030504040204" pitchFamily="34" charset="-120"/>
              </a:rPr>
              <a:t>—</a:t>
            </a:r>
            <a:br>
              <a:rPr lang="en-US" altLang="zh-TW" sz="3200" dirty="0">
                <a:effectLst/>
                <a:latin typeface="微軟正黑體" panose="020B0604030504040204" pitchFamily="34" charset="-120"/>
                <a:ea typeface="微軟正黑體" panose="020B0604030504040204" pitchFamily="34" charset="-120"/>
              </a:rPr>
            </a:br>
            <a:r>
              <a:rPr lang="zh-TW" altLang="zh-TW" sz="2800" dirty="0">
                <a:solidFill>
                  <a:srgbClr val="3333CC"/>
                </a:solidFill>
                <a:latin typeface="微軟正黑體" panose="020B0604030504040204" pitchFamily="34" charset="-120"/>
                <a:ea typeface="微軟正黑體" panose="020B0604030504040204" pitchFamily="34" charset="-120"/>
              </a:rPr>
              <a:t>威</a:t>
            </a:r>
            <a:r>
              <a:rPr lang="zh-TW" altLang="en-US" sz="2800" dirty="0">
                <a:solidFill>
                  <a:srgbClr val="3333CC"/>
                </a:solidFill>
                <a:effectLst/>
                <a:latin typeface="微軟正黑體" panose="020B0604030504040204" pitchFamily="34" charset="-120"/>
                <a:ea typeface="微軟正黑體" panose="020B0604030504040204" pitchFamily="34" charset="-120"/>
              </a:rPr>
              <a:t>曼惠特尼</a:t>
            </a:r>
            <a:r>
              <a:rPr lang="en-US" altLang="zh-TW" sz="2800" dirty="0">
                <a:solidFill>
                  <a:srgbClr val="3333CC"/>
                </a:solidFill>
                <a:effectLst/>
                <a:latin typeface="微軟正黑體" panose="020B0604030504040204" pitchFamily="34" charset="-120"/>
                <a:ea typeface="微軟正黑體" panose="020B0604030504040204" pitchFamily="34" charset="-120"/>
              </a:rPr>
              <a:t>U</a:t>
            </a:r>
            <a:r>
              <a:rPr lang="zh-TW" altLang="zh-TW" sz="2800" dirty="0">
                <a:solidFill>
                  <a:srgbClr val="3333CC"/>
                </a:solidFill>
                <a:latin typeface="微軟正黑體" panose="020B0604030504040204" pitchFamily="34" charset="-120"/>
                <a:ea typeface="微軟正黑體" panose="020B0604030504040204" pitchFamily="34" charset="-120"/>
              </a:rPr>
              <a:t>檢定（</a:t>
            </a:r>
            <a:r>
              <a:rPr lang="en-US" altLang="zh-TW" sz="2800" dirty="0">
                <a:solidFill>
                  <a:srgbClr val="3333CC"/>
                </a:solidFill>
                <a:latin typeface="微軟正黑體" panose="020B0604030504040204" pitchFamily="34" charset="-120"/>
                <a:ea typeface="微軟正黑體" panose="020B0604030504040204" pitchFamily="34" charset="-120"/>
              </a:rPr>
              <a:t>Mann-Whitney U</a:t>
            </a:r>
            <a:r>
              <a:rPr lang="zh-TW" altLang="zh-TW" sz="2800" dirty="0">
                <a:solidFill>
                  <a:srgbClr val="3333CC"/>
                </a:solidFill>
                <a:latin typeface="微軟正黑體" panose="020B0604030504040204" pitchFamily="34" charset="-120"/>
                <a:ea typeface="微軟正黑體" panose="020B0604030504040204" pitchFamily="34" charset="-120"/>
              </a:rPr>
              <a:t>）</a:t>
            </a:r>
            <a:endParaRPr lang="zh-TW" altLang="en-US" sz="3200" dirty="0">
              <a:solidFill>
                <a:srgbClr val="3333CC"/>
              </a:solidFill>
              <a:latin typeface="微軟正黑體" panose="020B0604030504040204" pitchFamily="34" charset="-120"/>
              <a:ea typeface="微軟正黑體" panose="020B0604030504040204" pitchFamily="34" charset="-120"/>
            </a:endParaRPr>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07046" y="1990658"/>
                <a:ext cx="8229600" cy="4234475"/>
              </a:xfrm>
            </p:spPr>
            <p:txBody>
              <a:bodyPr>
                <a:normAutofit fontScale="92500" lnSpcReduction="20000"/>
              </a:bodyPr>
              <a:lstStyle/>
              <a:p>
                <a:pPr marL="109728" indent="0">
                  <a:buNone/>
                </a:pPr>
                <a:r>
                  <a:rPr lang="en-US" altLang="zh-TW" dirty="0">
                    <a:latin typeface="微軟正黑體" panose="020B0604030504040204" pitchFamily="34" charset="-120"/>
                    <a:ea typeface="微軟正黑體" panose="020B0604030504040204" pitchFamily="34" charset="-120"/>
                  </a:rPr>
                  <a:t>2.</a:t>
                </a:r>
                <a:r>
                  <a:rPr lang="zh-TW" altLang="en-US"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對立假設：存活組出生體重中位數</a:t>
                </a:r>
                <a:r>
                  <a:rPr lang="zh-TW" altLang="en-US" dirty="0">
                    <a:latin typeface="微軟正黑體" panose="020B0604030504040204" pitchFamily="34" charset="-120"/>
                    <a:ea typeface="微軟正黑體" panose="020B0604030504040204" pitchFamily="34" charset="-120"/>
                  </a:rPr>
                  <a:t>較</a:t>
                </a:r>
                <a:r>
                  <a:rPr lang="zh-TW" altLang="zh-TW" dirty="0">
                    <a:latin typeface="微軟正黑體" panose="020B0604030504040204" pitchFamily="34" charset="-120"/>
                    <a:ea typeface="微軟正黑體" panose="020B0604030504040204" pitchFamily="34" charset="-120"/>
                  </a:rPr>
                  <a:t>死亡組</a:t>
                </a:r>
                <a:r>
                  <a:rPr lang="zh-TW" altLang="en-US" dirty="0">
                    <a:latin typeface="微軟正黑體" panose="020B0604030504040204" pitchFamily="34" charset="-120"/>
                    <a:ea typeface="微軟正黑體" panose="020B0604030504040204" pitchFamily="34" charset="-120"/>
                  </a:rPr>
                  <a:t>大</a:t>
                </a:r>
                <a:r>
                  <a:rPr lang="zh-TW" altLang="zh-TW"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rPr>
                  <a:t>H</a:t>
                </a:r>
                <a:r>
                  <a:rPr lang="en-US" altLang="zh-TW" b="1" baseline="-25000" dirty="0">
                    <a:latin typeface="微軟正黑體" panose="020B0604030504040204" pitchFamily="34" charset="-120"/>
                    <a:ea typeface="微軟正黑體" panose="020B0604030504040204" pitchFamily="34" charset="-120"/>
                  </a:rPr>
                  <a:t>a</a:t>
                </a:r>
                <a:r>
                  <a:rPr lang="zh-TW" altLang="zh-TW" b="1"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1</a:t>
                </a:r>
                <a:r>
                  <a:rPr lang="en-US" altLang="zh-TW" dirty="0">
                    <a:latin typeface="微軟正黑體" panose="020B0604030504040204" pitchFamily="34" charset="-120"/>
                    <a:ea typeface="微軟正黑體" panose="020B0604030504040204" pitchFamily="34" charset="-120"/>
                  </a:rPr>
                  <a:t>-m</a:t>
                </a:r>
                <a:r>
                  <a:rPr lang="en-US" altLang="zh-TW" baseline="-25000" dirty="0">
                    <a:latin typeface="微軟正黑體" panose="020B0604030504040204" pitchFamily="34" charset="-120"/>
                    <a:ea typeface="微軟正黑體" panose="020B0604030504040204" pitchFamily="34" charset="-120"/>
                  </a:rPr>
                  <a:t>2</a:t>
                </a:r>
                <a:r>
                  <a:rPr lang="en-US" altLang="zh-TW" dirty="0">
                    <a:latin typeface="微軟正黑體" panose="020B0604030504040204" pitchFamily="34" charset="-120"/>
                    <a:ea typeface="微軟正黑體" panose="020B0604030504040204" pitchFamily="34" charset="-120"/>
                  </a:rPr>
                  <a:t>&gt;0</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buNone/>
                </a:pPr>
                <a:r>
                  <a:rPr lang="zh-TW" altLang="en-US" kern="0" dirty="0">
                    <a:latin typeface="微軟正黑體" panose="020B0604030504040204" pitchFamily="34" charset="-120"/>
                    <a:ea typeface="微軟正黑體" panose="020B0604030504040204" pitchFamily="34" charset="-120"/>
                  </a:rPr>
                  <a:t>             </a:t>
                </a:r>
                <a:r>
                  <a:rPr lang="en-US" altLang="zh-TW" sz="2400" kern="0" dirty="0">
                    <a:latin typeface="微軟正黑體" panose="020B0604030504040204" pitchFamily="34" charset="-120"/>
                    <a:ea typeface="微軟正黑體" panose="020B0604030504040204" pitchFamily="34" charset="-120"/>
                    <a:cs typeface="Times New Roman" panose="02020603050405020304" pitchFamily="18" charset="0"/>
                  </a:rPr>
                  <a:t>P</a:t>
                </a:r>
                <a:r>
                  <a:rPr lang="zh-TW" altLang="zh-TW" sz="2400" kern="0" dirty="0">
                    <a:latin typeface="微軟正黑體" panose="020B0604030504040204" pitchFamily="34" charset="-120"/>
                    <a:ea typeface="微軟正黑體" panose="020B0604030504040204" pitchFamily="34" charset="-120"/>
                    <a:cs typeface="Times New Roman" panose="02020603050405020304" pitchFamily="18" charset="0"/>
                  </a:rPr>
                  <a:t>值＝</a:t>
                </a:r>
                <a14:m>
                  <m:oMath xmlns:m="http://schemas.openxmlformats.org/officeDocument/2006/math">
                    <m:r>
                      <m:rPr>
                        <m:sty m:val="p"/>
                      </m:rPr>
                      <a:rPr lang="en-US" altLang="zh-TW" sz="2400"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P</m:t>
                    </m:r>
                    <m:d>
                      <m:dPr>
                        <m:ctrlPr>
                          <a:rPr lang="zh-TW" altLang="zh-TW" sz="2400" i="1"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ctrlPr>
                      </m:dPr>
                      <m:e>
                        <m:r>
                          <m:rPr>
                            <m:sty m:val="p"/>
                          </m:rPr>
                          <a:rPr lang="en-US" altLang="zh-TW" sz="2400"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Z</m:t>
                        </m:r>
                        <m:r>
                          <a:rPr lang="en-US" altLang="zh-TW" sz="2400" ker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≥2.19</m:t>
                        </m:r>
                      </m:e>
                    </m:d>
                    <m:r>
                      <a:rPr lang="en-US" altLang="zh-TW" sz="2400" kern="0" smtClean="0">
                        <a:solidFill>
                          <a:schemeClr val="tx1"/>
                        </a:solidFill>
                        <a:latin typeface="Cambria Math" panose="02040503050406030204" pitchFamily="18" charset="0"/>
                        <a:ea typeface="標楷體" panose="03000509000000000000" pitchFamily="65" charset="-120"/>
                        <a:cs typeface="Times New Roman" panose="02020603050405020304" pitchFamily="18" charset="0"/>
                      </a:rPr>
                      <m:t>=0</m:t>
                    </m:r>
                  </m:oMath>
                </a14:m>
                <a:r>
                  <a:rPr lang="en-US" altLang="zh-TW" sz="2400" kern="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.01394</a:t>
                </a:r>
              </a:p>
              <a:p>
                <a:pPr marL="109728" indent="0">
                  <a:buNone/>
                </a:pPr>
                <a:endParaRPr lang="en-US" altLang="zh-TW" sz="2400" kern="0" dirty="0">
                  <a:solidFill>
                    <a:srgbClr val="000000"/>
                  </a:solidFill>
                  <a:latin typeface="微軟正黑體" panose="020B0604030504040204" pitchFamily="34" charset="-120"/>
                  <a:ea typeface="微軟正黑體" panose="020B0604030504040204" pitchFamily="34" charset="-120"/>
                  <a:cs typeface="Times New Roman" panose="02020603050405020304" pitchFamily="18" charset="0"/>
                </a:endParaRPr>
              </a:p>
              <a:p>
                <a:r>
                  <a:rPr lang="zh-TW" altLang="zh-TW" sz="2400" dirty="0">
                    <a:latin typeface="微軟正黑體" panose="020B0604030504040204" pitchFamily="34" charset="-120"/>
                    <a:ea typeface="微軟正黑體" panose="020B0604030504040204" pitchFamily="34" charset="-120"/>
                  </a:rPr>
                  <a:t>結論：顯著水準為</a:t>
                </a:r>
                <a:r>
                  <a:rPr lang="en-US" altLang="zh-TW" sz="2400" dirty="0">
                    <a:latin typeface="微軟正黑體" panose="020B0604030504040204" pitchFamily="34" charset="-120"/>
                    <a:ea typeface="微軟正黑體" panose="020B0604030504040204" pitchFamily="34" charset="-120"/>
                  </a:rPr>
                  <a:t>0.05</a:t>
                </a:r>
                <a:r>
                  <a:rPr lang="zh-TW" altLang="zh-TW" sz="2400" dirty="0">
                    <a:latin typeface="微軟正黑體" panose="020B0604030504040204" pitchFamily="34" charset="-120"/>
                    <a:ea typeface="微軟正黑體" panose="020B0604030504040204" pitchFamily="34" charset="-120"/>
                  </a:rPr>
                  <a:t>下，我們有充份證據顯示存活組出生體重中位數大於死亡組</a:t>
                </a:r>
                <a:r>
                  <a:rPr lang="zh-TW" altLang="en-US" sz="2400" dirty="0">
                    <a:latin typeface="微軟正黑體" panose="020B0604030504040204" pitchFamily="34" charset="-120"/>
                    <a:ea typeface="微軟正黑體" panose="020B0604030504040204" pitchFamily="34" charset="-120"/>
                  </a:rPr>
                  <a:t>。</a:t>
                </a:r>
                <a:endParaRPr lang="en-US" altLang="zh-TW" sz="2400" dirty="0">
                  <a:latin typeface="微軟正黑體" panose="020B0604030504040204" pitchFamily="34" charset="-120"/>
                  <a:ea typeface="微軟正黑體" panose="020B0604030504040204" pitchFamily="34" charset="-120"/>
                </a:endParaRPr>
              </a:p>
              <a:p>
                <a:pPr marL="109728" indent="0">
                  <a:buNone/>
                </a:pPr>
                <a:endParaRPr lang="en-US" altLang="zh-TW" sz="2400" kern="0" dirty="0">
                  <a:solidFill>
                    <a:srgbClr val="000000"/>
                  </a:solidFill>
                  <a:latin typeface="微軟正黑體" panose="020B0604030504040204" pitchFamily="34" charset="-120"/>
                  <a:ea typeface="微軟正黑體" panose="020B0604030504040204" pitchFamily="34" charset="-120"/>
                  <a:cs typeface="Times New Roman" panose="02020603050405020304" pitchFamily="18" charset="0"/>
                </a:endParaRPr>
              </a:p>
              <a:p>
                <a:pPr marL="109728" indent="0">
                  <a:buNone/>
                </a:pPr>
                <a:r>
                  <a:rPr lang="en-US" altLang="zh-TW" dirty="0">
                    <a:latin typeface="微軟正黑體" panose="020B0604030504040204" pitchFamily="34" charset="-120"/>
                    <a:ea typeface="微軟正黑體" panose="020B0604030504040204" pitchFamily="34" charset="-120"/>
                  </a:rPr>
                  <a:t>SPSS:</a:t>
                </a:r>
                <a:endParaRPr lang="zh-TW" altLang="zh-TW" dirty="0">
                  <a:latin typeface="微軟正黑體" panose="020B0604030504040204" pitchFamily="34" charset="-120"/>
                  <a:ea typeface="微軟正黑體" panose="020B0604030504040204" pitchFamily="34" charset="-120"/>
                </a:endParaRPr>
              </a:p>
              <a:p>
                <a:pPr marL="109728" indent="0">
                  <a:buNone/>
                </a:pPr>
                <a:r>
                  <a:rPr lang="zh-TW" altLang="zh-TW" dirty="0">
                    <a:latin typeface="微軟正黑體" panose="020B0604030504040204" pitchFamily="34" charset="-120"/>
                    <a:ea typeface="微軟正黑體" panose="020B0604030504040204" pitchFamily="34" charset="-120"/>
                  </a:rPr>
                  <a:t>分析</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無母數</a:t>
                </a:r>
                <a:r>
                  <a:rPr lang="zh-TW" altLang="en-US" dirty="0">
                    <a:latin typeface="微軟正黑體" panose="020B0604030504040204" pitchFamily="34" charset="-120"/>
                    <a:ea typeface="微軟正黑體" panose="020B0604030504040204" pitchFamily="34" charset="-120"/>
                  </a:rPr>
                  <a:t>檢定</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獨立</a:t>
                </a:r>
                <a:r>
                  <a:rPr lang="zh-TW" altLang="zh-TW" dirty="0">
                    <a:latin typeface="微軟正黑體" panose="020B0604030504040204" pitchFamily="34" charset="-120"/>
                    <a:ea typeface="微軟正黑體" panose="020B0604030504040204" pitchFamily="34" charset="-120"/>
                  </a:rPr>
                  <a:t>樣本</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中位數檢定</a:t>
                </a:r>
                <a:endParaRPr lang="en-US" altLang="zh-TW" dirty="0">
                  <a:latin typeface="微軟正黑體" panose="020B0604030504040204" pitchFamily="34" charset="-120"/>
                  <a:ea typeface="微軟正黑體" panose="020B0604030504040204" pitchFamily="34" charset="-120"/>
                </a:endParaRPr>
              </a:p>
              <a:p>
                <a:pPr marL="109728" indent="0">
                  <a:buNone/>
                </a:pP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目標</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自訂分析</a:t>
                </a:r>
                <a:endParaRPr lang="en-US" altLang="zh-TW" dirty="0">
                  <a:latin typeface="微軟正黑體" panose="020B0604030504040204" pitchFamily="34" charset="-120"/>
                  <a:ea typeface="微軟正黑體" panose="020B0604030504040204" pitchFamily="34" charset="-120"/>
                  <a:sym typeface="Wingdings" panose="05000000000000000000" pitchFamily="2" charset="2"/>
                </a:endParaRPr>
              </a:p>
              <a:p>
                <a:pPr marL="109728" indent="0">
                  <a:buNone/>
                </a:pP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欄位</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-&gt;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檢定欄位</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體重、群組</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死亡</a:t>
                </a:r>
                <a:endParaRPr lang="en-US" altLang="zh-TW" dirty="0">
                  <a:latin typeface="微軟正黑體" panose="020B0604030504040204" pitchFamily="34" charset="-120"/>
                  <a:ea typeface="微軟正黑體" panose="020B0604030504040204" pitchFamily="34" charset="-120"/>
                  <a:sym typeface="Wingdings" panose="05000000000000000000" pitchFamily="2" charset="2"/>
                </a:endParaRPr>
              </a:p>
              <a:p>
                <a:pPr marL="109728" indent="0">
                  <a:buNone/>
                </a:pP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自訂檢定 </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 </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Mann-Whitney U(</a:t>
                </a:r>
                <a:r>
                  <a:rPr lang="zh-TW" altLang="en-US" dirty="0">
                    <a:latin typeface="微軟正黑體" panose="020B0604030504040204" pitchFamily="34" charset="-120"/>
                    <a:ea typeface="微軟正黑體" panose="020B0604030504040204" pitchFamily="34" charset="-120"/>
                    <a:sym typeface="Wingdings" panose="05000000000000000000" pitchFamily="2" charset="2"/>
                  </a:rPr>
                  <a:t>兩個樣本</a:t>
                </a:r>
                <a:r>
                  <a:rPr lang="en-US" altLang="zh-TW" dirty="0">
                    <a:latin typeface="微軟正黑體" panose="020B0604030504040204" pitchFamily="34" charset="-120"/>
                    <a:ea typeface="微軟正黑體" panose="020B0604030504040204" pitchFamily="34" charset="-120"/>
                    <a:sym typeface="Wingdings" panose="05000000000000000000" pitchFamily="2" charset="2"/>
                  </a:rPr>
                  <a:t>)</a:t>
                </a:r>
                <a:endParaRPr lang="zh-TW" altLang="en-US"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07046" y="1990658"/>
                <a:ext cx="8229600" cy="4234475"/>
              </a:xfrm>
              <a:blipFill>
                <a:blip r:embed="rId2"/>
                <a:stretch>
                  <a:fillRect l="-815" t="-2882" b="-865"/>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15</a:t>
            </a:r>
          </a:p>
        </p:txBody>
      </p:sp>
    </p:spTree>
    <p:extLst>
      <p:ext uri="{BB962C8B-B14F-4D97-AF65-F5344CB8AC3E}">
        <p14:creationId xmlns:p14="http://schemas.microsoft.com/office/powerpoint/2010/main" val="26625884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86677" y="260648"/>
            <a:ext cx="8229600" cy="1143000"/>
          </a:xfrm>
        </p:spPr>
        <p:txBody>
          <a:bodyPr/>
          <a:lstStyle/>
          <a:p>
            <a:r>
              <a:rPr lang="en-US" altLang="zh-TW" b="1" dirty="0">
                <a:latin typeface="微軟正黑體" panose="020B0604030504040204" pitchFamily="34" charset="-120"/>
                <a:ea typeface="微軟正黑體" panose="020B0604030504040204" pitchFamily="34" charset="-120"/>
              </a:rPr>
              <a:t>P</a:t>
            </a:r>
            <a:r>
              <a:rPr lang="zh-TW" altLang="zh-TW" b="1" dirty="0">
                <a:latin typeface="微軟正黑體" panose="020B0604030504040204" pitchFamily="34" charset="-120"/>
                <a:ea typeface="微軟正黑體" panose="020B0604030504040204" pitchFamily="34" charset="-120"/>
              </a:rPr>
              <a:t>值</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916832"/>
                <a:ext cx="8229600" cy="3456385"/>
              </a:xfrm>
            </p:spPr>
            <p:txBody>
              <a:bodyPr>
                <a:normAutofit/>
              </a:bodyPr>
              <a:lstStyle/>
              <a:p>
                <a:pPr marL="109728" indent="0">
                  <a:lnSpc>
                    <a:spcPct val="150000"/>
                  </a:lnSpc>
                  <a:buNone/>
                </a:pPr>
                <a:r>
                  <a:rPr lang="en-US" altLang="zh-TW" dirty="0">
                    <a:latin typeface="微軟正黑體" panose="020B0604030504040204" pitchFamily="34" charset="-120"/>
                    <a:ea typeface="微軟正黑體" panose="020B0604030504040204" pitchFamily="34" charset="-120"/>
                  </a:rPr>
                  <a:t>1. </a:t>
                </a:r>
                <a:r>
                  <a:rPr lang="zh-TW" altLang="zh-TW" dirty="0">
                    <a:latin typeface="微軟正黑體" panose="020B0604030504040204" pitchFamily="34" charset="-120"/>
                    <a:ea typeface="微軟正黑體" panose="020B0604030504040204" pitchFamily="34" charset="-120"/>
                  </a:rPr>
                  <a:t>此組樣本提供拒絕虛無假設的證據強弱。若</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值＜顯著水準，則拒絕</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；反之，則不拒絕</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在虛無假設成立下，</a:t>
                </a:r>
                <a:r>
                  <a:rPr lang="zh-TW" altLang="zh-TW" dirty="0">
                    <a:latin typeface="微軟正黑體" panose="020B0604030504040204" pitchFamily="34" charset="-120"/>
                    <a:ea typeface="微軟正黑體" panose="020B0604030504040204" pitchFamily="34" charset="-120"/>
                  </a:rPr>
                  <a:t>統計量之抽樣分配可能會近似常態</a:t>
                </a:r>
                <a:r>
                  <a:rPr lang="en-US" altLang="zh-TW" dirty="0">
                    <a:latin typeface="微軟正黑體" panose="020B0604030504040204" pitchFamily="34" charset="-120"/>
                    <a:ea typeface="微軟正黑體" panose="020B0604030504040204" pitchFamily="34" charset="-120"/>
                  </a:rPr>
                  <a:t> (z) </a:t>
                </a:r>
                <a:r>
                  <a:rPr lang="zh-TW" altLang="zh-TW" dirty="0">
                    <a:latin typeface="微軟正黑體" panose="020B0604030504040204" pitchFamily="34" charset="-120"/>
                    <a:ea typeface="微軟正黑體" panose="020B0604030504040204" pitchFamily="34" charset="-120"/>
                  </a:rPr>
                  <a:t>分配、</a:t>
                </a:r>
                <a14:m>
                  <m:oMath xmlns:m="http://schemas.openxmlformats.org/officeDocument/2006/math">
                    <m:sSup>
                      <m:sSupPr>
                        <m:ctrlPr>
                          <a:rPr lang="zh-TW" altLang="zh-TW" i="1">
                            <a:latin typeface="Cambria Math" panose="02040503050406030204" pitchFamily="18" charset="0"/>
                          </a:rPr>
                        </m:ctrlPr>
                      </m:sSupPr>
                      <m:e>
                        <m:r>
                          <m:rPr>
                            <m:sty m:val="p"/>
                          </m:rPr>
                          <a:rPr lang="en-US" altLang="zh-TW">
                            <a:latin typeface="Cambria Math" panose="02040503050406030204" pitchFamily="18" charset="0"/>
                          </a:rPr>
                          <m:t>χ</m:t>
                        </m:r>
                      </m:e>
                      <m:sup>
                        <m:r>
                          <a:rPr lang="en-US" altLang="zh-TW" i="1">
                            <a:latin typeface="Cambria Math" panose="02040503050406030204" pitchFamily="18" charset="0"/>
                          </a:rPr>
                          <m:t>2</m:t>
                        </m:r>
                      </m:sup>
                    </m:sSup>
                  </m:oMath>
                </a14:m>
                <a:r>
                  <a:rPr lang="zh-TW" altLang="zh-TW" dirty="0">
                    <a:latin typeface="微軟正黑體" panose="020B0604030504040204" pitchFamily="34" charset="-120"/>
                    <a:ea typeface="微軟正黑體" panose="020B0604030504040204" pitchFamily="34" charset="-120"/>
                  </a:rPr>
                  <a:t>分配、</a:t>
                </a:r>
                <a:r>
                  <a:rPr lang="en-US" altLang="zh-TW" dirty="0">
                    <a:latin typeface="微軟正黑體" panose="020B0604030504040204" pitchFamily="34" charset="-120"/>
                    <a:ea typeface="微軟正黑體" panose="020B0604030504040204" pitchFamily="34" charset="-120"/>
                  </a:rPr>
                  <a:t>F</a:t>
                </a:r>
                <a:r>
                  <a:rPr lang="zh-TW" altLang="zh-TW" dirty="0">
                    <a:latin typeface="微軟正黑體" panose="020B0604030504040204" pitchFamily="34" charset="-120"/>
                    <a:ea typeface="微軟正黑體" panose="020B0604030504040204" pitchFamily="34" charset="-120"/>
                  </a:rPr>
                  <a:t>分配</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等。</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值是根據</a:t>
                </a:r>
                <a:r>
                  <a:rPr lang="zh-TW" altLang="zh-TW" b="1" dirty="0">
                    <a:latin typeface="微軟正黑體" panose="020B0604030504040204" pitchFamily="34" charset="-120"/>
                    <a:ea typeface="微軟正黑體" panose="020B0604030504040204" pitchFamily="34" charset="-120"/>
                  </a:rPr>
                  <a:t>資料的檢定統計值在抽樣分配之相對位置</a:t>
                </a:r>
                <a:r>
                  <a:rPr lang="zh-TW" altLang="zh-TW" dirty="0">
                    <a:latin typeface="微軟正黑體" panose="020B0604030504040204" pitchFamily="34" charset="-120"/>
                    <a:ea typeface="微軟正黑體" panose="020B0604030504040204" pitchFamily="34" charset="-120"/>
                  </a:rPr>
                  <a:t>所算出。</a:t>
                </a:r>
                <a:endParaRPr lang="en-US" altLang="zh-TW"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916832"/>
                <a:ext cx="8229600" cy="3456385"/>
              </a:xfrm>
              <a:blipFill>
                <a:blip r:embed="rId2"/>
                <a:stretch>
                  <a:fillRect r="-815"/>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22</a:t>
            </a:r>
          </a:p>
        </p:txBody>
      </p:sp>
    </p:spTree>
    <p:extLst>
      <p:ext uri="{BB962C8B-B14F-4D97-AF65-F5344CB8AC3E}">
        <p14:creationId xmlns:p14="http://schemas.microsoft.com/office/powerpoint/2010/main" val="38996464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zh-TW" b="1" dirty="0">
                <a:latin typeface="微軟正黑體" panose="020B0604030504040204" pitchFamily="34" charset="-120"/>
                <a:ea typeface="微軟正黑體" panose="020B0604030504040204" pitchFamily="34" charset="-120"/>
              </a:rPr>
              <a:t>參數的信賴區間</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a:xfrm>
            <a:off x="323528" y="2204493"/>
            <a:ext cx="8229600" cy="3446958"/>
          </a:xfrm>
        </p:spPr>
        <p:txBody>
          <a:bodyPr/>
          <a:lstStyle/>
          <a:p>
            <a:pPr marL="109728" indent="0">
              <a:lnSpc>
                <a:spcPct val="150000"/>
              </a:lnSpc>
              <a:buNone/>
            </a:pPr>
            <a:r>
              <a:rPr lang="zh-TW" altLang="zh-TW" dirty="0">
                <a:latin typeface="微軟正黑體" panose="020B0604030504040204" pitchFamily="34" charset="-120"/>
                <a:ea typeface="微軟正黑體" panose="020B0604030504040204" pitchFamily="34" charset="-120"/>
              </a:rPr>
              <a:t>經常也可以用來作檢定假設，虛無假設成立時檢定的參數經常已知，此時，若參數的信賴區間包含這個已知值，則不拒絕</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；區間大於或小於這個已知值，則顯示有充份證據拒絕</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。雖然，大部份文獻假設檢定結果多呈現</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值，但信賴區間可提供更多的訊息，不但可知參數的點估計，也呈現準確誤差的程度。</a:t>
            </a:r>
            <a:endParaRPr lang="zh-TW" altLang="en-US" dirty="0">
              <a:latin typeface="微軟正黑體" panose="020B0604030504040204" pitchFamily="34" charset="-120"/>
              <a:ea typeface="微軟正黑體" panose="020B0604030504040204" pitchFamily="34" charset="-120"/>
            </a:endParaRPr>
          </a:p>
          <a:p>
            <a:pPr marL="109728" indent="0">
              <a:buNone/>
            </a:pPr>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23</a:t>
            </a:r>
          </a:p>
        </p:txBody>
      </p:sp>
    </p:spTree>
    <p:extLst>
      <p:ext uri="{BB962C8B-B14F-4D97-AF65-F5344CB8AC3E}">
        <p14:creationId xmlns:p14="http://schemas.microsoft.com/office/powerpoint/2010/main" val="36371716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zh-TW" b="1" dirty="0">
                <a:latin typeface="微軟正黑體" panose="020B0604030504040204" pitchFamily="34" charset="-120"/>
                <a:ea typeface="微軟正黑體" panose="020B0604030504040204" pitchFamily="34" charset="-120"/>
              </a:rPr>
              <a:t>檢定方向</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988840"/>
                <a:ext cx="8229600" cy="4156345"/>
              </a:xfrm>
            </p:spPr>
            <p:txBody>
              <a:bodyPr>
                <a:normAutofit/>
              </a:bodyPr>
              <a:lstStyle/>
              <a:p>
                <a:pPr marL="109728" indent="0">
                  <a:lnSpc>
                    <a:spcPct val="150000"/>
                  </a:lnSpc>
                  <a:buNone/>
                </a:pPr>
                <a:r>
                  <a:rPr lang="zh-TW" altLang="en-US" dirty="0">
                    <a:latin typeface="微軟正黑體" panose="020B0604030504040204" pitchFamily="34" charset="-120"/>
                    <a:ea typeface="微軟正黑體" panose="020B0604030504040204" pitchFamily="34" charset="-120"/>
                  </a:rPr>
                  <a:t>假設檢定可分為</a:t>
                </a:r>
                <a:r>
                  <a:rPr lang="zh-TW" altLang="zh-TW" dirty="0">
                    <a:latin typeface="微軟正黑體" panose="020B0604030504040204" pitchFamily="34" charset="-120"/>
                    <a:ea typeface="微軟正黑體" panose="020B0604030504040204" pitchFamily="34" charset="-120"/>
                  </a:rPr>
                  <a:t>單尾檢定（</a:t>
                </a:r>
                <a:r>
                  <a:rPr lang="en-US" altLang="zh-TW" dirty="0">
                    <a:latin typeface="微軟正黑體" panose="020B0604030504040204" pitchFamily="34" charset="-120"/>
                    <a:ea typeface="微軟正黑體" panose="020B0604030504040204" pitchFamily="34" charset="-120"/>
                  </a:rPr>
                  <a:t>one-sided test</a:t>
                </a:r>
                <a:r>
                  <a:rPr lang="zh-TW" altLang="zh-TW" dirty="0">
                    <a:latin typeface="微軟正黑體" panose="020B0604030504040204" pitchFamily="34" charset="-120"/>
                    <a:ea typeface="微軟正黑體" panose="020B0604030504040204" pitchFamily="34" charset="-120"/>
                  </a:rPr>
                  <a:t>，可分左尾及右尾檢定）、雙尾檢定（</a:t>
                </a:r>
                <a:r>
                  <a:rPr lang="en-US" altLang="zh-TW" dirty="0">
                    <a:latin typeface="微軟正黑體" panose="020B0604030504040204" pitchFamily="34" charset="-120"/>
                    <a:ea typeface="微軟正黑體" panose="020B0604030504040204" pitchFamily="34" charset="-120"/>
                  </a:rPr>
                  <a:t>two-sided test</a:t>
                </a:r>
                <a:r>
                  <a:rPr lang="zh-TW" altLang="zh-TW" dirty="0">
                    <a:latin typeface="微軟正黑體" panose="020B0604030504040204" pitchFamily="34" charset="-120"/>
                    <a:ea typeface="微軟正黑體" panose="020B0604030504040204" pitchFamily="34" charset="-120"/>
                  </a:rPr>
                  <a:t>），區分準則以</a:t>
                </a:r>
                <a:r>
                  <a:rPr lang="zh-TW" altLang="zh-TW" b="1" dirty="0">
                    <a:latin typeface="微軟正黑體" panose="020B0604030504040204" pitchFamily="34" charset="-120"/>
                    <a:ea typeface="微軟正黑體" panose="020B0604030504040204" pitchFamily="34" charset="-120"/>
                  </a:rPr>
                  <a:t>對立假設</a:t>
                </a:r>
                <a:r>
                  <a:rPr lang="zh-TW" altLang="zh-TW" dirty="0">
                    <a:latin typeface="微軟正黑體" panose="020B0604030504040204" pitchFamily="34" charset="-120"/>
                    <a:ea typeface="微軟正黑體" panose="020B0604030504040204" pitchFamily="34" charset="-120"/>
                  </a:rPr>
                  <a:t>而稱之。討論</a:t>
                </a:r>
                <a:r>
                  <a:rPr lang="en-US" altLang="zh-TW" dirty="0">
                    <a:latin typeface="微軟正黑體" panose="020B0604030504040204" pitchFamily="34" charset="-120"/>
                    <a:ea typeface="微軟正黑體" panose="020B0604030504040204" pitchFamily="34" charset="-120"/>
                  </a:rPr>
                  <a:t>PPHN</a:t>
                </a:r>
                <a:r>
                  <a:rPr lang="zh-TW" altLang="zh-TW" dirty="0">
                    <a:latin typeface="微軟正黑體" panose="020B0604030504040204" pitchFamily="34" charset="-120"/>
                    <a:ea typeface="微軟正黑體" panose="020B0604030504040204" pitchFamily="34" charset="-120"/>
                  </a:rPr>
                  <a:t>新生兒酸鹼值是否為中性（</a:t>
                </a:r>
                <a:r>
                  <a:rPr lang="en-US" altLang="zh-TW" dirty="0">
                    <a:latin typeface="微軟正黑體" panose="020B0604030504040204" pitchFamily="34" charset="-120"/>
                    <a:ea typeface="微軟正黑體" panose="020B0604030504040204" pitchFamily="34" charset="-120"/>
                  </a:rPr>
                  <a:t>=7</a:t>
                </a:r>
                <a:r>
                  <a:rPr lang="zh-TW" altLang="zh-TW" dirty="0">
                    <a:latin typeface="微軟正黑體" panose="020B0604030504040204" pitchFamily="34" charset="-120"/>
                    <a:ea typeface="微軟正黑體" panose="020B0604030504040204" pitchFamily="34" charset="-120"/>
                  </a:rPr>
                  <a:t>）為例。</a:t>
                </a:r>
                <a:r>
                  <a:rPr lang="zh-TW" altLang="zh-TW" b="1" dirty="0">
                    <a:latin typeface="微軟正黑體" panose="020B0604030504040204" pitchFamily="34" charset="-120"/>
                    <a:ea typeface="微軟正黑體" panose="020B0604030504040204" pitchFamily="34" charset="-120"/>
                  </a:rPr>
                  <a:t>對立假設的</a:t>
                </a:r>
                <a:r>
                  <a:rPr lang="zh-TW" altLang="zh-TW" dirty="0">
                    <a:latin typeface="微軟正黑體" panose="020B0604030504040204" pitchFamily="34" charset="-120"/>
                    <a:ea typeface="微軟正黑體" panose="020B0604030504040204" pitchFamily="34" charset="-120"/>
                  </a:rPr>
                  <a:t>數學式子為＂不等於＂形式為雙尾檢定，例如：</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a</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14:m>
                  <m:oMath xmlns:m="http://schemas.openxmlformats.org/officeDocument/2006/math">
                    <m:r>
                      <a:rPr lang="en-US" altLang="zh-TW">
                        <a:latin typeface="Cambria Math" panose="02040503050406030204" pitchFamily="18" charset="0"/>
                      </a:rPr>
                      <m:t>≠</m:t>
                    </m:r>
                  </m:oMath>
                </a14:m>
                <a:r>
                  <a:rPr lang="en-US" altLang="zh-TW" dirty="0">
                    <a:latin typeface="微軟正黑體" panose="020B0604030504040204" pitchFamily="34" charset="-120"/>
                    <a:ea typeface="微軟正黑體" panose="020B0604030504040204" pitchFamily="34" charset="-120"/>
                  </a:rPr>
                  <a:t>7</a:t>
                </a:r>
                <a:r>
                  <a:rPr lang="zh-TW" altLang="zh-TW" dirty="0">
                    <a:latin typeface="微軟正黑體" panose="020B0604030504040204" pitchFamily="34" charset="-120"/>
                    <a:ea typeface="微軟正黑體" panose="020B0604030504040204" pitchFamily="34" charset="-120"/>
                  </a:rPr>
                  <a:t>；若是數學式＂大於＂，則稱右尾檢定（</a:t>
                </a:r>
                <a:r>
                  <a:rPr lang="en-US" altLang="zh-TW" dirty="0">
                    <a:latin typeface="微軟正黑體" panose="020B0604030504040204" pitchFamily="34" charset="-120"/>
                    <a:ea typeface="微軟正黑體" panose="020B0604030504040204" pitchFamily="34" charset="-120"/>
                  </a:rPr>
                  <a:t>right tail</a:t>
                </a:r>
                <a:r>
                  <a:rPr lang="zh-TW" altLang="zh-TW" dirty="0">
                    <a:latin typeface="微軟正黑體" panose="020B0604030504040204" pitchFamily="34" charset="-120"/>
                    <a:ea typeface="微軟正黑體" panose="020B0604030504040204" pitchFamily="34" charset="-120"/>
                  </a:rPr>
                  <a:t>），例如：</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a</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7</a:t>
                </a:r>
                <a:r>
                  <a:rPr lang="zh-TW" altLang="zh-TW" dirty="0">
                    <a:latin typeface="微軟正黑體" panose="020B0604030504040204" pitchFamily="34" charset="-120"/>
                    <a:ea typeface="微軟正黑體" panose="020B0604030504040204" pitchFamily="34" charset="-120"/>
                  </a:rPr>
                  <a:t>；若是數學式＂小於＂，則稱左尾檢定（</a:t>
                </a:r>
                <a:r>
                  <a:rPr lang="en-US" altLang="zh-TW" dirty="0">
                    <a:latin typeface="微軟正黑體" panose="020B0604030504040204" pitchFamily="34" charset="-120"/>
                    <a:ea typeface="微軟正黑體" panose="020B0604030504040204" pitchFamily="34" charset="-120"/>
                  </a:rPr>
                  <a:t>left tail</a:t>
                </a:r>
                <a:r>
                  <a:rPr lang="zh-TW" altLang="zh-TW" dirty="0">
                    <a:latin typeface="微軟正黑體" panose="020B0604030504040204" pitchFamily="34" charset="-120"/>
                    <a:ea typeface="微軟正黑體" panose="020B0604030504040204" pitchFamily="34" charset="-120"/>
                  </a:rPr>
                  <a:t>），例如：</a:t>
                </a:r>
                <a:r>
                  <a:rPr lang="en-US" altLang="zh-TW" dirty="0">
                    <a:latin typeface="微軟正黑體" panose="020B0604030504040204" pitchFamily="34" charset="-120"/>
                    <a:ea typeface="微軟正黑體" panose="020B0604030504040204" pitchFamily="34" charset="-120"/>
                  </a:rPr>
                  <a:t>H</a:t>
                </a:r>
                <a:r>
                  <a:rPr lang="en-US" altLang="zh-TW" baseline="-25000" dirty="0">
                    <a:latin typeface="微軟正黑體" panose="020B0604030504040204" pitchFamily="34" charset="-120"/>
                    <a:ea typeface="微軟正黑體" panose="020B0604030504040204" pitchFamily="34" charset="-120"/>
                  </a:rPr>
                  <a:t>a</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μ</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7</a:t>
                </a:r>
                <a:r>
                  <a:rPr lang="zh-TW"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988840"/>
                <a:ext cx="8229600" cy="4156345"/>
              </a:xfrm>
              <a:blipFill>
                <a:blip r:embed="rId2"/>
                <a:stretch>
                  <a:fillRect r="-148"/>
                </a:stretch>
              </a:blipFill>
            </p:spPr>
            <p:txBody>
              <a:bodyPr/>
              <a:lstStyle/>
              <a:p>
                <a:r>
                  <a:rPr lang="zh-TW" altLang="en-US">
                    <a:noFill/>
                  </a:rPr>
                  <a:t> </a:t>
                </a:r>
              </a:p>
            </p:txBody>
          </p:sp>
        </mc:Fallback>
      </mc:AlternateContent>
      <p:sp>
        <p:nvSpPr>
          <p:cNvPr id="5" name="投影片編號版面配置區 4"/>
          <p:cNvSpPr>
            <a:spLocks noGrp="1"/>
          </p:cNvSpPr>
          <p:nvPr>
            <p:ph type="sldNum" sz="quarter" idx="12"/>
          </p:nvPr>
        </p:nvSpPr>
        <p:spPr/>
        <p:txBody>
          <a:bodyPr/>
          <a:lstStyle/>
          <a:p>
            <a:pPr>
              <a:defRPr/>
            </a:pPr>
            <a:r>
              <a:rPr lang="en-US" altLang="zh-TW" dirty="0"/>
              <a:t>24</a:t>
            </a:r>
          </a:p>
        </p:txBody>
      </p:sp>
    </p:spTree>
    <p:extLst>
      <p:ext uri="{BB962C8B-B14F-4D97-AF65-F5344CB8AC3E}">
        <p14:creationId xmlns:p14="http://schemas.microsoft.com/office/powerpoint/2010/main" val="992447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420105"/>
            <a:ext cx="8229600" cy="806037"/>
          </a:xfrm>
        </p:spPr>
        <p:txBody>
          <a:bodyPr/>
          <a:lstStyle/>
          <a:p>
            <a:r>
              <a:rPr lang="zh-TW" altLang="en-US" b="1" dirty="0">
                <a:latin typeface="微軟正黑體" panose="020B0604030504040204" pitchFamily="34" charset="-120"/>
                <a:ea typeface="微軟正黑體" panose="020B0604030504040204" pitchFamily="34" charset="-120"/>
              </a:rPr>
              <a:t>作業</a:t>
            </a:r>
          </a:p>
        </p:txBody>
      </p:sp>
      <p:sp>
        <p:nvSpPr>
          <p:cNvPr id="2" name="內容版面配置區 1"/>
          <p:cNvSpPr>
            <a:spLocks noGrp="1"/>
          </p:cNvSpPr>
          <p:nvPr>
            <p:ph idx="1"/>
          </p:nvPr>
        </p:nvSpPr>
        <p:spPr>
          <a:xfrm>
            <a:off x="323528" y="2132856"/>
            <a:ext cx="8229600" cy="4004509"/>
          </a:xfrm>
        </p:spPr>
        <p:txBody>
          <a:bodyPr>
            <a:normAutofit/>
          </a:bodyPr>
          <a:lstStyle/>
          <a:p>
            <a:r>
              <a:rPr lang="zh-TW" altLang="zh-TW" dirty="0">
                <a:latin typeface="微軟正黑體" panose="020B0604030504040204" pitchFamily="34" charset="-120"/>
                <a:ea typeface="微軟正黑體" panose="020B0604030504040204" pitchFamily="34" charset="-120"/>
              </a:rPr>
              <a:t>請利用</a:t>
            </a:r>
            <a:r>
              <a:rPr lang="zh-TW" altLang="en-US" dirty="0">
                <a:latin typeface="微軟正黑體" panose="020B0604030504040204" pitchFamily="34" charset="-120"/>
                <a:ea typeface="微軟正黑體" panose="020B0604030504040204" pitchFamily="34" charset="-120"/>
              </a:rPr>
              <a:t>大專院校運動代表隊種類（</a:t>
            </a:r>
            <a:r>
              <a:rPr lang="en-US" altLang="zh-TW" dirty="0">
                <a:latin typeface="微軟正黑體" panose="020B0604030504040204" pitchFamily="34" charset="-120"/>
                <a:ea typeface="微軟正黑體" panose="020B0604030504040204" pitchFamily="34" charset="-120"/>
              </a:rPr>
              <a:t>109</a:t>
            </a:r>
            <a:r>
              <a:rPr lang="zh-TW" altLang="en-US" dirty="0">
                <a:latin typeface="微軟正黑體" panose="020B0604030504040204" pitchFamily="34" charset="-120"/>
                <a:ea typeface="微軟正黑體" panose="020B0604030504040204" pitchFamily="34" charset="-120"/>
              </a:rPr>
              <a:t>學年）</a:t>
            </a:r>
            <a:r>
              <a:rPr lang="zh-TW" altLang="zh-TW" dirty="0">
                <a:latin typeface="微軟正黑體" panose="020B0604030504040204" pitchFamily="34" charset="-120"/>
                <a:ea typeface="微軟正黑體" panose="020B0604030504040204" pitchFamily="34" charset="-120"/>
              </a:rPr>
              <a:t>回答下列問題：顯著水準為</a:t>
            </a:r>
            <a:r>
              <a:rPr lang="en-US" altLang="zh-TW" dirty="0">
                <a:latin typeface="微軟正黑體" panose="020B0604030504040204" pitchFamily="34" charset="-120"/>
                <a:ea typeface="微軟正黑體" panose="020B0604030504040204" pitchFamily="34" charset="-120"/>
              </a:rPr>
              <a:t>0.05</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624078" lvl="0" indent="-514350">
              <a:buClrTx/>
              <a:buFont typeface="+mj-lt"/>
              <a:buAutoNum type="arabicPeriod"/>
            </a:pPr>
            <a:r>
              <a:rPr lang="zh-TW" altLang="zh-TW" dirty="0">
                <a:latin typeface="微軟正黑體" panose="020B0604030504040204" pitchFamily="34" charset="-120"/>
                <a:ea typeface="微軟正黑體" panose="020B0604030504040204" pitchFamily="34" charset="-120"/>
              </a:rPr>
              <a:t>在</a:t>
            </a:r>
            <a:r>
              <a:rPr lang="zh-TW" altLang="en-US" dirty="0">
                <a:latin typeface="微軟正黑體" panose="020B0604030504040204" pitchFamily="34" charset="-120"/>
                <a:ea typeface="微軟正黑體" panose="020B0604030504040204" pitchFamily="34" charset="-120"/>
              </a:rPr>
              <a:t>人數與練習時間</a:t>
            </a:r>
            <a:r>
              <a:rPr lang="zh-TW" altLang="zh-TW" dirty="0">
                <a:latin typeface="微軟正黑體" panose="020B0604030504040204" pitchFamily="34" charset="-120"/>
                <a:ea typeface="微軟正黑體" panose="020B0604030504040204" pitchFamily="34" charset="-120"/>
              </a:rPr>
              <a:t>，上述</a:t>
            </a: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個變項中，哪個變項在</a:t>
            </a:r>
            <a:r>
              <a:rPr lang="zh-TW" altLang="en-US" dirty="0">
                <a:latin typeface="微軟正黑體" panose="020B0604030504040204" pitchFamily="34" charset="-120"/>
                <a:ea typeface="微軟正黑體" panose="020B0604030504040204" pitchFamily="34" charset="-120"/>
              </a:rPr>
              <a:t>男子組</a:t>
            </a:r>
            <a:r>
              <a:rPr lang="zh-TW" altLang="zh-TW" dirty="0">
                <a:latin typeface="微軟正黑體" panose="020B0604030504040204" pitchFamily="34" charset="-120"/>
                <a:ea typeface="微軟正黑體" panose="020B0604030504040204" pitchFamily="34" charset="-120"/>
              </a:rPr>
              <a:t>和</a:t>
            </a:r>
            <a:r>
              <a:rPr lang="zh-TW" altLang="en-US" dirty="0">
                <a:latin typeface="微軟正黑體" panose="020B0604030504040204" pitchFamily="34" charset="-120"/>
                <a:ea typeface="微軟正黑體" panose="020B0604030504040204" pitchFamily="34" charset="-120"/>
              </a:rPr>
              <a:t>女子</a:t>
            </a:r>
            <a:r>
              <a:rPr lang="zh-TW" altLang="zh-TW" dirty="0">
                <a:latin typeface="微軟正黑體" panose="020B0604030504040204" pitchFamily="34" charset="-120"/>
                <a:ea typeface="微軟正黑體" panose="020B0604030504040204" pitchFamily="34" charset="-120"/>
              </a:rPr>
              <a:t>兩組別間，其平均數上具有統計上之顯著差異。使用的統計方法稱為什麼？</a:t>
            </a:r>
            <a:endParaRPr lang="en-US" altLang="zh-TW" dirty="0">
              <a:latin typeface="微軟正黑體" panose="020B0604030504040204" pitchFamily="34" charset="-120"/>
              <a:ea typeface="微軟正黑體" panose="020B0604030504040204" pitchFamily="34" charset="-120"/>
            </a:endParaRPr>
          </a:p>
          <a:p>
            <a:pPr marL="624078" lvl="0" indent="-514350">
              <a:buClrTx/>
              <a:buFont typeface="+mj-lt"/>
              <a:buAutoNum type="arabicPeriod"/>
            </a:pPr>
            <a:r>
              <a:rPr lang="zh-TW" altLang="zh-TW" dirty="0">
                <a:latin typeface="微軟正黑體" panose="020B0604030504040204" pitchFamily="34" charset="-120"/>
                <a:ea typeface="微軟正黑體" panose="020B0604030504040204" pitchFamily="34" charset="-120"/>
              </a:rPr>
              <a:t>在</a:t>
            </a:r>
            <a:r>
              <a:rPr lang="zh-TW" altLang="en-US" dirty="0">
                <a:latin typeface="微軟正黑體" panose="020B0604030504040204" pitchFamily="34" charset="-120"/>
                <a:ea typeface="微軟正黑體" panose="020B0604030504040204" pitchFamily="34" charset="-120"/>
              </a:rPr>
              <a:t>人數與練習時間</a:t>
            </a:r>
            <a:r>
              <a:rPr lang="zh-TW" altLang="zh-TW" dirty="0">
                <a:latin typeface="微軟正黑體" panose="020B0604030504040204" pitchFamily="34" charset="-120"/>
                <a:ea typeface="微軟正黑體" panose="020B0604030504040204" pitchFamily="34" charset="-120"/>
              </a:rPr>
              <a:t>，上述</a:t>
            </a:r>
            <a:r>
              <a:rPr lang="en-US" altLang="zh-TW" dirty="0">
                <a:latin typeface="微軟正黑體" panose="020B0604030504040204" pitchFamily="34" charset="-120"/>
                <a:ea typeface="微軟正黑體" panose="020B0604030504040204" pitchFamily="34" charset="-120"/>
              </a:rPr>
              <a:t>2</a:t>
            </a:r>
            <a:r>
              <a:rPr lang="zh-TW" altLang="zh-TW" dirty="0">
                <a:latin typeface="微軟正黑體" panose="020B0604030504040204" pitchFamily="34" charset="-120"/>
                <a:ea typeface="微軟正黑體" panose="020B0604030504040204" pitchFamily="34" charset="-120"/>
              </a:rPr>
              <a:t>個變項中，哪些變項其</a:t>
            </a:r>
            <a:r>
              <a:rPr lang="zh-TW" altLang="en-US" dirty="0">
                <a:latin typeface="微軟正黑體" panose="020B0604030504040204" pitchFamily="34" charset="-120"/>
                <a:ea typeface="微軟正黑體" panose="020B0604030504040204" pitchFamily="34" charset="-120"/>
              </a:rPr>
              <a:t>男子組</a:t>
            </a:r>
            <a:r>
              <a:rPr lang="zh-TW" altLang="zh-TW" dirty="0">
                <a:latin typeface="微軟正黑體" panose="020B0604030504040204" pitchFamily="34" charset="-120"/>
                <a:ea typeface="微軟正黑體" panose="020B0604030504040204" pitchFamily="34" charset="-120"/>
              </a:rPr>
              <a:t>之中位數是顯著大於</a:t>
            </a:r>
            <a:r>
              <a:rPr lang="zh-TW" altLang="en-US" dirty="0">
                <a:latin typeface="微軟正黑體" panose="020B0604030504040204" pitchFamily="34" charset="-120"/>
                <a:ea typeface="微軟正黑體" panose="020B0604030504040204" pitchFamily="34" charset="-120"/>
              </a:rPr>
              <a:t>女子</a:t>
            </a:r>
            <a:r>
              <a:rPr lang="zh-TW" altLang="zh-TW" dirty="0">
                <a:latin typeface="微軟正黑體" panose="020B0604030504040204" pitchFamily="34" charset="-120"/>
                <a:ea typeface="微軟正黑體" panose="020B0604030504040204" pitchFamily="34" charset="-120"/>
              </a:rPr>
              <a:t>組之中位數。使用的統計方法稱為什麼？</a:t>
            </a:r>
          </a:p>
          <a:p>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25</a:t>
            </a:r>
          </a:p>
        </p:txBody>
      </p:sp>
    </p:spTree>
    <p:extLst>
      <p:ext uri="{BB962C8B-B14F-4D97-AF65-F5344CB8AC3E}">
        <p14:creationId xmlns:p14="http://schemas.microsoft.com/office/powerpoint/2010/main" val="310490389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作業</a:t>
            </a:r>
          </a:p>
        </p:txBody>
      </p:sp>
      <p:sp>
        <p:nvSpPr>
          <p:cNvPr id="2" name="內容版面配置區 1"/>
          <p:cNvSpPr>
            <a:spLocks noGrp="1"/>
          </p:cNvSpPr>
          <p:nvPr>
            <p:ph idx="1"/>
          </p:nvPr>
        </p:nvSpPr>
        <p:spPr/>
        <p:txBody>
          <a:bodyPr/>
          <a:lstStyle/>
          <a:p>
            <a:pPr marL="624078" lvl="0" indent="-514350">
              <a:buClrTx/>
              <a:buFont typeface="+mj-lt"/>
              <a:buAutoNum type="arabicPeriod" startAt="3"/>
            </a:pPr>
            <a:r>
              <a:rPr lang="zh-TW" altLang="zh-TW" dirty="0">
                <a:latin typeface="微軟正黑體" panose="020B0604030504040204" pitchFamily="34" charset="-120"/>
                <a:ea typeface="微軟正黑體" panose="020B0604030504040204" pitchFamily="34" charset="-120"/>
              </a:rPr>
              <a:t>在</a:t>
            </a:r>
            <a:r>
              <a:rPr lang="zh-TW" altLang="en-US" dirty="0">
                <a:latin typeface="微軟正黑體" panose="020B0604030504040204" pitchFamily="34" charset="-120"/>
                <a:ea typeface="微軟正黑體" panose="020B0604030504040204" pitchFamily="34" charset="-120"/>
              </a:rPr>
              <a:t>人數多於十人</a:t>
            </a:r>
            <a:r>
              <a:rPr lang="zh-TW" altLang="zh-TW" dirty="0">
                <a:latin typeface="微軟正黑體" panose="020B0604030504040204" pitchFamily="34" charset="-120"/>
                <a:ea typeface="微軟正黑體" panose="020B0604030504040204" pitchFamily="34" charset="-120"/>
              </a:rPr>
              <a:t>這個變項中，哪些變項在</a:t>
            </a:r>
            <a:r>
              <a:rPr lang="zh-TW" altLang="en-US" dirty="0">
                <a:latin typeface="微軟正黑體" panose="020B0604030504040204" pitchFamily="34" charset="-120"/>
                <a:ea typeface="微軟正黑體" panose="020B0604030504040204" pitchFamily="34" charset="-120"/>
              </a:rPr>
              <a:t>男生組</a:t>
            </a:r>
            <a:r>
              <a:rPr lang="zh-TW" altLang="zh-TW" dirty="0">
                <a:latin typeface="微軟正黑體" panose="020B0604030504040204" pitchFamily="34" charset="-120"/>
                <a:ea typeface="微軟正黑體" panose="020B0604030504040204" pitchFamily="34" charset="-120"/>
              </a:rPr>
              <a:t>和</a:t>
            </a:r>
            <a:r>
              <a:rPr lang="zh-TW" altLang="en-US" dirty="0">
                <a:latin typeface="微軟正黑體" panose="020B0604030504040204" pitchFamily="34" charset="-120"/>
                <a:ea typeface="微軟正黑體" panose="020B0604030504040204" pitchFamily="34" charset="-120"/>
              </a:rPr>
              <a:t>女生</a:t>
            </a:r>
            <a:r>
              <a:rPr lang="zh-TW" altLang="zh-TW" dirty="0">
                <a:latin typeface="微軟正黑體" panose="020B0604030504040204" pitchFamily="34" charset="-120"/>
                <a:ea typeface="微軟正黑體" panose="020B0604030504040204" pitchFamily="34" charset="-120"/>
              </a:rPr>
              <a:t>間的比例分布是具有顯著差異。使用的統計方法稱為什麼？</a:t>
            </a:r>
          </a:p>
          <a:p>
            <a:pPr marL="624078" lvl="0" indent="-514350">
              <a:buClrTx/>
              <a:buFont typeface="+mj-lt"/>
              <a:buAutoNum type="arabicPeriod" startAt="3"/>
            </a:pPr>
            <a:r>
              <a:rPr lang="zh-TW" altLang="zh-TW" dirty="0">
                <a:latin typeface="微軟正黑體" panose="020B0604030504040204" pitchFamily="34" charset="-120"/>
                <a:ea typeface="微軟正黑體" panose="020B0604030504040204" pitchFamily="34" charset="-120"/>
              </a:rPr>
              <a:t>上述</a:t>
            </a:r>
            <a:r>
              <a:rPr lang="en-US" altLang="zh-TW" dirty="0">
                <a:latin typeface="微軟正黑體" panose="020B0604030504040204" pitchFamily="34" charset="-120"/>
                <a:ea typeface="微軟正黑體" panose="020B0604030504040204" pitchFamily="34" charset="-120"/>
              </a:rPr>
              <a:t>1.~3.</a:t>
            </a:r>
            <a:r>
              <a:rPr lang="zh-TW" altLang="zh-TW" dirty="0">
                <a:latin typeface="微軟正黑體" panose="020B0604030504040204" pitchFamily="34" charset="-120"/>
                <a:ea typeface="微軟正黑體" panose="020B0604030504040204" pitchFamily="34" charset="-120"/>
              </a:rPr>
              <a:t>問題，分別是雙尾檢定、左尾檢定或右尾檢定？</a:t>
            </a:r>
          </a:p>
          <a:p>
            <a:pPr marL="624078" indent="-514350">
              <a:buClrTx/>
              <a:buFont typeface="+mj-lt"/>
              <a:buAutoNum type="arabicPeriod" startAt="3"/>
            </a:pPr>
            <a:r>
              <a:rPr lang="zh-TW" altLang="zh-TW" dirty="0">
                <a:latin typeface="微軟正黑體" panose="020B0604030504040204" pitchFamily="34" charset="-120"/>
                <a:ea typeface="微軟正黑體" panose="020B0604030504040204" pitchFamily="34" charset="-120"/>
              </a:rPr>
              <a:t>上述</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問題中，在檢定兩組</a:t>
            </a:r>
            <a:r>
              <a:rPr lang="zh-TW" altLang="en-US" dirty="0">
                <a:latin typeface="微軟正黑體" panose="020B0604030504040204" pitchFamily="34" charset="-120"/>
                <a:ea typeface="微軟正黑體" panose="020B0604030504040204" pitchFamily="34" charset="-120"/>
              </a:rPr>
              <a:t>集中趨勢</a:t>
            </a:r>
            <a:r>
              <a:rPr lang="zh-TW" altLang="zh-TW" dirty="0">
                <a:latin typeface="微軟正黑體" panose="020B0604030504040204" pitchFamily="34" charset="-120"/>
                <a:ea typeface="微軟正黑體" panose="020B0604030504040204" pitchFamily="34" charset="-120"/>
              </a:rPr>
              <a:t>是否相等時，你喜歡用什麼方法？為什麼？需要注意哪些假設及條件。</a:t>
            </a:r>
            <a:endParaRPr lang="zh-TW" altLang="en-US" dirty="0">
              <a:latin typeface="微軟正黑體" panose="020B0604030504040204" pitchFamily="34" charset="-120"/>
              <a:ea typeface="微軟正黑體" panose="020B0604030504040204" pitchFamily="34" charset="-120"/>
            </a:endParaRPr>
          </a:p>
        </p:txBody>
      </p:sp>
      <p:sp>
        <p:nvSpPr>
          <p:cNvPr id="5" name="投影片編號版面配置區 4"/>
          <p:cNvSpPr>
            <a:spLocks noGrp="1"/>
          </p:cNvSpPr>
          <p:nvPr>
            <p:ph type="sldNum" sz="quarter" idx="12"/>
          </p:nvPr>
        </p:nvSpPr>
        <p:spPr/>
        <p:txBody>
          <a:bodyPr/>
          <a:lstStyle/>
          <a:p>
            <a:pPr>
              <a:defRPr/>
            </a:pPr>
            <a:r>
              <a:rPr lang="en-US" altLang="zh-TW" dirty="0"/>
              <a:t>26</a:t>
            </a:r>
          </a:p>
        </p:txBody>
      </p:sp>
    </p:spTree>
    <p:extLst>
      <p:ext uri="{BB962C8B-B14F-4D97-AF65-F5344CB8AC3E}">
        <p14:creationId xmlns:p14="http://schemas.microsoft.com/office/powerpoint/2010/main" val="3751015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pPr>
              <a:defRPr/>
            </a:pPr>
            <a:r>
              <a:rPr lang="en-US" altLang="zh-TW" dirty="0"/>
              <a:t>27</a:t>
            </a:r>
          </a:p>
        </p:txBody>
      </p:sp>
      <p:sp>
        <p:nvSpPr>
          <p:cNvPr id="3" name="文字方塊 2">
            <a:extLst>
              <a:ext uri="{FF2B5EF4-FFF2-40B4-BE49-F238E27FC236}">
                <a16:creationId xmlns:a16="http://schemas.microsoft.com/office/drawing/2014/main" id="{7F9437F8-862C-4CEB-8B3C-87FC263B78F7}"/>
              </a:ext>
            </a:extLst>
          </p:cNvPr>
          <p:cNvSpPr txBox="1"/>
          <p:nvPr/>
        </p:nvSpPr>
        <p:spPr>
          <a:xfrm>
            <a:off x="3635896" y="2782669"/>
            <a:ext cx="2520280" cy="646331"/>
          </a:xfrm>
          <a:prstGeom prst="rect">
            <a:avLst/>
          </a:prstGeom>
          <a:noFill/>
        </p:spPr>
        <p:txBody>
          <a:bodyPr wrap="square" rtlCol="0">
            <a:spAutoFit/>
          </a:bodyPr>
          <a:lstStyle/>
          <a:p>
            <a:r>
              <a:rPr lang="en-US" altLang="zh-TW" sz="3600" b="1" dirty="0"/>
              <a:t>Thank you!</a:t>
            </a:r>
            <a:endParaRPr lang="zh-TW" altLang="en-US" sz="3600" b="1"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帶狀">
  <a:themeElements>
    <a:clrScheme name="帶狀">
      <a:dk1>
        <a:sysClr val="windowText" lastClr="000000"/>
      </a:dk1>
      <a:lt1>
        <a:sysClr val="window" lastClr="FFFFFF"/>
      </a:lt1>
      <a:dk2>
        <a:srgbClr val="323232"/>
      </a:dk2>
      <a:lt2>
        <a:srgbClr val="E3DED1"/>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帶狀">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帶狀">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tint val="98000"/>
              </a:schemeClr>
              <a:schemeClr val="phClr">
                <a:tint val="99000"/>
                <a:shade val="96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C3935CB6-B0E3-44A7-AB37-996D901F73AB}"/>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TM03090430[[fn=帶狀]]</Template>
  <TotalTime>341</TotalTime>
  <Words>1646</Words>
  <Application>Microsoft Office PowerPoint</Application>
  <PresentationFormat>如螢幕大小 (4:3)</PresentationFormat>
  <Paragraphs>172</Paragraphs>
  <Slides>23</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23</vt:i4>
      </vt:variant>
    </vt:vector>
  </HeadingPairs>
  <TitlesOfParts>
    <vt:vector size="30" baseType="lpstr">
      <vt:lpstr>微軟正黑體</vt:lpstr>
      <vt:lpstr>Calibri</vt:lpstr>
      <vt:lpstr>Cambria Math</vt:lpstr>
      <vt:lpstr>Corbel</vt:lpstr>
      <vt:lpstr>Times New Roman</vt:lpstr>
      <vt:lpstr>Wingdings</vt:lpstr>
      <vt:lpstr>帶狀</vt:lpstr>
      <vt:lpstr>PowerPoint 簡報</vt:lpstr>
      <vt:lpstr>關鍵字(Key words)</vt:lpstr>
      <vt:lpstr>新生兒持續性肺動脈高壓（persistent pulmonary hypertension of newborn，PPHN）之相關研究</vt:lpstr>
      <vt:lpstr>死亡組及存活組之描述性統計</vt:lpstr>
      <vt:lpstr>PowerPoint 簡報</vt:lpstr>
      <vt:lpstr>連續型資料的平均數檢定 </vt:lpstr>
      <vt:lpstr>T-Distribution</vt:lpstr>
      <vt:lpstr>連續型資料的平均數檢定— 單樣本t 檢定 (one-sample t test)</vt:lpstr>
      <vt:lpstr>PowerPoint 簡報</vt:lpstr>
      <vt:lpstr>連續型資料的平均數檢定— 獨立雙樣本t檢定(two-sample t test)</vt:lpstr>
      <vt:lpstr>連續型資料的平均數檢定— 獨立雙樣本t檢定(two-sample t test)</vt:lpstr>
      <vt:lpstr>連續型資料的平均數檢定— 成對樣本t檢定(paired t test)</vt:lpstr>
      <vt:lpstr>PowerPoint 簡報</vt:lpstr>
      <vt:lpstr>連續資料的中位數檢定(無母數統計方法) -單樣本:  威爾考克森符號等級檢定(Wilcoxon sign-rank test)</vt:lpstr>
      <vt:lpstr>B. 連續資料的中位數檢定</vt:lpstr>
      <vt:lpstr>連續資料的中位數檢定— 曼惠特尼U檢定（Mann-Whitney U）</vt:lpstr>
      <vt:lpstr>連續資料的中位數檢定— 威曼惠特尼U檢定（Mann-Whitney U）</vt:lpstr>
      <vt:lpstr>P值</vt:lpstr>
      <vt:lpstr>參數的信賴區間</vt:lpstr>
      <vt:lpstr>檢定方向</vt:lpstr>
      <vt:lpstr>作業</vt:lpstr>
      <vt:lpstr>作業</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無投影片標題</dc:title>
  <dc:creator>I-Chen Chang</dc:creator>
  <cp:lastModifiedBy>User</cp:lastModifiedBy>
  <cp:revision>439</cp:revision>
  <dcterms:created xsi:type="dcterms:W3CDTF">2002-10-31T16:48:07Z</dcterms:created>
  <dcterms:modified xsi:type="dcterms:W3CDTF">2026-04-11T01:31:52Z</dcterms:modified>
</cp:coreProperties>
</file>