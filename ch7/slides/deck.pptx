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29"/>
  </p:notesMasterIdLst>
  <p:handoutMasterIdLst>
    <p:handoutMasterId r:id="rId30"/>
  </p:handoutMasterIdLst>
  <p:sldIdLst>
    <p:sldId id="285" r:id="rId2"/>
    <p:sldId id="379" r:id="rId3"/>
    <p:sldId id="389" r:id="rId4"/>
    <p:sldId id="388" r:id="rId5"/>
    <p:sldId id="390" r:id="rId6"/>
    <p:sldId id="386" r:id="rId7"/>
    <p:sldId id="387" r:id="rId8"/>
    <p:sldId id="392" r:id="rId9"/>
    <p:sldId id="391" r:id="rId10"/>
    <p:sldId id="393" r:id="rId11"/>
    <p:sldId id="394" r:id="rId12"/>
    <p:sldId id="395" r:id="rId13"/>
    <p:sldId id="396" r:id="rId14"/>
    <p:sldId id="409" r:id="rId15"/>
    <p:sldId id="397" r:id="rId16"/>
    <p:sldId id="398" r:id="rId17"/>
    <p:sldId id="399" r:id="rId18"/>
    <p:sldId id="400" r:id="rId19"/>
    <p:sldId id="402" r:id="rId20"/>
    <p:sldId id="403" r:id="rId21"/>
    <p:sldId id="404" r:id="rId22"/>
    <p:sldId id="405" r:id="rId23"/>
    <p:sldId id="406" r:id="rId24"/>
    <p:sldId id="407" r:id="rId25"/>
    <p:sldId id="408" r:id="rId26"/>
    <p:sldId id="384" r:id="rId27"/>
    <p:sldId id="303" r:id="rId28"/>
  </p:sldIdLst>
  <p:sldSz cx="9144000" cy="6858000" type="screen4x3"/>
  <p:notesSz cx="7010400" cy="91678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7">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CC"/>
    <a:srgbClr val="FF6600"/>
    <a:srgbClr val="FF0000"/>
    <a:srgbClr val="42563C"/>
    <a:srgbClr val="FFFF00"/>
    <a:srgbClr val="CCECFF"/>
    <a:srgbClr val="FFFFCC"/>
    <a:srgbClr val="FFCC66"/>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9656" autoAdjust="0"/>
  </p:normalViewPr>
  <p:slideViewPr>
    <p:cSldViewPr>
      <p:cViewPr varScale="1">
        <p:scale>
          <a:sx n="114" d="100"/>
          <a:sy n="114" d="100"/>
        </p:scale>
        <p:origin x="1524" y="96"/>
      </p:cViewPr>
      <p:guideLst>
        <p:guide orient="horz" pos="2160"/>
        <p:guide pos="2880"/>
      </p:guideLst>
    </p:cSldViewPr>
  </p:slideViewPr>
  <p:outlineViewPr>
    <p:cViewPr>
      <p:scale>
        <a:sx n="33" d="100"/>
        <a:sy n="33" d="100"/>
      </p:scale>
      <p:origin x="0" y="5366"/>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0" d="100"/>
          <a:sy n="40" d="100"/>
        </p:scale>
        <p:origin x="-1488" y="-96"/>
      </p:cViewPr>
      <p:guideLst>
        <p:guide orient="horz" pos="2887"/>
        <p:guide pos="220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lvl1pPr defTabSz="923925">
              <a:defRPr kumimoji="1" sz="1200" smtClean="0"/>
            </a:lvl1pPr>
          </a:lstStyle>
          <a:p>
            <a:pPr>
              <a:defRPr/>
            </a:pPr>
            <a:endParaRPr lang="en-US" altLang="zh-TW"/>
          </a:p>
        </p:txBody>
      </p:sp>
      <p:sp>
        <p:nvSpPr>
          <p:cNvPr id="4099" name="Rectangle 3"/>
          <p:cNvSpPr>
            <a:spLocks noGrp="1" noChangeArrowheads="1"/>
          </p:cNvSpPr>
          <p:nvPr>
            <p:ph type="dt" sz="quarter" idx="1"/>
          </p:nvPr>
        </p:nvSpPr>
        <p:spPr bwMode="auto">
          <a:xfrm>
            <a:off x="3971925" y="0"/>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lvl1pPr algn="r" defTabSz="923925">
              <a:defRPr kumimoji="1" sz="1200" smtClean="0"/>
            </a:lvl1pPr>
          </a:lstStyle>
          <a:p>
            <a:pPr>
              <a:defRPr/>
            </a:pPr>
            <a:endParaRPr lang="en-US" altLang="zh-TW"/>
          </a:p>
        </p:txBody>
      </p:sp>
      <p:sp>
        <p:nvSpPr>
          <p:cNvPr id="4100" name="Rectangle 4"/>
          <p:cNvSpPr>
            <a:spLocks noGrp="1" noChangeArrowheads="1"/>
          </p:cNvSpPr>
          <p:nvPr>
            <p:ph type="ftr" sz="quarter" idx="2"/>
          </p:nvPr>
        </p:nvSpPr>
        <p:spPr bwMode="auto">
          <a:xfrm>
            <a:off x="0" y="8709025"/>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b" anchorCtr="0" compatLnSpc="1">
            <a:prstTxWarp prst="textNoShape">
              <a:avLst/>
            </a:prstTxWarp>
          </a:bodyPr>
          <a:lstStyle>
            <a:lvl1pPr defTabSz="923925">
              <a:defRPr kumimoji="1" sz="1200" smtClean="0"/>
            </a:lvl1pPr>
          </a:lstStyle>
          <a:p>
            <a:pPr>
              <a:defRPr/>
            </a:pPr>
            <a:endParaRPr lang="en-US" altLang="zh-TW"/>
          </a:p>
        </p:txBody>
      </p:sp>
      <p:sp>
        <p:nvSpPr>
          <p:cNvPr id="4101" name="Rectangle 5"/>
          <p:cNvSpPr>
            <a:spLocks noGrp="1" noChangeArrowheads="1"/>
          </p:cNvSpPr>
          <p:nvPr>
            <p:ph type="sldNum" sz="quarter" idx="3"/>
          </p:nvPr>
        </p:nvSpPr>
        <p:spPr bwMode="auto">
          <a:xfrm>
            <a:off x="3971925" y="8709025"/>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b" anchorCtr="0" compatLnSpc="1">
            <a:prstTxWarp prst="textNoShape">
              <a:avLst/>
            </a:prstTxWarp>
          </a:bodyPr>
          <a:lstStyle>
            <a:lvl1pPr algn="r" defTabSz="923925">
              <a:defRPr kumimoji="1" sz="1200" smtClean="0"/>
            </a:lvl1pPr>
          </a:lstStyle>
          <a:p>
            <a:pPr>
              <a:defRPr/>
            </a:pPr>
            <a:fld id="{70F4BBA2-0881-46FD-9FE3-D2C6230B5628}" type="slidenum">
              <a:rPr lang="zh-TW" altLang="en-US"/>
              <a:pPr>
                <a:defRPr/>
              </a:pPr>
              <a:t>‹#›</a:t>
            </a:fld>
            <a:endParaRPr lang="en-US" altLang="zh-TW"/>
          </a:p>
        </p:txBody>
      </p:sp>
    </p:spTree>
    <p:extLst>
      <p:ext uri="{BB962C8B-B14F-4D97-AF65-F5344CB8AC3E}">
        <p14:creationId xmlns:p14="http://schemas.microsoft.com/office/powerpoint/2010/main" val="264312313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lvl1pPr defTabSz="923925">
              <a:defRPr kumimoji="1" sz="1200" smtClean="0"/>
            </a:lvl1pPr>
          </a:lstStyle>
          <a:p>
            <a:pPr>
              <a:defRPr/>
            </a:pPr>
            <a:endParaRPr lang="en-US" altLang="zh-TW"/>
          </a:p>
        </p:txBody>
      </p:sp>
      <p:sp>
        <p:nvSpPr>
          <p:cNvPr id="6147" name="Rectangle 3"/>
          <p:cNvSpPr>
            <a:spLocks noGrp="1" noChangeArrowheads="1"/>
          </p:cNvSpPr>
          <p:nvPr>
            <p:ph type="dt" idx="1"/>
          </p:nvPr>
        </p:nvSpPr>
        <p:spPr bwMode="auto">
          <a:xfrm>
            <a:off x="3971925" y="0"/>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lvl1pPr algn="r" defTabSz="923925">
              <a:defRPr kumimoji="1" sz="1200" smtClean="0"/>
            </a:lvl1pPr>
          </a:lstStyle>
          <a:p>
            <a:pPr>
              <a:defRPr/>
            </a:pPr>
            <a:endParaRPr lang="en-US" altLang="zh-TW"/>
          </a:p>
        </p:txBody>
      </p:sp>
      <p:sp>
        <p:nvSpPr>
          <p:cNvPr id="18436" name="Rectangle 4"/>
          <p:cNvSpPr>
            <a:spLocks noGrp="1" noRot="1" noChangeAspect="1" noChangeArrowheads="1"/>
          </p:cNvSpPr>
          <p:nvPr>
            <p:ph type="sldImg" idx="2"/>
          </p:nvPr>
        </p:nvSpPr>
        <p:spPr bwMode="auto">
          <a:xfrm>
            <a:off x="1212850" y="687388"/>
            <a:ext cx="4584700" cy="3438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5038" y="4354513"/>
            <a:ext cx="5140325" cy="4125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6150" name="Rectangle 6"/>
          <p:cNvSpPr>
            <a:spLocks noGrp="1" noChangeArrowheads="1"/>
          </p:cNvSpPr>
          <p:nvPr>
            <p:ph type="ftr" sz="quarter" idx="4"/>
          </p:nvPr>
        </p:nvSpPr>
        <p:spPr bwMode="auto">
          <a:xfrm>
            <a:off x="0" y="8709025"/>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b" anchorCtr="0" compatLnSpc="1">
            <a:prstTxWarp prst="textNoShape">
              <a:avLst/>
            </a:prstTxWarp>
          </a:bodyPr>
          <a:lstStyle>
            <a:lvl1pPr defTabSz="923925">
              <a:defRPr kumimoji="1" sz="1200" smtClean="0"/>
            </a:lvl1pPr>
          </a:lstStyle>
          <a:p>
            <a:pPr>
              <a:defRPr/>
            </a:pPr>
            <a:endParaRPr lang="en-US" altLang="zh-TW"/>
          </a:p>
        </p:txBody>
      </p:sp>
      <p:sp>
        <p:nvSpPr>
          <p:cNvPr id="6151" name="Rectangle 7"/>
          <p:cNvSpPr>
            <a:spLocks noGrp="1" noChangeArrowheads="1"/>
          </p:cNvSpPr>
          <p:nvPr>
            <p:ph type="sldNum" sz="quarter" idx="5"/>
          </p:nvPr>
        </p:nvSpPr>
        <p:spPr bwMode="auto">
          <a:xfrm>
            <a:off x="3971925" y="8709025"/>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b" anchorCtr="0" compatLnSpc="1">
            <a:prstTxWarp prst="textNoShape">
              <a:avLst/>
            </a:prstTxWarp>
          </a:bodyPr>
          <a:lstStyle>
            <a:lvl1pPr algn="r" defTabSz="923925">
              <a:defRPr kumimoji="1" sz="1200" smtClean="0"/>
            </a:lvl1pPr>
          </a:lstStyle>
          <a:p>
            <a:pPr>
              <a:defRPr/>
            </a:pPr>
            <a:fld id="{F6CB8617-DEA2-4C3F-A6C7-D26FB938FA71}" type="slidenum">
              <a:rPr lang="zh-TW" altLang="en-US"/>
              <a:pPr>
                <a:defRPr/>
              </a:pPr>
              <a:t>‹#›</a:t>
            </a:fld>
            <a:endParaRPr lang="en-US" altLang="zh-TW"/>
          </a:p>
        </p:txBody>
      </p:sp>
    </p:spTree>
    <p:extLst>
      <p:ext uri="{BB962C8B-B14F-4D97-AF65-F5344CB8AC3E}">
        <p14:creationId xmlns:p14="http://schemas.microsoft.com/office/powerpoint/2010/main" val="1532268032"/>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defTabSz="923925" eaLnBrk="0" hangingPunct="0">
              <a:defRPr sz="2400">
                <a:solidFill>
                  <a:schemeClr val="tx1"/>
                </a:solidFill>
                <a:latin typeface="Times New Roman" pitchFamily="18" charset="0"/>
                <a:ea typeface="新細明體" pitchFamily="18" charset="-120"/>
              </a:defRPr>
            </a:lvl1pPr>
            <a:lvl2pPr marL="742950" indent="-285750" defTabSz="923925" eaLnBrk="0" hangingPunct="0">
              <a:defRPr sz="2400">
                <a:solidFill>
                  <a:schemeClr val="tx1"/>
                </a:solidFill>
                <a:latin typeface="Times New Roman" pitchFamily="18" charset="0"/>
                <a:ea typeface="新細明體" pitchFamily="18" charset="-120"/>
              </a:defRPr>
            </a:lvl2pPr>
            <a:lvl3pPr marL="1143000" indent="-228600" defTabSz="923925" eaLnBrk="0" hangingPunct="0">
              <a:defRPr sz="2400">
                <a:solidFill>
                  <a:schemeClr val="tx1"/>
                </a:solidFill>
                <a:latin typeface="Times New Roman" pitchFamily="18" charset="0"/>
                <a:ea typeface="新細明體" pitchFamily="18" charset="-120"/>
              </a:defRPr>
            </a:lvl3pPr>
            <a:lvl4pPr marL="1600200" indent="-228600" defTabSz="923925" eaLnBrk="0" hangingPunct="0">
              <a:defRPr sz="2400">
                <a:solidFill>
                  <a:schemeClr val="tx1"/>
                </a:solidFill>
                <a:latin typeface="Times New Roman" pitchFamily="18" charset="0"/>
                <a:ea typeface="新細明體" pitchFamily="18" charset="-120"/>
              </a:defRPr>
            </a:lvl4pPr>
            <a:lvl5pPr marL="2057400" indent="-228600" defTabSz="923925" eaLnBrk="0" hangingPunct="0">
              <a:defRPr sz="2400">
                <a:solidFill>
                  <a:schemeClr val="tx1"/>
                </a:solidFill>
                <a:latin typeface="Times New Roman" pitchFamily="18" charset="0"/>
                <a:ea typeface="新細明體" pitchFamily="18" charset="-120"/>
              </a:defRPr>
            </a:lvl5pPr>
            <a:lvl6pPr marL="2514600" indent="-228600" defTabSz="923925"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defTabSz="923925"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defTabSz="923925"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defTabSz="923925"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fld id="{B09CE4B1-9B23-4BEE-837D-E673249EFD8C}" type="slidenum">
              <a:rPr lang="zh-TW" altLang="en-US" sz="1200"/>
              <a:pPr eaLnBrk="1" hangingPunct="1"/>
              <a:t>1</a:t>
            </a:fld>
            <a:endParaRPr lang="en-US" altLang="zh-TW" sz="1200"/>
          </a:p>
        </p:txBody>
      </p:sp>
      <p:sp>
        <p:nvSpPr>
          <p:cNvPr id="19459" name="Rectangle 2"/>
          <p:cNvSpPr>
            <a:spLocks noGrp="1" noRot="1" noChangeAspect="1" noChangeArrowheads="1" noTextEdit="1"/>
          </p:cNvSpPr>
          <p:nvPr>
            <p:ph type="sldImg"/>
          </p:nvPr>
        </p:nvSpPr>
        <p:spPr>
          <a:xfrm>
            <a:off x="1220788" y="693738"/>
            <a:ext cx="4567237" cy="3425825"/>
          </a:xfrm>
          <a:ln/>
        </p:spPr>
      </p:sp>
    </p:spTree>
    <p:extLst>
      <p:ext uri="{BB962C8B-B14F-4D97-AF65-F5344CB8AC3E}">
        <p14:creationId xmlns:p14="http://schemas.microsoft.com/office/powerpoint/2010/main" val="64896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pPr>
              <a:defRPr/>
            </a:pPr>
            <a:fld id="{F6CB8617-DEA2-4C3F-A6C7-D26FB938FA71}" type="slidenum">
              <a:rPr lang="zh-TW" altLang="en-US" smtClean="0"/>
              <a:pPr>
                <a:defRPr/>
              </a:pPr>
              <a:t>9</a:t>
            </a:fld>
            <a:endParaRPr lang="en-US" altLang="zh-TW"/>
          </a:p>
        </p:txBody>
      </p:sp>
    </p:spTree>
    <p:extLst>
      <p:ext uri="{BB962C8B-B14F-4D97-AF65-F5344CB8AC3E}">
        <p14:creationId xmlns:p14="http://schemas.microsoft.com/office/powerpoint/2010/main" val="3791918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102240" y="2386744"/>
            <a:ext cx="6939520" cy="1645920"/>
          </a:xfrm>
          <a:solidFill>
            <a:srgbClr val="FFFFFF"/>
          </a:solidFill>
          <a:ln w="38100">
            <a:solidFill>
              <a:srgbClr val="404040"/>
            </a:solidFill>
          </a:ln>
        </p:spPr>
        <p:txBody>
          <a:bodyPr lIns="274320" rIns="274320" anchor="ctr" anchorCtr="1">
            <a:normAutofit/>
          </a:bodyPr>
          <a:lstStyle>
            <a:lvl1pPr algn="ctr">
              <a:defRPr sz="3500">
                <a:solidFill>
                  <a:srgbClr val="262626"/>
                </a:solidFill>
              </a:defRPr>
            </a:lvl1pPr>
          </a:lstStyle>
          <a:p>
            <a:r>
              <a:rPr lang="zh-TW" altLang="en-US"/>
              <a:t>按一下以編輯母片標題樣式</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7" name="Date Placeholder 6"/>
          <p:cNvSpPr>
            <a:spLocks noGrp="1"/>
          </p:cNvSpPr>
          <p:nvPr>
            <p:ph type="dt" sz="half" idx="10"/>
          </p:nvPr>
        </p:nvSpPr>
        <p:spPr/>
        <p:txBody>
          <a:bodyPr/>
          <a:lstStyle/>
          <a:p>
            <a:pPr>
              <a:defRPr/>
            </a:pPr>
            <a:endParaRPr lang="en-US" altLang="zh-TW"/>
          </a:p>
        </p:txBody>
      </p:sp>
      <p:sp>
        <p:nvSpPr>
          <p:cNvPr id="8" name="Footer Placeholder 7"/>
          <p:cNvSpPr>
            <a:spLocks noGrp="1"/>
          </p:cNvSpPr>
          <p:nvPr>
            <p:ph type="ftr" sz="quarter" idx="11"/>
          </p:nvPr>
        </p:nvSpPr>
        <p:spPr/>
        <p:txBody>
          <a:bodyPr/>
          <a:lstStyle/>
          <a:p>
            <a:pPr>
              <a:defRPr/>
            </a:pPr>
            <a:endParaRPr lang="zh-TW" altLang="en-US"/>
          </a:p>
        </p:txBody>
      </p:sp>
      <p:sp>
        <p:nvSpPr>
          <p:cNvPr id="9" name="Slide Number Placeholder 8"/>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33516337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pPr>
              <a:defRPr/>
            </a:pPr>
            <a:endParaRPr lang="en-US" altLang="zh-TW"/>
          </a:p>
        </p:txBody>
      </p:sp>
      <p:sp>
        <p:nvSpPr>
          <p:cNvPr id="8" name="Footer Placeholder 7"/>
          <p:cNvSpPr>
            <a:spLocks noGrp="1"/>
          </p:cNvSpPr>
          <p:nvPr>
            <p:ph type="ftr" sz="quarter" idx="11"/>
          </p:nvPr>
        </p:nvSpPr>
        <p:spPr/>
        <p:txBody>
          <a:bodyPr/>
          <a:lstStyle/>
          <a:p>
            <a:pPr>
              <a:defRPr/>
            </a:pPr>
            <a:endParaRPr lang="zh-TW" altLang="en-US"/>
          </a:p>
        </p:txBody>
      </p:sp>
      <p:sp>
        <p:nvSpPr>
          <p:cNvPr id="9" name="Slide Number Placeholder 8"/>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20899594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106424" y="2386744"/>
            <a:ext cx="6940296" cy="1645920"/>
          </a:xfrm>
          <a:solidFill>
            <a:srgbClr val="FFFFFF"/>
          </a:solidFill>
          <a:ln w="38100">
            <a:solidFill>
              <a:srgbClr val="404040"/>
            </a:solidFill>
          </a:ln>
        </p:spPr>
        <p:txBody>
          <a:bodyPr lIns="274320" rIns="274320" anchor="ctr" anchorCtr="1">
            <a:normAutofit/>
          </a:bodyPr>
          <a:lstStyle>
            <a:lvl1pPr>
              <a:defRPr sz="3500">
                <a:solidFill>
                  <a:srgbClr val="262626"/>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2021396" y="4352465"/>
            <a:ext cx="5101209" cy="1265082"/>
          </a:xfrm>
        </p:spPr>
        <p:txBody>
          <a:bodyPr anchor="t"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7" name="Date Placeholder 6"/>
          <p:cNvSpPr>
            <a:spLocks noGrp="1"/>
          </p:cNvSpPr>
          <p:nvPr>
            <p:ph type="dt" sz="half" idx="10"/>
          </p:nvPr>
        </p:nvSpPr>
        <p:spPr/>
        <p:txBody>
          <a:bodyPr/>
          <a:lstStyle/>
          <a:p>
            <a:pPr>
              <a:defRPr/>
            </a:pPr>
            <a:endParaRPr lang="en-US" altLang="zh-TW"/>
          </a:p>
        </p:txBody>
      </p:sp>
      <p:sp>
        <p:nvSpPr>
          <p:cNvPr id="8" name="Footer Placeholder 7"/>
          <p:cNvSpPr>
            <a:spLocks noGrp="1"/>
          </p:cNvSpPr>
          <p:nvPr>
            <p:ph type="ftr" sz="quarter" idx="11"/>
          </p:nvPr>
        </p:nvSpPr>
        <p:spPr/>
        <p:txBody>
          <a:bodyPr/>
          <a:lstStyle/>
          <a:p>
            <a:pPr>
              <a:defRPr/>
            </a:pPr>
            <a:endParaRPr lang="zh-TW" altLang="en-US"/>
          </a:p>
        </p:txBody>
      </p:sp>
      <p:sp>
        <p:nvSpPr>
          <p:cNvPr id="9" name="Slide Number Placeholder 8"/>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2647707980"/>
      </p:ext>
    </p:extLst>
  </p:cSld>
  <p:clrMapOvr>
    <a:overrideClrMapping bg1="dk1" tx1="lt1" bg2="dk2" tx2="lt2" accent1="accent1" accent2="accent2" accent3="accent3" accent4="accent4" accent5="accent5" accent6="accent6" hlink="hlink" folHlink="folHlink"/>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8" name="Date Placeholder 7"/>
          <p:cNvSpPr>
            <a:spLocks noGrp="1"/>
          </p:cNvSpPr>
          <p:nvPr>
            <p:ph type="dt" sz="half" idx="10"/>
          </p:nvPr>
        </p:nvSpPr>
        <p:spPr/>
        <p:txBody>
          <a:bodyPr/>
          <a:lstStyle/>
          <a:p>
            <a:pPr>
              <a:defRPr/>
            </a:pPr>
            <a:endParaRPr lang="en-US" altLang="zh-TW"/>
          </a:p>
        </p:txBody>
      </p:sp>
      <p:sp>
        <p:nvSpPr>
          <p:cNvPr id="9" name="Footer Placeholder 8"/>
          <p:cNvSpPr>
            <a:spLocks noGrp="1"/>
          </p:cNvSpPr>
          <p:nvPr>
            <p:ph type="ftr" sz="quarter" idx="11"/>
          </p:nvPr>
        </p:nvSpPr>
        <p:spPr/>
        <p:txBody>
          <a:bodyPr/>
          <a:lstStyle/>
          <a:p>
            <a:pPr>
              <a:defRPr/>
            </a:pPr>
            <a:endParaRPr lang="zh-TW" altLang="en-US"/>
          </a:p>
        </p:txBody>
      </p:sp>
      <p:sp>
        <p:nvSpPr>
          <p:cNvPr id="10" name="Slide Number Placeholder 9"/>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4127054743"/>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1102239" y="3143250"/>
            <a:ext cx="3288024" cy="2596776"/>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7" name="Date Placeholder 6"/>
          <p:cNvSpPr>
            <a:spLocks noGrp="1"/>
          </p:cNvSpPr>
          <p:nvPr>
            <p:ph type="dt" sz="half" idx="10"/>
          </p:nvPr>
        </p:nvSpPr>
        <p:spPr/>
        <p:txBody>
          <a:bodyPr/>
          <a:lstStyle/>
          <a:p>
            <a:pPr>
              <a:defRPr/>
            </a:pPr>
            <a:endParaRPr lang="en-US" altLang="zh-TW"/>
          </a:p>
        </p:txBody>
      </p:sp>
      <p:sp>
        <p:nvSpPr>
          <p:cNvPr id="8" name="Footer Placeholder 7"/>
          <p:cNvSpPr>
            <a:spLocks noGrp="1"/>
          </p:cNvSpPr>
          <p:nvPr>
            <p:ph type="ftr" sz="quarter" idx="11"/>
          </p:nvPr>
        </p:nvSpPr>
        <p:spPr/>
        <p:txBody>
          <a:bodyPr/>
          <a:lstStyle/>
          <a:p>
            <a:pPr>
              <a:defRPr/>
            </a:pPr>
            <a:endParaRPr lang="zh-TW" altLang="en-US"/>
          </a:p>
        </p:txBody>
      </p:sp>
      <p:sp>
        <p:nvSpPr>
          <p:cNvPr id="9" name="Slide Number Placeholder 8"/>
          <p:cNvSpPr>
            <a:spLocks noGrp="1"/>
          </p:cNvSpPr>
          <p:nvPr>
            <p:ph type="sldNum" sz="quarter" idx="12"/>
          </p:nvPr>
        </p:nvSpPr>
        <p:spPr/>
        <p:txBody>
          <a:bodyPr/>
          <a:lstStyle/>
          <a:p>
            <a:pPr>
              <a:defRPr/>
            </a:pPr>
            <a:endParaRPr lang="en-US" altLang="zh-TW"/>
          </a:p>
        </p:txBody>
      </p:sp>
      <p:sp>
        <p:nvSpPr>
          <p:cNvPr id="10" name="Title 9"/>
          <p:cNvSpPr>
            <a:spLocks noGrp="1"/>
          </p:cNvSpPr>
          <p:nvPr>
            <p:ph type="title"/>
          </p:nvPr>
        </p:nvSpPr>
        <p:spPr/>
        <p:txBody>
          <a:bodyPr/>
          <a:lstStyle/>
          <a:p>
            <a:r>
              <a:rPr lang="zh-TW" altLang="en-US"/>
              <a:t>按一下以編輯母片標題樣式</a:t>
            </a:r>
            <a:endParaRPr lang="en-US" dirty="0"/>
          </a:p>
        </p:txBody>
      </p:sp>
    </p:spTree>
    <p:extLst>
      <p:ext uri="{BB962C8B-B14F-4D97-AF65-F5344CB8AC3E}">
        <p14:creationId xmlns:p14="http://schemas.microsoft.com/office/powerpoint/2010/main" val="268274012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pPr>
              <a:defRPr/>
            </a:pPr>
            <a:endParaRPr lang="en-US" altLang="zh-TW"/>
          </a:p>
        </p:txBody>
      </p:sp>
      <p:sp>
        <p:nvSpPr>
          <p:cNvPr id="4" name="Footer Placeholder 3"/>
          <p:cNvSpPr>
            <a:spLocks noGrp="1"/>
          </p:cNvSpPr>
          <p:nvPr>
            <p:ph type="ftr" sz="quarter" idx="11"/>
          </p:nvPr>
        </p:nvSpPr>
        <p:spPr/>
        <p:txBody>
          <a:bodyPr/>
          <a:lstStyle/>
          <a:p>
            <a:pPr>
              <a:defRPr/>
            </a:pPr>
            <a:endParaRPr lang="zh-TW" altLang="en-US"/>
          </a:p>
        </p:txBody>
      </p:sp>
      <p:sp>
        <p:nvSpPr>
          <p:cNvPr id="5" name="Slide Number Placeholder 4"/>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1381147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TW"/>
          </a:p>
        </p:txBody>
      </p:sp>
      <p:sp>
        <p:nvSpPr>
          <p:cNvPr id="3" name="Footer Placeholder 2"/>
          <p:cNvSpPr>
            <a:spLocks noGrp="1"/>
          </p:cNvSpPr>
          <p:nvPr>
            <p:ph type="ftr" sz="quarter" idx="11"/>
          </p:nvPr>
        </p:nvSpPr>
        <p:spPr/>
        <p:txBody>
          <a:bodyPr/>
          <a:lstStyle/>
          <a:p>
            <a:pPr>
              <a:defRPr/>
            </a:pPr>
            <a:endParaRPr lang="zh-TW" altLang="en-US"/>
          </a:p>
        </p:txBody>
      </p:sp>
      <p:sp>
        <p:nvSpPr>
          <p:cNvPr id="4" name="Slide Number Placeholder 3"/>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1321716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6" name="Rectangle 25"/>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703" y="2243829"/>
            <a:ext cx="3290594" cy="1141497"/>
          </a:xfrm>
          <a:solidFill>
            <a:srgbClr val="FFFFFF"/>
          </a:solidFill>
          <a:ln>
            <a:solidFill>
              <a:srgbClr val="404040"/>
            </a:solidFill>
          </a:ln>
        </p:spPr>
        <p:txBody>
          <a:bodyPr anchor="ctr" anchorCtr="1">
            <a:normAutofit/>
          </a:bodyPr>
          <a:lstStyle>
            <a:lvl1pPr>
              <a:defRPr sz="2100">
                <a:solidFill>
                  <a:srgbClr val="262626"/>
                </a:solidFill>
              </a:defRPr>
            </a:lvl1pPr>
          </a:lstStyle>
          <a:p>
            <a:r>
              <a:rPr lang="zh-TW" altLang="en-US"/>
              <a:t>按一下以編輯母片標題樣式</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862965" y="3549918"/>
            <a:ext cx="284607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9" name="Date Placeholder 8"/>
          <p:cNvSpPr>
            <a:spLocks noGrp="1"/>
          </p:cNvSpPr>
          <p:nvPr>
            <p:ph type="dt" sz="half" idx="10"/>
          </p:nvPr>
        </p:nvSpPr>
        <p:spPr/>
        <p:txBody>
          <a:bodyPr/>
          <a:lstStyle/>
          <a:p>
            <a:pPr>
              <a:defRPr/>
            </a:pPr>
            <a:endParaRPr lang="en-US" altLang="zh-TW"/>
          </a:p>
        </p:txBody>
      </p:sp>
      <p:sp>
        <p:nvSpPr>
          <p:cNvPr id="10" name="Footer Placeholder 9"/>
          <p:cNvSpPr>
            <a:spLocks noGrp="1"/>
          </p:cNvSpPr>
          <p:nvPr>
            <p:ph type="ftr" sz="quarter" idx="11"/>
          </p:nvPr>
        </p:nvSpPr>
        <p:spPr>
          <a:xfrm>
            <a:off x="640703" y="6236208"/>
            <a:ext cx="3806398" cy="320040"/>
          </a:xfrm>
        </p:spPr>
        <p:txBody>
          <a:bodyPr>
            <a:normAutofit/>
          </a:bodyPr>
          <a:lstStyle>
            <a:lvl1pPr>
              <a:defRPr>
                <a:solidFill>
                  <a:srgbClr val="FFFFFF">
                    <a:alpha val="70000"/>
                  </a:srgbClr>
                </a:solidFill>
              </a:defRPr>
            </a:lvl1pPr>
          </a:lstStyle>
          <a:p>
            <a:pPr>
              <a:defRPr/>
            </a:pPr>
            <a:endParaRPr lang="zh-TW" altLang="en-US"/>
          </a:p>
        </p:txBody>
      </p:sp>
      <p:sp>
        <p:nvSpPr>
          <p:cNvPr id="11" name="Slide Number Placeholder 10"/>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3621697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18" name="Rectangle 17"/>
          <p:cNvSpPr/>
          <p:nvPr/>
        </p:nvSpPr>
        <p:spPr>
          <a:xfrm>
            <a:off x="1" y="0"/>
            <a:ext cx="4571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080" y="2243828"/>
            <a:ext cx="3291840" cy="1143000"/>
          </a:xfrm>
          <a:solidFill>
            <a:srgbClr val="FFFFFF"/>
          </a:solidFill>
          <a:ln>
            <a:solidFill>
              <a:srgbClr val="262626"/>
            </a:solidFill>
          </a:ln>
        </p:spPr>
        <p:txBody>
          <a:bodyPr anchor="ctr" anchorCtr="1">
            <a:noAutofit/>
          </a:bodyPr>
          <a:lstStyle>
            <a:lvl1pPr>
              <a:defRPr sz="2100">
                <a:solidFill>
                  <a:srgbClr val="262626"/>
                </a:solidFill>
              </a:defRPr>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4572000" y="-42172"/>
            <a:ext cx="4576573"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862965" y="3549919"/>
            <a:ext cx="284607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pPr>
              <a:defRPr/>
            </a:pPr>
            <a:endParaRPr lang="en-US" altLang="zh-TW"/>
          </a:p>
        </p:txBody>
      </p:sp>
      <p:sp>
        <p:nvSpPr>
          <p:cNvPr id="9" name="Footer Placeholder 8"/>
          <p:cNvSpPr>
            <a:spLocks noGrp="1"/>
          </p:cNvSpPr>
          <p:nvPr>
            <p:ph type="ftr" sz="quarter" idx="11"/>
          </p:nvPr>
        </p:nvSpPr>
        <p:spPr>
          <a:xfrm>
            <a:off x="640080" y="6236208"/>
            <a:ext cx="3803904" cy="320040"/>
          </a:xfrm>
        </p:spPr>
        <p:txBody>
          <a:bodyPr>
            <a:normAutofit/>
          </a:bodyPr>
          <a:lstStyle>
            <a:lvl1pPr>
              <a:defRPr>
                <a:solidFill>
                  <a:srgbClr val="FFFFFF">
                    <a:alpha val="70000"/>
                  </a:srgbClr>
                </a:solidFill>
              </a:defRPr>
            </a:lvl1pPr>
          </a:lstStyle>
          <a:p>
            <a:pPr>
              <a:defRPr/>
            </a:pPr>
            <a:endParaRPr lang="zh-TW" altLang="en-US"/>
          </a:p>
        </p:txBody>
      </p:sp>
      <p:sp>
        <p:nvSpPr>
          <p:cNvPr id="10" name="Slide Number Placeholder 9"/>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2764606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pPr>
              <a:defRPr/>
            </a:pPr>
            <a:endParaRPr lang="en-US" altLang="zh-TW"/>
          </a:p>
        </p:txBody>
      </p:sp>
      <p:sp>
        <p:nvSpPr>
          <p:cNvPr id="5" name="Footer Placeholder 4"/>
          <p:cNvSpPr>
            <a:spLocks noGrp="1"/>
          </p:cNvSpPr>
          <p:nvPr>
            <p:ph type="ftr" sz="quarter" idx="11"/>
          </p:nvPr>
        </p:nvSpPr>
        <p:spPr/>
        <p:txBody>
          <a:bodyPr/>
          <a:lstStyle/>
          <a:p>
            <a:pPr>
              <a:defRPr/>
            </a:pPr>
            <a:endParaRPr lang="zh-TW" altLang="en-US"/>
          </a:p>
        </p:txBody>
      </p:sp>
      <p:sp>
        <p:nvSpPr>
          <p:cNvPr id="6" name="Slide Number Placeholder 5"/>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391366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pPr>
              <a:defRPr/>
            </a:pPr>
            <a:endParaRPr lang="en-US" altLang="zh-TW"/>
          </a:p>
        </p:txBody>
      </p:sp>
      <p:sp>
        <p:nvSpPr>
          <p:cNvPr id="5" name="Footer Placeholder 4"/>
          <p:cNvSpPr>
            <a:spLocks noGrp="1"/>
          </p:cNvSpPr>
          <p:nvPr>
            <p:ph type="ftr" sz="quarter" idx="11"/>
          </p:nvPr>
        </p:nvSpPr>
        <p:spPr/>
        <p:txBody>
          <a:bodyPr/>
          <a:lstStyle/>
          <a:p>
            <a:pPr>
              <a:defRPr/>
            </a:pPr>
            <a:endParaRPr lang="zh-TW" altLang="en-US"/>
          </a:p>
        </p:txBody>
      </p:sp>
      <p:sp>
        <p:nvSpPr>
          <p:cNvPr id="6" name="Slide Number Placeholder 5"/>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984092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978943" y="6238816"/>
            <a:ext cx="2065310" cy="323968"/>
          </a:xfrm>
          <a:prstGeom prst="rect">
            <a:avLst/>
          </a:prstGeom>
        </p:spPr>
        <p:txBody>
          <a:bodyPr vert="horz" lIns="91440" tIns="45720" rIns="91440" bIns="45720" rtlCol="0" anchor="ctr"/>
          <a:lstStyle>
            <a:lvl1pPr algn="r">
              <a:defRPr sz="1000">
                <a:solidFill>
                  <a:schemeClr val="tx1">
                    <a:alpha val="70000"/>
                  </a:schemeClr>
                </a:solidFill>
              </a:defRPr>
            </a:lvl1pPr>
          </a:lstStyle>
          <a:p>
            <a:pPr>
              <a:defRPr/>
            </a:pPr>
            <a:endParaRPr lang="en-US" altLang="zh-TW"/>
          </a:p>
        </p:txBody>
      </p:sp>
      <p:sp>
        <p:nvSpPr>
          <p:cNvPr id="5" name="Footer Placeholder 4"/>
          <p:cNvSpPr>
            <a:spLocks noGrp="1"/>
          </p:cNvSpPr>
          <p:nvPr>
            <p:ph type="ftr" sz="quarter" idx="3"/>
          </p:nvPr>
        </p:nvSpPr>
        <p:spPr>
          <a:xfrm>
            <a:off x="1102239" y="6236208"/>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pPr>
              <a:defRPr/>
            </a:pPr>
            <a:endParaRPr lang="zh-TW" altLang="en-US"/>
          </a:p>
        </p:txBody>
      </p:sp>
      <p:sp>
        <p:nvSpPr>
          <p:cNvPr id="6" name="Slide Number Placeholder 5"/>
          <p:cNvSpPr>
            <a:spLocks noGrp="1"/>
          </p:cNvSpPr>
          <p:nvPr>
            <p:ph type="sldNum" sz="quarter" idx="4"/>
          </p:nvPr>
        </p:nvSpPr>
        <p:spPr>
          <a:xfrm>
            <a:off x="824011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pPr>
              <a:defRPr/>
            </a:pPr>
            <a:endParaRPr lang="en-US" altLang="zh-TW"/>
          </a:p>
        </p:txBody>
      </p:sp>
    </p:spTree>
    <p:extLst>
      <p:ext uri="{BB962C8B-B14F-4D97-AF65-F5344CB8AC3E}">
        <p14:creationId xmlns:p14="http://schemas.microsoft.com/office/powerpoint/2010/main" val="126861173"/>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hf hdr="0" ftr="0" dt="0"/>
  <p:txStyles>
    <p:titleStyle>
      <a:lvl1pPr algn="ctr" defTabSz="914400" rtl="0" eaLnBrk="1" latinLnBrk="0" hangingPunct="1">
        <a:lnSpc>
          <a:spcPct val="90000"/>
        </a:lnSpc>
        <a:spcBef>
          <a:spcPct val="0"/>
        </a:spcBef>
        <a:buNone/>
        <a:defRPr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23"/>
          <p:cNvSpPr txBox="1">
            <a:spLocks noChangeArrowheads="1"/>
          </p:cNvSpPr>
          <p:nvPr/>
        </p:nvSpPr>
        <p:spPr bwMode="auto">
          <a:xfrm>
            <a:off x="0" y="6521450"/>
            <a:ext cx="2209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sz="2400">
                <a:solidFill>
                  <a:schemeClr val="tx1"/>
                </a:solidFill>
                <a:latin typeface="Times New Roman" pitchFamily="18" charset="0"/>
                <a:ea typeface="新細明體" pitchFamily="18" charset="-120"/>
              </a:defRPr>
            </a:lvl1pPr>
            <a:lvl2pPr marL="742950" indent="-285750" defTabSz="762000" eaLnBrk="0" hangingPunct="0">
              <a:defRPr sz="2400">
                <a:solidFill>
                  <a:schemeClr val="tx1"/>
                </a:solidFill>
                <a:latin typeface="Times New Roman" pitchFamily="18" charset="0"/>
                <a:ea typeface="新細明體" pitchFamily="18" charset="-120"/>
              </a:defRPr>
            </a:lvl2pPr>
            <a:lvl3pPr marL="1143000" indent="-228600" defTabSz="762000" eaLnBrk="0" hangingPunct="0">
              <a:defRPr sz="2400">
                <a:solidFill>
                  <a:schemeClr val="tx1"/>
                </a:solidFill>
                <a:latin typeface="Times New Roman" pitchFamily="18" charset="0"/>
                <a:ea typeface="新細明體" pitchFamily="18" charset="-120"/>
              </a:defRPr>
            </a:lvl3pPr>
            <a:lvl4pPr marL="1600200" indent="-228600" defTabSz="762000" eaLnBrk="0" hangingPunct="0">
              <a:defRPr sz="2400">
                <a:solidFill>
                  <a:schemeClr val="tx1"/>
                </a:solidFill>
                <a:latin typeface="Times New Roman" pitchFamily="18" charset="0"/>
                <a:ea typeface="新細明體" pitchFamily="18" charset="-120"/>
              </a:defRPr>
            </a:lvl4pPr>
            <a:lvl5pPr marL="2057400" indent="-228600" defTabSz="762000" eaLnBrk="0" hangingPunct="0">
              <a:defRPr sz="2400">
                <a:solidFill>
                  <a:schemeClr val="tx1"/>
                </a:solidFill>
                <a:latin typeface="Times New Roman" pitchFamily="18" charset="0"/>
                <a:ea typeface="新細明體" pitchFamily="18" charset="-120"/>
              </a:defRPr>
            </a:lvl5pPr>
            <a:lvl6pPr marL="2514600" indent="-228600" defTabSz="7620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defTabSz="7620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defTabSz="7620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defTabSz="7620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algn="ctr" eaLnBrk="1" hangingPunct="1">
              <a:spcBef>
                <a:spcPct val="50000"/>
              </a:spcBef>
            </a:pPr>
            <a:r>
              <a:rPr kumimoji="1" lang="zh-TW" altLang="en-US" sz="1600">
                <a:ea typeface="標楷體" pitchFamily="65" charset="-120"/>
              </a:rPr>
              <a:t> </a:t>
            </a:r>
            <a:endParaRPr kumimoji="1" lang="en-US" altLang="zh-TW" sz="1600">
              <a:ea typeface="標楷體" pitchFamily="65" charset="-120"/>
            </a:endParaRPr>
          </a:p>
        </p:txBody>
      </p:sp>
      <p:sp>
        <p:nvSpPr>
          <p:cNvPr id="2" name="矩形 1"/>
          <p:cNvSpPr/>
          <p:nvPr/>
        </p:nvSpPr>
        <p:spPr>
          <a:xfrm>
            <a:off x="971600" y="1412776"/>
            <a:ext cx="7272808" cy="1569660"/>
          </a:xfrm>
          <a:prstGeom prst="rect">
            <a:avLst/>
          </a:prstGeom>
        </p:spPr>
        <p:txBody>
          <a:bodyPr wrap="square">
            <a:spAutoFit/>
          </a:bodyPr>
          <a:lstStyle/>
          <a:p>
            <a:pPr algn="ctr"/>
            <a:r>
              <a:rPr lang="zh-TW" altLang="zh-TW" sz="4800" b="1" dirty="0"/>
              <a:t>第七章 </a:t>
            </a:r>
            <a:endParaRPr lang="en-US" altLang="zh-TW" sz="4800" b="1" dirty="0"/>
          </a:p>
          <a:p>
            <a:pPr algn="ctr"/>
            <a:r>
              <a:rPr lang="zh-TW" altLang="zh-TW" sz="4800" b="1" dirty="0"/>
              <a:t>相關和廻歸分析（一）</a:t>
            </a:r>
            <a:endParaRPr lang="zh-TW" altLang="en-US" sz="4800" dirty="0"/>
          </a:p>
        </p:txBody>
      </p:sp>
      <p:sp>
        <p:nvSpPr>
          <p:cNvPr id="3" name="投影片編號版面配置區 2"/>
          <p:cNvSpPr>
            <a:spLocks noGrp="1"/>
          </p:cNvSpPr>
          <p:nvPr>
            <p:ph type="sldNum" sz="quarter" idx="12"/>
          </p:nvPr>
        </p:nvSpPr>
        <p:spPr/>
        <p:txBody>
          <a:bodyPr/>
          <a:lstStyle/>
          <a:p>
            <a:pPr>
              <a:defRPr/>
            </a:pPr>
            <a:r>
              <a:rPr lang="en-US" altLang="zh-TW" dirty="0"/>
              <a:t>1</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xfrm>
            <a:off x="611560" y="476672"/>
            <a:ext cx="8075240" cy="940966"/>
          </a:xfrm>
        </p:spPr>
        <p:txBody>
          <a:bodyPr>
            <a:normAutofit/>
          </a:bodyPr>
          <a:lstStyle/>
          <a:p>
            <a:r>
              <a:rPr lang="zh-TW" altLang="zh-TW" dirty="0">
                <a:effectLst/>
              </a:rPr>
              <a:t>關鍵字</a:t>
            </a:r>
            <a:r>
              <a:rPr lang="en-US" altLang="zh-TW" dirty="0">
                <a:effectLst/>
              </a:rPr>
              <a:t>(Key words)</a:t>
            </a:r>
            <a:endParaRPr lang="zh-TW" altLang="en-US" dirty="0">
              <a:effectLst/>
            </a:endParaRPr>
          </a:p>
        </p:txBody>
      </p:sp>
      <p:sp>
        <p:nvSpPr>
          <p:cNvPr id="2" name="內容版面配置區 1"/>
          <p:cNvSpPr>
            <a:spLocks noGrp="1"/>
          </p:cNvSpPr>
          <p:nvPr>
            <p:ph idx="1"/>
          </p:nvPr>
        </p:nvSpPr>
        <p:spPr>
          <a:xfrm>
            <a:off x="467544" y="1417639"/>
            <a:ext cx="8179728" cy="4758134"/>
          </a:xfrm>
        </p:spPr>
        <p:txBody>
          <a:bodyPr>
            <a:normAutofit/>
          </a:bodyPr>
          <a:lstStyle/>
          <a:p>
            <a:pPr>
              <a:lnSpc>
                <a:spcPct val="150000"/>
              </a:lnSpc>
            </a:pPr>
            <a:r>
              <a:rPr lang="zh-TW" altLang="zh-TW" sz="2800" dirty="0"/>
              <a:t>皮爾生相關係數</a:t>
            </a:r>
            <a:r>
              <a:rPr lang="zh-TW" altLang="zh-TW" sz="2000" dirty="0"/>
              <a:t>（</a:t>
            </a:r>
            <a:r>
              <a:rPr lang="en-US" altLang="zh-TW" sz="2000" dirty="0"/>
              <a:t>Pearson’s correlation coefficient</a:t>
            </a:r>
            <a:r>
              <a:rPr lang="zh-TW" altLang="zh-TW" sz="2000" dirty="0"/>
              <a:t>）</a:t>
            </a:r>
            <a:endParaRPr lang="en-US" altLang="zh-TW" sz="2000" dirty="0"/>
          </a:p>
          <a:p>
            <a:pPr>
              <a:lnSpc>
                <a:spcPct val="150000"/>
              </a:lnSpc>
            </a:pPr>
            <a:r>
              <a:rPr lang="zh-TW" altLang="zh-TW" sz="2800" dirty="0"/>
              <a:t>斯皮爾曼等級相關</a:t>
            </a:r>
            <a:r>
              <a:rPr lang="zh-TW" altLang="zh-TW" sz="2000" dirty="0"/>
              <a:t>（</a:t>
            </a:r>
            <a:r>
              <a:rPr lang="en-US" altLang="zh-TW" sz="2000" dirty="0"/>
              <a:t>Spearman’s rank correlation coefficient</a:t>
            </a:r>
            <a:r>
              <a:rPr lang="zh-TW" altLang="zh-TW" sz="2000" dirty="0"/>
              <a:t>）</a:t>
            </a:r>
            <a:endParaRPr lang="en-US" altLang="zh-TW" sz="2000" dirty="0"/>
          </a:p>
          <a:p>
            <a:pPr>
              <a:lnSpc>
                <a:spcPct val="150000"/>
              </a:lnSpc>
            </a:pPr>
            <a:r>
              <a:rPr lang="zh-TW" altLang="zh-TW" sz="2800" dirty="0"/>
              <a:t>簡單線性迴歸模式</a:t>
            </a:r>
            <a:r>
              <a:rPr lang="zh-TW" altLang="zh-TW" sz="2000" dirty="0"/>
              <a:t>（</a:t>
            </a:r>
            <a:r>
              <a:rPr lang="en-US" altLang="zh-TW" sz="2000" dirty="0"/>
              <a:t>Simple Linear Regression Model</a:t>
            </a:r>
            <a:r>
              <a:rPr lang="zh-TW" altLang="zh-TW" sz="2000" dirty="0"/>
              <a:t>）</a:t>
            </a:r>
            <a:endParaRPr lang="en-US" altLang="zh-TW" sz="2000" dirty="0">
              <a:latin typeface="標楷體" pitchFamily="65" charset="-120"/>
              <a:ea typeface="標楷體" pitchFamily="65" charset="-120"/>
            </a:endParaRPr>
          </a:p>
          <a:p>
            <a:pPr>
              <a:lnSpc>
                <a:spcPct val="150000"/>
              </a:lnSpc>
            </a:pPr>
            <a:r>
              <a:rPr lang="zh-TW" altLang="zh-TW" sz="2800" dirty="0"/>
              <a:t>決定係數</a:t>
            </a:r>
            <a:r>
              <a:rPr lang="en-US" altLang="zh-TW" sz="2800" dirty="0"/>
              <a:t>R</a:t>
            </a:r>
            <a:r>
              <a:rPr lang="zh-TW" altLang="zh-TW" sz="2800" dirty="0"/>
              <a:t>平方值</a:t>
            </a:r>
            <a:r>
              <a:rPr lang="en-US" altLang="zh-TW" sz="2000" dirty="0"/>
              <a:t>(coefficient of determination)</a:t>
            </a:r>
            <a:endParaRPr lang="zh-TW" altLang="zh-TW" sz="2000" dirty="0">
              <a:latin typeface="標楷體" pitchFamily="65" charset="-120"/>
              <a:ea typeface="標楷體" pitchFamily="65" charset="-120"/>
            </a:endParaRPr>
          </a:p>
        </p:txBody>
      </p:sp>
      <p:sp>
        <p:nvSpPr>
          <p:cNvPr id="5" name="投影片編號版面配置區 4"/>
          <p:cNvSpPr>
            <a:spLocks noGrp="1"/>
          </p:cNvSpPr>
          <p:nvPr>
            <p:ph type="sldNum" sz="quarter" idx="12"/>
          </p:nvPr>
        </p:nvSpPr>
        <p:spPr/>
        <p:txBody>
          <a:bodyPr/>
          <a:lstStyle/>
          <a:p>
            <a:pPr>
              <a:defRPr/>
            </a:pPr>
            <a:r>
              <a:rPr lang="en-US" altLang="zh-TW" dirty="0"/>
              <a:t>1</a:t>
            </a:r>
          </a:p>
        </p:txBody>
      </p:sp>
    </p:spTree>
    <p:extLst>
      <p:ext uri="{BB962C8B-B14F-4D97-AF65-F5344CB8AC3E}">
        <p14:creationId xmlns:p14="http://schemas.microsoft.com/office/powerpoint/2010/main" val="142377658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457200" y="476672"/>
            <a:ext cx="8229600" cy="5832648"/>
          </a:xfrm>
        </p:spPr>
        <p:txBody>
          <a:bodyPr>
            <a:normAutofit/>
          </a:bodyPr>
          <a:lstStyle/>
          <a:p>
            <a:pPr>
              <a:lnSpc>
                <a:spcPct val="120000"/>
              </a:lnSpc>
            </a:pPr>
            <a:r>
              <a:rPr lang="zh-TW" altLang="zh-TW" sz="2600" dirty="0"/>
              <a:t>表</a:t>
            </a:r>
            <a:r>
              <a:rPr lang="en-US" altLang="zh-TW" sz="2600" dirty="0"/>
              <a:t>7-1</a:t>
            </a:r>
            <a:r>
              <a:rPr lang="zh-TW" altLang="zh-TW" sz="2600" dirty="0"/>
              <a:t>顯示基隆地區社區整合疾病篩檢研究成果的部份資料，可用來了解心血管疾病和各個可能是風險變項之間的關係</a:t>
            </a:r>
            <a:r>
              <a:rPr lang="zh-TW" altLang="en-US" sz="2600" dirty="0"/>
              <a:t>。</a:t>
            </a:r>
            <a:endParaRPr lang="en-US" altLang="zh-TW" sz="2600" dirty="0"/>
          </a:p>
          <a:p>
            <a:pPr>
              <a:lnSpc>
                <a:spcPct val="120000"/>
              </a:lnSpc>
            </a:pPr>
            <a:r>
              <a:rPr lang="zh-TW" altLang="zh-TW" sz="2600" dirty="0"/>
              <a:t>首先，我們可以應用前面幾章介紹的統計檢定方法檢定心血管疾病的發生是否和可能的風險變數獨立無關亦或相關</a:t>
            </a:r>
            <a:r>
              <a:rPr lang="en-US" altLang="zh-TW" sz="2600" dirty="0"/>
              <a:t>?</a:t>
            </a:r>
          </a:p>
          <a:p>
            <a:pPr>
              <a:lnSpc>
                <a:spcPct val="120000"/>
              </a:lnSpc>
            </a:pPr>
            <a:r>
              <a:rPr lang="zh-TW" altLang="zh-TW" sz="2600" dirty="0"/>
              <a:t>問題是</a:t>
            </a:r>
            <a:r>
              <a:rPr lang="zh-TW" altLang="en-US" sz="2600" dirty="0"/>
              <a:t>，</a:t>
            </a:r>
            <a:r>
              <a:rPr lang="zh-TW" altLang="zh-TW" sz="2600" dirty="0"/>
              <a:t>假如檢定的相關結果是統計上顯著的話，通常下一個重要的問項是</a:t>
            </a:r>
            <a:r>
              <a:rPr lang="zh-TW" altLang="en-US" sz="2600" dirty="0"/>
              <a:t>：</a:t>
            </a:r>
            <a:r>
              <a:rPr lang="en-US" altLang="zh-TW" sz="2600" dirty="0"/>
              <a:t> “</a:t>
            </a:r>
            <a:r>
              <a:rPr lang="zh-TW" altLang="zh-TW" sz="2600" dirty="0"/>
              <a:t>相關</a:t>
            </a:r>
            <a:r>
              <a:rPr lang="zh-TW" altLang="en-US" sz="2600" dirty="0"/>
              <a:t>性</a:t>
            </a:r>
            <a:r>
              <a:rPr lang="zh-TW" altLang="zh-TW" sz="2600" dirty="0"/>
              <a:t>有多大</a:t>
            </a:r>
            <a:r>
              <a:rPr lang="en-US" altLang="zh-TW" sz="2600" dirty="0"/>
              <a:t>?”</a:t>
            </a:r>
          </a:p>
          <a:p>
            <a:pPr lvl="1">
              <a:lnSpc>
                <a:spcPct val="120000"/>
              </a:lnSpc>
            </a:pPr>
            <a:r>
              <a:rPr lang="zh-TW" altLang="zh-TW" sz="2400" dirty="0"/>
              <a:t>圖</a:t>
            </a:r>
            <a:r>
              <a:rPr lang="zh-TW" altLang="en-US" sz="2400" dirty="0"/>
              <a:t>形</a:t>
            </a:r>
            <a:r>
              <a:rPr lang="en-US" altLang="zh-TW" sz="2600" dirty="0"/>
              <a:t>(</a:t>
            </a:r>
            <a:r>
              <a:rPr lang="zh-TW" altLang="zh-TW" sz="2400" dirty="0"/>
              <a:t>兩個連續變項</a:t>
            </a:r>
            <a:r>
              <a:rPr lang="zh-TW" altLang="en-US" sz="2400" dirty="0"/>
              <a:t>可使用</a:t>
            </a:r>
            <a:r>
              <a:rPr lang="zh-TW" altLang="zh-TW" sz="2400" dirty="0"/>
              <a:t>二維散佈圖（</a:t>
            </a:r>
            <a:r>
              <a:rPr lang="en-US" altLang="zh-TW" sz="2400" dirty="0"/>
              <a:t>scatter plot</a:t>
            </a:r>
            <a:r>
              <a:rPr lang="zh-TW" altLang="zh-TW" sz="2400" dirty="0"/>
              <a:t>）</a:t>
            </a:r>
            <a:r>
              <a:rPr lang="en-US" altLang="zh-TW" sz="2400" dirty="0"/>
              <a:t>)</a:t>
            </a:r>
          </a:p>
          <a:p>
            <a:pPr lvl="1">
              <a:lnSpc>
                <a:spcPct val="120000"/>
              </a:lnSpc>
            </a:pPr>
            <a:r>
              <a:rPr lang="zh-TW" altLang="zh-TW" sz="2400" dirty="0"/>
              <a:t>衡量變數相關程度的統計方法</a:t>
            </a:r>
            <a:r>
              <a:rPr lang="en-US" altLang="zh-TW" sz="2400" dirty="0"/>
              <a:t>(</a:t>
            </a:r>
            <a:r>
              <a:rPr lang="zh-TW" altLang="en-US" sz="2400" dirty="0"/>
              <a:t>本章重點於</a:t>
            </a:r>
            <a:r>
              <a:rPr lang="zh-TW" altLang="zh-TW" sz="2400" dirty="0"/>
              <a:t>衡量兩個連續變項關係</a:t>
            </a:r>
            <a:r>
              <a:rPr lang="en-US" altLang="zh-TW" sz="2400" dirty="0"/>
              <a:t>:</a:t>
            </a:r>
            <a:r>
              <a:rPr lang="zh-TW" altLang="en-US" sz="2400" dirty="0"/>
              <a:t> 相關係數、簡單線性廻歸模式</a:t>
            </a:r>
            <a:r>
              <a:rPr lang="en-US" altLang="zh-TW" sz="2400" dirty="0"/>
              <a:t>)</a:t>
            </a:r>
            <a:endParaRPr lang="zh-TW" altLang="en-US" sz="2400" dirty="0"/>
          </a:p>
        </p:txBody>
      </p:sp>
      <p:sp>
        <p:nvSpPr>
          <p:cNvPr id="3" name="投影片編號版面配置區 2"/>
          <p:cNvSpPr>
            <a:spLocks noGrp="1"/>
          </p:cNvSpPr>
          <p:nvPr>
            <p:ph type="sldNum" sz="quarter" idx="12"/>
          </p:nvPr>
        </p:nvSpPr>
        <p:spPr/>
        <p:txBody>
          <a:bodyPr/>
          <a:lstStyle/>
          <a:p>
            <a:pPr>
              <a:defRPr/>
            </a:pPr>
            <a:r>
              <a:rPr lang="en-US" altLang="zh-TW" dirty="0"/>
              <a:t>3</a:t>
            </a:r>
          </a:p>
        </p:txBody>
      </p:sp>
    </p:spTree>
    <p:extLst>
      <p:ext uri="{BB962C8B-B14F-4D97-AF65-F5344CB8AC3E}">
        <p14:creationId xmlns:p14="http://schemas.microsoft.com/office/powerpoint/2010/main" val="289989172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548680"/>
            <a:ext cx="8229600" cy="868958"/>
          </a:xfrm>
        </p:spPr>
        <p:txBody>
          <a:bodyPr>
            <a:normAutofit/>
          </a:bodyPr>
          <a:lstStyle/>
          <a:p>
            <a:pPr lvl="0" algn="ctr"/>
            <a:r>
              <a:rPr lang="zh-TW" altLang="zh-TW" sz="3200" dirty="0">
                <a:effectLst/>
              </a:rPr>
              <a:t>基隆地區社區整合式疾病篩檢資料</a:t>
            </a:r>
            <a:endParaRPr lang="zh-TW" altLang="en-US" sz="3200" dirty="0"/>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602298194"/>
              </p:ext>
            </p:extLst>
          </p:nvPr>
        </p:nvGraphicFramePr>
        <p:xfrm>
          <a:off x="683570" y="1484784"/>
          <a:ext cx="8003230" cy="3723683"/>
        </p:xfrm>
        <a:graphic>
          <a:graphicData uri="http://schemas.openxmlformats.org/drawingml/2006/table">
            <a:tbl>
              <a:tblPr firstRow="1" firstCol="1" bandRow="1">
                <a:tableStyleId>{5C22544A-7EE6-4342-B048-85BDC9FD1C3A}</a:tableStyleId>
              </a:tblPr>
              <a:tblGrid>
                <a:gridCol w="792087">
                  <a:extLst>
                    <a:ext uri="{9D8B030D-6E8A-4147-A177-3AD203B41FA5}">
                      <a16:colId xmlns:a16="http://schemas.microsoft.com/office/drawing/2014/main" val="20000"/>
                    </a:ext>
                  </a:extLst>
                </a:gridCol>
                <a:gridCol w="1481878">
                  <a:extLst>
                    <a:ext uri="{9D8B030D-6E8A-4147-A177-3AD203B41FA5}">
                      <a16:colId xmlns:a16="http://schemas.microsoft.com/office/drawing/2014/main" val="20001"/>
                    </a:ext>
                  </a:extLst>
                </a:gridCol>
                <a:gridCol w="757988">
                  <a:extLst>
                    <a:ext uri="{9D8B030D-6E8A-4147-A177-3AD203B41FA5}">
                      <a16:colId xmlns:a16="http://schemas.microsoft.com/office/drawing/2014/main" val="20002"/>
                    </a:ext>
                  </a:extLst>
                </a:gridCol>
                <a:gridCol w="737310">
                  <a:extLst>
                    <a:ext uri="{9D8B030D-6E8A-4147-A177-3AD203B41FA5}">
                      <a16:colId xmlns:a16="http://schemas.microsoft.com/office/drawing/2014/main" val="20003"/>
                    </a:ext>
                  </a:extLst>
                </a:gridCol>
                <a:gridCol w="836966">
                  <a:extLst>
                    <a:ext uri="{9D8B030D-6E8A-4147-A177-3AD203B41FA5}">
                      <a16:colId xmlns:a16="http://schemas.microsoft.com/office/drawing/2014/main" val="20004"/>
                    </a:ext>
                  </a:extLst>
                </a:gridCol>
                <a:gridCol w="1070599">
                  <a:extLst>
                    <a:ext uri="{9D8B030D-6E8A-4147-A177-3AD203B41FA5}">
                      <a16:colId xmlns:a16="http://schemas.microsoft.com/office/drawing/2014/main" val="20005"/>
                    </a:ext>
                  </a:extLst>
                </a:gridCol>
                <a:gridCol w="1070599">
                  <a:extLst>
                    <a:ext uri="{9D8B030D-6E8A-4147-A177-3AD203B41FA5}">
                      <a16:colId xmlns:a16="http://schemas.microsoft.com/office/drawing/2014/main" val="20006"/>
                    </a:ext>
                  </a:extLst>
                </a:gridCol>
                <a:gridCol w="1255803">
                  <a:extLst>
                    <a:ext uri="{9D8B030D-6E8A-4147-A177-3AD203B41FA5}">
                      <a16:colId xmlns:a16="http://schemas.microsoft.com/office/drawing/2014/main" val="20007"/>
                    </a:ext>
                  </a:extLst>
                </a:gridCol>
              </a:tblGrid>
              <a:tr h="685800">
                <a:tc>
                  <a:txBody>
                    <a:bodyPr/>
                    <a:lstStyle/>
                    <a:p>
                      <a:pPr algn="ctr">
                        <a:spcAft>
                          <a:spcPts val="0"/>
                        </a:spcAft>
                      </a:pPr>
                      <a:r>
                        <a:rPr lang="zh-TW" sz="2000" kern="0" dirty="0">
                          <a:effectLst/>
                        </a:rPr>
                        <a:t>編號</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zh-TW" sz="2000" kern="0" dirty="0">
                          <a:effectLst/>
                        </a:rPr>
                        <a:t>心血管疾病</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zh-TW" sz="2000" kern="0" dirty="0">
                          <a:effectLst/>
                        </a:rPr>
                        <a:t>年齡</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zh-TW" sz="2000" kern="0" dirty="0">
                          <a:effectLst/>
                        </a:rPr>
                        <a:t>性別</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zh-TW" sz="2000" kern="0" dirty="0">
                          <a:effectLst/>
                        </a:rPr>
                        <a:t>腰圍</a:t>
                      </a:r>
                      <a:endParaRPr lang="zh-TW" sz="2000" kern="100" dirty="0">
                        <a:effectLst/>
                      </a:endParaRPr>
                    </a:p>
                    <a:p>
                      <a:pPr algn="ctr">
                        <a:spcAft>
                          <a:spcPts val="0"/>
                        </a:spcAft>
                      </a:pPr>
                      <a:r>
                        <a:rPr lang="en-US" sz="2000" kern="0" dirty="0">
                          <a:effectLst/>
                        </a:rPr>
                        <a:t>(cm)</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zh-TW" sz="2000" kern="0" dirty="0">
                          <a:effectLst/>
                        </a:rPr>
                        <a:t>收縮壓</a:t>
                      </a:r>
                      <a:endParaRPr lang="zh-TW" sz="2000" kern="100" dirty="0">
                        <a:effectLst/>
                      </a:endParaRPr>
                    </a:p>
                    <a:p>
                      <a:pPr algn="ctr">
                        <a:spcAft>
                          <a:spcPts val="0"/>
                        </a:spcAft>
                      </a:pPr>
                      <a:r>
                        <a:rPr lang="en-US" sz="2000" kern="0" dirty="0">
                          <a:effectLst/>
                        </a:rPr>
                        <a:t>(mmHg)</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zh-TW" sz="2000" kern="0" dirty="0">
                          <a:effectLst/>
                        </a:rPr>
                        <a:t>舒張壓</a:t>
                      </a:r>
                      <a:endParaRPr lang="zh-TW" sz="2000" kern="100" dirty="0">
                        <a:effectLst/>
                      </a:endParaRPr>
                    </a:p>
                    <a:p>
                      <a:pPr algn="ctr">
                        <a:spcAft>
                          <a:spcPts val="0"/>
                        </a:spcAft>
                      </a:pPr>
                      <a:r>
                        <a:rPr lang="en-US" sz="2000" kern="0" dirty="0">
                          <a:effectLst/>
                        </a:rPr>
                        <a:t>(mmHg)</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zh-TW" sz="2000" kern="0">
                          <a:effectLst/>
                        </a:rPr>
                        <a:t>飯前血糖</a:t>
                      </a:r>
                      <a:endParaRPr lang="zh-TW" sz="2000" kern="100">
                        <a:effectLst/>
                      </a:endParaRPr>
                    </a:p>
                    <a:p>
                      <a:pPr algn="ctr">
                        <a:spcAft>
                          <a:spcPts val="0"/>
                        </a:spcAft>
                      </a:pPr>
                      <a:r>
                        <a:rPr lang="en-US" sz="2000" kern="0">
                          <a:effectLst/>
                        </a:rPr>
                        <a:t>(mg/dl)</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extLst>
                  <a:ext uri="{0D108BD9-81ED-4DB2-BD59-A6C34878D82A}">
                    <a16:rowId xmlns:a16="http://schemas.microsoft.com/office/drawing/2014/main" val="10000"/>
                  </a:ext>
                </a:extLst>
              </a:tr>
              <a:tr h="228600">
                <a:tc>
                  <a:txBody>
                    <a:bodyPr/>
                    <a:lstStyle/>
                    <a:p>
                      <a:pPr algn="ctr">
                        <a:spcAft>
                          <a:spcPts val="0"/>
                        </a:spcAft>
                      </a:pPr>
                      <a:r>
                        <a:rPr lang="en-US" sz="2000" kern="0">
                          <a:effectLst/>
                        </a:rPr>
                        <a:t>1</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0</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51</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1</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81</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138</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87</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194</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extLst>
                  <a:ext uri="{0D108BD9-81ED-4DB2-BD59-A6C34878D82A}">
                    <a16:rowId xmlns:a16="http://schemas.microsoft.com/office/drawing/2014/main" val="10001"/>
                  </a:ext>
                </a:extLst>
              </a:tr>
              <a:tr h="228600">
                <a:tc>
                  <a:txBody>
                    <a:bodyPr/>
                    <a:lstStyle/>
                    <a:p>
                      <a:pPr algn="ctr">
                        <a:spcAft>
                          <a:spcPts val="0"/>
                        </a:spcAft>
                      </a:pPr>
                      <a:r>
                        <a:rPr lang="en-US" sz="2000" kern="0">
                          <a:effectLst/>
                        </a:rPr>
                        <a:t>2</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0</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52</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1</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79</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98</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66</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101</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extLst>
                  <a:ext uri="{0D108BD9-81ED-4DB2-BD59-A6C34878D82A}">
                    <a16:rowId xmlns:a16="http://schemas.microsoft.com/office/drawing/2014/main" val="10002"/>
                  </a:ext>
                </a:extLst>
              </a:tr>
              <a:tr h="228600">
                <a:tc>
                  <a:txBody>
                    <a:bodyPr/>
                    <a:lstStyle/>
                    <a:p>
                      <a:pPr algn="ctr">
                        <a:spcAft>
                          <a:spcPts val="0"/>
                        </a:spcAft>
                      </a:pPr>
                      <a:r>
                        <a:rPr lang="en-US" sz="2000" kern="0">
                          <a:effectLst/>
                        </a:rPr>
                        <a:t>3</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0</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50</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1</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86.5</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135</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97</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90</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extLst>
                  <a:ext uri="{0D108BD9-81ED-4DB2-BD59-A6C34878D82A}">
                    <a16:rowId xmlns:a16="http://schemas.microsoft.com/office/drawing/2014/main" val="10003"/>
                  </a:ext>
                </a:extLst>
              </a:tr>
              <a:tr h="228600">
                <a:tc>
                  <a:txBody>
                    <a:bodyPr/>
                    <a:lstStyle/>
                    <a:p>
                      <a:pPr algn="ctr">
                        <a:spcAft>
                          <a:spcPts val="0"/>
                        </a:spcAft>
                      </a:pPr>
                      <a:r>
                        <a:rPr lang="en-US" sz="2000" kern="0">
                          <a:effectLst/>
                        </a:rPr>
                        <a:t>4</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0</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47</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1</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84</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117.5</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88.5</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88</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extLst>
                  <a:ext uri="{0D108BD9-81ED-4DB2-BD59-A6C34878D82A}">
                    <a16:rowId xmlns:a16="http://schemas.microsoft.com/office/drawing/2014/main" val="10004"/>
                  </a:ext>
                </a:extLst>
              </a:tr>
              <a:tr h="228600">
                <a:tc>
                  <a:txBody>
                    <a:bodyPr/>
                    <a:lstStyle/>
                    <a:p>
                      <a:pPr algn="ctr">
                        <a:spcAft>
                          <a:spcPts val="0"/>
                        </a:spcAft>
                      </a:pPr>
                      <a:r>
                        <a:rPr lang="en-US" sz="2000" kern="0">
                          <a:effectLst/>
                        </a:rPr>
                        <a:t>5</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1</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59</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1</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96</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153</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91.5</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90</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extLst>
                  <a:ext uri="{0D108BD9-81ED-4DB2-BD59-A6C34878D82A}">
                    <a16:rowId xmlns:a16="http://schemas.microsoft.com/office/drawing/2014/main" val="10005"/>
                  </a:ext>
                </a:extLst>
              </a:tr>
              <a:tr h="228600">
                <a:tc>
                  <a:txBody>
                    <a:bodyPr/>
                    <a:lstStyle/>
                    <a:p>
                      <a:pPr algn="ctr">
                        <a:spcAft>
                          <a:spcPts val="0"/>
                        </a:spcAft>
                      </a:pPr>
                      <a:r>
                        <a:rPr lang="en-US" sz="2000" kern="0">
                          <a:effectLst/>
                        </a:rPr>
                        <a:t>6</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1</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55</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1</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94</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191</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135</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200</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extLst>
                  <a:ext uri="{0D108BD9-81ED-4DB2-BD59-A6C34878D82A}">
                    <a16:rowId xmlns:a16="http://schemas.microsoft.com/office/drawing/2014/main" val="10006"/>
                  </a:ext>
                </a:extLst>
              </a:tr>
              <a:tr h="228600">
                <a:tc>
                  <a:txBody>
                    <a:bodyPr/>
                    <a:lstStyle/>
                    <a:p>
                      <a:pPr algn="ctr">
                        <a:spcAft>
                          <a:spcPts val="0"/>
                        </a:spcAft>
                      </a:pPr>
                      <a:r>
                        <a:rPr lang="en-US" sz="2000" kern="0">
                          <a:effectLst/>
                        </a:rPr>
                        <a:t>7</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0</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53</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1</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67</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134.5</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93</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148</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extLst>
                  <a:ext uri="{0D108BD9-81ED-4DB2-BD59-A6C34878D82A}">
                    <a16:rowId xmlns:a16="http://schemas.microsoft.com/office/drawing/2014/main" val="10007"/>
                  </a:ext>
                </a:extLst>
              </a:tr>
              <a:tr h="228600">
                <a:tc>
                  <a:txBody>
                    <a:bodyPr/>
                    <a:lstStyle/>
                    <a:p>
                      <a:pPr algn="ctr">
                        <a:spcAft>
                          <a:spcPts val="0"/>
                        </a:spcAft>
                      </a:pPr>
                      <a:r>
                        <a:rPr lang="en-US" sz="2000" kern="0">
                          <a:effectLst/>
                        </a:rPr>
                        <a:t>8</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0</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48</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1</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a:effectLst/>
                        </a:rPr>
                        <a:t>87</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135.5</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97.5</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tc>
                  <a:txBody>
                    <a:bodyPr/>
                    <a:lstStyle/>
                    <a:p>
                      <a:pPr algn="ctr">
                        <a:spcAft>
                          <a:spcPts val="0"/>
                        </a:spcAft>
                      </a:pPr>
                      <a:r>
                        <a:rPr lang="en-US" sz="2000" kern="0" dirty="0">
                          <a:effectLst/>
                        </a:rPr>
                        <a:t>98</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anchor="ctr"/>
                </a:tc>
                <a:extLst>
                  <a:ext uri="{0D108BD9-81ED-4DB2-BD59-A6C34878D82A}">
                    <a16:rowId xmlns:a16="http://schemas.microsoft.com/office/drawing/2014/main" val="10008"/>
                  </a:ext>
                </a:extLst>
              </a:tr>
              <a:tr h="599483">
                <a:tc>
                  <a:txBody>
                    <a:bodyPr/>
                    <a:lstStyle/>
                    <a:p>
                      <a:pPr algn="ctr">
                        <a:spcAft>
                          <a:spcPts val="0"/>
                        </a:spcAft>
                      </a:pPr>
                      <a:r>
                        <a:rPr lang="en-US" sz="2000" kern="0">
                          <a:effectLst/>
                        </a:rPr>
                        <a:t>…</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vert="vert" anchor="ctr"/>
                </a:tc>
                <a:tc>
                  <a:txBody>
                    <a:bodyPr/>
                    <a:lstStyle/>
                    <a:p>
                      <a:pPr algn="ctr">
                        <a:spcAft>
                          <a:spcPts val="0"/>
                        </a:spcAft>
                      </a:pPr>
                      <a:r>
                        <a:rPr lang="en-US" sz="2000" kern="0" dirty="0">
                          <a:effectLst/>
                        </a:rPr>
                        <a: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vert="vert" anchor="ctr"/>
                </a:tc>
                <a:tc>
                  <a:txBody>
                    <a:bodyPr/>
                    <a:lstStyle/>
                    <a:p>
                      <a:pPr algn="ctr">
                        <a:spcAft>
                          <a:spcPts val="0"/>
                        </a:spcAft>
                      </a:pPr>
                      <a:r>
                        <a:rPr lang="zh-TW" sz="2000" kern="0">
                          <a:effectLst/>
                        </a:rPr>
                        <a:t>…</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vert="vert" anchor="ctr"/>
                </a:tc>
                <a:tc>
                  <a:txBody>
                    <a:bodyPr/>
                    <a:lstStyle/>
                    <a:p>
                      <a:pPr algn="ctr">
                        <a:spcAft>
                          <a:spcPts val="0"/>
                        </a:spcAft>
                      </a:pPr>
                      <a:r>
                        <a:rPr lang="en-US" sz="2000" kern="0">
                          <a:effectLst/>
                        </a:rPr>
                        <a:t>…</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vert="vert" anchor="ctr"/>
                </a:tc>
                <a:tc>
                  <a:txBody>
                    <a:bodyPr/>
                    <a:lstStyle/>
                    <a:p>
                      <a:pPr algn="ctr">
                        <a:spcAft>
                          <a:spcPts val="0"/>
                        </a:spcAft>
                      </a:pPr>
                      <a:r>
                        <a:rPr lang="en-US" sz="2000" kern="0">
                          <a:effectLst/>
                        </a:rPr>
                        <a:t>…</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vert="vert" anchor="ctr"/>
                </a:tc>
                <a:tc>
                  <a:txBody>
                    <a:bodyPr/>
                    <a:lstStyle/>
                    <a:p>
                      <a:pPr algn="ctr">
                        <a:spcAft>
                          <a:spcPts val="0"/>
                        </a:spcAft>
                      </a:pPr>
                      <a:r>
                        <a:rPr lang="en-US" sz="2000" kern="0">
                          <a:effectLst/>
                        </a:rPr>
                        <a:t>…</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vert="vert" anchor="ctr"/>
                </a:tc>
                <a:tc>
                  <a:txBody>
                    <a:bodyPr/>
                    <a:lstStyle/>
                    <a:p>
                      <a:pPr algn="ctr">
                        <a:spcAft>
                          <a:spcPts val="0"/>
                        </a:spcAft>
                      </a:pPr>
                      <a:r>
                        <a:rPr lang="en-US" sz="2000" kern="0" dirty="0">
                          <a:effectLst/>
                        </a:rPr>
                        <a: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vert="vert" anchor="ctr"/>
                </a:tc>
                <a:tc>
                  <a:txBody>
                    <a:bodyPr/>
                    <a:lstStyle/>
                    <a:p>
                      <a:pPr algn="ctr">
                        <a:spcAft>
                          <a:spcPts val="0"/>
                        </a:spcAft>
                      </a:pPr>
                      <a:r>
                        <a:rPr lang="en-US" sz="2000" kern="0" dirty="0">
                          <a:effectLst/>
                        </a:rPr>
                        <a: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3335" marR="13335" marT="0" marB="0" vert="vert" anchor="ctr"/>
                </a:tc>
                <a:extLst>
                  <a:ext uri="{0D108BD9-81ED-4DB2-BD59-A6C34878D82A}">
                    <a16:rowId xmlns:a16="http://schemas.microsoft.com/office/drawing/2014/main" val="10009"/>
                  </a:ext>
                </a:extLst>
              </a:tr>
            </a:tbl>
          </a:graphicData>
        </a:graphic>
      </p:graphicFrame>
      <p:sp>
        <p:nvSpPr>
          <p:cNvPr id="3" name="投影片編號版面配置區 2"/>
          <p:cNvSpPr>
            <a:spLocks noGrp="1"/>
          </p:cNvSpPr>
          <p:nvPr>
            <p:ph type="sldNum" sz="quarter" idx="12"/>
          </p:nvPr>
        </p:nvSpPr>
        <p:spPr/>
        <p:txBody>
          <a:bodyPr/>
          <a:lstStyle/>
          <a:p>
            <a:pPr>
              <a:defRPr/>
            </a:pPr>
            <a:r>
              <a:rPr lang="en-US" altLang="zh-TW" dirty="0"/>
              <a:t>4</a:t>
            </a:r>
          </a:p>
        </p:txBody>
      </p:sp>
    </p:spTree>
    <p:extLst>
      <p:ext uri="{BB962C8B-B14F-4D97-AF65-F5344CB8AC3E}">
        <p14:creationId xmlns:p14="http://schemas.microsoft.com/office/powerpoint/2010/main" val="160095586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17672" y="620688"/>
            <a:ext cx="8229600" cy="504056"/>
          </a:xfrm>
        </p:spPr>
        <p:txBody>
          <a:bodyPr>
            <a:noAutofit/>
          </a:bodyPr>
          <a:lstStyle/>
          <a:p>
            <a:pPr lvl="0" algn="ctr"/>
            <a:r>
              <a:rPr lang="zh-TW" altLang="zh-TW" sz="3600" dirty="0">
                <a:effectLst/>
              </a:rPr>
              <a:t>收縮壓與年齡散佈圖</a:t>
            </a:r>
            <a:endParaRPr lang="zh-TW" altLang="en-US" sz="3600" dirty="0"/>
          </a:p>
        </p:txBody>
      </p:sp>
      <p:sp>
        <p:nvSpPr>
          <p:cNvPr id="3" name="投影片編號版面配置區 2"/>
          <p:cNvSpPr>
            <a:spLocks noGrp="1"/>
          </p:cNvSpPr>
          <p:nvPr>
            <p:ph type="sldNum" sz="quarter" idx="12"/>
          </p:nvPr>
        </p:nvSpPr>
        <p:spPr/>
        <p:txBody>
          <a:bodyPr/>
          <a:lstStyle/>
          <a:p>
            <a:pPr>
              <a:defRPr/>
            </a:pPr>
            <a:r>
              <a:rPr lang="en-US" altLang="zh-TW" dirty="0"/>
              <a:t>5</a:t>
            </a:r>
          </a:p>
        </p:txBody>
      </p:sp>
      <p:pic>
        <p:nvPicPr>
          <p:cNvPr id="7" name="圖片 6"/>
          <p:cNvPicPr/>
          <p:nvPr/>
        </p:nvPicPr>
        <p:blipFill rotWithShape="1">
          <a:blip r:embed="rId2"/>
          <a:srcRect t="8928"/>
          <a:stretch/>
        </p:blipFill>
        <p:spPr bwMode="auto">
          <a:xfrm>
            <a:off x="1691680" y="1268760"/>
            <a:ext cx="5760640" cy="417646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6132630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457200" y="836712"/>
            <a:ext cx="8363272" cy="5616624"/>
          </a:xfrm>
        </p:spPr>
        <p:txBody>
          <a:bodyPr>
            <a:normAutofit/>
          </a:bodyPr>
          <a:lstStyle/>
          <a:p>
            <a:pPr marL="109728" indent="0">
              <a:lnSpc>
                <a:spcPct val="130000"/>
              </a:lnSpc>
              <a:buNone/>
            </a:pPr>
            <a:r>
              <a:rPr lang="en-US" altLang="zh-TW" sz="2400" dirty="0"/>
              <a:t>“</a:t>
            </a:r>
            <a:r>
              <a:rPr lang="zh-TW" altLang="zh-TW" sz="2400" dirty="0"/>
              <a:t>睡眠品質總分</a:t>
            </a:r>
            <a:r>
              <a:rPr lang="en-US" altLang="zh-TW" sz="2400" dirty="0"/>
              <a:t>0-21</a:t>
            </a:r>
            <a:r>
              <a:rPr lang="zh-TW" altLang="zh-TW" sz="2400" dirty="0"/>
              <a:t>，分數愈高睡眠品質愈差，其平均為</a:t>
            </a:r>
            <a:r>
              <a:rPr lang="en-US" altLang="zh-TW" sz="2400" dirty="0"/>
              <a:t>6.07</a:t>
            </a:r>
            <a:r>
              <a:rPr lang="zh-TW" altLang="zh-TW" sz="2400" dirty="0"/>
              <a:t>（</a:t>
            </a:r>
            <a:r>
              <a:rPr lang="en-US" altLang="zh-TW" sz="2400" dirty="0"/>
              <a:t>SD=2.79</a:t>
            </a:r>
            <a:r>
              <a:rPr lang="zh-TW" altLang="zh-TW" sz="2400" dirty="0"/>
              <a:t>）。大部分學生在凌晨</a:t>
            </a:r>
            <a:r>
              <a:rPr lang="en-US" altLang="zh-TW" sz="2400" dirty="0"/>
              <a:t>0-2</a:t>
            </a:r>
            <a:r>
              <a:rPr lang="zh-TW" altLang="zh-TW" sz="2400" dirty="0"/>
              <a:t>點就寢，最晚入睡的時間為</a:t>
            </a:r>
            <a:r>
              <a:rPr lang="en-US" altLang="zh-TW" sz="2400" dirty="0"/>
              <a:t>6</a:t>
            </a:r>
            <a:r>
              <a:rPr lang="zh-TW" altLang="zh-TW" sz="2400" dirty="0"/>
              <a:t>點</a:t>
            </a:r>
            <a:r>
              <a:rPr lang="zh-TW" altLang="en-US" sz="2400" dirty="0"/>
              <a:t>，</a:t>
            </a:r>
            <a:r>
              <a:rPr lang="zh-TW" altLang="zh-TW" sz="2400" dirty="0"/>
              <a:t>平均睡眠時間</a:t>
            </a:r>
            <a:r>
              <a:rPr lang="en-US" altLang="zh-TW" sz="2400" dirty="0"/>
              <a:t>6.66</a:t>
            </a:r>
            <a:r>
              <a:rPr lang="zh-TW" altLang="zh-TW" sz="2400" dirty="0"/>
              <a:t>小時。導致睡眠品質差的原因有：自覺成績非常差、室友或家人會影響睡眠、</a:t>
            </a:r>
            <a:r>
              <a:rPr lang="zh-TW" altLang="en-US" sz="2400" dirty="0"/>
              <a:t>因　</a:t>
            </a:r>
            <a:r>
              <a:rPr lang="zh-TW" altLang="zh-TW" sz="2400" dirty="0"/>
              <a:t>寫作業打報告而延後時間上床睡覺、學業壓力較高。</a:t>
            </a:r>
            <a:r>
              <a:rPr lang="zh-TW" altLang="zh-TW" sz="2400" u="sng" dirty="0">
                <a:solidFill>
                  <a:srgbClr val="002060"/>
                </a:solidFill>
              </a:rPr>
              <a:t>自覺健康狀況</a:t>
            </a:r>
            <a:r>
              <a:rPr lang="zh-TW" altLang="zh-TW" sz="2400" dirty="0">
                <a:solidFill>
                  <a:srgbClr val="002060"/>
                </a:solidFill>
              </a:rPr>
              <a:t>對</a:t>
            </a:r>
            <a:r>
              <a:rPr lang="zh-TW" altLang="zh-TW" sz="2400" u="sng" dirty="0">
                <a:solidFill>
                  <a:srgbClr val="002060"/>
                </a:solidFill>
              </a:rPr>
              <a:t>睡眠品質</a:t>
            </a:r>
            <a:r>
              <a:rPr lang="zh-TW" altLang="zh-TW" sz="2400" dirty="0">
                <a:solidFill>
                  <a:srgbClr val="002060"/>
                </a:solidFill>
              </a:rPr>
              <a:t>之皮爾森相關係數（</a:t>
            </a:r>
            <a:r>
              <a:rPr lang="en-US" altLang="zh-TW" sz="2400" dirty="0">
                <a:solidFill>
                  <a:srgbClr val="002060"/>
                </a:solidFill>
              </a:rPr>
              <a:t>Pearson‘s Correlation</a:t>
            </a:r>
            <a:r>
              <a:rPr lang="zh-TW" altLang="zh-TW" sz="2400" dirty="0">
                <a:solidFill>
                  <a:srgbClr val="002060"/>
                </a:solidFill>
              </a:rPr>
              <a:t>）為</a:t>
            </a:r>
            <a:r>
              <a:rPr lang="en-US" altLang="zh-TW" sz="2400" dirty="0">
                <a:solidFill>
                  <a:srgbClr val="002060"/>
                </a:solidFill>
              </a:rPr>
              <a:t>-0.345</a:t>
            </a:r>
            <a:r>
              <a:rPr lang="zh-TW" altLang="zh-TW" sz="2400" dirty="0">
                <a:solidFill>
                  <a:srgbClr val="002060"/>
                </a:solidFill>
              </a:rPr>
              <a:t>（</a:t>
            </a:r>
            <a:r>
              <a:rPr lang="en-US" altLang="zh-TW" sz="2400" dirty="0">
                <a:solidFill>
                  <a:srgbClr val="002060"/>
                </a:solidFill>
              </a:rPr>
              <a:t>p&lt;.01</a:t>
            </a:r>
            <a:r>
              <a:rPr lang="zh-TW" altLang="zh-TW" sz="2400" dirty="0">
                <a:solidFill>
                  <a:srgbClr val="002060"/>
                </a:solidFill>
              </a:rPr>
              <a:t>）</a:t>
            </a:r>
            <a:r>
              <a:rPr lang="zh-TW" altLang="zh-TW" sz="2400" dirty="0"/>
              <a:t>，</a:t>
            </a:r>
            <a:r>
              <a:rPr lang="en-US" altLang="zh-TW" sz="2400" dirty="0"/>
              <a:t>(</a:t>
            </a:r>
            <a:r>
              <a:rPr lang="zh-TW" altLang="en-US" sz="2400" dirty="0"/>
              <a:t>睡眠品質量表數值越高代表品質越差</a:t>
            </a:r>
            <a:r>
              <a:rPr lang="en-US" altLang="zh-TW" sz="2400"/>
              <a:t>)</a:t>
            </a:r>
            <a:r>
              <a:rPr lang="zh-TW" altLang="en-US" sz="2400"/>
              <a:t>，</a:t>
            </a:r>
            <a:r>
              <a:rPr lang="zh-TW" altLang="zh-TW" sz="2400"/>
              <a:t>顯示</a:t>
            </a:r>
            <a:r>
              <a:rPr lang="zh-TW" altLang="zh-TW" sz="2400" dirty="0"/>
              <a:t>自覺健康狀況愈差睡眠品質愈差。</a:t>
            </a:r>
            <a:r>
              <a:rPr lang="en-US" altLang="zh-TW" sz="2400" dirty="0"/>
              <a:t>”</a:t>
            </a:r>
            <a:r>
              <a:rPr lang="en-US" altLang="zh-TW" sz="1400" dirty="0"/>
              <a:t>(</a:t>
            </a:r>
            <a:r>
              <a:rPr lang="zh-TW" altLang="zh-TW" sz="1400" dirty="0"/>
              <a:t>節錄自陳美娟與楊志良（</a:t>
            </a:r>
            <a:r>
              <a:rPr lang="en-US" altLang="zh-TW" sz="1400" dirty="0"/>
              <a:t>2008</a:t>
            </a:r>
            <a:r>
              <a:rPr lang="zh-TW" altLang="zh-TW" sz="1400" dirty="0"/>
              <a:t>）關於大學生健康與睡眠品質相關研究</a:t>
            </a:r>
            <a:r>
              <a:rPr lang="en-US" altLang="zh-TW" sz="1400" dirty="0"/>
              <a:t>)</a:t>
            </a:r>
          </a:p>
          <a:p>
            <a:pPr>
              <a:lnSpc>
                <a:spcPct val="130000"/>
              </a:lnSpc>
            </a:pPr>
            <a:r>
              <a:rPr lang="zh-TW" altLang="zh-TW" sz="2400" dirty="0">
                <a:solidFill>
                  <a:srgbClr val="002060"/>
                </a:solidFill>
              </a:rPr>
              <a:t>相關係數</a:t>
            </a:r>
            <a:r>
              <a:rPr lang="zh-TW" altLang="zh-TW" sz="2400" dirty="0"/>
              <a:t>在生物醫學上常用來衡量兩個變項之間的關係，並探討影響研究目標的可能因素。</a:t>
            </a:r>
            <a:endParaRPr lang="en-US" altLang="zh-TW" sz="2400" dirty="0"/>
          </a:p>
        </p:txBody>
      </p:sp>
      <p:sp>
        <p:nvSpPr>
          <p:cNvPr id="3" name="投影片編號版面配置區 2"/>
          <p:cNvSpPr>
            <a:spLocks noGrp="1"/>
          </p:cNvSpPr>
          <p:nvPr>
            <p:ph type="sldNum" sz="quarter" idx="12"/>
          </p:nvPr>
        </p:nvSpPr>
        <p:spPr/>
        <p:txBody>
          <a:bodyPr/>
          <a:lstStyle/>
          <a:p>
            <a:pPr>
              <a:defRPr/>
            </a:pPr>
            <a:r>
              <a:rPr lang="en-US" altLang="zh-TW" dirty="0"/>
              <a:t>2</a:t>
            </a:r>
          </a:p>
        </p:txBody>
      </p:sp>
    </p:spTree>
    <p:extLst>
      <p:ext uri="{BB962C8B-B14F-4D97-AF65-F5344CB8AC3E}">
        <p14:creationId xmlns:p14="http://schemas.microsoft.com/office/powerpoint/2010/main" val="387659400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476672"/>
            <a:ext cx="8229600" cy="504056"/>
          </a:xfrm>
        </p:spPr>
        <p:txBody>
          <a:bodyPr>
            <a:normAutofit fontScale="90000"/>
          </a:bodyPr>
          <a:lstStyle/>
          <a:p>
            <a:pPr algn="ctr"/>
            <a:r>
              <a:rPr lang="zh-TW" altLang="zh-TW" dirty="0">
                <a:effectLst/>
              </a:rPr>
              <a:t>相關係數之估計及相關性檢定</a:t>
            </a:r>
            <a:endParaRPr lang="zh-TW" altLang="en-US" dirty="0"/>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459333" y="1268760"/>
                <a:ext cx="8229600" cy="4525963"/>
              </a:xfrm>
            </p:spPr>
            <p:txBody>
              <a:bodyPr>
                <a:normAutofit/>
              </a:bodyPr>
              <a:lstStyle/>
              <a:p>
                <a:pPr marL="109728" indent="0">
                  <a:lnSpc>
                    <a:spcPct val="120000"/>
                  </a:lnSpc>
                  <a:buNone/>
                </a:pPr>
                <a:r>
                  <a:rPr lang="zh-TW" altLang="zh-TW" b="1" dirty="0">
                    <a:solidFill>
                      <a:srgbClr val="002060"/>
                    </a:solidFill>
                  </a:rPr>
                  <a:t>皮爾</a:t>
                </a:r>
                <a:r>
                  <a:rPr lang="zh-TW" altLang="en-US" b="1" dirty="0">
                    <a:solidFill>
                      <a:srgbClr val="002060"/>
                    </a:solidFill>
                  </a:rPr>
                  <a:t>森</a:t>
                </a:r>
                <a:r>
                  <a:rPr lang="zh-TW" altLang="zh-TW" b="1" dirty="0">
                    <a:solidFill>
                      <a:srgbClr val="002060"/>
                    </a:solidFill>
                  </a:rPr>
                  <a:t>相關係</a:t>
                </a:r>
                <a:r>
                  <a:rPr lang="zh-TW" altLang="en-US" b="1" dirty="0">
                    <a:solidFill>
                      <a:srgbClr val="002060"/>
                    </a:solidFill>
                  </a:rPr>
                  <a:t>數</a:t>
                </a:r>
                <a:r>
                  <a:rPr lang="zh-TW" altLang="zh-TW" b="1" dirty="0">
                    <a:solidFill>
                      <a:srgbClr val="002060"/>
                    </a:solidFill>
                  </a:rPr>
                  <a:t>（</a:t>
                </a:r>
                <a:r>
                  <a:rPr lang="en-US" altLang="zh-TW" b="1" dirty="0">
                    <a:solidFill>
                      <a:srgbClr val="002060"/>
                    </a:solidFill>
                  </a:rPr>
                  <a:t>Pearson’s Correlation Coefficient</a:t>
                </a:r>
                <a:r>
                  <a:rPr lang="zh-TW" altLang="zh-TW" b="1" dirty="0">
                    <a:solidFill>
                      <a:srgbClr val="002060"/>
                    </a:solidFill>
                  </a:rPr>
                  <a:t>）</a:t>
                </a:r>
                <a:endParaRPr lang="en-US" altLang="zh-TW" b="1" dirty="0">
                  <a:solidFill>
                    <a:srgbClr val="002060"/>
                  </a:solidFill>
                </a:endParaRPr>
              </a:p>
              <a:p>
                <a:pPr marL="109728" indent="0">
                  <a:lnSpc>
                    <a:spcPct val="120000"/>
                  </a:lnSpc>
                  <a:buNone/>
                </a:pPr>
                <a14:m>
                  <m:oMathPara xmlns:m="http://schemas.openxmlformats.org/officeDocument/2006/math">
                    <m:oMathParaPr>
                      <m:jc m:val="centerGroup"/>
                    </m:oMathParaPr>
                    <m:oMath xmlns:m="http://schemas.openxmlformats.org/officeDocument/2006/math">
                      <m:sSub>
                        <m:sSubPr>
                          <m:ctrlPr>
                            <a:rPr lang="zh-TW" altLang="zh-TW" sz="2200" i="1">
                              <a:latin typeface="Cambria Math" panose="02040503050406030204" pitchFamily="18" charset="0"/>
                            </a:rPr>
                          </m:ctrlPr>
                        </m:sSubPr>
                        <m:e>
                          <m:r>
                            <a:rPr lang="en-US" altLang="zh-TW" sz="2200" i="1">
                              <a:latin typeface="Cambria Math" panose="02040503050406030204" pitchFamily="18" charset="0"/>
                            </a:rPr>
                            <m:t>𝑟</m:t>
                          </m:r>
                        </m:e>
                        <m:sub>
                          <m:r>
                            <a:rPr lang="en-US" altLang="zh-TW" sz="2200" i="1">
                              <a:latin typeface="Cambria Math" panose="02040503050406030204" pitchFamily="18" charset="0"/>
                            </a:rPr>
                            <m:t>𝑥𝑦</m:t>
                          </m:r>
                        </m:sub>
                      </m:sSub>
                      <m:r>
                        <a:rPr lang="en-US" altLang="zh-TW" sz="2200" i="1">
                          <a:latin typeface="Cambria Math" panose="02040503050406030204" pitchFamily="18" charset="0"/>
                        </a:rPr>
                        <m:t>=</m:t>
                      </m:r>
                      <m:f>
                        <m:fPr>
                          <m:ctrlPr>
                            <a:rPr lang="zh-TW" altLang="zh-TW" sz="2200" i="1">
                              <a:latin typeface="Cambria Math" panose="02040503050406030204" pitchFamily="18" charset="0"/>
                            </a:rPr>
                          </m:ctrlPr>
                        </m:fPr>
                        <m:num>
                          <m:nary>
                            <m:naryPr>
                              <m:chr m:val="∑"/>
                              <m:ctrlPr>
                                <a:rPr lang="zh-TW" altLang="zh-TW" sz="2200" i="1">
                                  <a:latin typeface="Cambria Math" panose="02040503050406030204" pitchFamily="18" charset="0"/>
                                </a:rPr>
                              </m:ctrlPr>
                            </m:naryPr>
                            <m:sub>
                              <m:r>
                                <a:rPr lang="en-US" altLang="zh-TW" sz="2200" i="1">
                                  <a:latin typeface="Cambria Math" panose="02040503050406030204" pitchFamily="18" charset="0"/>
                                </a:rPr>
                                <m:t>𝑖</m:t>
                              </m:r>
                              <m:r>
                                <a:rPr lang="en-US" altLang="zh-TW" sz="2200" i="1">
                                  <a:latin typeface="Cambria Math" panose="02040503050406030204" pitchFamily="18" charset="0"/>
                                </a:rPr>
                                <m:t>=1</m:t>
                              </m:r>
                            </m:sub>
                            <m:sup>
                              <m:r>
                                <a:rPr lang="en-US" altLang="zh-TW" sz="2200" i="1">
                                  <a:latin typeface="Cambria Math" panose="02040503050406030204" pitchFamily="18" charset="0"/>
                                </a:rPr>
                                <m:t>𝑛</m:t>
                              </m:r>
                            </m:sup>
                            <m:e>
                              <m:d>
                                <m:dPr>
                                  <m:ctrlPr>
                                    <a:rPr lang="zh-TW" altLang="zh-TW" sz="2200" i="1">
                                      <a:latin typeface="Cambria Math" panose="02040503050406030204" pitchFamily="18" charset="0"/>
                                    </a:rPr>
                                  </m:ctrlPr>
                                </m:dPr>
                                <m:e>
                                  <m:sSub>
                                    <m:sSubPr>
                                      <m:ctrlPr>
                                        <a:rPr lang="zh-TW" altLang="zh-TW" sz="2200" i="1">
                                          <a:latin typeface="Cambria Math" panose="02040503050406030204" pitchFamily="18" charset="0"/>
                                        </a:rPr>
                                      </m:ctrlPr>
                                    </m:sSubPr>
                                    <m:e>
                                      <m:r>
                                        <a:rPr lang="en-US" altLang="zh-TW" sz="2200" i="1">
                                          <a:latin typeface="Cambria Math" panose="02040503050406030204" pitchFamily="18" charset="0"/>
                                        </a:rPr>
                                        <m:t>𝑋</m:t>
                                      </m:r>
                                    </m:e>
                                    <m:sub>
                                      <m:r>
                                        <a:rPr lang="en-US" altLang="zh-TW" sz="2200" i="1">
                                          <a:latin typeface="Cambria Math" panose="02040503050406030204" pitchFamily="18" charset="0"/>
                                        </a:rPr>
                                        <m:t>𝑖</m:t>
                                      </m:r>
                                    </m:sub>
                                  </m:sSub>
                                  <m:r>
                                    <a:rPr lang="en-US" altLang="zh-TW" sz="2200" i="1">
                                      <a:latin typeface="Cambria Math" panose="02040503050406030204" pitchFamily="18" charset="0"/>
                                    </a:rPr>
                                    <m:t>−</m:t>
                                  </m:r>
                                  <m:acc>
                                    <m:accPr>
                                      <m:chr m:val="̅"/>
                                      <m:ctrlPr>
                                        <a:rPr lang="zh-TW" altLang="zh-TW" sz="2200" i="1">
                                          <a:latin typeface="Cambria Math" panose="02040503050406030204" pitchFamily="18" charset="0"/>
                                        </a:rPr>
                                      </m:ctrlPr>
                                    </m:accPr>
                                    <m:e>
                                      <m:r>
                                        <a:rPr lang="en-US" altLang="zh-TW" sz="2200" i="1">
                                          <a:latin typeface="Cambria Math" panose="02040503050406030204" pitchFamily="18" charset="0"/>
                                        </a:rPr>
                                        <m:t>𝑋</m:t>
                                      </m:r>
                                    </m:e>
                                  </m:acc>
                                </m:e>
                              </m:d>
                              <m:d>
                                <m:dPr>
                                  <m:ctrlPr>
                                    <a:rPr lang="zh-TW" altLang="zh-TW" sz="2200" i="1">
                                      <a:latin typeface="Cambria Math" panose="02040503050406030204" pitchFamily="18" charset="0"/>
                                    </a:rPr>
                                  </m:ctrlPr>
                                </m:dPr>
                                <m:e>
                                  <m:sSub>
                                    <m:sSubPr>
                                      <m:ctrlPr>
                                        <a:rPr lang="zh-TW" altLang="zh-TW" sz="2200" i="1">
                                          <a:latin typeface="Cambria Math" panose="02040503050406030204" pitchFamily="18" charset="0"/>
                                        </a:rPr>
                                      </m:ctrlPr>
                                    </m:sSubPr>
                                    <m:e>
                                      <m:r>
                                        <a:rPr lang="en-US" altLang="zh-TW" sz="2200" i="1">
                                          <a:latin typeface="Cambria Math" panose="02040503050406030204" pitchFamily="18" charset="0"/>
                                        </a:rPr>
                                        <m:t>𝑌</m:t>
                                      </m:r>
                                    </m:e>
                                    <m:sub>
                                      <m:r>
                                        <a:rPr lang="en-US" altLang="zh-TW" sz="2200" i="1">
                                          <a:latin typeface="Cambria Math" panose="02040503050406030204" pitchFamily="18" charset="0"/>
                                        </a:rPr>
                                        <m:t>𝑖</m:t>
                                      </m:r>
                                    </m:sub>
                                  </m:sSub>
                                  <m:r>
                                    <a:rPr lang="en-US" altLang="zh-TW" sz="2200" i="1">
                                      <a:latin typeface="Cambria Math" panose="02040503050406030204" pitchFamily="18" charset="0"/>
                                    </a:rPr>
                                    <m:t>−</m:t>
                                  </m:r>
                                  <m:acc>
                                    <m:accPr>
                                      <m:chr m:val="̅"/>
                                      <m:ctrlPr>
                                        <a:rPr lang="zh-TW" altLang="zh-TW" sz="2200" i="1">
                                          <a:latin typeface="Cambria Math" panose="02040503050406030204" pitchFamily="18" charset="0"/>
                                        </a:rPr>
                                      </m:ctrlPr>
                                    </m:accPr>
                                    <m:e>
                                      <m:r>
                                        <a:rPr lang="en-US" altLang="zh-TW" sz="2200" i="1">
                                          <a:latin typeface="Cambria Math" panose="02040503050406030204" pitchFamily="18" charset="0"/>
                                        </a:rPr>
                                        <m:t>𝑌</m:t>
                                      </m:r>
                                    </m:e>
                                  </m:acc>
                                </m:e>
                              </m:d>
                            </m:e>
                          </m:nary>
                        </m:num>
                        <m:den>
                          <m:rad>
                            <m:radPr>
                              <m:degHide m:val="on"/>
                              <m:ctrlPr>
                                <a:rPr lang="zh-TW" altLang="zh-TW" sz="2200" i="1">
                                  <a:latin typeface="Cambria Math" panose="02040503050406030204" pitchFamily="18" charset="0"/>
                                </a:rPr>
                              </m:ctrlPr>
                            </m:radPr>
                            <m:deg/>
                            <m:e>
                              <m:nary>
                                <m:naryPr>
                                  <m:chr m:val="∑"/>
                                  <m:ctrlPr>
                                    <a:rPr lang="zh-TW" altLang="zh-TW" sz="2200" i="1">
                                      <a:latin typeface="Cambria Math" panose="02040503050406030204" pitchFamily="18" charset="0"/>
                                    </a:rPr>
                                  </m:ctrlPr>
                                </m:naryPr>
                                <m:sub>
                                  <m:r>
                                    <a:rPr lang="en-US" altLang="zh-TW" sz="2200" i="1">
                                      <a:latin typeface="Cambria Math" panose="02040503050406030204" pitchFamily="18" charset="0"/>
                                    </a:rPr>
                                    <m:t>𝑖</m:t>
                                  </m:r>
                                  <m:r>
                                    <a:rPr lang="en-US" altLang="zh-TW" sz="2200" i="1">
                                      <a:latin typeface="Cambria Math" panose="02040503050406030204" pitchFamily="18" charset="0"/>
                                    </a:rPr>
                                    <m:t>=1</m:t>
                                  </m:r>
                                </m:sub>
                                <m:sup>
                                  <m:r>
                                    <a:rPr lang="en-US" altLang="zh-TW" sz="2200" i="1">
                                      <a:latin typeface="Cambria Math" panose="02040503050406030204" pitchFamily="18" charset="0"/>
                                    </a:rPr>
                                    <m:t>𝑛</m:t>
                                  </m:r>
                                </m:sup>
                                <m:e>
                                  <m:sSup>
                                    <m:sSupPr>
                                      <m:ctrlPr>
                                        <a:rPr lang="zh-TW" altLang="zh-TW" sz="2200" i="1">
                                          <a:latin typeface="Cambria Math" panose="02040503050406030204" pitchFamily="18" charset="0"/>
                                        </a:rPr>
                                      </m:ctrlPr>
                                    </m:sSupPr>
                                    <m:e>
                                      <m:d>
                                        <m:dPr>
                                          <m:ctrlPr>
                                            <a:rPr lang="zh-TW" altLang="zh-TW" sz="2200" i="1">
                                              <a:latin typeface="Cambria Math" panose="02040503050406030204" pitchFamily="18" charset="0"/>
                                            </a:rPr>
                                          </m:ctrlPr>
                                        </m:dPr>
                                        <m:e>
                                          <m:sSub>
                                            <m:sSubPr>
                                              <m:ctrlPr>
                                                <a:rPr lang="zh-TW" altLang="zh-TW" sz="2200" i="1">
                                                  <a:latin typeface="Cambria Math" panose="02040503050406030204" pitchFamily="18" charset="0"/>
                                                </a:rPr>
                                              </m:ctrlPr>
                                            </m:sSubPr>
                                            <m:e>
                                              <m:r>
                                                <a:rPr lang="en-US" altLang="zh-TW" sz="2200" i="1">
                                                  <a:latin typeface="Cambria Math" panose="02040503050406030204" pitchFamily="18" charset="0"/>
                                                </a:rPr>
                                                <m:t>𝑋</m:t>
                                              </m:r>
                                            </m:e>
                                            <m:sub>
                                              <m:r>
                                                <a:rPr lang="en-US" altLang="zh-TW" sz="2200" i="1">
                                                  <a:latin typeface="Cambria Math" panose="02040503050406030204" pitchFamily="18" charset="0"/>
                                                </a:rPr>
                                                <m:t>𝑖</m:t>
                                              </m:r>
                                            </m:sub>
                                          </m:sSub>
                                          <m:r>
                                            <a:rPr lang="en-US" altLang="zh-TW" sz="2200" i="1">
                                              <a:latin typeface="Cambria Math" panose="02040503050406030204" pitchFamily="18" charset="0"/>
                                            </a:rPr>
                                            <m:t>−</m:t>
                                          </m:r>
                                          <m:acc>
                                            <m:accPr>
                                              <m:chr m:val="̅"/>
                                              <m:ctrlPr>
                                                <a:rPr lang="zh-TW" altLang="zh-TW" sz="2200" i="1">
                                                  <a:latin typeface="Cambria Math" panose="02040503050406030204" pitchFamily="18" charset="0"/>
                                                </a:rPr>
                                              </m:ctrlPr>
                                            </m:accPr>
                                            <m:e>
                                              <m:r>
                                                <a:rPr lang="en-US" altLang="zh-TW" sz="2200" i="1">
                                                  <a:latin typeface="Cambria Math" panose="02040503050406030204" pitchFamily="18" charset="0"/>
                                                </a:rPr>
                                                <m:t>𝑋</m:t>
                                              </m:r>
                                            </m:e>
                                          </m:acc>
                                        </m:e>
                                      </m:d>
                                    </m:e>
                                    <m:sup>
                                      <m:r>
                                        <a:rPr lang="en-US" altLang="zh-TW" sz="2200" i="1">
                                          <a:latin typeface="Cambria Math" panose="02040503050406030204" pitchFamily="18" charset="0"/>
                                        </a:rPr>
                                        <m:t>2</m:t>
                                      </m:r>
                                    </m:sup>
                                  </m:sSup>
                                </m:e>
                              </m:nary>
                              <m:nary>
                                <m:naryPr>
                                  <m:chr m:val="∑"/>
                                  <m:ctrlPr>
                                    <a:rPr lang="zh-TW" altLang="zh-TW" sz="2200" i="1">
                                      <a:latin typeface="Cambria Math" panose="02040503050406030204" pitchFamily="18" charset="0"/>
                                    </a:rPr>
                                  </m:ctrlPr>
                                </m:naryPr>
                                <m:sub>
                                  <m:r>
                                    <a:rPr lang="en-US" altLang="zh-TW" sz="2200" i="1">
                                      <a:latin typeface="Cambria Math" panose="02040503050406030204" pitchFamily="18" charset="0"/>
                                    </a:rPr>
                                    <m:t>𝑖</m:t>
                                  </m:r>
                                  <m:r>
                                    <a:rPr lang="en-US" altLang="zh-TW" sz="2200" i="1">
                                      <a:latin typeface="Cambria Math" panose="02040503050406030204" pitchFamily="18" charset="0"/>
                                    </a:rPr>
                                    <m:t>=1</m:t>
                                  </m:r>
                                </m:sub>
                                <m:sup>
                                  <m:r>
                                    <a:rPr lang="en-US" altLang="zh-TW" sz="2200" i="1">
                                      <a:latin typeface="Cambria Math" panose="02040503050406030204" pitchFamily="18" charset="0"/>
                                    </a:rPr>
                                    <m:t>𝑛</m:t>
                                  </m:r>
                                </m:sup>
                                <m:e>
                                  <m:sSup>
                                    <m:sSupPr>
                                      <m:ctrlPr>
                                        <a:rPr lang="zh-TW" altLang="zh-TW" sz="2200" i="1">
                                          <a:latin typeface="Cambria Math" panose="02040503050406030204" pitchFamily="18" charset="0"/>
                                        </a:rPr>
                                      </m:ctrlPr>
                                    </m:sSupPr>
                                    <m:e>
                                      <m:d>
                                        <m:dPr>
                                          <m:ctrlPr>
                                            <a:rPr lang="zh-TW" altLang="zh-TW" sz="2200" i="1">
                                              <a:latin typeface="Cambria Math" panose="02040503050406030204" pitchFamily="18" charset="0"/>
                                            </a:rPr>
                                          </m:ctrlPr>
                                        </m:dPr>
                                        <m:e>
                                          <m:sSub>
                                            <m:sSubPr>
                                              <m:ctrlPr>
                                                <a:rPr lang="zh-TW" altLang="zh-TW" sz="2200" i="1">
                                                  <a:latin typeface="Cambria Math" panose="02040503050406030204" pitchFamily="18" charset="0"/>
                                                </a:rPr>
                                              </m:ctrlPr>
                                            </m:sSubPr>
                                            <m:e>
                                              <m:r>
                                                <a:rPr lang="en-US" altLang="zh-TW" sz="2200" i="1">
                                                  <a:latin typeface="Cambria Math" panose="02040503050406030204" pitchFamily="18" charset="0"/>
                                                </a:rPr>
                                                <m:t>𝑌</m:t>
                                              </m:r>
                                            </m:e>
                                            <m:sub>
                                              <m:r>
                                                <a:rPr lang="en-US" altLang="zh-TW" sz="2200" i="1">
                                                  <a:latin typeface="Cambria Math" panose="02040503050406030204" pitchFamily="18" charset="0"/>
                                                </a:rPr>
                                                <m:t>𝑖</m:t>
                                              </m:r>
                                            </m:sub>
                                          </m:sSub>
                                          <m:r>
                                            <a:rPr lang="en-US" altLang="zh-TW" sz="2200" i="1">
                                              <a:latin typeface="Cambria Math" panose="02040503050406030204" pitchFamily="18" charset="0"/>
                                            </a:rPr>
                                            <m:t>−</m:t>
                                          </m:r>
                                          <m:acc>
                                            <m:accPr>
                                              <m:chr m:val="̅"/>
                                              <m:ctrlPr>
                                                <a:rPr lang="zh-TW" altLang="zh-TW" sz="2200" i="1">
                                                  <a:latin typeface="Cambria Math" panose="02040503050406030204" pitchFamily="18" charset="0"/>
                                                </a:rPr>
                                              </m:ctrlPr>
                                            </m:accPr>
                                            <m:e>
                                              <m:r>
                                                <a:rPr lang="en-US" altLang="zh-TW" sz="2200" i="1">
                                                  <a:latin typeface="Cambria Math" panose="02040503050406030204" pitchFamily="18" charset="0"/>
                                                </a:rPr>
                                                <m:t>𝑌</m:t>
                                              </m:r>
                                            </m:e>
                                          </m:acc>
                                        </m:e>
                                      </m:d>
                                    </m:e>
                                    <m:sup>
                                      <m:r>
                                        <a:rPr lang="en-US" altLang="zh-TW" sz="2200" i="1">
                                          <a:latin typeface="Cambria Math" panose="02040503050406030204" pitchFamily="18" charset="0"/>
                                        </a:rPr>
                                        <m:t>2</m:t>
                                      </m:r>
                                    </m:sup>
                                  </m:sSup>
                                </m:e>
                              </m:nary>
                            </m:e>
                          </m:rad>
                        </m:den>
                      </m:f>
                    </m:oMath>
                  </m:oMathPara>
                </a14:m>
                <a:endParaRPr lang="en-US" altLang="zh-TW" sz="2200" dirty="0"/>
              </a:p>
              <a:p>
                <a:pPr>
                  <a:lnSpc>
                    <a:spcPct val="120000"/>
                  </a:lnSpc>
                </a:pPr>
                <a:r>
                  <a:rPr lang="zh-TW" altLang="zh-TW" dirty="0"/>
                  <a:t>主要用於測量兩變項 </a:t>
                </a:r>
                <a:r>
                  <a:rPr lang="en-US" altLang="zh-TW" dirty="0"/>
                  <a:t>“</a:t>
                </a:r>
                <a:r>
                  <a:rPr lang="zh-TW" altLang="zh-TW" dirty="0"/>
                  <a:t>線性</a:t>
                </a:r>
                <a:r>
                  <a:rPr lang="en-US" altLang="zh-TW" dirty="0"/>
                  <a:t>” </a:t>
                </a:r>
                <a:r>
                  <a:rPr lang="zh-TW" altLang="zh-TW" dirty="0"/>
                  <a:t>相關的程度。</a:t>
                </a:r>
                <a:endParaRPr lang="en-US" altLang="zh-TW" dirty="0"/>
              </a:p>
              <a:p>
                <a:pPr>
                  <a:lnSpc>
                    <a:spcPct val="120000"/>
                  </a:lnSpc>
                </a:pPr>
                <a:r>
                  <a:rPr lang="zh-TW" altLang="zh-TW" dirty="0"/>
                  <a:t>介於</a:t>
                </a:r>
                <a:r>
                  <a:rPr lang="en-US" altLang="zh-TW" dirty="0"/>
                  <a:t>-1~1</a:t>
                </a:r>
                <a:r>
                  <a:rPr lang="zh-TW" altLang="zh-TW" dirty="0"/>
                  <a:t>之間，當皮爾生相關係數值為</a:t>
                </a:r>
                <a:r>
                  <a:rPr lang="en-US" altLang="zh-TW" dirty="0"/>
                  <a:t>-1</a:t>
                </a:r>
                <a:r>
                  <a:rPr lang="zh-TW" altLang="zh-TW" dirty="0"/>
                  <a:t>或</a:t>
                </a:r>
                <a:r>
                  <a:rPr lang="en-US" altLang="zh-TW" dirty="0"/>
                  <a:t>1</a:t>
                </a:r>
                <a:r>
                  <a:rPr lang="zh-TW" altLang="zh-TW" dirty="0"/>
                  <a:t>時，表示兩變項相關最大。</a:t>
                </a:r>
                <a:endParaRPr lang="en-US" altLang="zh-TW" dirty="0"/>
              </a:p>
              <a:p>
                <a:pPr>
                  <a:lnSpc>
                    <a:spcPct val="120000"/>
                  </a:lnSpc>
                </a:pPr>
                <a14:m>
                  <m:oMath xmlns:m="http://schemas.openxmlformats.org/officeDocument/2006/math">
                    <m:sSub>
                      <m:sSubPr>
                        <m:ctrlPr>
                          <a:rPr lang="zh-TW" altLang="zh-TW" i="1">
                            <a:latin typeface="Cambria Math" panose="02040503050406030204" pitchFamily="18" charset="0"/>
                          </a:rPr>
                        </m:ctrlPr>
                      </m:sSubPr>
                      <m:e>
                        <m:r>
                          <a:rPr lang="en-US" altLang="zh-TW" i="1">
                            <a:latin typeface="Cambria Math" panose="02040503050406030204" pitchFamily="18" charset="0"/>
                          </a:rPr>
                          <m:t>𝑟</m:t>
                        </m:r>
                      </m:e>
                      <m:sub>
                        <m:r>
                          <a:rPr lang="en-US" altLang="zh-TW" i="1">
                            <a:latin typeface="Cambria Math" panose="02040503050406030204" pitchFamily="18" charset="0"/>
                          </a:rPr>
                          <m:t>𝑥𝑦</m:t>
                        </m:r>
                      </m:sub>
                    </m:sSub>
                  </m:oMath>
                </a14:m>
                <a:r>
                  <a:rPr lang="zh-TW" altLang="zh-TW" dirty="0"/>
                  <a:t>為正值時，代表兩變項正相關，</a:t>
                </a:r>
                <a14:m>
                  <m:oMath xmlns:m="http://schemas.openxmlformats.org/officeDocument/2006/math">
                    <m:r>
                      <a:rPr lang="zh-TW" altLang="zh-TW" i="1">
                        <a:latin typeface="Cambria Math" panose="02040503050406030204" pitchFamily="18" charset="0"/>
                      </a:rPr>
                      <m:t> </m:t>
                    </m:r>
                    <m:sSub>
                      <m:sSubPr>
                        <m:ctrlPr>
                          <a:rPr lang="zh-TW" altLang="zh-TW" i="1">
                            <a:latin typeface="Cambria Math" panose="02040503050406030204" pitchFamily="18" charset="0"/>
                          </a:rPr>
                        </m:ctrlPr>
                      </m:sSubPr>
                      <m:e>
                        <m:r>
                          <a:rPr lang="en-US" altLang="zh-TW" i="1">
                            <a:latin typeface="Cambria Math" panose="02040503050406030204" pitchFamily="18" charset="0"/>
                          </a:rPr>
                          <m:t>𝑟</m:t>
                        </m:r>
                      </m:e>
                      <m:sub>
                        <m:r>
                          <a:rPr lang="en-US" altLang="zh-TW" i="1">
                            <a:latin typeface="Cambria Math" panose="02040503050406030204" pitchFamily="18" charset="0"/>
                          </a:rPr>
                          <m:t>𝑥𝑦</m:t>
                        </m:r>
                      </m:sub>
                    </m:sSub>
                  </m:oMath>
                </a14:m>
                <a:r>
                  <a:rPr lang="zh-TW" altLang="zh-TW" dirty="0"/>
                  <a:t>為負值時，代表兩變項負相關。</a:t>
                </a:r>
                <a:endParaRPr lang="en-US" altLang="zh-TW" dirty="0"/>
              </a:p>
              <a:p>
                <a:pPr marL="109728" indent="0" algn="ctr">
                  <a:buNone/>
                </a:pPr>
                <a:r>
                  <a:rPr lang="zh-TW" altLang="zh-TW" dirty="0"/>
                  <a:t> </a:t>
                </a:r>
                <a:endParaRPr lang="en-US" altLang="zh-TW" dirty="0"/>
              </a:p>
              <a:p>
                <a:pPr marL="109728" indent="0" algn="ctr">
                  <a:buNone/>
                </a:pPr>
                <a:endParaRPr lang="zh-TW" altLang="en-US" dirty="0"/>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459333" y="1268760"/>
                <a:ext cx="8229600" cy="4525963"/>
              </a:xfrm>
              <a:blipFill>
                <a:blip r:embed="rId2"/>
                <a:stretch>
                  <a:fillRect l="-444"/>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pPr>
              <a:defRPr/>
            </a:pPr>
            <a:r>
              <a:rPr lang="en-US" altLang="zh-TW" dirty="0"/>
              <a:t>6</a:t>
            </a:r>
          </a:p>
        </p:txBody>
      </p:sp>
    </p:spTree>
    <p:extLst>
      <p:ext uri="{BB962C8B-B14F-4D97-AF65-F5344CB8AC3E}">
        <p14:creationId xmlns:p14="http://schemas.microsoft.com/office/powerpoint/2010/main" val="357523410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43608" y="188640"/>
            <a:ext cx="7416823" cy="1188720"/>
          </a:xfrm>
        </p:spPr>
        <p:txBody>
          <a:bodyPr>
            <a:normAutofit/>
          </a:bodyPr>
          <a:lstStyle/>
          <a:p>
            <a:pPr algn="ctr"/>
            <a:r>
              <a:rPr lang="zh-TW" altLang="zh-TW" sz="3600" dirty="0">
                <a:effectLst/>
              </a:rPr>
              <a:t>不同母體相關係數資料散佈圖</a:t>
            </a:r>
            <a:endParaRPr lang="zh-TW" altLang="en-US" sz="3600" dirty="0"/>
          </a:p>
        </p:txBody>
      </p:sp>
      <p:pic>
        <p:nvPicPr>
          <p:cNvPr id="4" name="內容版面配置區 3"/>
          <p:cNvPicPr>
            <a:picLocks noGrp="1"/>
          </p:cNvPicPr>
          <p:nvPr>
            <p:ph idx="1"/>
          </p:nvPr>
        </p:nvPicPr>
        <p:blipFill>
          <a:blip r:embed="rId2"/>
          <a:stretch>
            <a:fillRect/>
          </a:stretch>
        </p:blipFill>
        <p:spPr>
          <a:xfrm>
            <a:off x="1403648" y="1417638"/>
            <a:ext cx="6159471" cy="4963690"/>
          </a:xfrm>
          <a:prstGeom prst="rect">
            <a:avLst/>
          </a:prstGeom>
        </p:spPr>
      </p:pic>
      <p:sp>
        <p:nvSpPr>
          <p:cNvPr id="3" name="投影片編號版面配置區 2"/>
          <p:cNvSpPr>
            <a:spLocks noGrp="1"/>
          </p:cNvSpPr>
          <p:nvPr>
            <p:ph type="sldNum" sz="quarter" idx="12"/>
          </p:nvPr>
        </p:nvSpPr>
        <p:spPr/>
        <p:txBody>
          <a:bodyPr/>
          <a:lstStyle/>
          <a:p>
            <a:pPr>
              <a:defRPr/>
            </a:pPr>
            <a:r>
              <a:rPr lang="en-US" altLang="zh-TW" dirty="0"/>
              <a:t>7</a:t>
            </a:r>
          </a:p>
        </p:txBody>
      </p:sp>
    </p:spTree>
    <p:extLst>
      <p:ext uri="{BB962C8B-B14F-4D97-AF65-F5344CB8AC3E}">
        <p14:creationId xmlns:p14="http://schemas.microsoft.com/office/powerpoint/2010/main" val="341412466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292159"/>
            <a:ext cx="8229600" cy="616561"/>
          </a:xfrm>
        </p:spPr>
        <p:txBody>
          <a:bodyPr>
            <a:normAutofit fontScale="90000"/>
          </a:bodyPr>
          <a:lstStyle/>
          <a:p>
            <a:pPr algn="ctr"/>
            <a:r>
              <a:rPr lang="zh-TW" altLang="zh-TW" dirty="0">
                <a:effectLst/>
              </a:rPr>
              <a:t>相關係數之估計及相關性檢定</a:t>
            </a:r>
            <a:endParaRPr lang="zh-TW" altLang="en-US" dirty="0"/>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430939" y="1124744"/>
                <a:ext cx="8229600" cy="4954555"/>
              </a:xfrm>
            </p:spPr>
            <p:txBody>
              <a:bodyPr>
                <a:normAutofit/>
              </a:bodyPr>
              <a:lstStyle/>
              <a:p>
                <a:pPr marL="109728" indent="0">
                  <a:lnSpc>
                    <a:spcPct val="120000"/>
                  </a:lnSpc>
                  <a:buNone/>
                </a:pPr>
                <a:r>
                  <a:rPr lang="zh-TW" altLang="zh-TW" dirty="0"/>
                  <a:t>若是兩個變項的分配都是常態分配</a:t>
                </a:r>
                <a:r>
                  <a:rPr lang="zh-TW" altLang="en-US" dirty="0"/>
                  <a:t>，</a:t>
                </a:r>
                <a14:m>
                  <m:oMath xmlns:m="http://schemas.openxmlformats.org/officeDocument/2006/math">
                    <m:r>
                      <m:rPr>
                        <m:sty m:val="p"/>
                      </m:rPr>
                      <a:rPr lang="en-US" altLang="zh-TW">
                        <a:latin typeface="Cambria Math" panose="02040503050406030204" pitchFamily="18" charset="0"/>
                      </a:rPr>
                      <m:t>ρ</m:t>
                    </m:r>
                  </m:oMath>
                </a14:m>
                <a:r>
                  <a:rPr lang="zh-TW" altLang="en-US" dirty="0"/>
                  <a:t>為母體相關係數。檢定此相關係數是否顯著時，可設立以下假設：</a:t>
                </a:r>
                <a:endParaRPr lang="en-US" altLang="zh-TW" dirty="0"/>
              </a:p>
              <a:p>
                <a:pPr marL="109728" indent="0" algn="ctr">
                  <a:lnSpc>
                    <a:spcPct val="120000"/>
                  </a:lnSpc>
                  <a:buNone/>
                </a:pPr>
                <a:r>
                  <a:rPr lang="zh-TW" altLang="zh-TW" dirty="0"/>
                  <a:t>虛無假設</a:t>
                </a:r>
                <a14:m>
                  <m:oMath xmlns:m="http://schemas.openxmlformats.org/officeDocument/2006/math">
                    <m:sSub>
                      <m:sSubPr>
                        <m:ctrlPr>
                          <a:rPr lang="zh-TW" altLang="zh-TW" i="1">
                            <a:latin typeface="Cambria Math" panose="02040503050406030204" pitchFamily="18" charset="0"/>
                          </a:rPr>
                        </m:ctrlPr>
                      </m:sSubPr>
                      <m:e>
                        <m:r>
                          <m:rPr>
                            <m:sty m:val="p"/>
                          </m:rPr>
                          <a:rPr lang="en-US" altLang="zh-TW">
                            <a:latin typeface="Cambria Math" panose="02040503050406030204" pitchFamily="18" charset="0"/>
                          </a:rPr>
                          <m:t>H</m:t>
                        </m:r>
                      </m:e>
                      <m:sub>
                        <m:r>
                          <a:rPr lang="en-US" altLang="zh-TW">
                            <a:latin typeface="Cambria Math" panose="02040503050406030204" pitchFamily="18" charset="0"/>
                          </a:rPr>
                          <m:t>0</m:t>
                        </m:r>
                      </m:sub>
                    </m:sSub>
                    <m:r>
                      <a:rPr lang="en-US" altLang="zh-TW">
                        <a:latin typeface="Cambria Math" panose="02040503050406030204" pitchFamily="18" charset="0"/>
                      </a:rPr>
                      <m:t>:</m:t>
                    </m:r>
                    <m:r>
                      <m:rPr>
                        <m:sty m:val="p"/>
                      </m:rPr>
                      <a:rPr lang="en-US" altLang="zh-TW">
                        <a:latin typeface="Cambria Math" panose="02040503050406030204" pitchFamily="18" charset="0"/>
                      </a:rPr>
                      <m:t>ρ</m:t>
                    </m:r>
                    <m:r>
                      <a:rPr lang="en-US" altLang="zh-TW">
                        <a:latin typeface="Cambria Math" panose="02040503050406030204" pitchFamily="18" charset="0"/>
                      </a:rPr>
                      <m:t>=0</m:t>
                    </m:r>
                  </m:oMath>
                </a14:m>
                <a:endParaRPr lang="en-US" altLang="zh-TW" dirty="0"/>
              </a:p>
              <a:p>
                <a:pPr marL="109728" indent="0" algn="ctr">
                  <a:lnSpc>
                    <a:spcPct val="120000"/>
                  </a:lnSpc>
                  <a:buNone/>
                </a:pPr>
                <a:r>
                  <a:rPr lang="zh-TW" altLang="en-US" dirty="0"/>
                  <a:t>對立</a:t>
                </a:r>
                <a:r>
                  <a:rPr lang="zh-TW" altLang="zh-TW" dirty="0"/>
                  <a:t>假設</a:t>
                </a:r>
                <a14:m>
                  <m:oMath xmlns:m="http://schemas.openxmlformats.org/officeDocument/2006/math">
                    <m:sSub>
                      <m:sSubPr>
                        <m:ctrlPr>
                          <a:rPr lang="zh-TW" altLang="zh-TW" i="1">
                            <a:latin typeface="Cambria Math" panose="02040503050406030204" pitchFamily="18" charset="0"/>
                          </a:rPr>
                        </m:ctrlPr>
                      </m:sSubPr>
                      <m:e>
                        <m:r>
                          <m:rPr>
                            <m:sty m:val="p"/>
                          </m:rPr>
                          <a:rPr lang="en-US" altLang="zh-TW">
                            <a:latin typeface="Cambria Math" panose="02040503050406030204" pitchFamily="18" charset="0"/>
                          </a:rPr>
                          <m:t>H</m:t>
                        </m:r>
                      </m:e>
                      <m:sub>
                        <m:r>
                          <a:rPr lang="en-US" altLang="zh-TW" b="0" i="1" smtClean="0">
                            <a:latin typeface="Cambria Math" panose="02040503050406030204" pitchFamily="18" charset="0"/>
                          </a:rPr>
                          <m:t>𝑎</m:t>
                        </m:r>
                      </m:sub>
                    </m:sSub>
                    <m:r>
                      <a:rPr lang="en-US" altLang="zh-TW">
                        <a:latin typeface="Cambria Math" panose="02040503050406030204" pitchFamily="18" charset="0"/>
                      </a:rPr>
                      <m:t>:</m:t>
                    </m:r>
                    <m:r>
                      <m:rPr>
                        <m:sty m:val="p"/>
                      </m:rPr>
                      <a:rPr lang="en-US" altLang="zh-TW">
                        <a:latin typeface="Cambria Math" panose="02040503050406030204" pitchFamily="18" charset="0"/>
                      </a:rPr>
                      <m:t>ρ</m:t>
                    </m:r>
                    <m:r>
                      <a:rPr lang="en-US" altLang="zh-TW" i="1" smtClean="0">
                        <a:latin typeface="Cambria Math" panose="02040503050406030204" pitchFamily="18" charset="0"/>
                        <a:ea typeface="Cambria Math" panose="02040503050406030204" pitchFamily="18" charset="0"/>
                      </a:rPr>
                      <m:t>≠</m:t>
                    </m:r>
                    <m:r>
                      <a:rPr lang="en-US" altLang="zh-TW">
                        <a:latin typeface="Cambria Math" panose="02040503050406030204" pitchFamily="18" charset="0"/>
                      </a:rPr>
                      <m:t>0</m:t>
                    </m:r>
                  </m:oMath>
                </a14:m>
                <a:endParaRPr lang="zh-TW" altLang="en-US" dirty="0"/>
              </a:p>
              <a:p>
                <a:pPr marL="109728" indent="0">
                  <a:lnSpc>
                    <a:spcPct val="120000"/>
                  </a:lnSpc>
                  <a:buNone/>
                </a:pPr>
                <a:r>
                  <a:rPr lang="zh-TW" altLang="en-US" dirty="0"/>
                  <a:t>在虛無假設下，檢定統計量為</a:t>
                </a:r>
                <a14:m>
                  <m:oMath xmlns:m="http://schemas.openxmlformats.org/officeDocument/2006/math">
                    <m:r>
                      <a:rPr lang="en-US" altLang="zh-TW" i="1">
                        <a:latin typeface="Cambria Math" panose="02040503050406030204" pitchFamily="18" charset="0"/>
                      </a:rPr>
                      <m:t>𝑡</m:t>
                    </m:r>
                    <m:r>
                      <a:rPr lang="en-US" altLang="zh-TW">
                        <a:latin typeface="Cambria Math" panose="02040503050406030204" pitchFamily="18" charset="0"/>
                      </a:rPr>
                      <m:t>=</m:t>
                    </m:r>
                    <m:f>
                      <m:fPr>
                        <m:ctrlPr>
                          <a:rPr lang="zh-TW" altLang="zh-TW" i="1">
                            <a:latin typeface="Cambria Math" panose="02040503050406030204" pitchFamily="18" charset="0"/>
                          </a:rPr>
                        </m:ctrlPr>
                      </m:fPr>
                      <m:num>
                        <m:sSub>
                          <m:sSubPr>
                            <m:ctrlPr>
                              <a:rPr lang="zh-TW" altLang="zh-TW" i="1">
                                <a:latin typeface="Cambria Math" panose="02040503050406030204" pitchFamily="18" charset="0"/>
                              </a:rPr>
                            </m:ctrlPr>
                          </m:sSubPr>
                          <m:e>
                            <m:r>
                              <a:rPr lang="en-US" altLang="zh-TW" i="1">
                                <a:latin typeface="Cambria Math" panose="02040503050406030204" pitchFamily="18" charset="0"/>
                              </a:rPr>
                              <m:t>𝑟</m:t>
                            </m:r>
                          </m:e>
                          <m:sub>
                            <m:r>
                              <a:rPr lang="en-US" altLang="zh-TW" i="1">
                                <a:latin typeface="Cambria Math" panose="02040503050406030204" pitchFamily="18" charset="0"/>
                              </a:rPr>
                              <m:t>𝑥𝑦</m:t>
                            </m:r>
                          </m:sub>
                        </m:sSub>
                        <m:rad>
                          <m:radPr>
                            <m:degHide m:val="on"/>
                            <m:ctrlPr>
                              <a:rPr lang="zh-TW" altLang="zh-TW" i="1">
                                <a:latin typeface="Cambria Math" panose="02040503050406030204" pitchFamily="18" charset="0"/>
                              </a:rPr>
                            </m:ctrlPr>
                          </m:radPr>
                          <m:deg/>
                          <m:e>
                            <m:r>
                              <m:rPr>
                                <m:sty m:val="p"/>
                              </m:rPr>
                              <a:rPr lang="en-US" altLang="zh-TW">
                                <a:latin typeface="Cambria Math" panose="02040503050406030204" pitchFamily="18" charset="0"/>
                              </a:rPr>
                              <m:t>n</m:t>
                            </m:r>
                            <m:r>
                              <a:rPr lang="en-US" altLang="zh-TW" i="1">
                                <a:latin typeface="Cambria Math" panose="02040503050406030204" pitchFamily="18" charset="0"/>
                              </a:rPr>
                              <m:t>−</m:t>
                            </m:r>
                            <m:r>
                              <a:rPr lang="en-US" altLang="zh-TW">
                                <a:latin typeface="Cambria Math" panose="02040503050406030204" pitchFamily="18" charset="0"/>
                              </a:rPr>
                              <m:t>2</m:t>
                            </m:r>
                          </m:e>
                        </m:rad>
                      </m:num>
                      <m:den>
                        <m:rad>
                          <m:radPr>
                            <m:degHide m:val="on"/>
                            <m:ctrlPr>
                              <a:rPr lang="zh-TW" altLang="zh-TW" i="1">
                                <a:latin typeface="Cambria Math" panose="02040503050406030204" pitchFamily="18" charset="0"/>
                              </a:rPr>
                            </m:ctrlPr>
                          </m:radPr>
                          <m:deg/>
                          <m:e>
                            <m:r>
                              <a:rPr lang="en-US" altLang="zh-TW">
                                <a:latin typeface="Cambria Math" panose="02040503050406030204" pitchFamily="18" charset="0"/>
                              </a:rPr>
                              <m:t>1</m:t>
                            </m:r>
                            <m:r>
                              <a:rPr lang="en-US" altLang="zh-TW" i="1">
                                <a:latin typeface="Cambria Math" panose="02040503050406030204" pitchFamily="18" charset="0"/>
                              </a:rPr>
                              <m:t>−</m:t>
                            </m:r>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𝑟</m:t>
                                </m:r>
                              </m:e>
                              <m:sub>
                                <m:r>
                                  <a:rPr lang="en-US" altLang="zh-TW" i="1">
                                    <a:latin typeface="Cambria Math" panose="02040503050406030204" pitchFamily="18" charset="0"/>
                                  </a:rPr>
                                  <m:t>𝑥𝑦</m:t>
                                </m:r>
                              </m:sub>
                              <m:sup>
                                <m:r>
                                  <a:rPr lang="en-US" altLang="zh-TW">
                                    <a:latin typeface="Cambria Math" panose="02040503050406030204" pitchFamily="18" charset="0"/>
                                  </a:rPr>
                                  <m:t>2</m:t>
                                </m:r>
                              </m:sup>
                            </m:sSubSup>
                          </m:e>
                        </m:rad>
                      </m:den>
                    </m:f>
                  </m:oMath>
                </a14:m>
                <a:r>
                  <a:rPr lang="zh-TW" altLang="zh-TW" dirty="0"/>
                  <a:t>的抽樣分配為自由度</a:t>
                </a:r>
                <a:r>
                  <a:rPr lang="en-US" altLang="zh-TW" dirty="0"/>
                  <a:t>n-2</a:t>
                </a:r>
                <a:r>
                  <a:rPr lang="zh-TW" altLang="zh-TW" dirty="0"/>
                  <a:t>的</a:t>
                </a:r>
                <a:r>
                  <a:rPr lang="en-US" altLang="zh-TW" dirty="0"/>
                  <a:t>t</a:t>
                </a:r>
                <a:r>
                  <a:rPr lang="zh-TW" altLang="zh-TW" dirty="0"/>
                  <a:t>分配</a:t>
                </a:r>
                <a:r>
                  <a:rPr lang="zh-TW" altLang="en-US" dirty="0"/>
                  <a:t>，</a:t>
                </a:r>
                <a:r>
                  <a:rPr lang="zh-TW" altLang="zh-TW" dirty="0"/>
                  <a:t>可以藉由</a:t>
                </a:r>
                <a:r>
                  <a:rPr lang="en-US" altLang="zh-TW" dirty="0"/>
                  <a:t>p</a:t>
                </a:r>
                <a:r>
                  <a:rPr lang="zh-TW" altLang="zh-TW" dirty="0"/>
                  <a:t>值法</a:t>
                </a:r>
                <a:r>
                  <a:rPr lang="en-US" altLang="zh-TW" dirty="0"/>
                  <a:t> (</a:t>
                </a:r>
                <a14:m>
                  <m:oMath xmlns:m="http://schemas.openxmlformats.org/officeDocument/2006/math">
                    <m:r>
                      <a:rPr lang="zh-TW" altLang="zh-TW">
                        <a:latin typeface="Cambria Math" panose="02040503050406030204" pitchFamily="18" charset="0"/>
                      </a:rPr>
                      <m:t>雙尾檢定時，</m:t>
                    </m:r>
                    <m:r>
                      <m:rPr>
                        <m:sty m:val="p"/>
                      </m:rPr>
                      <a:rPr lang="en-US" altLang="zh-TW">
                        <a:latin typeface="Cambria Math" panose="02040503050406030204" pitchFamily="18" charset="0"/>
                      </a:rPr>
                      <m:t>p</m:t>
                    </m:r>
                    <m:r>
                      <a:rPr lang="zh-TW" altLang="en-US" i="1">
                        <a:latin typeface="Cambria Math" panose="02040503050406030204" pitchFamily="18" charset="0"/>
                      </a:rPr>
                      <m:t>值</m:t>
                    </m:r>
                    <m:r>
                      <a:rPr lang="en-US" altLang="zh-TW">
                        <a:latin typeface="Cambria Math" panose="02040503050406030204" pitchFamily="18" charset="0"/>
                      </a:rPr>
                      <m:t>=2×</m:t>
                    </m:r>
                    <m:r>
                      <m:rPr>
                        <m:sty m:val="p"/>
                      </m:rPr>
                      <a:rPr lang="en-US" altLang="zh-TW">
                        <a:latin typeface="Cambria Math" panose="02040503050406030204" pitchFamily="18" charset="0"/>
                      </a:rPr>
                      <m:t>P</m:t>
                    </m:r>
                    <m:d>
                      <m:dPr>
                        <m:ctrlPr>
                          <a:rPr lang="zh-TW" altLang="zh-TW" i="1">
                            <a:latin typeface="Cambria Math" panose="02040503050406030204" pitchFamily="18" charset="0"/>
                          </a:rPr>
                        </m:ctrlPr>
                      </m:dPr>
                      <m:e>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𝑡</m:t>
                            </m:r>
                          </m:e>
                          <m:sub>
                            <m:r>
                              <a:rPr lang="en-US" altLang="zh-TW">
                                <a:latin typeface="Cambria Math" panose="02040503050406030204" pitchFamily="18" charset="0"/>
                              </a:rPr>
                              <m:t>(</m:t>
                            </m:r>
                            <m:r>
                              <m:rPr>
                                <m:sty m:val="p"/>
                              </m:rPr>
                              <a:rPr lang="en-US" altLang="zh-TW">
                                <a:latin typeface="Cambria Math" panose="02040503050406030204" pitchFamily="18" charset="0"/>
                              </a:rPr>
                              <m:t>n</m:t>
                            </m:r>
                            <m:r>
                              <a:rPr lang="en-US" altLang="zh-TW" i="1">
                                <a:latin typeface="Cambria Math" panose="02040503050406030204" pitchFamily="18" charset="0"/>
                              </a:rPr>
                              <m:t>−</m:t>
                            </m:r>
                            <m:r>
                              <a:rPr lang="en-US" altLang="zh-TW">
                                <a:latin typeface="Cambria Math" panose="02040503050406030204" pitchFamily="18" charset="0"/>
                              </a:rPr>
                              <m:t>2)</m:t>
                            </m:r>
                          </m:sub>
                          <m:sup/>
                        </m:sSubSup>
                        <m:r>
                          <a:rPr lang="en-US" altLang="zh-TW">
                            <a:latin typeface="Cambria Math" panose="02040503050406030204" pitchFamily="18" charset="0"/>
                          </a:rPr>
                          <m:t>&gt;</m:t>
                        </m:r>
                        <m:d>
                          <m:dPr>
                            <m:begChr m:val="|"/>
                            <m:endChr m:val="|"/>
                            <m:ctrlPr>
                              <a:rPr lang="en-US" altLang="zh-TW" i="1" smtClean="0">
                                <a:latin typeface="Cambria Math" panose="02040503050406030204" pitchFamily="18" charset="0"/>
                              </a:rPr>
                            </m:ctrlPr>
                          </m:dPr>
                          <m:e>
                            <m:r>
                              <a:rPr lang="en-US" altLang="zh-TW" i="1">
                                <a:latin typeface="Cambria Math" panose="02040503050406030204" pitchFamily="18" charset="0"/>
                              </a:rPr>
                              <m:t>𝑡</m:t>
                            </m:r>
                          </m:e>
                        </m:d>
                      </m:e>
                    </m:d>
                    <m:r>
                      <a:rPr lang="en-US" altLang="zh-TW" i="1">
                        <a:latin typeface="Cambria Math" panose="02040503050406030204" pitchFamily="18" charset="0"/>
                      </a:rPr>
                      <m:t>)</m:t>
                    </m:r>
                  </m:oMath>
                </a14:m>
                <a:r>
                  <a:rPr lang="zh-TW" altLang="zh-TW" dirty="0"/>
                  <a:t>決定是否拒絶虛無假設。</a:t>
                </a:r>
                <a:endParaRPr lang="zh-TW" altLang="en-US" dirty="0"/>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430939" y="1124744"/>
                <a:ext cx="8229600" cy="4954555"/>
              </a:xfrm>
              <a:blipFill>
                <a:blip r:embed="rId3"/>
                <a:stretch>
                  <a:fillRect t="-123" r="-296"/>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pPr>
              <a:defRPr/>
            </a:pPr>
            <a:r>
              <a:rPr lang="en-US" altLang="zh-TW" dirty="0"/>
              <a:t>8</a:t>
            </a:r>
          </a:p>
        </p:txBody>
      </p:sp>
    </p:spTree>
    <p:extLst>
      <p:ext uri="{BB962C8B-B14F-4D97-AF65-F5344CB8AC3E}">
        <p14:creationId xmlns:p14="http://schemas.microsoft.com/office/powerpoint/2010/main" val="72042783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1603122" y="523612"/>
            <a:ext cx="5937755" cy="1188720"/>
          </a:xfrm>
        </p:spPr>
        <p:txBody>
          <a:bodyPr/>
          <a:lstStyle/>
          <a:p>
            <a:pPr algn="ctr"/>
            <a:r>
              <a:rPr lang="zh-TW" altLang="zh-TW" dirty="0">
                <a:effectLst/>
              </a:rPr>
              <a:t>相關係數之估計及相關性檢定</a:t>
            </a:r>
            <a:endParaRPr lang="zh-TW" altLang="en-US" dirty="0"/>
          </a:p>
        </p:txBody>
      </p:sp>
      <p:sp>
        <p:nvSpPr>
          <p:cNvPr id="2" name="內容版面配置區 1"/>
          <p:cNvSpPr>
            <a:spLocks noGrp="1"/>
          </p:cNvSpPr>
          <p:nvPr>
            <p:ph idx="1"/>
          </p:nvPr>
        </p:nvSpPr>
        <p:spPr>
          <a:xfrm>
            <a:off x="1603121" y="2276872"/>
            <a:ext cx="5937755" cy="3101983"/>
          </a:xfrm>
        </p:spPr>
        <p:txBody>
          <a:bodyPr>
            <a:normAutofit fontScale="85000" lnSpcReduction="20000"/>
          </a:bodyPr>
          <a:lstStyle/>
          <a:p>
            <a:pPr>
              <a:lnSpc>
                <a:spcPct val="120000"/>
              </a:lnSpc>
            </a:pPr>
            <a:r>
              <a:rPr lang="en-US" altLang="zh-TW" sz="2400" dirty="0">
                <a:solidFill>
                  <a:srgbClr val="FF0000"/>
                </a:solidFill>
              </a:rPr>
              <a:t>SPSS</a:t>
            </a:r>
            <a:r>
              <a:rPr lang="en-US" altLang="zh-TW" sz="2400" dirty="0"/>
              <a:t> </a:t>
            </a:r>
            <a:r>
              <a:rPr lang="zh-TW" altLang="zh-TW" sz="2400" dirty="0">
                <a:solidFill>
                  <a:srgbClr val="FF0000"/>
                </a:solidFill>
              </a:rPr>
              <a:t>計算心血管疾病資料中連續型變項間的皮爾生相關係數，操作方式為：分析</a:t>
            </a:r>
            <a:r>
              <a:rPr lang="en-US" altLang="zh-TW" sz="2400" dirty="0">
                <a:solidFill>
                  <a:srgbClr val="FF0000"/>
                </a:solidFill>
                <a:sym typeface="Wingdings" panose="05000000000000000000" pitchFamily="2" charset="2"/>
              </a:rPr>
              <a:t></a:t>
            </a:r>
            <a:r>
              <a:rPr lang="zh-TW" altLang="zh-TW" sz="2400" dirty="0">
                <a:solidFill>
                  <a:srgbClr val="FF0000"/>
                </a:solidFill>
              </a:rPr>
              <a:t>相關</a:t>
            </a:r>
            <a:r>
              <a:rPr lang="en-US" altLang="zh-TW" sz="2400" dirty="0">
                <a:solidFill>
                  <a:srgbClr val="FF0000"/>
                </a:solidFill>
                <a:sym typeface="Wingdings" panose="05000000000000000000" pitchFamily="2" charset="2"/>
              </a:rPr>
              <a:t></a:t>
            </a:r>
            <a:r>
              <a:rPr lang="zh-TW" altLang="en-US" sz="2400" dirty="0">
                <a:solidFill>
                  <a:srgbClr val="FF0000"/>
                </a:solidFill>
              </a:rPr>
              <a:t>雙變數</a:t>
            </a:r>
            <a:r>
              <a:rPr lang="zh-TW" altLang="zh-TW" sz="2400" dirty="0">
                <a:solidFill>
                  <a:srgbClr val="FF0000"/>
                </a:solidFill>
              </a:rPr>
              <a:t>：選擇變數年齡、腰圍、收縮壓、舒張壓、空腹血糖、高密度脂蛋白、三酸甘油脂。</a:t>
            </a:r>
            <a:endParaRPr lang="en-US" altLang="zh-TW" sz="2400" dirty="0">
              <a:solidFill>
                <a:srgbClr val="FF0000"/>
              </a:solidFill>
            </a:endParaRPr>
          </a:p>
          <a:p>
            <a:pPr>
              <a:lnSpc>
                <a:spcPct val="120000"/>
              </a:lnSpc>
            </a:pPr>
            <a:r>
              <a:rPr lang="zh-TW" altLang="zh-TW" sz="2400" dirty="0">
                <a:solidFill>
                  <a:srgbClr val="FF0000"/>
                </a:solidFill>
              </a:rPr>
              <a:t>表</a:t>
            </a:r>
            <a:r>
              <a:rPr lang="en-US" altLang="zh-TW" sz="2400" dirty="0">
                <a:solidFill>
                  <a:srgbClr val="FF0000"/>
                </a:solidFill>
              </a:rPr>
              <a:t>7-2</a:t>
            </a:r>
            <a:r>
              <a:rPr lang="zh-TW" altLang="zh-TW" sz="2400" dirty="0">
                <a:solidFill>
                  <a:srgbClr val="FF0000"/>
                </a:solidFill>
              </a:rPr>
              <a:t>結果，每一格結果包含相對應的行列名稱變數的皮爾生</a:t>
            </a:r>
            <a:r>
              <a:rPr lang="zh-TW" altLang="zh-TW" sz="2400" b="1" dirty="0">
                <a:solidFill>
                  <a:srgbClr val="FF0000"/>
                </a:solidFill>
              </a:rPr>
              <a:t>相關係數、</a:t>
            </a:r>
            <a:r>
              <a:rPr lang="en-US" altLang="zh-TW" sz="2400" b="1" dirty="0">
                <a:solidFill>
                  <a:srgbClr val="FF0000"/>
                </a:solidFill>
              </a:rPr>
              <a:t>p</a:t>
            </a:r>
            <a:r>
              <a:rPr lang="zh-TW" altLang="zh-TW" sz="2400" b="1" dirty="0">
                <a:solidFill>
                  <a:srgbClr val="FF0000"/>
                </a:solidFill>
              </a:rPr>
              <a:t>值、樣本數</a:t>
            </a:r>
            <a:r>
              <a:rPr lang="zh-TW" altLang="en-US" sz="2400" dirty="0">
                <a:solidFill>
                  <a:srgbClr val="FF0000"/>
                </a:solidFill>
              </a:rPr>
              <a:t>。</a:t>
            </a:r>
            <a:endParaRPr lang="en-US" altLang="zh-TW" sz="2400" dirty="0">
              <a:solidFill>
                <a:srgbClr val="FF0000"/>
              </a:solidFill>
            </a:endParaRPr>
          </a:p>
          <a:p>
            <a:pPr>
              <a:lnSpc>
                <a:spcPct val="120000"/>
              </a:lnSpc>
            </a:pPr>
            <a:r>
              <a:rPr lang="zh-TW" altLang="zh-TW" sz="2400" dirty="0">
                <a:solidFill>
                  <a:srgbClr val="FF0000"/>
                </a:solidFill>
              </a:rPr>
              <a:t>以年齡為例，腰圍、收縮壓、舒張壓、空腹血糖都會隨著年齡增加而增加，僅高密度脂蛋白是減少</a:t>
            </a:r>
            <a:r>
              <a:rPr lang="zh-TW" altLang="zh-TW" sz="2400" dirty="0"/>
              <a:t>。</a:t>
            </a:r>
            <a:endParaRPr lang="zh-TW" altLang="en-US" sz="2400" dirty="0"/>
          </a:p>
        </p:txBody>
      </p:sp>
      <p:sp>
        <p:nvSpPr>
          <p:cNvPr id="3" name="投影片編號版面配置區 2"/>
          <p:cNvSpPr>
            <a:spLocks noGrp="1"/>
          </p:cNvSpPr>
          <p:nvPr>
            <p:ph type="sldNum" sz="quarter" idx="12"/>
          </p:nvPr>
        </p:nvSpPr>
        <p:spPr>
          <a:xfrm>
            <a:off x="8647272" y="6400800"/>
            <a:ext cx="365760" cy="372269"/>
          </a:xfrm>
        </p:spPr>
        <p:txBody>
          <a:bodyPr/>
          <a:lstStyle/>
          <a:p>
            <a:pPr>
              <a:defRPr/>
            </a:pPr>
            <a:r>
              <a:rPr lang="en-US" altLang="zh-TW" dirty="0"/>
              <a:t>9</a:t>
            </a:r>
          </a:p>
        </p:txBody>
      </p:sp>
    </p:spTree>
    <p:extLst>
      <p:ext uri="{BB962C8B-B14F-4D97-AF65-F5344CB8AC3E}">
        <p14:creationId xmlns:p14="http://schemas.microsoft.com/office/powerpoint/2010/main" val="263307618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內容版面配置區 11">
            <a:extLst>
              <a:ext uri="{FF2B5EF4-FFF2-40B4-BE49-F238E27FC236}">
                <a16:creationId xmlns:a16="http://schemas.microsoft.com/office/drawing/2014/main" id="{41E7E8E6-95FB-42D1-97C0-D9D6D80C45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2840" y="873412"/>
            <a:ext cx="8229600" cy="5507916"/>
          </a:xfrm>
        </p:spPr>
      </p:pic>
      <p:sp>
        <p:nvSpPr>
          <p:cNvPr id="2" name="標題 1"/>
          <p:cNvSpPr>
            <a:spLocks noGrp="1"/>
          </p:cNvSpPr>
          <p:nvPr>
            <p:ph type="title"/>
          </p:nvPr>
        </p:nvSpPr>
        <p:spPr>
          <a:xfrm>
            <a:off x="467544" y="116632"/>
            <a:ext cx="8229600" cy="585179"/>
          </a:xfrm>
        </p:spPr>
        <p:txBody>
          <a:bodyPr>
            <a:normAutofit fontScale="90000"/>
          </a:bodyPr>
          <a:lstStyle/>
          <a:p>
            <a:pPr algn="ctr"/>
            <a:r>
              <a:rPr lang="zh-TW" altLang="zh-TW" dirty="0">
                <a:solidFill>
                  <a:srgbClr val="FF0000"/>
                </a:solidFill>
                <a:effectLst/>
              </a:rPr>
              <a:t>皮爾生相關係數</a:t>
            </a:r>
            <a:endParaRPr lang="zh-TW" altLang="en-US" dirty="0">
              <a:solidFill>
                <a:srgbClr val="FF0000"/>
              </a:solidFill>
            </a:endParaRPr>
          </a:p>
        </p:txBody>
      </p:sp>
      <p:sp>
        <p:nvSpPr>
          <p:cNvPr id="8" name="投影片編號版面配置區 2"/>
          <p:cNvSpPr>
            <a:spLocks noGrp="1"/>
          </p:cNvSpPr>
          <p:nvPr>
            <p:ph type="sldNum" sz="quarter" idx="12"/>
          </p:nvPr>
        </p:nvSpPr>
        <p:spPr>
          <a:xfrm>
            <a:off x="8647272" y="6400800"/>
            <a:ext cx="365760" cy="372269"/>
          </a:xfrm>
        </p:spPr>
        <p:txBody>
          <a:bodyPr/>
          <a:lstStyle/>
          <a:p>
            <a:pPr>
              <a:defRPr/>
            </a:pPr>
            <a:r>
              <a:rPr lang="en-US" altLang="zh-TW" dirty="0"/>
              <a:t>10</a:t>
            </a:r>
          </a:p>
        </p:txBody>
      </p:sp>
      <p:sp>
        <p:nvSpPr>
          <p:cNvPr id="3" name="圓角矩形 2"/>
          <p:cNvSpPr/>
          <p:nvPr/>
        </p:nvSpPr>
        <p:spPr>
          <a:xfrm>
            <a:off x="2555776" y="1033076"/>
            <a:ext cx="864096" cy="5367723"/>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圓角矩形 4"/>
          <p:cNvSpPr/>
          <p:nvPr/>
        </p:nvSpPr>
        <p:spPr>
          <a:xfrm>
            <a:off x="2555775" y="1105084"/>
            <a:ext cx="6285385" cy="955763"/>
          </a:xfrm>
          <a:prstGeom prst="roundRect">
            <a:avLst/>
          </a:prstGeom>
          <a:noFill/>
          <a:ln w="31750">
            <a:solidFill>
              <a:srgbClr val="33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310314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17672" y="332657"/>
            <a:ext cx="8229600" cy="720080"/>
          </a:xfrm>
        </p:spPr>
        <p:txBody>
          <a:bodyPr>
            <a:normAutofit fontScale="90000"/>
          </a:bodyPr>
          <a:lstStyle/>
          <a:p>
            <a:pPr algn="ctr"/>
            <a:r>
              <a:rPr lang="zh-TW" altLang="zh-TW" sz="3600" dirty="0">
                <a:effectLst/>
              </a:rPr>
              <a:t>相關係數之估計及相關性檢定</a:t>
            </a:r>
            <a:endParaRPr lang="zh-TW" altLang="en-US" sz="3600" dirty="0"/>
          </a:p>
        </p:txBody>
      </p:sp>
      <p:sp>
        <p:nvSpPr>
          <p:cNvPr id="2" name="內容版面配置區 1"/>
          <p:cNvSpPr>
            <a:spLocks noGrp="1"/>
          </p:cNvSpPr>
          <p:nvPr>
            <p:ph idx="1"/>
          </p:nvPr>
        </p:nvSpPr>
        <p:spPr>
          <a:xfrm>
            <a:off x="457200" y="1196752"/>
            <a:ext cx="8075240" cy="4810540"/>
          </a:xfrm>
        </p:spPr>
        <p:txBody>
          <a:bodyPr>
            <a:normAutofit/>
          </a:bodyPr>
          <a:lstStyle/>
          <a:p>
            <a:pPr>
              <a:lnSpc>
                <a:spcPct val="150000"/>
              </a:lnSpc>
            </a:pPr>
            <a:r>
              <a:rPr lang="zh-TW" altLang="zh-TW" sz="2400" dirty="0"/>
              <a:t>皮爾生相關係數通常在常態分配的資料中用來描述</a:t>
            </a:r>
            <a:r>
              <a:rPr lang="zh-TW" altLang="en-US" sz="2400" dirty="0"/>
              <a:t>：</a:t>
            </a:r>
            <a:r>
              <a:rPr lang="zh-TW" altLang="zh-TW" sz="2400" dirty="0"/>
              <a:t>一個變項增加時，另一個變項會隨著增加的線性趨勢，但這樣子的趨勢很多時候並非是線性相關。此時斯皮爾曼等級相關係數（</a:t>
            </a:r>
            <a:r>
              <a:rPr lang="en-US" altLang="zh-TW" sz="2400" dirty="0"/>
              <a:t>Spearman’s Rank Correlation Coefficient</a:t>
            </a:r>
            <a:r>
              <a:rPr lang="zh-TW" altLang="zh-TW" sz="2400" dirty="0"/>
              <a:t>）成了一個替代方法。</a:t>
            </a:r>
            <a:endParaRPr lang="en-US" altLang="zh-TW" sz="2400" dirty="0"/>
          </a:p>
          <a:p>
            <a:pPr>
              <a:lnSpc>
                <a:spcPct val="150000"/>
              </a:lnSpc>
            </a:pPr>
            <a:r>
              <a:rPr lang="zh-TW" altLang="zh-TW" sz="2400" dirty="0"/>
              <a:t>斯皮爾曼等級相關係數也經常在</a:t>
            </a:r>
            <a:r>
              <a:rPr lang="zh-TW" altLang="zh-TW" sz="2400" dirty="0">
                <a:solidFill>
                  <a:srgbClr val="FF0000"/>
                </a:solidFill>
              </a:rPr>
              <a:t>非常態分配</a:t>
            </a:r>
            <a:r>
              <a:rPr lang="zh-TW" altLang="zh-TW" sz="2400" dirty="0"/>
              <a:t>的資料中使用。</a:t>
            </a:r>
            <a:endParaRPr lang="zh-TW" altLang="en-US" sz="2400" dirty="0"/>
          </a:p>
        </p:txBody>
      </p:sp>
      <p:sp>
        <p:nvSpPr>
          <p:cNvPr id="3" name="投影片編號版面配置區 2"/>
          <p:cNvSpPr>
            <a:spLocks noGrp="1"/>
          </p:cNvSpPr>
          <p:nvPr>
            <p:ph type="sldNum" sz="quarter" idx="12"/>
          </p:nvPr>
        </p:nvSpPr>
        <p:spPr/>
        <p:txBody>
          <a:bodyPr/>
          <a:lstStyle/>
          <a:p>
            <a:pPr>
              <a:defRPr/>
            </a:pPr>
            <a:r>
              <a:rPr lang="en-US" altLang="zh-TW" dirty="0"/>
              <a:t>11</a:t>
            </a:r>
          </a:p>
        </p:txBody>
      </p:sp>
    </p:spTree>
    <p:extLst>
      <p:ext uri="{BB962C8B-B14F-4D97-AF65-F5344CB8AC3E}">
        <p14:creationId xmlns:p14="http://schemas.microsoft.com/office/powerpoint/2010/main" val="159321032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116632"/>
            <a:ext cx="8229600" cy="706090"/>
          </a:xfrm>
        </p:spPr>
        <p:txBody>
          <a:bodyPr>
            <a:normAutofit fontScale="90000"/>
          </a:bodyPr>
          <a:lstStyle/>
          <a:p>
            <a:pPr algn="ctr"/>
            <a:r>
              <a:rPr lang="zh-TW" altLang="zh-TW" dirty="0">
                <a:effectLst/>
              </a:rPr>
              <a:t>相關係數之估計及相關性檢定</a:t>
            </a:r>
            <a:endParaRPr lang="zh-TW" altLang="en-US" dirty="0"/>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457200" y="822722"/>
                <a:ext cx="8229600" cy="5585222"/>
              </a:xfrm>
            </p:spPr>
            <p:txBody>
              <a:bodyPr>
                <a:normAutofit lnSpcReduction="10000"/>
              </a:bodyPr>
              <a:lstStyle/>
              <a:p>
                <a:pPr marL="109728" indent="0">
                  <a:buNone/>
                </a:pPr>
                <a:r>
                  <a:rPr lang="zh-TW" altLang="zh-TW" sz="2400" b="1" dirty="0">
                    <a:solidFill>
                      <a:srgbClr val="002060"/>
                    </a:solidFill>
                  </a:rPr>
                  <a:t>斯皮爾曼等級相關係數</a:t>
                </a:r>
                <a:endParaRPr lang="en-US" altLang="zh-TW" sz="2400" b="1" dirty="0">
                  <a:solidFill>
                    <a:srgbClr val="002060"/>
                  </a:solidFill>
                </a:endParaRPr>
              </a:p>
              <a:p>
                <a:pPr marL="109728" indent="0">
                  <a:buNone/>
                </a:pPr>
                <a:r>
                  <a:rPr lang="en-US" altLang="zh-TW" sz="2400" b="1" dirty="0">
                    <a:solidFill>
                      <a:srgbClr val="002060"/>
                    </a:solidFill>
                  </a:rPr>
                  <a:t>(Spearman’s Rank Correlation Coefficient</a:t>
                </a:r>
                <a:r>
                  <a:rPr lang="zh-TW" altLang="zh-TW" sz="2400" b="1" dirty="0">
                    <a:solidFill>
                      <a:srgbClr val="002060"/>
                    </a:solidFill>
                  </a:rPr>
                  <a:t>）</a:t>
                </a:r>
                <a:endParaRPr lang="en-US" altLang="zh-TW" sz="2400" b="1" dirty="0">
                  <a:solidFill>
                    <a:srgbClr val="002060"/>
                  </a:solidFill>
                </a:endParaRPr>
              </a:p>
              <a:p>
                <a:pPr marL="109728" indent="0">
                  <a:buNone/>
                </a:pPr>
                <a:endParaRPr lang="en-US" altLang="zh-TW" sz="2400" b="1" dirty="0">
                  <a:solidFill>
                    <a:srgbClr val="002060"/>
                  </a:solidFill>
                </a:endParaRPr>
              </a:p>
              <a:p>
                <a:pPr marL="109728" indent="0">
                  <a:buNone/>
                </a:pPr>
                <a14:m>
                  <m:oMathPara xmlns:m="http://schemas.openxmlformats.org/officeDocument/2006/math">
                    <m:oMathParaPr>
                      <m:jc m:val="centerGroup"/>
                    </m:oMathParaPr>
                    <m:oMath xmlns:m="http://schemas.openxmlformats.org/officeDocument/2006/math">
                      <m:sSub>
                        <m:sSubPr>
                          <m:ctrlPr>
                            <a:rPr lang="zh-TW" altLang="zh-TW" sz="2000" i="1">
                              <a:latin typeface="Cambria Math" panose="02040503050406030204" pitchFamily="18" charset="0"/>
                            </a:rPr>
                          </m:ctrlPr>
                        </m:sSubPr>
                        <m:e>
                          <m:r>
                            <a:rPr lang="en-US" altLang="zh-TW" sz="2000" i="1">
                              <a:latin typeface="Cambria Math" panose="02040503050406030204" pitchFamily="18" charset="0"/>
                            </a:rPr>
                            <m:t>𝑟</m:t>
                          </m:r>
                        </m:e>
                        <m:sub>
                          <m:r>
                            <a:rPr lang="en-US" altLang="zh-TW" sz="2000" i="1">
                              <a:latin typeface="Cambria Math" panose="02040503050406030204" pitchFamily="18" charset="0"/>
                            </a:rPr>
                            <m:t>𝑠</m:t>
                          </m:r>
                        </m:sub>
                      </m:sSub>
                      <m:r>
                        <a:rPr lang="en-US" altLang="zh-TW" sz="2000">
                          <a:latin typeface="Cambria Math" panose="02040503050406030204" pitchFamily="18" charset="0"/>
                        </a:rPr>
                        <m:t>=</m:t>
                      </m:r>
                      <m:f>
                        <m:fPr>
                          <m:ctrlPr>
                            <a:rPr lang="zh-TW" altLang="zh-TW" sz="2000" i="1">
                              <a:latin typeface="Cambria Math" panose="02040503050406030204" pitchFamily="18" charset="0"/>
                            </a:rPr>
                          </m:ctrlPr>
                        </m:fPr>
                        <m:num>
                          <m:r>
                            <a:rPr lang="en-US" altLang="zh-TW" sz="2000">
                              <a:latin typeface="Cambria Math" panose="02040503050406030204" pitchFamily="18" charset="0"/>
                            </a:rPr>
                            <m:t>∑</m:t>
                          </m:r>
                          <m:d>
                            <m:dPr>
                              <m:ctrlPr>
                                <a:rPr lang="zh-TW" altLang="zh-TW" sz="2000" i="1">
                                  <a:latin typeface="Cambria Math" panose="02040503050406030204" pitchFamily="18" charset="0"/>
                                </a:rPr>
                              </m:ctrlPr>
                            </m:dPr>
                            <m:e>
                              <m:sSub>
                                <m:sSubPr>
                                  <m:ctrlPr>
                                    <a:rPr lang="zh-TW" altLang="zh-TW" sz="2000" i="1">
                                      <a:latin typeface="Cambria Math" panose="02040503050406030204" pitchFamily="18" charset="0"/>
                                    </a:rPr>
                                  </m:ctrlPr>
                                </m:sSubPr>
                                <m:e>
                                  <m:r>
                                    <a:rPr lang="en-US" altLang="zh-TW" sz="2000" i="1">
                                      <a:latin typeface="Cambria Math" panose="02040503050406030204" pitchFamily="18" charset="0"/>
                                    </a:rPr>
                                    <m:t>𝑅</m:t>
                                  </m:r>
                                </m:e>
                                <m:sub>
                                  <m:sSub>
                                    <m:sSubPr>
                                      <m:ctrlPr>
                                        <a:rPr lang="zh-TW" altLang="zh-TW" sz="2000" i="1">
                                          <a:latin typeface="Cambria Math" panose="02040503050406030204" pitchFamily="18" charset="0"/>
                                        </a:rPr>
                                      </m:ctrlPr>
                                    </m:sSubPr>
                                    <m:e>
                                      <m:r>
                                        <a:rPr lang="en-US" altLang="zh-TW" sz="2000" i="1">
                                          <a:latin typeface="Cambria Math" panose="02040503050406030204" pitchFamily="18" charset="0"/>
                                        </a:rPr>
                                        <m:t>𝑋</m:t>
                                      </m:r>
                                    </m:e>
                                    <m:sub>
                                      <m:r>
                                        <a:rPr lang="en-US" altLang="zh-TW" sz="2000" i="1">
                                          <a:latin typeface="Cambria Math" panose="02040503050406030204" pitchFamily="18" charset="0"/>
                                        </a:rPr>
                                        <m:t>𝑖</m:t>
                                      </m:r>
                                    </m:sub>
                                  </m:sSub>
                                </m:sub>
                              </m:sSub>
                              <m:r>
                                <a:rPr lang="en-US" altLang="zh-TW" sz="2000" i="1">
                                  <a:latin typeface="Cambria Math" panose="02040503050406030204" pitchFamily="18" charset="0"/>
                                </a:rPr>
                                <m:t>−</m:t>
                              </m:r>
                              <m:sSub>
                                <m:sSubPr>
                                  <m:ctrlPr>
                                    <a:rPr lang="zh-TW" altLang="zh-TW" sz="2000" i="1">
                                      <a:latin typeface="Cambria Math" panose="02040503050406030204" pitchFamily="18" charset="0"/>
                                    </a:rPr>
                                  </m:ctrlPr>
                                </m:sSubPr>
                                <m:e>
                                  <m:acc>
                                    <m:accPr>
                                      <m:chr m:val="̅"/>
                                      <m:ctrlPr>
                                        <a:rPr lang="zh-TW" altLang="zh-TW" sz="2000" i="1">
                                          <a:latin typeface="Cambria Math" panose="02040503050406030204" pitchFamily="18" charset="0"/>
                                        </a:rPr>
                                      </m:ctrlPr>
                                    </m:accPr>
                                    <m:e>
                                      <m:r>
                                        <a:rPr lang="en-US" altLang="zh-TW" sz="2000" i="1">
                                          <a:latin typeface="Cambria Math" panose="02040503050406030204" pitchFamily="18" charset="0"/>
                                        </a:rPr>
                                        <m:t>𝑅</m:t>
                                      </m:r>
                                    </m:e>
                                  </m:acc>
                                </m:e>
                                <m:sub>
                                  <m:r>
                                    <a:rPr lang="en-US" altLang="zh-TW" sz="2000" i="1">
                                      <a:latin typeface="Cambria Math" panose="02040503050406030204" pitchFamily="18" charset="0"/>
                                    </a:rPr>
                                    <m:t>𝑋</m:t>
                                  </m:r>
                                </m:sub>
                              </m:sSub>
                            </m:e>
                          </m:d>
                          <m:d>
                            <m:dPr>
                              <m:ctrlPr>
                                <a:rPr lang="zh-TW" altLang="zh-TW" sz="2000" i="1">
                                  <a:latin typeface="Cambria Math" panose="02040503050406030204" pitchFamily="18" charset="0"/>
                                </a:rPr>
                              </m:ctrlPr>
                            </m:dPr>
                            <m:e>
                              <m:sSub>
                                <m:sSubPr>
                                  <m:ctrlPr>
                                    <a:rPr lang="zh-TW" altLang="zh-TW" sz="2000" i="1">
                                      <a:latin typeface="Cambria Math" panose="02040503050406030204" pitchFamily="18" charset="0"/>
                                    </a:rPr>
                                  </m:ctrlPr>
                                </m:sSubPr>
                                <m:e>
                                  <m:r>
                                    <a:rPr lang="en-US" altLang="zh-TW" sz="2000" i="1">
                                      <a:latin typeface="Cambria Math" panose="02040503050406030204" pitchFamily="18" charset="0"/>
                                    </a:rPr>
                                    <m:t>𝑅</m:t>
                                  </m:r>
                                </m:e>
                                <m:sub>
                                  <m:sSub>
                                    <m:sSubPr>
                                      <m:ctrlPr>
                                        <a:rPr lang="zh-TW" altLang="zh-TW" sz="2000" i="1">
                                          <a:latin typeface="Cambria Math" panose="02040503050406030204" pitchFamily="18" charset="0"/>
                                        </a:rPr>
                                      </m:ctrlPr>
                                    </m:sSubPr>
                                    <m:e>
                                      <m:r>
                                        <a:rPr lang="en-US" altLang="zh-TW" sz="2000" i="1">
                                          <a:latin typeface="Cambria Math" panose="02040503050406030204" pitchFamily="18" charset="0"/>
                                        </a:rPr>
                                        <m:t>𝑌</m:t>
                                      </m:r>
                                    </m:e>
                                    <m:sub>
                                      <m:r>
                                        <a:rPr lang="en-US" altLang="zh-TW" sz="2000" i="1">
                                          <a:latin typeface="Cambria Math" panose="02040503050406030204" pitchFamily="18" charset="0"/>
                                        </a:rPr>
                                        <m:t>𝑖</m:t>
                                      </m:r>
                                    </m:sub>
                                  </m:sSub>
                                </m:sub>
                              </m:sSub>
                              <m:r>
                                <a:rPr lang="en-US" altLang="zh-TW" sz="2000" i="1">
                                  <a:latin typeface="Cambria Math" panose="02040503050406030204" pitchFamily="18" charset="0"/>
                                </a:rPr>
                                <m:t>−</m:t>
                              </m:r>
                              <m:sSub>
                                <m:sSubPr>
                                  <m:ctrlPr>
                                    <a:rPr lang="zh-TW" altLang="zh-TW" sz="2000" i="1">
                                      <a:latin typeface="Cambria Math" panose="02040503050406030204" pitchFamily="18" charset="0"/>
                                    </a:rPr>
                                  </m:ctrlPr>
                                </m:sSubPr>
                                <m:e>
                                  <m:acc>
                                    <m:accPr>
                                      <m:chr m:val="̅"/>
                                      <m:ctrlPr>
                                        <a:rPr lang="zh-TW" altLang="zh-TW" sz="2000" i="1">
                                          <a:latin typeface="Cambria Math" panose="02040503050406030204" pitchFamily="18" charset="0"/>
                                        </a:rPr>
                                      </m:ctrlPr>
                                    </m:accPr>
                                    <m:e>
                                      <m:r>
                                        <a:rPr lang="en-US" altLang="zh-TW" sz="2000" i="1">
                                          <a:latin typeface="Cambria Math" panose="02040503050406030204" pitchFamily="18" charset="0"/>
                                        </a:rPr>
                                        <m:t>𝑅</m:t>
                                      </m:r>
                                    </m:e>
                                  </m:acc>
                                </m:e>
                                <m:sub>
                                  <m:r>
                                    <a:rPr lang="en-US" altLang="zh-TW" sz="2000" i="1">
                                      <a:latin typeface="Cambria Math" panose="02040503050406030204" pitchFamily="18" charset="0"/>
                                    </a:rPr>
                                    <m:t>𝑌</m:t>
                                  </m:r>
                                </m:sub>
                              </m:sSub>
                            </m:e>
                          </m:d>
                        </m:num>
                        <m:den>
                          <m:rad>
                            <m:radPr>
                              <m:degHide m:val="on"/>
                              <m:ctrlPr>
                                <a:rPr lang="zh-TW" altLang="zh-TW" sz="2000" i="1">
                                  <a:latin typeface="Cambria Math" panose="02040503050406030204" pitchFamily="18" charset="0"/>
                                </a:rPr>
                              </m:ctrlPr>
                            </m:radPr>
                            <m:deg/>
                            <m:e>
                              <m:nary>
                                <m:naryPr>
                                  <m:chr m:val="∑"/>
                                  <m:ctrlPr>
                                    <a:rPr lang="zh-TW" altLang="zh-TW" sz="2000" i="1">
                                      <a:latin typeface="Cambria Math" panose="02040503050406030204" pitchFamily="18" charset="0"/>
                                    </a:rPr>
                                  </m:ctrlPr>
                                </m:naryPr>
                                <m:sub>
                                  <m:r>
                                    <a:rPr lang="en-US" altLang="zh-TW" sz="2000" i="1">
                                      <a:latin typeface="Cambria Math" panose="02040503050406030204" pitchFamily="18" charset="0"/>
                                    </a:rPr>
                                    <m:t>𝑖</m:t>
                                  </m:r>
                                  <m:r>
                                    <a:rPr lang="en-US" altLang="zh-TW" sz="2000" i="1">
                                      <a:latin typeface="Cambria Math" panose="02040503050406030204" pitchFamily="18" charset="0"/>
                                    </a:rPr>
                                    <m:t>=1</m:t>
                                  </m:r>
                                </m:sub>
                                <m:sup>
                                  <m:r>
                                    <a:rPr lang="en-US" altLang="zh-TW" sz="2000" i="1">
                                      <a:latin typeface="Cambria Math" panose="02040503050406030204" pitchFamily="18" charset="0"/>
                                    </a:rPr>
                                    <m:t>𝑛</m:t>
                                  </m:r>
                                </m:sup>
                                <m:e>
                                  <m:sSup>
                                    <m:sSupPr>
                                      <m:ctrlPr>
                                        <a:rPr lang="zh-TW" altLang="zh-TW" sz="2000" i="1">
                                          <a:latin typeface="Cambria Math" panose="02040503050406030204" pitchFamily="18" charset="0"/>
                                        </a:rPr>
                                      </m:ctrlPr>
                                    </m:sSupPr>
                                    <m:e>
                                      <m:d>
                                        <m:dPr>
                                          <m:ctrlPr>
                                            <a:rPr lang="zh-TW" altLang="zh-TW" sz="2000" i="1">
                                              <a:latin typeface="Cambria Math" panose="02040503050406030204" pitchFamily="18" charset="0"/>
                                            </a:rPr>
                                          </m:ctrlPr>
                                        </m:dPr>
                                        <m:e>
                                          <m:sSub>
                                            <m:sSubPr>
                                              <m:ctrlPr>
                                                <a:rPr lang="zh-TW" altLang="zh-TW" sz="2000" i="1">
                                                  <a:latin typeface="Cambria Math" panose="02040503050406030204" pitchFamily="18" charset="0"/>
                                                </a:rPr>
                                              </m:ctrlPr>
                                            </m:sSubPr>
                                            <m:e>
                                              <m:r>
                                                <a:rPr lang="en-US" altLang="zh-TW" sz="2000" i="1">
                                                  <a:latin typeface="Cambria Math" panose="02040503050406030204" pitchFamily="18" charset="0"/>
                                                </a:rPr>
                                                <m:t>𝑅</m:t>
                                              </m:r>
                                            </m:e>
                                            <m:sub>
                                              <m:sSub>
                                                <m:sSubPr>
                                                  <m:ctrlPr>
                                                    <a:rPr lang="zh-TW" altLang="zh-TW" sz="2000" i="1">
                                                      <a:latin typeface="Cambria Math" panose="02040503050406030204" pitchFamily="18" charset="0"/>
                                                    </a:rPr>
                                                  </m:ctrlPr>
                                                </m:sSubPr>
                                                <m:e>
                                                  <m:r>
                                                    <a:rPr lang="en-US" altLang="zh-TW" sz="2000" i="1">
                                                      <a:latin typeface="Cambria Math" panose="02040503050406030204" pitchFamily="18" charset="0"/>
                                                    </a:rPr>
                                                    <m:t>𝑋</m:t>
                                                  </m:r>
                                                </m:e>
                                                <m:sub>
                                                  <m:r>
                                                    <a:rPr lang="en-US" altLang="zh-TW" sz="2000" i="1">
                                                      <a:latin typeface="Cambria Math" panose="02040503050406030204" pitchFamily="18" charset="0"/>
                                                    </a:rPr>
                                                    <m:t>𝑖</m:t>
                                                  </m:r>
                                                </m:sub>
                                              </m:sSub>
                                            </m:sub>
                                          </m:sSub>
                                          <m:r>
                                            <a:rPr lang="en-US" altLang="zh-TW" sz="2000" i="1">
                                              <a:latin typeface="Cambria Math" panose="02040503050406030204" pitchFamily="18" charset="0"/>
                                            </a:rPr>
                                            <m:t>−</m:t>
                                          </m:r>
                                          <m:sSub>
                                            <m:sSubPr>
                                              <m:ctrlPr>
                                                <a:rPr lang="zh-TW" altLang="zh-TW" sz="2000" i="1">
                                                  <a:latin typeface="Cambria Math" panose="02040503050406030204" pitchFamily="18" charset="0"/>
                                                </a:rPr>
                                              </m:ctrlPr>
                                            </m:sSubPr>
                                            <m:e>
                                              <m:acc>
                                                <m:accPr>
                                                  <m:chr m:val="̅"/>
                                                  <m:ctrlPr>
                                                    <a:rPr lang="zh-TW" altLang="zh-TW" sz="2000" i="1">
                                                      <a:latin typeface="Cambria Math" panose="02040503050406030204" pitchFamily="18" charset="0"/>
                                                    </a:rPr>
                                                  </m:ctrlPr>
                                                </m:accPr>
                                                <m:e>
                                                  <m:r>
                                                    <a:rPr lang="en-US" altLang="zh-TW" sz="2000" i="1">
                                                      <a:latin typeface="Cambria Math" panose="02040503050406030204" pitchFamily="18" charset="0"/>
                                                    </a:rPr>
                                                    <m:t>𝑅</m:t>
                                                  </m:r>
                                                </m:e>
                                              </m:acc>
                                            </m:e>
                                            <m:sub>
                                              <m:r>
                                                <a:rPr lang="en-US" altLang="zh-TW" sz="2000" i="1">
                                                  <a:latin typeface="Cambria Math" panose="02040503050406030204" pitchFamily="18" charset="0"/>
                                                </a:rPr>
                                                <m:t>𝑋</m:t>
                                              </m:r>
                                            </m:sub>
                                          </m:sSub>
                                        </m:e>
                                      </m:d>
                                    </m:e>
                                    <m:sup>
                                      <m:r>
                                        <a:rPr lang="en-US" altLang="zh-TW" sz="2000" i="1">
                                          <a:latin typeface="Cambria Math" panose="02040503050406030204" pitchFamily="18" charset="0"/>
                                        </a:rPr>
                                        <m:t>2</m:t>
                                      </m:r>
                                    </m:sup>
                                  </m:sSup>
                                </m:e>
                              </m:nary>
                              <m:nary>
                                <m:naryPr>
                                  <m:chr m:val="∑"/>
                                  <m:ctrlPr>
                                    <a:rPr lang="zh-TW" altLang="zh-TW" sz="2000" i="1">
                                      <a:latin typeface="Cambria Math" panose="02040503050406030204" pitchFamily="18" charset="0"/>
                                    </a:rPr>
                                  </m:ctrlPr>
                                </m:naryPr>
                                <m:sub>
                                  <m:r>
                                    <a:rPr lang="en-US" altLang="zh-TW" sz="2000" i="1">
                                      <a:latin typeface="Cambria Math" panose="02040503050406030204" pitchFamily="18" charset="0"/>
                                    </a:rPr>
                                    <m:t>𝑖</m:t>
                                  </m:r>
                                  <m:r>
                                    <a:rPr lang="en-US" altLang="zh-TW" sz="2000" i="1">
                                      <a:latin typeface="Cambria Math" panose="02040503050406030204" pitchFamily="18" charset="0"/>
                                    </a:rPr>
                                    <m:t>=1</m:t>
                                  </m:r>
                                </m:sub>
                                <m:sup>
                                  <m:r>
                                    <a:rPr lang="en-US" altLang="zh-TW" sz="2000" i="1">
                                      <a:latin typeface="Cambria Math" panose="02040503050406030204" pitchFamily="18" charset="0"/>
                                    </a:rPr>
                                    <m:t>𝑛</m:t>
                                  </m:r>
                                </m:sup>
                                <m:e>
                                  <m:sSup>
                                    <m:sSupPr>
                                      <m:ctrlPr>
                                        <a:rPr lang="zh-TW" altLang="zh-TW" sz="2000" i="1">
                                          <a:latin typeface="Cambria Math" panose="02040503050406030204" pitchFamily="18" charset="0"/>
                                        </a:rPr>
                                      </m:ctrlPr>
                                    </m:sSupPr>
                                    <m:e>
                                      <m:d>
                                        <m:dPr>
                                          <m:ctrlPr>
                                            <a:rPr lang="zh-TW" altLang="zh-TW" sz="2000" i="1">
                                              <a:latin typeface="Cambria Math" panose="02040503050406030204" pitchFamily="18" charset="0"/>
                                            </a:rPr>
                                          </m:ctrlPr>
                                        </m:dPr>
                                        <m:e>
                                          <m:sSub>
                                            <m:sSubPr>
                                              <m:ctrlPr>
                                                <a:rPr lang="zh-TW" altLang="zh-TW" sz="2000" i="1">
                                                  <a:latin typeface="Cambria Math" panose="02040503050406030204" pitchFamily="18" charset="0"/>
                                                </a:rPr>
                                              </m:ctrlPr>
                                            </m:sSubPr>
                                            <m:e>
                                              <m:r>
                                                <a:rPr lang="en-US" altLang="zh-TW" sz="2000" i="1">
                                                  <a:latin typeface="Cambria Math" panose="02040503050406030204" pitchFamily="18" charset="0"/>
                                                </a:rPr>
                                                <m:t>𝑅</m:t>
                                              </m:r>
                                            </m:e>
                                            <m:sub>
                                              <m:sSub>
                                                <m:sSubPr>
                                                  <m:ctrlPr>
                                                    <a:rPr lang="zh-TW" altLang="zh-TW" sz="2000" i="1">
                                                      <a:latin typeface="Cambria Math" panose="02040503050406030204" pitchFamily="18" charset="0"/>
                                                    </a:rPr>
                                                  </m:ctrlPr>
                                                </m:sSubPr>
                                                <m:e>
                                                  <m:r>
                                                    <a:rPr lang="en-US" altLang="zh-TW" sz="2000" i="1">
                                                      <a:latin typeface="Cambria Math" panose="02040503050406030204" pitchFamily="18" charset="0"/>
                                                    </a:rPr>
                                                    <m:t>𝑌</m:t>
                                                  </m:r>
                                                </m:e>
                                                <m:sub>
                                                  <m:r>
                                                    <a:rPr lang="en-US" altLang="zh-TW" sz="2000" i="1">
                                                      <a:latin typeface="Cambria Math" panose="02040503050406030204" pitchFamily="18" charset="0"/>
                                                    </a:rPr>
                                                    <m:t>𝑖</m:t>
                                                  </m:r>
                                                </m:sub>
                                              </m:sSub>
                                            </m:sub>
                                          </m:sSub>
                                          <m:r>
                                            <a:rPr lang="en-US" altLang="zh-TW" sz="2000" i="1">
                                              <a:latin typeface="Cambria Math" panose="02040503050406030204" pitchFamily="18" charset="0"/>
                                            </a:rPr>
                                            <m:t>−</m:t>
                                          </m:r>
                                          <m:sSub>
                                            <m:sSubPr>
                                              <m:ctrlPr>
                                                <a:rPr lang="zh-TW" altLang="zh-TW" sz="2000" i="1">
                                                  <a:latin typeface="Cambria Math" panose="02040503050406030204" pitchFamily="18" charset="0"/>
                                                </a:rPr>
                                              </m:ctrlPr>
                                            </m:sSubPr>
                                            <m:e>
                                              <m:acc>
                                                <m:accPr>
                                                  <m:chr m:val="̅"/>
                                                  <m:ctrlPr>
                                                    <a:rPr lang="zh-TW" altLang="zh-TW" sz="2000" i="1">
                                                      <a:latin typeface="Cambria Math" panose="02040503050406030204" pitchFamily="18" charset="0"/>
                                                    </a:rPr>
                                                  </m:ctrlPr>
                                                </m:accPr>
                                                <m:e>
                                                  <m:r>
                                                    <a:rPr lang="en-US" altLang="zh-TW" sz="2000" i="1">
                                                      <a:latin typeface="Cambria Math" panose="02040503050406030204" pitchFamily="18" charset="0"/>
                                                    </a:rPr>
                                                    <m:t>𝑅</m:t>
                                                  </m:r>
                                                </m:e>
                                              </m:acc>
                                            </m:e>
                                            <m:sub>
                                              <m:r>
                                                <a:rPr lang="en-US" altLang="zh-TW" sz="2000" i="1">
                                                  <a:latin typeface="Cambria Math" panose="02040503050406030204" pitchFamily="18" charset="0"/>
                                                </a:rPr>
                                                <m:t>𝑌</m:t>
                                              </m:r>
                                            </m:sub>
                                          </m:sSub>
                                        </m:e>
                                      </m:d>
                                    </m:e>
                                    <m:sup>
                                      <m:r>
                                        <a:rPr lang="en-US" altLang="zh-TW" sz="2000" i="1">
                                          <a:latin typeface="Cambria Math" panose="02040503050406030204" pitchFamily="18" charset="0"/>
                                        </a:rPr>
                                        <m:t>2</m:t>
                                      </m:r>
                                    </m:sup>
                                  </m:sSup>
                                </m:e>
                              </m:nary>
                            </m:e>
                          </m:rad>
                        </m:den>
                      </m:f>
                    </m:oMath>
                  </m:oMathPara>
                </a14:m>
                <a:endParaRPr lang="en-US" altLang="zh-TW" sz="2000" dirty="0"/>
              </a:p>
              <a:p>
                <a:pPr>
                  <a:lnSpc>
                    <a:spcPct val="120000"/>
                  </a:lnSpc>
                </a:pPr>
                <a:r>
                  <a:rPr lang="zh-TW" altLang="zh-TW" sz="2400" dirty="0"/>
                  <a:t>個別將兩個變項的資料依大小排序，計算資料的 </a:t>
                </a:r>
                <a:r>
                  <a:rPr lang="en-US" altLang="zh-TW" sz="2400" dirty="0"/>
                  <a:t>“</a:t>
                </a:r>
                <a:r>
                  <a:rPr lang="zh-TW" altLang="zh-TW" sz="2400" dirty="0"/>
                  <a:t>等級</a:t>
                </a:r>
                <a:r>
                  <a:rPr lang="en-US" altLang="zh-TW" sz="2400" dirty="0"/>
                  <a:t>(rank)” </a:t>
                </a:r>
                <a:r>
                  <a:rPr lang="zh-TW" altLang="en-US" sz="2400" dirty="0"/>
                  <a:t>，為</a:t>
                </a:r>
                <a14:m>
                  <m:oMath xmlns:m="http://schemas.openxmlformats.org/officeDocument/2006/math">
                    <m:sSub>
                      <m:sSubPr>
                        <m:ctrlPr>
                          <a:rPr lang="zh-TW" altLang="zh-TW" sz="2400" i="1">
                            <a:latin typeface="Cambria Math" panose="02040503050406030204" pitchFamily="18" charset="0"/>
                          </a:rPr>
                        </m:ctrlPr>
                      </m:sSubPr>
                      <m:e>
                        <m:r>
                          <a:rPr lang="en-US" altLang="zh-TW" sz="2400">
                            <a:latin typeface="Cambria Math" panose="02040503050406030204" pitchFamily="18" charset="0"/>
                          </a:rPr>
                          <m:t>𝑅</m:t>
                        </m:r>
                      </m:e>
                      <m:sub>
                        <m:sSub>
                          <m:sSubPr>
                            <m:ctrlPr>
                              <a:rPr lang="zh-TW" altLang="zh-TW" sz="2400" i="1">
                                <a:latin typeface="Cambria Math" panose="02040503050406030204" pitchFamily="18" charset="0"/>
                              </a:rPr>
                            </m:ctrlPr>
                          </m:sSubPr>
                          <m:e>
                            <m:r>
                              <a:rPr lang="en-US" altLang="zh-TW" sz="2400">
                                <a:latin typeface="Cambria Math" panose="02040503050406030204" pitchFamily="18" charset="0"/>
                              </a:rPr>
                              <m:t>𝑋</m:t>
                            </m:r>
                          </m:e>
                          <m:sub>
                            <m:r>
                              <a:rPr lang="en-US" altLang="zh-TW" sz="2400">
                                <a:latin typeface="Cambria Math" panose="02040503050406030204" pitchFamily="18" charset="0"/>
                              </a:rPr>
                              <m:t>𝑖</m:t>
                            </m:r>
                          </m:sub>
                        </m:sSub>
                      </m:sub>
                    </m:sSub>
                    <m:r>
                      <a:rPr lang="zh-TW" altLang="zh-TW" sz="2400">
                        <a:latin typeface="Cambria Math" panose="02040503050406030204" pitchFamily="18" charset="0"/>
                      </a:rPr>
                      <m:t>及</m:t>
                    </m:r>
                    <m:sSub>
                      <m:sSubPr>
                        <m:ctrlPr>
                          <a:rPr lang="zh-TW" altLang="zh-TW" sz="2400" i="1">
                            <a:latin typeface="Cambria Math" panose="02040503050406030204" pitchFamily="18" charset="0"/>
                          </a:rPr>
                        </m:ctrlPr>
                      </m:sSubPr>
                      <m:e>
                        <m:r>
                          <a:rPr lang="en-US" altLang="zh-TW" sz="2400">
                            <a:latin typeface="Cambria Math" panose="02040503050406030204" pitchFamily="18" charset="0"/>
                          </a:rPr>
                          <m:t>𝑅</m:t>
                        </m:r>
                      </m:e>
                      <m:sub>
                        <m:sSub>
                          <m:sSubPr>
                            <m:ctrlPr>
                              <a:rPr lang="zh-TW" altLang="zh-TW" sz="2400" i="1">
                                <a:latin typeface="Cambria Math" panose="02040503050406030204" pitchFamily="18" charset="0"/>
                              </a:rPr>
                            </m:ctrlPr>
                          </m:sSubPr>
                          <m:e>
                            <m:r>
                              <a:rPr lang="en-US" altLang="zh-TW" sz="2400">
                                <a:latin typeface="Cambria Math" panose="02040503050406030204" pitchFamily="18" charset="0"/>
                              </a:rPr>
                              <m:t>𝑌</m:t>
                            </m:r>
                          </m:e>
                          <m:sub>
                            <m:r>
                              <a:rPr lang="en-US" altLang="zh-TW" sz="2400">
                                <a:latin typeface="Cambria Math" panose="02040503050406030204" pitchFamily="18" charset="0"/>
                              </a:rPr>
                              <m:t>𝑖</m:t>
                            </m:r>
                          </m:sub>
                        </m:sSub>
                      </m:sub>
                    </m:sSub>
                    <m:r>
                      <a:rPr lang="en-US" altLang="zh-TW" sz="2400">
                        <a:latin typeface="Cambria Math" panose="02040503050406030204" pitchFamily="18" charset="0"/>
                      </a:rPr>
                      <m:t> </m:t>
                    </m:r>
                    <m:r>
                      <a:rPr lang="zh-TW" altLang="en-US" sz="2400">
                        <a:latin typeface="Cambria Math" panose="02040503050406030204" pitchFamily="18" charset="0"/>
                      </a:rPr>
                      <m:t>，</m:t>
                    </m:r>
                    <m:sSub>
                      <m:sSubPr>
                        <m:ctrlPr>
                          <a:rPr lang="zh-TW" altLang="zh-TW" sz="2400" i="1">
                            <a:latin typeface="Cambria Math" panose="02040503050406030204" pitchFamily="18" charset="0"/>
                          </a:rPr>
                        </m:ctrlPr>
                      </m:sSubPr>
                      <m:e>
                        <m:acc>
                          <m:accPr>
                            <m:chr m:val="̅"/>
                            <m:ctrlPr>
                              <a:rPr lang="zh-TW" altLang="zh-TW" sz="2400" i="1">
                                <a:latin typeface="Cambria Math" panose="02040503050406030204" pitchFamily="18" charset="0"/>
                              </a:rPr>
                            </m:ctrlPr>
                          </m:accPr>
                          <m:e>
                            <m:r>
                              <a:rPr lang="en-US" altLang="zh-TW" sz="2400">
                                <a:latin typeface="Cambria Math" panose="02040503050406030204" pitchFamily="18" charset="0"/>
                              </a:rPr>
                              <m:t>𝑅</m:t>
                            </m:r>
                          </m:e>
                        </m:acc>
                      </m:e>
                      <m:sub>
                        <m:r>
                          <a:rPr lang="en-US" altLang="zh-TW" sz="2400">
                            <a:latin typeface="Cambria Math" panose="02040503050406030204" pitchFamily="18" charset="0"/>
                          </a:rPr>
                          <m:t>𝑋</m:t>
                        </m:r>
                      </m:sub>
                    </m:sSub>
                  </m:oMath>
                </a14:m>
                <a:r>
                  <a:rPr lang="zh-TW" altLang="en-US" sz="2400" dirty="0"/>
                  <a:t>及</a:t>
                </a:r>
                <a14:m>
                  <m:oMath xmlns:m="http://schemas.openxmlformats.org/officeDocument/2006/math">
                    <m:sSub>
                      <m:sSubPr>
                        <m:ctrlPr>
                          <a:rPr lang="zh-TW" altLang="zh-TW" sz="2400" i="1">
                            <a:latin typeface="Cambria Math" panose="02040503050406030204" pitchFamily="18" charset="0"/>
                          </a:rPr>
                        </m:ctrlPr>
                      </m:sSubPr>
                      <m:e>
                        <m:acc>
                          <m:accPr>
                            <m:chr m:val="̅"/>
                            <m:ctrlPr>
                              <a:rPr lang="zh-TW" altLang="zh-TW" sz="2400" i="1">
                                <a:latin typeface="Cambria Math" panose="02040503050406030204" pitchFamily="18" charset="0"/>
                              </a:rPr>
                            </m:ctrlPr>
                          </m:accPr>
                          <m:e>
                            <m:r>
                              <a:rPr lang="en-US" altLang="zh-TW" sz="2400">
                                <a:latin typeface="Cambria Math" panose="02040503050406030204" pitchFamily="18" charset="0"/>
                              </a:rPr>
                              <m:t>𝑅</m:t>
                            </m:r>
                          </m:e>
                        </m:acc>
                      </m:e>
                      <m:sub>
                        <m:r>
                          <a:rPr lang="en-US" altLang="zh-TW" sz="2400">
                            <a:latin typeface="Cambria Math" panose="02040503050406030204" pitchFamily="18" charset="0"/>
                          </a:rPr>
                          <m:t>𝑌</m:t>
                        </m:r>
                      </m:sub>
                    </m:sSub>
                  </m:oMath>
                </a14:m>
                <a:r>
                  <a:rPr lang="zh-TW" altLang="en-US" sz="2400" dirty="0"/>
                  <a:t>為等級之平均值。</a:t>
                </a:r>
                <a:endParaRPr lang="en-US" altLang="zh-TW" sz="2400" dirty="0"/>
              </a:p>
              <a:p>
                <a:pPr>
                  <a:lnSpc>
                    <a:spcPct val="120000"/>
                  </a:lnSpc>
                </a:pPr>
                <a:r>
                  <a:rPr lang="zh-TW" altLang="zh-TW" sz="2400" dirty="0"/>
                  <a:t>數值介於</a:t>
                </a:r>
                <a:r>
                  <a:rPr lang="en-US" altLang="zh-TW" sz="2400" dirty="0"/>
                  <a:t>-1</a:t>
                </a:r>
                <a:r>
                  <a:rPr lang="zh-TW" altLang="zh-TW" sz="2400" dirty="0"/>
                  <a:t>與</a:t>
                </a:r>
                <a:r>
                  <a:rPr lang="en-US" altLang="zh-TW" sz="2400" dirty="0"/>
                  <a:t>1</a:t>
                </a:r>
                <a:r>
                  <a:rPr lang="zh-TW" altLang="zh-TW" sz="2400" dirty="0"/>
                  <a:t>之間</a:t>
                </a:r>
                <a:endParaRPr lang="en-US" altLang="zh-TW" sz="2400" dirty="0"/>
              </a:p>
              <a:p>
                <a:pPr>
                  <a:lnSpc>
                    <a:spcPct val="120000"/>
                  </a:lnSpc>
                </a:pPr>
                <a:r>
                  <a:rPr lang="zh-TW" altLang="en-US" sz="2400" dirty="0"/>
                  <a:t>在虛無假設下，</a:t>
                </a:r>
                <a:r>
                  <a:rPr lang="zh-TW" altLang="zh-TW" sz="2400" dirty="0"/>
                  <a:t>檢定統計量為</a:t>
                </a:r>
                <a14:m>
                  <m:oMath xmlns:m="http://schemas.openxmlformats.org/officeDocument/2006/math">
                    <m:r>
                      <a:rPr lang="en-US" altLang="zh-TW" sz="2400" i="1">
                        <a:latin typeface="Cambria Math" panose="02040503050406030204" pitchFamily="18" charset="0"/>
                      </a:rPr>
                      <m:t>𝑡</m:t>
                    </m:r>
                    <m:r>
                      <a:rPr lang="en-US" altLang="zh-TW" sz="2400">
                        <a:latin typeface="Cambria Math" panose="02040503050406030204" pitchFamily="18" charset="0"/>
                      </a:rPr>
                      <m:t>=</m:t>
                    </m:r>
                    <m:f>
                      <m:fPr>
                        <m:ctrlPr>
                          <a:rPr lang="zh-TW" altLang="zh-TW" sz="2400" i="1">
                            <a:latin typeface="Cambria Math" panose="02040503050406030204" pitchFamily="18" charset="0"/>
                          </a:rPr>
                        </m:ctrlPr>
                      </m:fPr>
                      <m:num>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𝑟</m:t>
                            </m:r>
                          </m:e>
                          <m:sub>
                            <m:r>
                              <a:rPr lang="en-US" altLang="zh-TW" sz="2400" i="1">
                                <a:latin typeface="Cambria Math" panose="02040503050406030204" pitchFamily="18" charset="0"/>
                              </a:rPr>
                              <m:t>𝑠</m:t>
                            </m:r>
                          </m:sub>
                        </m:sSub>
                        <m:rad>
                          <m:radPr>
                            <m:degHide m:val="on"/>
                            <m:ctrlPr>
                              <a:rPr lang="zh-TW" altLang="zh-TW" sz="2400" i="1">
                                <a:latin typeface="Cambria Math" panose="02040503050406030204" pitchFamily="18" charset="0"/>
                              </a:rPr>
                            </m:ctrlPr>
                          </m:radPr>
                          <m:deg/>
                          <m:e>
                            <m:r>
                              <m:rPr>
                                <m:sty m:val="p"/>
                              </m:rPr>
                              <a:rPr lang="en-US" altLang="zh-TW" sz="2400">
                                <a:latin typeface="Cambria Math" panose="02040503050406030204" pitchFamily="18" charset="0"/>
                              </a:rPr>
                              <m:t>n</m:t>
                            </m:r>
                            <m:r>
                              <a:rPr lang="en-US" altLang="zh-TW" sz="2400" i="1">
                                <a:latin typeface="Cambria Math" panose="02040503050406030204" pitchFamily="18" charset="0"/>
                              </a:rPr>
                              <m:t>−</m:t>
                            </m:r>
                            <m:r>
                              <a:rPr lang="en-US" altLang="zh-TW" sz="2400">
                                <a:latin typeface="Cambria Math" panose="02040503050406030204" pitchFamily="18" charset="0"/>
                              </a:rPr>
                              <m:t>2</m:t>
                            </m:r>
                          </m:e>
                        </m:rad>
                      </m:num>
                      <m:den>
                        <m:rad>
                          <m:radPr>
                            <m:degHide m:val="on"/>
                            <m:ctrlPr>
                              <a:rPr lang="zh-TW" altLang="zh-TW" sz="2400" i="1">
                                <a:latin typeface="Cambria Math" panose="02040503050406030204" pitchFamily="18" charset="0"/>
                              </a:rPr>
                            </m:ctrlPr>
                          </m:radPr>
                          <m:deg/>
                          <m:e>
                            <m:r>
                              <a:rPr lang="en-US" altLang="zh-TW" sz="2400">
                                <a:latin typeface="Cambria Math" panose="02040503050406030204" pitchFamily="18" charset="0"/>
                              </a:rPr>
                              <m:t>1</m:t>
                            </m:r>
                            <m:r>
                              <a:rPr lang="en-US" altLang="zh-TW" sz="2400" i="1">
                                <a:latin typeface="Cambria Math" panose="02040503050406030204" pitchFamily="18" charset="0"/>
                              </a:rPr>
                              <m:t>−</m:t>
                            </m:r>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𝑟</m:t>
                                </m:r>
                              </m:e>
                              <m:sub>
                                <m:r>
                                  <a:rPr lang="en-US" altLang="zh-TW" sz="2400" i="1">
                                    <a:latin typeface="Cambria Math" panose="02040503050406030204" pitchFamily="18" charset="0"/>
                                  </a:rPr>
                                  <m:t>𝑠</m:t>
                                </m:r>
                              </m:sub>
                              <m:sup>
                                <m:r>
                                  <a:rPr lang="en-US" altLang="zh-TW" sz="2400">
                                    <a:latin typeface="Cambria Math" panose="02040503050406030204" pitchFamily="18" charset="0"/>
                                  </a:rPr>
                                  <m:t>2</m:t>
                                </m:r>
                              </m:sup>
                            </m:sSubSup>
                          </m:e>
                        </m:rad>
                      </m:den>
                    </m:f>
                  </m:oMath>
                </a14:m>
                <a:r>
                  <a:rPr lang="zh-TW" altLang="en-US" sz="2400" dirty="0"/>
                  <a:t>，</a:t>
                </a:r>
                <a:r>
                  <a:rPr lang="zh-TW" altLang="zh-TW" sz="2400" dirty="0"/>
                  <a:t>抽樣分配為自由度</a:t>
                </a:r>
                <a:r>
                  <a:rPr lang="en-US" altLang="zh-TW" sz="2400" dirty="0"/>
                  <a:t>n-2</a:t>
                </a:r>
                <a:r>
                  <a:rPr lang="zh-TW" altLang="zh-TW" sz="2400" dirty="0"/>
                  <a:t>的</a:t>
                </a:r>
                <a:r>
                  <a:rPr lang="en-US" altLang="zh-TW" sz="2400" dirty="0"/>
                  <a:t>t</a:t>
                </a:r>
                <a:r>
                  <a:rPr lang="zh-TW" altLang="zh-TW" sz="2400" dirty="0"/>
                  <a:t>分配</a:t>
                </a:r>
                <a14:m>
                  <m:oMath xmlns:m="http://schemas.openxmlformats.org/officeDocument/2006/math">
                    <m:r>
                      <a:rPr lang="zh-TW" altLang="en-US" sz="2400" i="1">
                        <a:latin typeface="Cambria Math" panose="02040503050406030204" pitchFamily="18" charset="0"/>
                      </a:rPr>
                      <m:t>，</m:t>
                    </m:r>
                    <m:r>
                      <a:rPr lang="zh-TW" altLang="en-US" sz="2400" i="1" dirty="0">
                        <a:latin typeface="Cambria Math" panose="02040503050406030204" pitchFamily="18" charset="0"/>
                      </a:rPr>
                      <m:t>檢定方式和</m:t>
                    </m:r>
                  </m:oMath>
                </a14:m>
                <a:r>
                  <a:rPr lang="zh-TW" altLang="zh-TW" sz="2400" dirty="0"/>
                  <a:t>皮爾生相關係數</a:t>
                </a:r>
                <a:r>
                  <a:rPr lang="zh-TW" altLang="en-US" sz="2400" dirty="0"/>
                  <a:t>相同。</a:t>
                </a:r>
                <a:endParaRPr lang="en-US" altLang="zh-TW" sz="2400" dirty="0"/>
              </a:p>
              <a:p>
                <a:pPr marL="109728" indent="0">
                  <a:buNone/>
                </a:pPr>
                <a:endParaRPr lang="zh-TW" altLang="en-US" dirty="0"/>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457200" y="822722"/>
                <a:ext cx="8229600" cy="5585222"/>
              </a:xfrm>
              <a:blipFill>
                <a:blip r:embed="rId2"/>
                <a:stretch>
                  <a:fillRect l="-963" t="-1528"/>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pPr>
              <a:defRPr/>
            </a:pPr>
            <a:r>
              <a:rPr lang="en-US" altLang="zh-TW" dirty="0"/>
              <a:t>12</a:t>
            </a:r>
          </a:p>
        </p:txBody>
      </p:sp>
    </p:spTree>
    <p:extLst>
      <p:ext uri="{BB962C8B-B14F-4D97-AF65-F5344CB8AC3E}">
        <p14:creationId xmlns:p14="http://schemas.microsoft.com/office/powerpoint/2010/main" val="396538149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81914" y="548680"/>
            <a:ext cx="8229600" cy="648072"/>
          </a:xfrm>
        </p:spPr>
        <p:txBody>
          <a:bodyPr>
            <a:normAutofit fontScale="90000"/>
          </a:bodyPr>
          <a:lstStyle/>
          <a:p>
            <a:pPr algn="ctr"/>
            <a:r>
              <a:rPr lang="zh-TW" altLang="zh-TW" dirty="0">
                <a:effectLst/>
              </a:rPr>
              <a:t>相關係數之估計及相關性檢定</a:t>
            </a:r>
            <a:endParaRPr lang="zh-TW" altLang="en-US" dirty="0"/>
          </a:p>
        </p:txBody>
      </p:sp>
      <p:sp>
        <p:nvSpPr>
          <p:cNvPr id="2" name="內容版面配置區 1"/>
          <p:cNvSpPr>
            <a:spLocks noGrp="1"/>
          </p:cNvSpPr>
          <p:nvPr>
            <p:ph idx="1"/>
          </p:nvPr>
        </p:nvSpPr>
        <p:spPr/>
        <p:txBody>
          <a:bodyPr>
            <a:normAutofit fontScale="92500"/>
          </a:bodyPr>
          <a:lstStyle/>
          <a:p>
            <a:pPr>
              <a:lnSpc>
                <a:spcPct val="150000"/>
              </a:lnSpc>
            </a:pPr>
            <a:r>
              <a:rPr lang="en-US" altLang="zh-TW" sz="2400" dirty="0">
                <a:solidFill>
                  <a:srgbClr val="FF0000"/>
                </a:solidFill>
              </a:rPr>
              <a:t>SPSS </a:t>
            </a:r>
            <a:r>
              <a:rPr lang="zh-TW" altLang="zh-TW" sz="2400" dirty="0">
                <a:solidFill>
                  <a:srgbClr val="FF0000"/>
                </a:solidFill>
              </a:rPr>
              <a:t>操作方式為：分析</a:t>
            </a:r>
            <a:r>
              <a:rPr lang="en-US" altLang="zh-TW" sz="2400" dirty="0">
                <a:solidFill>
                  <a:srgbClr val="FF0000"/>
                </a:solidFill>
                <a:sym typeface="Wingdings" panose="05000000000000000000" pitchFamily="2" charset="2"/>
              </a:rPr>
              <a:t></a:t>
            </a:r>
            <a:r>
              <a:rPr lang="zh-TW" altLang="zh-TW" sz="2400" dirty="0">
                <a:solidFill>
                  <a:srgbClr val="FF0000"/>
                </a:solidFill>
              </a:rPr>
              <a:t>相關</a:t>
            </a:r>
            <a:r>
              <a:rPr lang="en-US" altLang="zh-TW" sz="2400" dirty="0">
                <a:solidFill>
                  <a:srgbClr val="FF0000"/>
                </a:solidFill>
                <a:sym typeface="Wingdings" panose="05000000000000000000" pitchFamily="2" charset="2"/>
              </a:rPr>
              <a:t></a:t>
            </a:r>
            <a:r>
              <a:rPr lang="zh-TW" altLang="en-US" sz="2400" dirty="0">
                <a:solidFill>
                  <a:srgbClr val="FF0000"/>
                </a:solidFill>
                <a:sym typeface="Wingdings" panose="05000000000000000000" pitchFamily="2" charset="2"/>
              </a:rPr>
              <a:t>雙變數</a:t>
            </a:r>
            <a:r>
              <a:rPr lang="en-US" altLang="zh-TW" sz="2400" dirty="0">
                <a:solidFill>
                  <a:srgbClr val="FF0000"/>
                </a:solidFill>
                <a:sym typeface="Wingdings" panose="05000000000000000000" pitchFamily="2" charset="2"/>
              </a:rPr>
              <a:t></a:t>
            </a:r>
            <a:r>
              <a:rPr lang="zh-TW" altLang="zh-TW" sz="2400" dirty="0">
                <a:solidFill>
                  <a:srgbClr val="FF0000"/>
                </a:solidFill>
              </a:rPr>
              <a:t>斯皮爾曼相關係數</a:t>
            </a:r>
            <a:r>
              <a:rPr lang="en-US" altLang="zh-TW" sz="2400" dirty="0">
                <a:solidFill>
                  <a:srgbClr val="FF0000"/>
                </a:solidFill>
                <a:sym typeface="Wingdings" panose="05000000000000000000" pitchFamily="2" charset="2"/>
              </a:rPr>
              <a:t></a:t>
            </a:r>
            <a:r>
              <a:rPr lang="zh-TW" altLang="zh-TW" sz="2400" dirty="0">
                <a:solidFill>
                  <a:srgbClr val="FF0000"/>
                </a:solidFill>
              </a:rPr>
              <a:t>步驟一（資料匯入）：使用者個人資料檔</a:t>
            </a:r>
            <a:r>
              <a:rPr lang="en-US" altLang="zh-TW" sz="2400" dirty="0">
                <a:solidFill>
                  <a:srgbClr val="FF0000"/>
                </a:solidFill>
                <a:sym typeface="Wingdings" panose="05000000000000000000" pitchFamily="2" charset="2"/>
              </a:rPr>
              <a:t></a:t>
            </a:r>
            <a:r>
              <a:rPr lang="zh-TW" altLang="zh-TW" sz="2400" dirty="0">
                <a:solidFill>
                  <a:srgbClr val="FF0000"/>
                </a:solidFill>
              </a:rPr>
              <a:t>步驟二（參數設定）：選擇變數年齡、腰圍、收縮壓、舒張壓、空腹血糖、高密度脂蛋白、三酸甘油脂</a:t>
            </a:r>
            <a:r>
              <a:rPr lang="zh-TW" altLang="zh-TW" sz="2400" dirty="0"/>
              <a:t>。</a:t>
            </a:r>
          </a:p>
          <a:p>
            <a:endParaRPr lang="zh-TW" altLang="en-US" dirty="0"/>
          </a:p>
        </p:txBody>
      </p:sp>
      <p:sp>
        <p:nvSpPr>
          <p:cNvPr id="3" name="投影片編號版面配置區 2"/>
          <p:cNvSpPr>
            <a:spLocks noGrp="1"/>
          </p:cNvSpPr>
          <p:nvPr>
            <p:ph type="sldNum" sz="quarter" idx="12"/>
          </p:nvPr>
        </p:nvSpPr>
        <p:spPr/>
        <p:txBody>
          <a:bodyPr/>
          <a:lstStyle/>
          <a:p>
            <a:pPr>
              <a:defRPr/>
            </a:pPr>
            <a:r>
              <a:rPr lang="en-US" altLang="zh-TW" dirty="0"/>
              <a:t>13</a:t>
            </a:r>
          </a:p>
        </p:txBody>
      </p:sp>
    </p:spTree>
    <p:extLst>
      <p:ext uri="{BB962C8B-B14F-4D97-AF65-F5344CB8AC3E}">
        <p14:creationId xmlns:p14="http://schemas.microsoft.com/office/powerpoint/2010/main" val="100534524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normAutofit fontScale="90000"/>
          </a:bodyPr>
          <a:lstStyle/>
          <a:p>
            <a:pPr algn="ctr"/>
            <a:r>
              <a:rPr lang="zh-TW" altLang="zh-TW" dirty="0">
                <a:solidFill>
                  <a:srgbClr val="FF0000"/>
                </a:solidFill>
                <a:effectLst/>
              </a:rPr>
              <a:t>斯皮爾曼相關係數</a:t>
            </a:r>
            <a:endParaRPr lang="zh-TW" altLang="en-US" dirty="0">
              <a:solidFill>
                <a:srgbClr val="FF0000"/>
              </a:solidFill>
            </a:endParaRPr>
          </a:p>
        </p:txBody>
      </p:sp>
      <p:sp>
        <p:nvSpPr>
          <p:cNvPr id="5" name="投影片編號版面配置區 2"/>
          <p:cNvSpPr>
            <a:spLocks noGrp="1"/>
          </p:cNvSpPr>
          <p:nvPr>
            <p:ph type="sldNum" sz="quarter" idx="12"/>
          </p:nvPr>
        </p:nvSpPr>
        <p:spPr>
          <a:xfrm>
            <a:off x="8647272" y="6400800"/>
            <a:ext cx="365760" cy="372269"/>
          </a:xfrm>
        </p:spPr>
        <p:txBody>
          <a:bodyPr/>
          <a:lstStyle/>
          <a:p>
            <a:pPr>
              <a:defRPr/>
            </a:pPr>
            <a:r>
              <a:rPr lang="en-US" altLang="zh-TW" dirty="0"/>
              <a:t>14</a:t>
            </a:r>
          </a:p>
        </p:txBody>
      </p:sp>
      <p:pic>
        <p:nvPicPr>
          <p:cNvPr id="8" name="內容版面配置區 7">
            <a:extLst>
              <a:ext uri="{FF2B5EF4-FFF2-40B4-BE49-F238E27FC236}">
                <a16:creationId xmlns:a16="http://schemas.microsoft.com/office/drawing/2014/main" id="{91F3532A-35F0-424B-833F-2719C19298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908720"/>
            <a:ext cx="8229600" cy="5674642"/>
          </a:xfrm>
        </p:spPr>
      </p:pic>
    </p:spTree>
    <p:extLst>
      <p:ext uri="{BB962C8B-B14F-4D97-AF65-F5344CB8AC3E}">
        <p14:creationId xmlns:p14="http://schemas.microsoft.com/office/powerpoint/2010/main" val="155772835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476672"/>
            <a:ext cx="8229600" cy="792088"/>
          </a:xfrm>
        </p:spPr>
        <p:txBody>
          <a:bodyPr/>
          <a:lstStyle/>
          <a:p>
            <a:pPr algn="ctr"/>
            <a:r>
              <a:rPr lang="zh-TW" altLang="en-US" dirty="0"/>
              <a:t>兩相關係數之比較</a:t>
            </a:r>
          </a:p>
        </p:txBody>
      </p:sp>
      <p:sp>
        <p:nvSpPr>
          <p:cNvPr id="2" name="內容版面配置區 1"/>
          <p:cNvSpPr>
            <a:spLocks noGrp="1"/>
          </p:cNvSpPr>
          <p:nvPr>
            <p:ph idx="1"/>
          </p:nvPr>
        </p:nvSpPr>
        <p:spPr/>
        <p:txBody>
          <a:bodyPr/>
          <a:lstStyle/>
          <a:p>
            <a:pPr>
              <a:lnSpc>
                <a:spcPct val="120000"/>
              </a:lnSpc>
            </a:pPr>
            <a:r>
              <a:rPr lang="zh-TW" altLang="zh-TW" dirty="0"/>
              <a:t>斯皮爾曼等級相關係數的額外優點是</a:t>
            </a:r>
            <a:r>
              <a:rPr lang="zh-TW" altLang="zh-TW" dirty="0">
                <a:solidFill>
                  <a:srgbClr val="FF0000"/>
                </a:solidFill>
              </a:rPr>
              <a:t>不受極端值影響</a:t>
            </a:r>
            <a:r>
              <a:rPr lang="zh-TW" altLang="zh-TW" dirty="0"/>
              <a:t>，當資料中有少數幾個資料異常的大或小時，很容易造成強相關的皮爾生相關係數，但是斯皮爾等級相關係數卻不易受到影響</a:t>
            </a:r>
            <a:r>
              <a:rPr lang="zh-TW" altLang="en-US" dirty="0"/>
              <a:t>。</a:t>
            </a:r>
            <a:endParaRPr lang="en-US" altLang="zh-TW" dirty="0"/>
          </a:p>
          <a:p>
            <a:pPr>
              <a:lnSpc>
                <a:spcPct val="120000"/>
              </a:lnSpc>
            </a:pPr>
            <a:r>
              <a:rPr lang="zh-TW" altLang="zh-TW" dirty="0"/>
              <a:t>圖</a:t>
            </a:r>
            <a:r>
              <a:rPr lang="en-US" altLang="zh-TW" dirty="0"/>
              <a:t>7-3</a:t>
            </a:r>
            <a:r>
              <a:rPr lang="zh-TW" altLang="zh-TW" dirty="0"/>
              <a:t>左下角資料點是相關係數為</a:t>
            </a:r>
            <a:r>
              <a:rPr lang="en-US" altLang="zh-TW" dirty="0"/>
              <a:t>0</a:t>
            </a:r>
            <a:r>
              <a:rPr lang="zh-TW" altLang="zh-TW" dirty="0"/>
              <a:t>的模擬資料，當</a:t>
            </a:r>
            <a:r>
              <a:rPr lang="zh-TW" altLang="zh-TW" dirty="0">
                <a:solidFill>
                  <a:srgbClr val="FF0000"/>
                </a:solidFill>
              </a:rPr>
              <a:t>右上角的極端點納入</a:t>
            </a:r>
            <a:r>
              <a:rPr lang="zh-TW" altLang="en-US" dirty="0"/>
              <a:t>，</a:t>
            </a:r>
            <a:r>
              <a:rPr lang="zh-TW" altLang="zh-TW" dirty="0"/>
              <a:t>可以發現皮爾生相關係數改變相當大，而斯皮爾曼等級相關係數的變化相對小很多</a:t>
            </a:r>
            <a:r>
              <a:rPr lang="zh-TW" altLang="en-US" dirty="0"/>
              <a:t>。</a:t>
            </a:r>
          </a:p>
        </p:txBody>
      </p:sp>
      <p:sp>
        <p:nvSpPr>
          <p:cNvPr id="3" name="投影片編號版面配置區 2"/>
          <p:cNvSpPr>
            <a:spLocks noGrp="1"/>
          </p:cNvSpPr>
          <p:nvPr>
            <p:ph type="sldNum" sz="quarter" idx="12"/>
          </p:nvPr>
        </p:nvSpPr>
        <p:spPr/>
        <p:txBody>
          <a:bodyPr/>
          <a:lstStyle/>
          <a:p>
            <a:pPr>
              <a:defRPr/>
            </a:pPr>
            <a:r>
              <a:rPr lang="en-US" altLang="zh-TW" dirty="0"/>
              <a:t>15</a:t>
            </a:r>
          </a:p>
        </p:txBody>
      </p:sp>
    </p:spTree>
    <p:extLst>
      <p:ext uri="{BB962C8B-B14F-4D97-AF65-F5344CB8AC3E}">
        <p14:creationId xmlns:p14="http://schemas.microsoft.com/office/powerpoint/2010/main" val="420148680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1475656" y="116632"/>
            <a:ext cx="5937755" cy="1188720"/>
          </a:xfrm>
        </p:spPr>
        <p:txBody>
          <a:bodyPr/>
          <a:lstStyle/>
          <a:p>
            <a:pPr algn="ctr"/>
            <a:r>
              <a:rPr lang="zh-TW" altLang="en-US" dirty="0">
                <a:effectLst/>
              </a:rPr>
              <a:t> </a:t>
            </a:r>
            <a:r>
              <a:rPr lang="zh-TW" altLang="zh-TW" dirty="0">
                <a:effectLst/>
              </a:rPr>
              <a:t>相關係數為</a:t>
            </a:r>
            <a:r>
              <a:rPr lang="en-US" altLang="zh-TW" dirty="0">
                <a:effectLst/>
              </a:rPr>
              <a:t>0</a:t>
            </a:r>
            <a:r>
              <a:rPr lang="zh-TW" altLang="zh-TW" dirty="0">
                <a:effectLst/>
              </a:rPr>
              <a:t>資料與極端值</a:t>
            </a:r>
            <a:endParaRPr lang="zh-TW" altLang="en-US" dirty="0"/>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251520" y="1481328"/>
                <a:ext cx="3528392" cy="4525963"/>
              </a:xfrm>
            </p:spPr>
            <p:txBody>
              <a:bodyPr>
                <a:normAutofit/>
              </a:bodyPr>
              <a:lstStyle/>
              <a:p>
                <a:pPr>
                  <a:lnSpc>
                    <a:spcPct val="120000"/>
                  </a:lnSpc>
                </a:pPr>
                <a:r>
                  <a:rPr lang="zh-TW" altLang="zh-TW" sz="2400" dirty="0"/>
                  <a:t>相關係數為</a:t>
                </a:r>
                <a:r>
                  <a:rPr lang="en-US" altLang="zh-TW" sz="2400" dirty="0"/>
                  <a:t>0</a:t>
                </a:r>
                <a:r>
                  <a:rPr lang="zh-TW" altLang="en-US" sz="2400" dirty="0"/>
                  <a:t>時</a:t>
                </a:r>
                <a:r>
                  <a:rPr lang="en-US" altLang="zh-TW" sz="2400" dirty="0"/>
                  <a:t>(</a:t>
                </a:r>
                <a:r>
                  <a:rPr lang="zh-TW" altLang="zh-TW" sz="2400" dirty="0">
                    <a:solidFill>
                      <a:srgbClr val="FF0000"/>
                    </a:solidFill>
                  </a:rPr>
                  <a:t>右上角的極端點</a:t>
                </a:r>
                <a:r>
                  <a:rPr lang="zh-TW" altLang="en-US" sz="2400" dirty="0">
                    <a:solidFill>
                      <a:srgbClr val="FF0000"/>
                    </a:solidFill>
                  </a:rPr>
                  <a:t>未</a:t>
                </a:r>
                <a:r>
                  <a:rPr lang="zh-TW" altLang="zh-TW" sz="2400" dirty="0">
                    <a:solidFill>
                      <a:srgbClr val="FF0000"/>
                    </a:solidFill>
                  </a:rPr>
                  <a:t>納入時</a:t>
                </a:r>
                <a:r>
                  <a:rPr lang="en-US" altLang="zh-TW" sz="2400" dirty="0"/>
                  <a:t>)</a:t>
                </a:r>
                <a:r>
                  <a:rPr lang="zh-TW" altLang="en-US" sz="2400" dirty="0"/>
                  <a:t>，</a:t>
                </a:r>
                <a:r>
                  <a:rPr lang="zh-TW" altLang="zh-TW" sz="2400" dirty="0"/>
                  <a:t>皮爾生相關係數</a:t>
                </a:r>
                <a14:m>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𝑟</m:t>
                        </m:r>
                      </m:e>
                      <m:sub>
                        <m:r>
                          <a:rPr lang="en-US" altLang="zh-TW" sz="2400" i="1">
                            <a:latin typeface="Cambria Math" panose="02040503050406030204" pitchFamily="18" charset="0"/>
                          </a:rPr>
                          <m:t>𝑥𝑦</m:t>
                        </m:r>
                      </m:sub>
                    </m:sSub>
                    <m:r>
                      <a:rPr lang="en-US" altLang="zh-TW" sz="2400">
                        <a:latin typeface="Cambria Math" panose="02040503050406030204" pitchFamily="18" charset="0"/>
                      </a:rPr>
                      <m:t>=</m:t>
                    </m:r>
                    <m:r>
                      <a:rPr lang="en-US" altLang="zh-TW" sz="2400" smtClean="0">
                        <a:solidFill>
                          <a:srgbClr val="FF0000"/>
                        </a:solidFill>
                        <a:latin typeface="Cambria Math" panose="02040503050406030204" pitchFamily="18" charset="0"/>
                      </a:rPr>
                      <m:t>0.1785</m:t>
                    </m:r>
                  </m:oMath>
                </a14:m>
                <a:r>
                  <a:rPr lang="zh-TW" altLang="zh-TW" sz="2400" dirty="0"/>
                  <a:t>，斯皮爾曼等級相關係數 </a:t>
                </a:r>
                <a14:m>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𝑟</m:t>
                        </m:r>
                      </m:e>
                      <m:sub>
                        <m:r>
                          <a:rPr lang="en-US" altLang="zh-TW" sz="2400" i="1">
                            <a:latin typeface="Cambria Math" panose="02040503050406030204" pitchFamily="18" charset="0"/>
                          </a:rPr>
                          <m:t>𝑠</m:t>
                        </m:r>
                      </m:sub>
                    </m:sSub>
                    <m:r>
                      <a:rPr lang="en-US" altLang="zh-TW" sz="2400">
                        <a:latin typeface="Cambria Math" panose="02040503050406030204" pitchFamily="18" charset="0"/>
                      </a:rPr>
                      <m:t>=</m:t>
                    </m:r>
                    <m:r>
                      <a:rPr lang="en-US" altLang="zh-TW" sz="2400" smtClean="0">
                        <a:solidFill>
                          <a:srgbClr val="002060"/>
                        </a:solidFill>
                        <a:latin typeface="Cambria Math" panose="02040503050406030204" pitchFamily="18" charset="0"/>
                      </a:rPr>
                      <m:t>0.2007</m:t>
                    </m:r>
                    <m:r>
                      <a:rPr lang="zh-TW" altLang="en-US" sz="2400" i="1">
                        <a:latin typeface="Cambria Math" panose="02040503050406030204" pitchFamily="18" charset="0"/>
                      </a:rPr>
                      <m:t>。</m:t>
                    </m:r>
                  </m:oMath>
                </a14:m>
                <a:endParaRPr lang="en-US" altLang="zh-TW" sz="2400" dirty="0"/>
              </a:p>
              <a:p>
                <a:pPr>
                  <a:lnSpc>
                    <a:spcPct val="120000"/>
                  </a:lnSpc>
                </a:pPr>
                <a:r>
                  <a:rPr lang="zh-TW" altLang="zh-TW" sz="2400" dirty="0"/>
                  <a:t>當</a:t>
                </a:r>
                <a:r>
                  <a:rPr lang="zh-TW" altLang="zh-TW" sz="2400" dirty="0">
                    <a:solidFill>
                      <a:srgbClr val="FF0000"/>
                    </a:solidFill>
                  </a:rPr>
                  <a:t>右上角的極端點納入時</a:t>
                </a:r>
                <a:r>
                  <a:rPr lang="zh-TW" altLang="zh-TW" sz="2400" dirty="0"/>
                  <a:t>，分別改變為</a:t>
                </a:r>
                <a14:m>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𝑟</m:t>
                        </m:r>
                      </m:e>
                      <m:sub>
                        <m:r>
                          <a:rPr lang="en-US" altLang="zh-TW" sz="2400" i="1">
                            <a:latin typeface="Cambria Math" panose="02040503050406030204" pitchFamily="18" charset="0"/>
                          </a:rPr>
                          <m:t>𝑥𝑦</m:t>
                        </m:r>
                      </m:sub>
                    </m:sSub>
                    <m:r>
                      <a:rPr lang="en-US" altLang="zh-TW" sz="2400">
                        <a:latin typeface="Cambria Math" panose="02040503050406030204" pitchFamily="18" charset="0"/>
                      </a:rPr>
                      <m:t>=</m:t>
                    </m:r>
                    <m:r>
                      <a:rPr lang="en-US" altLang="zh-TW" sz="2400" smtClean="0">
                        <a:solidFill>
                          <a:srgbClr val="FF0000"/>
                        </a:solidFill>
                        <a:latin typeface="Cambria Math" panose="02040503050406030204" pitchFamily="18" charset="0"/>
                      </a:rPr>
                      <m:t>0.8363</m:t>
                    </m:r>
                  </m:oMath>
                </a14:m>
                <a:r>
                  <a:rPr lang="zh-TW" altLang="zh-TW" sz="2400" dirty="0"/>
                  <a:t>與</a:t>
                </a:r>
                <a14:m>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𝑟</m:t>
                        </m:r>
                      </m:e>
                      <m:sub>
                        <m:r>
                          <a:rPr lang="en-US" altLang="zh-TW" sz="2400" i="1">
                            <a:latin typeface="Cambria Math" panose="02040503050406030204" pitchFamily="18" charset="0"/>
                          </a:rPr>
                          <m:t>𝑠</m:t>
                        </m:r>
                      </m:sub>
                    </m:sSub>
                    <m:r>
                      <a:rPr lang="en-US" altLang="zh-TW" sz="2400">
                        <a:latin typeface="Cambria Math" panose="02040503050406030204" pitchFamily="18" charset="0"/>
                      </a:rPr>
                      <m:t>=</m:t>
                    </m:r>
                    <m:r>
                      <a:rPr lang="en-US" altLang="zh-TW" sz="2400" smtClean="0">
                        <a:solidFill>
                          <a:srgbClr val="002060"/>
                        </a:solidFill>
                        <a:latin typeface="Cambria Math" panose="02040503050406030204" pitchFamily="18" charset="0"/>
                      </a:rPr>
                      <m:t>0.2242</m:t>
                    </m:r>
                    <m:r>
                      <a:rPr lang="zh-TW" altLang="en-US" sz="2400" i="1">
                        <a:latin typeface="Cambria Math" panose="02040503050406030204" pitchFamily="18" charset="0"/>
                      </a:rPr>
                      <m:t>。</m:t>
                    </m:r>
                  </m:oMath>
                </a14:m>
                <a:endParaRPr lang="zh-TW" altLang="en-US" sz="2400" dirty="0"/>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251520" y="1481328"/>
                <a:ext cx="3528392" cy="4525963"/>
              </a:xfrm>
              <a:blipFill>
                <a:blip r:embed="rId2"/>
                <a:stretch>
                  <a:fillRect l="-2245" t="-270" r="-864"/>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pPr>
              <a:defRPr/>
            </a:pPr>
            <a:r>
              <a:rPr lang="en-US" altLang="zh-TW" dirty="0"/>
              <a:t>16</a:t>
            </a:r>
          </a:p>
        </p:txBody>
      </p:sp>
      <p:pic>
        <p:nvPicPr>
          <p:cNvPr id="5" name="圖片 4"/>
          <p:cNvPicPr/>
          <p:nvPr/>
        </p:nvPicPr>
        <p:blipFill rotWithShape="1">
          <a:blip r:embed="rId3"/>
          <a:srcRect l="6643" t="10738" r="4422" b="10451"/>
          <a:stretch/>
        </p:blipFill>
        <p:spPr bwMode="auto">
          <a:xfrm>
            <a:off x="4074159" y="1406902"/>
            <a:ext cx="4755993" cy="4351338"/>
          </a:xfrm>
          <a:prstGeom prst="rect">
            <a:avLst/>
          </a:prstGeom>
          <a:ln>
            <a:noFill/>
          </a:ln>
          <a:extLst>
            <a:ext uri="{53640926-AAD7-44D8-BBD7-CCE9431645EC}">
              <a14:shadowObscured xmlns:a14="http://schemas.microsoft.com/office/drawing/2010/main"/>
            </a:ext>
          </a:extLst>
        </p:spPr>
      </p:pic>
      <p:sp>
        <p:nvSpPr>
          <p:cNvPr id="6" name="橢圓 5"/>
          <p:cNvSpPr/>
          <p:nvPr/>
        </p:nvSpPr>
        <p:spPr>
          <a:xfrm>
            <a:off x="8316416" y="1481328"/>
            <a:ext cx="370384" cy="50751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01872894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53752"/>
            <a:ext cx="8229600" cy="1143000"/>
          </a:xfrm>
        </p:spPr>
        <p:txBody>
          <a:bodyPr/>
          <a:lstStyle/>
          <a:p>
            <a:pPr algn="ctr"/>
            <a:r>
              <a:rPr lang="zh-TW" altLang="zh-TW" dirty="0">
                <a:effectLst/>
              </a:rPr>
              <a:t>簡單線性廻歸模型</a:t>
            </a:r>
            <a:endParaRPr lang="zh-TW" altLang="en-US" dirty="0"/>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434720" y="1372488"/>
                <a:ext cx="8229600" cy="5211192"/>
              </a:xfrm>
            </p:spPr>
            <p:txBody>
              <a:bodyPr>
                <a:normAutofit lnSpcReduction="10000"/>
              </a:bodyPr>
              <a:lstStyle/>
              <a:p>
                <a:pPr>
                  <a:lnSpc>
                    <a:spcPct val="120000"/>
                  </a:lnSpc>
                </a:pPr>
                <a:r>
                  <a:rPr lang="zh-TW" altLang="zh-TW" sz="2400" dirty="0"/>
                  <a:t>線性關係是描述兩變項之間簡單關係中最常見的方法</a:t>
                </a:r>
                <a:r>
                  <a:rPr lang="zh-TW" altLang="en-US" sz="2400" dirty="0"/>
                  <a:t>，</a:t>
                </a:r>
                <a:r>
                  <a:rPr lang="zh-TW" altLang="zh-TW" sz="2400" dirty="0"/>
                  <a:t>也可以利用簡單線性迴歸模型來分析。</a:t>
                </a:r>
                <a:endParaRPr lang="en-US" altLang="zh-TW" sz="2400" dirty="0"/>
              </a:p>
              <a:p>
                <a:pPr>
                  <a:lnSpc>
                    <a:spcPct val="120000"/>
                  </a:lnSpc>
                </a:pPr>
                <a:r>
                  <a:rPr lang="zh-TW" altLang="zh-TW" sz="2400" dirty="0"/>
                  <a:t>兩變項</a:t>
                </a:r>
                <a:r>
                  <a:rPr lang="en-US" altLang="zh-TW" sz="2400" dirty="0"/>
                  <a:t>X</a:t>
                </a:r>
                <a:r>
                  <a:rPr lang="zh-TW" altLang="zh-TW" sz="2400" dirty="0"/>
                  <a:t>與</a:t>
                </a:r>
                <a:r>
                  <a:rPr lang="en-US" altLang="zh-TW" sz="2400" dirty="0"/>
                  <a:t>Y</a:t>
                </a:r>
                <a:r>
                  <a:rPr lang="zh-TW" altLang="zh-TW" sz="2400" dirty="0"/>
                  <a:t>之間的線性關係可表示成</a:t>
                </a:r>
                <a14:m>
                  <m:oMath xmlns:m="http://schemas.openxmlformats.org/officeDocument/2006/math">
                    <m:r>
                      <a:rPr lang="zh-TW" altLang="zh-TW" sz="2400">
                        <a:latin typeface="Cambria Math" panose="02040503050406030204" pitchFamily="18" charset="0"/>
                      </a:rPr>
                      <m:t> </m:t>
                    </m:r>
                    <m:r>
                      <a:rPr lang="en-US" altLang="zh-TW" sz="2400" i="1">
                        <a:latin typeface="Cambria Math" panose="02040503050406030204" pitchFamily="18" charset="0"/>
                      </a:rPr>
                      <m:t>𝑌</m:t>
                    </m:r>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𝛽</m:t>
                        </m:r>
                      </m:e>
                      <m:sub>
                        <m:r>
                          <a:rPr lang="en-US" altLang="zh-TW" sz="2400" i="1">
                            <a:latin typeface="Cambria Math" panose="02040503050406030204" pitchFamily="18" charset="0"/>
                          </a:rPr>
                          <m:t>0</m:t>
                        </m:r>
                      </m:sub>
                    </m:sSub>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𝛽</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𝑋</m:t>
                    </m:r>
                  </m:oMath>
                </a14:m>
                <a:r>
                  <a:rPr lang="zh-TW" altLang="zh-TW" sz="2400" dirty="0"/>
                  <a:t>，其中</a:t>
                </a:r>
                <a:r>
                  <a:rPr lang="en-US" altLang="zh-TW" sz="2400" dirty="0"/>
                  <a:t>Y</a:t>
                </a:r>
                <a:r>
                  <a:rPr lang="zh-TW" altLang="zh-TW" sz="2400" dirty="0"/>
                  <a:t>、</a:t>
                </a:r>
                <a:r>
                  <a:rPr lang="en-US" altLang="zh-TW" sz="2400" dirty="0"/>
                  <a:t>X</a:t>
                </a:r>
                <a:r>
                  <a:rPr lang="zh-TW" altLang="zh-TW" sz="2400" dirty="0"/>
                  <a:t>分別稱為依變數</a:t>
                </a:r>
                <a:r>
                  <a:rPr lang="en-US" altLang="zh-TW" sz="2400" dirty="0"/>
                  <a:t>(dependent variable)</a:t>
                </a:r>
                <a:r>
                  <a:rPr lang="zh-TW" altLang="zh-TW" sz="2400" dirty="0"/>
                  <a:t>與自變數</a:t>
                </a:r>
                <a:r>
                  <a:rPr lang="en-US" altLang="zh-TW" sz="2400" dirty="0"/>
                  <a:t>(independent variable)</a:t>
                </a:r>
                <a:r>
                  <a:rPr lang="zh-TW" altLang="en-US" sz="2400" dirty="0"/>
                  <a:t>。</a:t>
                </a:r>
                <a:r>
                  <a:rPr lang="zh-TW" altLang="zh-TW" sz="2400" dirty="0"/>
                  <a:t>當自變數增加一單位，依變數則增加</a:t>
                </a:r>
                <a14:m>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𝛽</m:t>
                        </m:r>
                      </m:e>
                      <m:sub>
                        <m:r>
                          <a:rPr lang="en-US" altLang="zh-TW" sz="2400" i="1">
                            <a:latin typeface="Cambria Math" panose="02040503050406030204" pitchFamily="18" charset="0"/>
                          </a:rPr>
                          <m:t>1</m:t>
                        </m:r>
                      </m:sub>
                    </m:sSub>
                  </m:oMath>
                </a14:m>
                <a:r>
                  <a:rPr lang="zh-TW" altLang="zh-TW" sz="2400" dirty="0"/>
                  <a:t>單位。</a:t>
                </a:r>
                <a:endParaRPr lang="en-US" altLang="zh-TW" sz="2400" dirty="0"/>
              </a:p>
              <a:p>
                <a:pPr>
                  <a:lnSpc>
                    <a:spcPct val="120000"/>
                  </a:lnSpc>
                </a:pPr>
                <a:r>
                  <a:rPr lang="zh-TW" altLang="zh-TW" sz="2400" dirty="0"/>
                  <a:t>因為隨機資料會有不確定性，線性模型會加入一個 </a:t>
                </a:r>
                <a:r>
                  <a:rPr lang="en-US" altLang="zh-TW" sz="2400" dirty="0"/>
                  <a:t>“</a:t>
                </a:r>
                <a:r>
                  <a:rPr lang="zh-TW" altLang="zh-TW" sz="2400" dirty="0"/>
                  <a:t>隨機誤差項</a:t>
                </a:r>
                <a:r>
                  <a:rPr lang="en-US" altLang="zh-TW" sz="2400" dirty="0"/>
                  <a:t>”</a:t>
                </a:r>
                <a14:m>
                  <m:oMath xmlns:m="http://schemas.openxmlformats.org/officeDocument/2006/math">
                    <m:r>
                      <a:rPr lang="en-US" altLang="zh-TW" sz="2400" i="1">
                        <a:latin typeface="Cambria Math" panose="02040503050406030204" pitchFamily="18" charset="0"/>
                      </a:rPr>
                      <m:t> </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𝜖</m:t>
                        </m:r>
                      </m:e>
                      <m:sub>
                        <m:r>
                          <a:rPr lang="en-US" altLang="zh-TW" sz="2400" i="1">
                            <a:latin typeface="Cambria Math" panose="02040503050406030204" pitchFamily="18" charset="0"/>
                          </a:rPr>
                          <m:t>𝑖</m:t>
                        </m:r>
                      </m:sub>
                    </m:sSub>
                  </m:oMath>
                </a14:m>
                <a:r>
                  <a:rPr lang="zh-TW" altLang="zh-TW" sz="2400" dirty="0"/>
                  <a:t>來描述這樣的關係現象，因此完整的簡單線性迴歸模型表示為</a:t>
                </a:r>
              </a:p>
              <a:p>
                <a:pPr marL="109728" indent="0">
                  <a:lnSpc>
                    <a:spcPct val="120000"/>
                  </a:lnSpc>
                  <a:buNone/>
                </a:pPr>
                <a14:m>
                  <m:oMathPara xmlns:m="http://schemas.openxmlformats.org/officeDocument/2006/math">
                    <m:oMathParaPr>
                      <m:jc m:val="centerGroup"/>
                    </m:oMathParaPr>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𝑌</m:t>
                          </m:r>
                        </m:e>
                        <m:sub>
                          <m:r>
                            <a:rPr lang="en-US" altLang="zh-TW" sz="2400" i="1">
                              <a:latin typeface="Cambria Math" panose="02040503050406030204" pitchFamily="18" charset="0"/>
                            </a:rPr>
                            <m:t>𝑖</m:t>
                          </m:r>
                        </m:sub>
                      </m:sSub>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𝛽</m:t>
                          </m:r>
                        </m:e>
                        <m:sub>
                          <m:r>
                            <a:rPr lang="en-US" altLang="zh-TW" sz="2400" i="1">
                              <a:latin typeface="Cambria Math" panose="02040503050406030204" pitchFamily="18" charset="0"/>
                            </a:rPr>
                            <m:t>0</m:t>
                          </m:r>
                        </m:sub>
                      </m:sSub>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𝛽</m:t>
                          </m:r>
                        </m:e>
                        <m:sub>
                          <m:r>
                            <a:rPr lang="en-US" altLang="zh-TW" sz="2400" i="1">
                              <a:latin typeface="Cambria Math" panose="02040503050406030204" pitchFamily="18" charset="0"/>
                            </a:rPr>
                            <m:t>1</m:t>
                          </m:r>
                        </m:sub>
                      </m:sSub>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𝑋</m:t>
                          </m:r>
                        </m:e>
                        <m:sub>
                          <m:r>
                            <a:rPr lang="en-US" altLang="zh-TW" sz="2400" i="1">
                              <a:latin typeface="Cambria Math" panose="02040503050406030204" pitchFamily="18" charset="0"/>
                            </a:rPr>
                            <m:t>𝑖</m:t>
                          </m:r>
                        </m:sub>
                      </m:sSub>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𝜖</m:t>
                          </m:r>
                        </m:e>
                        <m:sub>
                          <m:r>
                            <a:rPr lang="en-US" altLang="zh-TW" sz="2400" i="1">
                              <a:latin typeface="Cambria Math" panose="02040503050406030204" pitchFamily="18" charset="0"/>
                            </a:rPr>
                            <m:t>𝑖</m:t>
                          </m:r>
                        </m:sub>
                      </m:sSub>
                      <m:r>
                        <a:rPr lang="zh-TW" altLang="zh-TW" sz="2400" i="1">
                          <a:latin typeface="Cambria Math" panose="02040503050406030204" pitchFamily="18" charset="0"/>
                        </a:rPr>
                        <m:t>，</m:t>
                      </m:r>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=1,2,…,</m:t>
                      </m:r>
                      <m:r>
                        <a:rPr lang="en-US" altLang="zh-TW" sz="2400" b="0" i="1" smtClean="0">
                          <a:latin typeface="Cambria Math" panose="02040503050406030204" pitchFamily="18" charset="0"/>
                        </a:rPr>
                        <m:t>𝑛</m:t>
                      </m:r>
                      <m:r>
                        <a:rPr lang="zh-TW" altLang="en-US" sz="2400" i="1">
                          <a:latin typeface="Cambria Math" panose="02040503050406030204" pitchFamily="18" charset="0"/>
                        </a:rPr>
                        <m:t>。</m:t>
                      </m:r>
                    </m:oMath>
                  </m:oMathPara>
                </a14:m>
                <a:endParaRPr lang="en-US" altLang="zh-TW" sz="2400" dirty="0"/>
              </a:p>
              <a:p>
                <a:pPr marL="109728" indent="0">
                  <a:lnSpc>
                    <a:spcPct val="120000"/>
                  </a:lnSpc>
                  <a:buNone/>
                </a:pPr>
                <a14:m>
                  <m:oMath xmlns:m="http://schemas.openxmlformats.org/officeDocument/2006/math">
                    <m:r>
                      <a:rPr lang="en-US" altLang="zh-TW" sz="2400" b="0" i="1" smtClean="0">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𝑋</m:t>
                        </m:r>
                      </m:e>
                      <m:sub>
                        <m:r>
                          <a:rPr lang="en-US" altLang="zh-TW" sz="2400" i="1">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b="0" i="1" smtClean="0">
                            <a:latin typeface="Cambria Math" panose="02040503050406030204" pitchFamily="18" charset="0"/>
                          </a:rPr>
                          <m:t>𝑌</m:t>
                        </m:r>
                      </m:e>
                      <m:sub>
                        <m:r>
                          <a:rPr lang="en-US" altLang="zh-TW" sz="2400" i="1">
                            <a:latin typeface="Cambria Math" panose="02040503050406030204" pitchFamily="18" charset="0"/>
                          </a:rPr>
                          <m:t>𝑖</m:t>
                        </m:r>
                      </m:sub>
                    </m:sSub>
                    <m:r>
                      <a:rPr lang="en-US" altLang="zh-TW" sz="2400" b="0" i="1" smtClean="0">
                        <a:latin typeface="Cambria Math" panose="02040503050406030204" pitchFamily="18" charset="0"/>
                      </a:rPr>
                      <m:t>)</m:t>
                    </m:r>
                  </m:oMath>
                </a14:m>
                <a:r>
                  <a:rPr lang="en-US" altLang="zh-TW" sz="2400" dirty="0"/>
                  <a:t>, </a:t>
                </a:r>
                <a14:m>
                  <m:oMath xmlns:m="http://schemas.openxmlformats.org/officeDocument/2006/math">
                    <m:r>
                      <a:rPr lang="en-US" altLang="zh-TW" sz="2400" i="1">
                        <a:latin typeface="Cambria Math" panose="02040503050406030204" pitchFamily="18" charset="0"/>
                      </a:rPr>
                      <m:t>𝑖</m:t>
                    </m:r>
                  </m:oMath>
                </a14:m>
                <a:r>
                  <a:rPr lang="en-US" altLang="zh-TW" sz="2400" dirty="0"/>
                  <a:t>= </a:t>
                </a:r>
                <a14:m>
                  <m:oMath xmlns:m="http://schemas.openxmlformats.org/officeDocument/2006/math">
                    <m:r>
                      <a:rPr lang="en-US" altLang="zh-TW" sz="2400" i="1">
                        <a:latin typeface="Cambria Math" panose="02040503050406030204" pitchFamily="18" charset="0"/>
                      </a:rPr>
                      <m:t>1,2,…,</m:t>
                    </m:r>
                    <m:r>
                      <a:rPr lang="en-US" altLang="zh-TW" sz="2400" i="1">
                        <a:latin typeface="Cambria Math" panose="02040503050406030204" pitchFamily="18" charset="0"/>
                      </a:rPr>
                      <m:t>𝑛</m:t>
                    </m:r>
                    <m:r>
                      <a:rPr lang="en-US" altLang="zh-TW" sz="2400" i="1">
                        <a:latin typeface="Cambria Math" panose="02040503050406030204" pitchFamily="18" charset="0"/>
                      </a:rPr>
                      <m:t> </m:t>
                    </m:r>
                  </m:oMath>
                </a14:m>
                <a:r>
                  <a:rPr lang="zh-TW" altLang="en-US" sz="2400" dirty="0"/>
                  <a:t>，</a:t>
                </a:r>
                <a:r>
                  <a:rPr lang="zh-TW" altLang="zh-TW" sz="2400" dirty="0"/>
                  <a:t>為二個變數的資料。</a:t>
                </a:r>
                <a:endParaRPr lang="en-US" altLang="zh-TW" sz="2400" dirty="0"/>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434720" y="1372488"/>
                <a:ext cx="8229600" cy="5211192"/>
              </a:xfrm>
              <a:blipFill>
                <a:blip r:embed="rId2"/>
                <a:stretch>
                  <a:fillRect l="-963" t="-702" r="-1037"/>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pPr>
              <a:defRPr/>
            </a:pPr>
            <a:r>
              <a:rPr lang="en-US" altLang="zh-TW" dirty="0"/>
              <a:t>17</a:t>
            </a:r>
          </a:p>
        </p:txBody>
      </p:sp>
    </p:spTree>
    <p:extLst>
      <p:ext uri="{BB962C8B-B14F-4D97-AF65-F5344CB8AC3E}">
        <p14:creationId xmlns:p14="http://schemas.microsoft.com/office/powerpoint/2010/main" val="143568177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274639"/>
            <a:ext cx="8229600" cy="706090"/>
          </a:xfrm>
        </p:spPr>
        <p:txBody>
          <a:bodyPr>
            <a:normAutofit fontScale="90000"/>
          </a:bodyPr>
          <a:lstStyle/>
          <a:p>
            <a:pPr algn="ctr"/>
            <a:r>
              <a:rPr lang="zh-TW" altLang="zh-TW" dirty="0">
                <a:effectLst/>
              </a:rPr>
              <a:t>簡單線性廻歸模型</a:t>
            </a:r>
            <a:endParaRPr lang="zh-TW" altLang="en-US" dirty="0"/>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457200" y="980730"/>
                <a:ext cx="8229600" cy="5026562"/>
              </a:xfrm>
            </p:spPr>
            <p:txBody>
              <a:bodyPr>
                <a:normAutofit/>
              </a:bodyPr>
              <a:lstStyle/>
              <a:p>
                <a:pPr>
                  <a:lnSpc>
                    <a:spcPct val="120000"/>
                  </a:lnSpc>
                </a:pPr>
                <a:r>
                  <a:rPr lang="zh-TW" altLang="zh-TW" sz="2400" dirty="0"/>
                  <a:t>統計學上經常假設誤差項</a:t>
                </a:r>
                <a14:m>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𝜖</m:t>
                        </m:r>
                      </m:e>
                      <m:sub>
                        <m:r>
                          <a:rPr lang="en-US" altLang="zh-TW" sz="2400" i="1">
                            <a:latin typeface="Cambria Math" panose="02040503050406030204" pitchFamily="18" charset="0"/>
                          </a:rPr>
                          <m:t>𝑖</m:t>
                        </m:r>
                      </m:sub>
                    </m:sSub>
                  </m:oMath>
                </a14:m>
                <a:r>
                  <a:rPr lang="zh-TW" altLang="zh-TW" sz="2400" dirty="0"/>
                  <a:t>的機率分配為常態分配，其平均數為</a:t>
                </a:r>
                <a:r>
                  <a:rPr lang="en-US" altLang="zh-TW" sz="2400" dirty="0"/>
                  <a:t>0</a:t>
                </a:r>
                <a:r>
                  <a:rPr lang="zh-TW" altLang="zh-TW" sz="2400" dirty="0"/>
                  <a:t>變異數為</a:t>
                </a:r>
                <a14:m>
                  <m:oMath xmlns:m="http://schemas.openxmlformats.org/officeDocument/2006/math">
                    <m:sSup>
                      <m:sSupPr>
                        <m:ctrlPr>
                          <a:rPr lang="zh-TW" altLang="zh-TW" sz="2400" i="1">
                            <a:latin typeface="Cambria Math" panose="02040503050406030204" pitchFamily="18" charset="0"/>
                          </a:rPr>
                        </m:ctrlPr>
                      </m:sSupPr>
                      <m:e>
                        <m:r>
                          <m:rPr>
                            <m:sty m:val="p"/>
                          </m:rPr>
                          <a:rPr lang="en-US" altLang="zh-TW" sz="2400">
                            <a:latin typeface="Cambria Math" panose="02040503050406030204" pitchFamily="18" charset="0"/>
                          </a:rPr>
                          <m:t>σ</m:t>
                        </m:r>
                      </m:e>
                      <m:sup>
                        <m:r>
                          <a:rPr lang="en-US" altLang="zh-TW" sz="2400">
                            <a:latin typeface="Cambria Math" panose="02040503050406030204" pitchFamily="18" charset="0"/>
                          </a:rPr>
                          <m:t>2</m:t>
                        </m:r>
                      </m:sup>
                    </m:sSup>
                  </m:oMath>
                </a14:m>
                <a:r>
                  <a:rPr lang="zh-TW" altLang="zh-TW" sz="2400" dirty="0"/>
                  <a:t>。圖</a:t>
                </a:r>
                <a:r>
                  <a:rPr lang="en-US" altLang="zh-TW" sz="2400" dirty="0"/>
                  <a:t>7-4</a:t>
                </a:r>
                <a:r>
                  <a:rPr lang="zh-TW" altLang="en-US" sz="2400" dirty="0"/>
                  <a:t>中，</a:t>
                </a:r>
                <a:r>
                  <a:rPr lang="zh-TW" altLang="zh-TW" sz="2400" dirty="0"/>
                  <a:t>資料會散佈在斜直線的上下附近，且散佈的方式會服從虛線的常態分配</a:t>
                </a:r>
                <a:r>
                  <a:rPr lang="zh-TW" altLang="en-US" sz="2400" dirty="0"/>
                  <a:t>。</a:t>
                </a:r>
                <a:endParaRPr lang="en-US" altLang="zh-TW" sz="2400" dirty="0"/>
              </a:p>
              <a:p>
                <a:r>
                  <a:rPr lang="zh-TW" altLang="zh-TW" sz="2400" dirty="0"/>
                  <a:t>年齡與收縮壓的關係為：</a:t>
                </a:r>
                <a:endParaRPr lang="en-US" altLang="zh-TW" sz="2400" dirty="0"/>
              </a:p>
              <a:p>
                <a:pPr marL="109728" indent="0">
                  <a:buNone/>
                </a:pPr>
                <a14:m>
                  <m:oMath xmlns:m="http://schemas.openxmlformats.org/officeDocument/2006/math">
                    <m:r>
                      <a:rPr lang="zh-TW" altLang="zh-TW" sz="2400">
                        <a:latin typeface="Cambria Math" panose="02040503050406030204" pitchFamily="18" charset="0"/>
                      </a:rPr>
                      <m:t>收縮壓＝</m:t>
                    </m:r>
                    <m:r>
                      <a:rPr lang="en-US" altLang="zh-TW" sz="2400">
                        <a:latin typeface="Cambria Math" panose="02040503050406030204" pitchFamily="18" charset="0"/>
                      </a:rPr>
                      <m:t>93.79+0.63×</m:t>
                    </m:r>
                    <m:r>
                      <a:rPr lang="zh-TW" altLang="zh-TW" sz="2400">
                        <a:latin typeface="Cambria Math" panose="02040503050406030204" pitchFamily="18" charset="0"/>
                      </a:rPr>
                      <m:t>年齡</m:t>
                    </m:r>
                    <m:r>
                      <a:rPr lang="en-US" altLang="zh-TW" sz="2400">
                        <a:latin typeface="Cambria Math" panose="02040503050406030204" pitchFamily="18" charset="0"/>
                      </a:rPr>
                      <m:t>+</m:t>
                    </m:r>
                    <m:sSub>
                      <m:sSubPr>
                        <m:ctrlPr>
                          <a:rPr lang="zh-TW" altLang="zh-TW" sz="2400" i="1">
                            <a:latin typeface="Cambria Math" panose="02040503050406030204" pitchFamily="18" charset="0"/>
                          </a:rPr>
                        </m:ctrlPr>
                      </m:sSubPr>
                      <m:e>
                        <m:r>
                          <m:rPr>
                            <m:sty m:val="p"/>
                          </m:rPr>
                          <a:rPr lang="en-US" altLang="zh-TW" sz="2400">
                            <a:latin typeface="Cambria Math" panose="02040503050406030204" pitchFamily="18" charset="0"/>
                          </a:rPr>
                          <m:t>ϵ</m:t>
                        </m:r>
                      </m:e>
                      <m:sub>
                        <m:r>
                          <m:rPr>
                            <m:sty m:val="p"/>
                          </m:rPr>
                          <a:rPr lang="en-US" altLang="zh-TW" sz="2400">
                            <a:latin typeface="Cambria Math" panose="02040503050406030204" pitchFamily="18" charset="0"/>
                          </a:rPr>
                          <m:t>i</m:t>
                        </m:r>
                      </m:sub>
                    </m:sSub>
                  </m:oMath>
                </a14:m>
                <a:r>
                  <a:rPr lang="zh-TW" altLang="zh-TW" sz="2400" dirty="0"/>
                  <a:t>，</a:t>
                </a:r>
                <a:r>
                  <a:rPr lang="en-US" altLang="zh-TW" sz="2400" dirty="0"/>
                  <a:t>50</a:t>
                </a:r>
                <a:r>
                  <a:rPr lang="zh-TW" altLang="zh-TW" sz="2400" dirty="0"/>
                  <a:t>歲的人 </a:t>
                </a:r>
                <a:r>
                  <a:rPr lang="en-US" altLang="zh-TW" sz="2400" dirty="0"/>
                  <a:t>“</a:t>
                </a:r>
                <a:r>
                  <a:rPr lang="zh-TW" altLang="zh-TW" sz="2400" dirty="0"/>
                  <a:t>平均收縮壓</a:t>
                </a:r>
                <a:r>
                  <a:rPr lang="en-US" altLang="zh-TW" sz="2400" dirty="0"/>
                  <a:t>” </a:t>
                </a:r>
                <a:r>
                  <a:rPr lang="zh-TW" altLang="zh-TW" sz="2400" dirty="0"/>
                  <a:t>為</a:t>
                </a:r>
                <a:r>
                  <a:rPr lang="en-US" altLang="zh-TW" sz="2400" dirty="0"/>
                  <a:t>93.79+0.63</a:t>
                </a:r>
                <a14:m>
                  <m:oMath xmlns:m="http://schemas.openxmlformats.org/officeDocument/2006/math">
                    <m:r>
                      <a:rPr lang="en-US" altLang="zh-TW" sz="2400">
                        <a:latin typeface="Cambria Math" panose="02040503050406030204" pitchFamily="18" charset="0"/>
                      </a:rPr>
                      <m:t>×50=</m:t>
                    </m:r>
                  </m:oMath>
                </a14:m>
                <a:r>
                  <a:rPr lang="en-US" altLang="zh-TW" sz="2400" dirty="0"/>
                  <a:t>125.29</a:t>
                </a:r>
                <a:r>
                  <a:rPr lang="zh-TW" altLang="zh-TW" sz="2400" dirty="0"/>
                  <a:t>。</a:t>
                </a:r>
                <a:endParaRPr lang="zh-TW" altLang="en-US" sz="2400" dirty="0"/>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457200" y="980730"/>
                <a:ext cx="8229600" cy="5026562"/>
              </a:xfrm>
              <a:blipFill rotWithShape="0">
                <a:blip r:embed="rId2"/>
                <a:stretch>
                  <a:fillRect t="-243" r="-1556"/>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pPr>
              <a:defRPr/>
            </a:pPr>
            <a:r>
              <a:rPr lang="en-US" altLang="zh-TW" dirty="0"/>
              <a:t>18</a:t>
            </a:r>
          </a:p>
        </p:txBody>
      </p:sp>
      <p:pic>
        <p:nvPicPr>
          <p:cNvPr id="5" name="圖片 4"/>
          <p:cNvPicPr/>
          <p:nvPr/>
        </p:nvPicPr>
        <p:blipFill rotWithShape="1">
          <a:blip r:embed="rId3" cstate="print">
            <a:extLst>
              <a:ext uri="{28A0092B-C50C-407E-A947-70E740481C1C}">
                <a14:useLocalDpi xmlns:a14="http://schemas.microsoft.com/office/drawing/2010/main" val="0"/>
              </a:ext>
            </a:extLst>
          </a:blip>
          <a:srcRect t="10613"/>
          <a:stretch/>
        </p:blipFill>
        <p:spPr bwMode="auto">
          <a:xfrm>
            <a:off x="1619672" y="3573016"/>
            <a:ext cx="5544616" cy="2846676"/>
          </a:xfrm>
          <a:prstGeom prst="rect">
            <a:avLst/>
          </a:prstGeom>
          <a:ln>
            <a:noFill/>
          </a:ln>
          <a:extLst>
            <a:ext uri="{53640926-AAD7-44D8-BBD7-CCE9431645EC}">
              <a14:shadowObscured xmlns:a14="http://schemas.microsoft.com/office/drawing/2010/main"/>
            </a:ext>
          </a:extLst>
        </p:spPr>
      </p:pic>
      <p:sp>
        <p:nvSpPr>
          <p:cNvPr id="6" name="矩形 5"/>
          <p:cNvSpPr/>
          <p:nvPr/>
        </p:nvSpPr>
        <p:spPr>
          <a:xfrm>
            <a:off x="3131840" y="6300028"/>
            <a:ext cx="2834430" cy="369332"/>
          </a:xfrm>
          <a:prstGeom prst="rect">
            <a:avLst/>
          </a:prstGeom>
        </p:spPr>
        <p:txBody>
          <a:bodyPr wrap="none">
            <a:spAutoFit/>
          </a:bodyPr>
          <a:lstStyle/>
          <a:p>
            <a:r>
              <a:rPr lang="zh-TW" altLang="zh-TW" sz="1800" dirty="0">
                <a:latin typeface="+mn-lt"/>
                <a:ea typeface="+mn-ea"/>
              </a:rPr>
              <a:t>圖</a:t>
            </a:r>
            <a:r>
              <a:rPr lang="en-US" altLang="zh-TW" sz="1800" dirty="0">
                <a:latin typeface="+mn-lt"/>
                <a:ea typeface="+mn-ea"/>
              </a:rPr>
              <a:t>7-4. </a:t>
            </a:r>
            <a:r>
              <a:rPr lang="zh-TW" altLang="zh-TW" sz="1800" dirty="0">
                <a:latin typeface="+mn-lt"/>
                <a:ea typeface="+mn-ea"/>
              </a:rPr>
              <a:t>簡單線性迴歸模型</a:t>
            </a:r>
            <a:endParaRPr lang="zh-TW" altLang="en-US" sz="1800" dirty="0">
              <a:latin typeface="+mn-lt"/>
              <a:ea typeface="+mn-ea"/>
            </a:endParaRPr>
          </a:p>
        </p:txBody>
      </p:sp>
      <p:sp>
        <p:nvSpPr>
          <p:cNvPr id="7" name="文字方塊 6"/>
          <p:cNvSpPr txBox="1"/>
          <p:nvPr/>
        </p:nvSpPr>
        <p:spPr>
          <a:xfrm>
            <a:off x="4092878" y="5881083"/>
            <a:ext cx="432048" cy="338554"/>
          </a:xfrm>
          <a:prstGeom prst="rect">
            <a:avLst/>
          </a:prstGeom>
          <a:noFill/>
        </p:spPr>
        <p:txBody>
          <a:bodyPr wrap="square" rtlCol="0">
            <a:spAutoFit/>
          </a:bodyPr>
          <a:lstStyle/>
          <a:p>
            <a:r>
              <a:rPr lang="en-US" altLang="zh-TW" sz="1600" dirty="0">
                <a:solidFill>
                  <a:srgbClr val="FF0000"/>
                </a:solidFill>
              </a:rPr>
              <a:t>50</a:t>
            </a:r>
            <a:endParaRPr lang="zh-TW" altLang="en-US" sz="1600" dirty="0">
              <a:solidFill>
                <a:srgbClr val="FF0000"/>
              </a:solidFill>
            </a:endParaRPr>
          </a:p>
        </p:txBody>
      </p:sp>
      <p:cxnSp>
        <p:nvCxnSpPr>
          <p:cNvPr id="9" name="直線單箭頭接點 8"/>
          <p:cNvCxnSpPr/>
          <p:nvPr/>
        </p:nvCxnSpPr>
        <p:spPr>
          <a:xfrm flipH="1">
            <a:off x="2123728" y="4643264"/>
            <a:ext cx="2160240" cy="0"/>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 name="文字方塊 9"/>
          <p:cNvSpPr txBox="1"/>
          <p:nvPr/>
        </p:nvSpPr>
        <p:spPr>
          <a:xfrm>
            <a:off x="1511660" y="4489375"/>
            <a:ext cx="720080" cy="307777"/>
          </a:xfrm>
          <a:prstGeom prst="rect">
            <a:avLst/>
          </a:prstGeom>
          <a:noFill/>
        </p:spPr>
        <p:txBody>
          <a:bodyPr wrap="square" rtlCol="0">
            <a:spAutoFit/>
          </a:bodyPr>
          <a:lstStyle/>
          <a:p>
            <a:r>
              <a:rPr lang="en-US" altLang="zh-TW" sz="1400" dirty="0">
                <a:solidFill>
                  <a:srgbClr val="FF0000"/>
                </a:solidFill>
              </a:rPr>
              <a:t>125.29</a:t>
            </a:r>
            <a:endParaRPr lang="zh-TW" altLang="en-US" sz="1400" dirty="0">
              <a:solidFill>
                <a:srgbClr val="FF0000"/>
              </a:solidFill>
            </a:endParaRPr>
          </a:p>
        </p:txBody>
      </p:sp>
      <mc:AlternateContent xmlns:mc="http://schemas.openxmlformats.org/markup-compatibility/2006" xmlns:a14="http://schemas.microsoft.com/office/drawing/2010/main">
        <mc:Choice Requires="a14">
          <p:sp>
            <p:nvSpPr>
              <p:cNvPr id="8" name="文字方塊 7"/>
              <p:cNvSpPr txBox="1"/>
              <p:nvPr/>
            </p:nvSpPr>
            <p:spPr>
              <a:xfrm>
                <a:off x="4723202" y="5070297"/>
                <a:ext cx="2843808" cy="707886"/>
              </a:xfrm>
              <a:prstGeom prst="rect">
                <a:avLst/>
              </a:prstGeom>
              <a:noFill/>
            </p:spPr>
            <p:txBody>
              <a:bodyPr wrap="square" rtlCol="0">
                <a:spAutoFit/>
              </a:bodyPr>
              <a:lstStyle/>
              <a:p>
                <a:r>
                  <a:rPr lang="en-US" altLang="zh-TW" sz="2000" dirty="0">
                    <a:solidFill>
                      <a:srgbClr val="3333CC"/>
                    </a:solidFill>
                  </a:rPr>
                  <a:t>50</a:t>
                </a:r>
                <a:r>
                  <a:rPr lang="zh-TW" altLang="zh-TW" sz="2000" dirty="0">
                    <a:solidFill>
                      <a:srgbClr val="3333CC"/>
                    </a:solidFill>
                  </a:rPr>
                  <a:t>歲</a:t>
                </a:r>
                <a:r>
                  <a:rPr lang="zh-TW" altLang="en-US" sz="2000" dirty="0">
                    <a:solidFill>
                      <a:srgbClr val="3333CC"/>
                    </a:solidFill>
                  </a:rPr>
                  <a:t>的收縮壓約</a:t>
                </a:r>
                <a:r>
                  <a:rPr lang="en-US" altLang="zh-TW" sz="2000" dirty="0">
                    <a:solidFill>
                      <a:srgbClr val="3333CC"/>
                    </a:solidFill>
                  </a:rPr>
                  <a:t>95%</a:t>
                </a:r>
                <a:r>
                  <a:rPr lang="zh-TW" altLang="en-US" sz="2000" dirty="0">
                    <a:solidFill>
                      <a:srgbClr val="3333CC"/>
                    </a:solidFill>
                  </a:rPr>
                  <a:t>會落在</a:t>
                </a:r>
                <a:r>
                  <a:rPr lang="en-US" altLang="zh-TW" sz="2000" dirty="0">
                    <a:solidFill>
                      <a:srgbClr val="3333CC"/>
                    </a:solidFill>
                  </a:rPr>
                  <a:t>125.29</a:t>
                </a:r>
                <a14:m>
                  <m:oMath xmlns:m="http://schemas.openxmlformats.org/officeDocument/2006/math">
                    <m:r>
                      <a:rPr lang="en-US" altLang="zh-TW" sz="2000" i="1" smtClean="0">
                        <a:solidFill>
                          <a:srgbClr val="3333CC"/>
                        </a:solidFill>
                        <a:latin typeface="Cambria Math" panose="02040503050406030204" pitchFamily="18" charset="0"/>
                        <a:ea typeface="Cambria Math" panose="02040503050406030204" pitchFamily="18" charset="0"/>
                      </a:rPr>
                      <m:t>±</m:t>
                    </m:r>
                  </m:oMath>
                </a14:m>
                <a:r>
                  <a:rPr lang="en-US" altLang="zh-TW" sz="2000" dirty="0">
                    <a:solidFill>
                      <a:srgbClr val="3333CC"/>
                    </a:solidFill>
                  </a:rPr>
                  <a:t>1.96</a:t>
                </a:r>
                <a14:m>
                  <m:oMath xmlns:m="http://schemas.openxmlformats.org/officeDocument/2006/math">
                    <m:r>
                      <a:rPr lang="en-US" altLang="zh-TW" sz="2000" i="1" dirty="0" smtClean="0">
                        <a:solidFill>
                          <a:srgbClr val="3333CC"/>
                        </a:solidFill>
                        <a:latin typeface="Cambria Math" panose="02040503050406030204" pitchFamily="18" charset="0"/>
                        <a:ea typeface="Cambria Math" panose="02040503050406030204" pitchFamily="18" charset="0"/>
                      </a:rPr>
                      <m:t>×</m:t>
                    </m:r>
                    <m:r>
                      <a:rPr lang="zh-TW" altLang="en-US" sz="2000" i="1" dirty="0" smtClean="0">
                        <a:solidFill>
                          <a:srgbClr val="3333CC"/>
                        </a:solidFill>
                        <a:latin typeface="Cambria Math" panose="02040503050406030204" pitchFamily="18" charset="0"/>
                        <a:ea typeface="Cambria Math" panose="02040503050406030204" pitchFamily="18" charset="0"/>
                      </a:rPr>
                      <m:t>𝜎</m:t>
                    </m:r>
                  </m:oMath>
                </a14:m>
                <a:r>
                  <a:rPr lang="zh-TW" altLang="en-US" sz="2000" dirty="0">
                    <a:solidFill>
                      <a:srgbClr val="3333CC"/>
                    </a:solidFill>
                  </a:rPr>
                  <a:t>內</a:t>
                </a:r>
              </a:p>
            </p:txBody>
          </p:sp>
        </mc:Choice>
        <mc:Fallback xmlns="">
          <p:sp>
            <p:nvSpPr>
              <p:cNvPr id="8" name="文字方塊 7"/>
              <p:cNvSpPr txBox="1">
                <a:spLocks noRot="1" noChangeAspect="1" noMove="1" noResize="1" noEditPoints="1" noAdjustHandles="1" noChangeArrowheads="1" noChangeShapeType="1" noTextEdit="1"/>
              </p:cNvSpPr>
              <p:nvPr/>
            </p:nvSpPr>
            <p:spPr>
              <a:xfrm>
                <a:off x="4723202" y="5070297"/>
                <a:ext cx="2843808" cy="707886"/>
              </a:xfrm>
              <a:prstGeom prst="rect">
                <a:avLst/>
              </a:prstGeom>
              <a:blipFill rotWithShape="0">
                <a:blip r:embed="rId4"/>
                <a:stretch>
                  <a:fillRect l="-2361" t="-5172" b="-14655"/>
                </a:stretch>
              </a:blipFill>
            </p:spPr>
            <p:txBody>
              <a:bodyPr/>
              <a:lstStyle/>
              <a:p>
                <a:r>
                  <a:rPr lang="zh-TW" altLang="en-US">
                    <a:noFill/>
                  </a:rPr>
                  <a:t> </a:t>
                </a:r>
              </a:p>
            </p:txBody>
          </p:sp>
        </mc:Fallback>
      </mc:AlternateContent>
      <p:sp>
        <p:nvSpPr>
          <p:cNvPr id="11" name="左大括弧 10"/>
          <p:cNvSpPr/>
          <p:nvPr/>
        </p:nvSpPr>
        <p:spPr>
          <a:xfrm>
            <a:off x="4092878" y="4261980"/>
            <a:ext cx="191090" cy="823204"/>
          </a:xfrm>
          <a:prstGeom prst="leftBrace">
            <a:avLst/>
          </a:prstGeom>
          <a:ln w="19050">
            <a:solidFill>
              <a:srgbClr val="33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93388123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8" grpId="0"/>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274638"/>
            <a:ext cx="8229600" cy="706090"/>
          </a:xfrm>
        </p:spPr>
        <p:txBody>
          <a:bodyPr>
            <a:normAutofit fontScale="90000"/>
          </a:bodyPr>
          <a:lstStyle/>
          <a:p>
            <a:pPr algn="ctr"/>
            <a:r>
              <a:rPr lang="zh-TW" altLang="zh-TW" dirty="0">
                <a:effectLst/>
              </a:rPr>
              <a:t>簡單線性廻歸模型</a:t>
            </a:r>
            <a:endParaRPr lang="zh-TW" altLang="en-US" dirty="0"/>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457200" y="980728"/>
                <a:ext cx="8435280" cy="5026563"/>
              </a:xfrm>
            </p:spPr>
            <p:txBody>
              <a:bodyPr>
                <a:noAutofit/>
              </a:bodyPr>
              <a:lstStyle/>
              <a:p>
                <a:pPr>
                  <a:lnSpc>
                    <a:spcPct val="120000"/>
                  </a:lnSpc>
                </a:pPr>
                <a14:m>
                  <m:oMath xmlns:m="http://schemas.openxmlformats.org/officeDocument/2006/math">
                    <m:sSub>
                      <m:sSubPr>
                        <m:ctrlPr>
                          <a:rPr lang="zh-TW" altLang="zh-TW" sz="2600" i="1" smtClean="0">
                            <a:latin typeface="Cambria Math" panose="02040503050406030204" pitchFamily="18" charset="0"/>
                          </a:rPr>
                        </m:ctrlPr>
                      </m:sSubPr>
                      <m:e>
                        <m:r>
                          <m:rPr>
                            <m:sty m:val="p"/>
                          </m:rPr>
                          <a:rPr lang="en-US" altLang="zh-TW" sz="2600">
                            <a:latin typeface="Cambria Math" panose="02040503050406030204" pitchFamily="18" charset="0"/>
                          </a:rPr>
                          <m:t>β</m:t>
                        </m:r>
                      </m:e>
                      <m:sub>
                        <m:r>
                          <a:rPr lang="en-US" altLang="zh-TW" sz="2600">
                            <a:latin typeface="Cambria Math" panose="02040503050406030204" pitchFamily="18" charset="0"/>
                          </a:rPr>
                          <m:t>0</m:t>
                        </m:r>
                      </m:sub>
                    </m:sSub>
                    <m:r>
                      <a:rPr lang="en-US" altLang="zh-TW" sz="2600" i="1">
                        <a:latin typeface="Cambria Math" panose="02040503050406030204" pitchFamily="18" charset="0"/>
                      </a:rPr>
                      <m:t>(</m:t>
                    </m:r>
                    <m:r>
                      <a:rPr lang="zh-TW" altLang="zh-TW" sz="2600">
                        <a:latin typeface="Cambria Math" panose="02040503050406030204" pitchFamily="18" charset="0"/>
                      </a:rPr>
                      <m:t>截距項</m:t>
                    </m:r>
                    <m:r>
                      <a:rPr lang="en-US" altLang="zh-TW" sz="2600" i="1">
                        <a:latin typeface="Cambria Math" panose="02040503050406030204" pitchFamily="18" charset="0"/>
                      </a:rPr>
                      <m:t>)</m:t>
                    </m:r>
                  </m:oMath>
                </a14:m>
                <a:r>
                  <a:rPr lang="zh-TW" altLang="zh-TW" sz="2600" dirty="0"/>
                  <a:t>與</a:t>
                </a:r>
                <a14:m>
                  <m:oMath xmlns:m="http://schemas.openxmlformats.org/officeDocument/2006/math">
                    <m:sSub>
                      <m:sSubPr>
                        <m:ctrlPr>
                          <a:rPr lang="zh-TW" altLang="zh-TW" sz="2600" i="1">
                            <a:latin typeface="Cambria Math" panose="02040503050406030204" pitchFamily="18" charset="0"/>
                          </a:rPr>
                        </m:ctrlPr>
                      </m:sSubPr>
                      <m:e>
                        <m:r>
                          <a:rPr lang="en-US" altLang="zh-TW" sz="2600" i="1">
                            <a:latin typeface="Cambria Math" panose="02040503050406030204" pitchFamily="18" charset="0"/>
                          </a:rPr>
                          <m:t>𝛽</m:t>
                        </m:r>
                      </m:e>
                      <m:sub>
                        <m:r>
                          <a:rPr lang="en-US" altLang="zh-TW" sz="2600" i="1">
                            <a:latin typeface="Cambria Math" panose="02040503050406030204" pitchFamily="18" charset="0"/>
                          </a:rPr>
                          <m:t>1</m:t>
                        </m:r>
                      </m:sub>
                    </m:sSub>
                  </m:oMath>
                </a14:m>
                <a:r>
                  <a:rPr lang="zh-TW" altLang="zh-TW" sz="2600" dirty="0"/>
                  <a:t>通稱為迴歸係數或參數</a:t>
                </a:r>
                <a:r>
                  <a:rPr lang="zh-TW" altLang="en-US" sz="2600" dirty="0"/>
                  <a:t>。</a:t>
                </a:r>
                <a14:m>
                  <m:oMath xmlns:m="http://schemas.openxmlformats.org/officeDocument/2006/math">
                    <m:sSub>
                      <m:sSubPr>
                        <m:ctrlPr>
                          <a:rPr lang="zh-TW" altLang="zh-TW" sz="2600" i="1">
                            <a:latin typeface="Cambria Math" panose="02040503050406030204" pitchFamily="18" charset="0"/>
                          </a:rPr>
                        </m:ctrlPr>
                      </m:sSubPr>
                      <m:e>
                        <m:r>
                          <a:rPr lang="en-US" altLang="zh-TW" sz="2600" i="1">
                            <a:latin typeface="Cambria Math" panose="02040503050406030204" pitchFamily="18" charset="0"/>
                          </a:rPr>
                          <m:t>𝛽</m:t>
                        </m:r>
                      </m:e>
                      <m:sub>
                        <m:r>
                          <a:rPr lang="en-US" altLang="zh-TW" sz="2600" i="1">
                            <a:latin typeface="Cambria Math" panose="02040503050406030204" pitchFamily="18" charset="0"/>
                          </a:rPr>
                          <m:t>1</m:t>
                        </m:r>
                      </m:sub>
                    </m:sSub>
                  </m:oMath>
                </a14:m>
                <a:r>
                  <a:rPr lang="zh-TW" altLang="zh-TW" sz="2600" dirty="0"/>
                  <a:t>來描述</a:t>
                </a:r>
                <a14:m>
                  <m:oMath xmlns:m="http://schemas.openxmlformats.org/officeDocument/2006/math">
                    <m:r>
                      <m:rPr>
                        <m:sty m:val="p"/>
                      </m:rPr>
                      <a:rPr lang="en-US" altLang="zh-TW" sz="2600">
                        <a:latin typeface="Cambria Math" panose="02040503050406030204" pitchFamily="18" charset="0"/>
                      </a:rPr>
                      <m:t>X</m:t>
                    </m:r>
                  </m:oMath>
                </a14:m>
                <a:r>
                  <a:rPr lang="zh-TW" altLang="zh-TW" sz="2600" dirty="0"/>
                  <a:t>對</a:t>
                </a:r>
                <a:r>
                  <a:rPr lang="en-US" altLang="zh-TW" sz="2600" dirty="0"/>
                  <a:t>Y “</a:t>
                </a:r>
                <a:r>
                  <a:rPr lang="zh-TW" altLang="zh-TW" sz="2600" dirty="0"/>
                  <a:t>效應</a:t>
                </a:r>
                <a:r>
                  <a:rPr lang="en-US" altLang="zh-TW" sz="2600" dirty="0"/>
                  <a:t>(effect)” </a:t>
                </a:r>
                <a:r>
                  <a:rPr lang="zh-TW" altLang="zh-TW" sz="2600" dirty="0"/>
                  <a:t>的大小</a:t>
                </a:r>
                <a:r>
                  <a:rPr lang="en-US" altLang="zh-TW" sz="2600" dirty="0"/>
                  <a:t>; </a:t>
                </a:r>
                <a14:m>
                  <m:oMath xmlns:m="http://schemas.openxmlformats.org/officeDocument/2006/math">
                    <m:sSub>
                      <m:sSubPr>
                        <m:ctrlPr>
                          <a:rPr lang="zh-TW" altLang="zh-TW" sz="2600" i="1">
                            <a:latin typeface="Cambria Math" panose="02040503050406030204" pitchFamily="18" charset="0"/>
                          </a:rPr>
                        </m:ctrlPr>
                      </m:sSubPr>
                      <m:e>
                        <m:r>
                          <a:rPr lang="en-US" altLang="zh-TW" sz="2600" i="1">
                            <a:latin typeface="Cambria Math" panose="02040503050406030204" pitchFamily="18" charset="0"/>
                          </a:rPr>
                          <m:t>𝛽</m:t>
                        </m:r>
                      </m:e>
                      <m:sub>
                        <m:r>
                          <a:rPr lang="en-US" altLang="zh-TW" sz="2600" i="1">
                            <a:latin typeface="Cambria Math" panose="02040503050406030204" pitchFamily="18" charset="0"/>
                          </a:rPr>
                          <m:t>1</m:t>
                        </m:r>
                      </m:sub>
                    </m:sSub>
                    <m:r>
                      <a:rPr lang="en-US" altLang="zh-TW" sz="2600" i="1">
                        <a:latin typeface="Cambria Math" panose="02040503050406030204" pitchFamily="18" charset="0"/>
                      </a:rPr>
                      <m:t>&gt;0</m:t>
                    </m:r>
                  </m:oMath>
                </a14:m>
                <a:r>
                  <a:rPr lang="zh-TW" altLang="zh-TW" sz="2600" dirty="0"/>
                  <a:t>表示</a:t>
                </a:r>
                <a14:m>
                  <m:oMath xmlns:m="http://schemas.openxmlformats.org/officeDocument/2006/math">
                    <m:r>
                      <m:rPr>
                        <m:sty m:val="p"/>
                      </m:rPr>
                      <a:rPr lang="en-US" altLang="zh-TW" sz="2600">
                        <a:latin typeface="Cambria Math" panose="02040503050406030204" pitchFamily="18" charset="0"/>
                      </a:rPr>
                      <m:t>X</m:t>
                    </m:r>
                  </m:oMath>
                </a14:m>
                <a:r>
                  <a:rPr lang="zh-TW" altLang="zh-TW" sz="2600" dirty="0"/>
                  <a:t>和</a:t>
                </a:r>
                <a:r>
                  <a:rPr lang="en-US" altLang="zh-TW" sz="2600" dirty="0"/>
                  <a:t>Y</a:t>
                </a:r>
                <a:r>
                  <a:rPr lang="zh-TW" altLang="zh-TW" sz="2600" dirty="0"/>
                  <a:t>呈現正向的關係，</a:t>
                </a:r>
                <a14:m>
                  <m:oMath xmlns:m="http://schemas.openxmlformats.org/officeDocument/2006/math">
                    <m:sSub>
                      <m:sSubPr>
                        <m:ctrlPr>
                          <a:rPr lang="zh-TW" altLang="zh-TW" sz="2600" i="1">
                            <a:latin typeface="Cambria Math" panose="02040503050406030204" pitchFamily="18" charset="0"/>
                          </a:rPr>
                        </m:ctrlPr>
                      </m:sSubPr>
                      <m:e>
                        <m:r>
                          <a:rPr lang="en-US" altLang="zh-TW" sz="2600" i="1">
                            <a:latin typeface="Cambria Math" panose="02040503050406030204" pitchFamily="18" charset="0"/>
                          </a:rPr>
                          <m:t>𝛽</m:t>
                        </m:r>
                      </m:e>
                      <m:sub>
                        <m:r>
                          <a:rPr lang="en-US" altLang="zh-TW" sz="2600" i="1">
                            <a:latin typeface="Cambria Math" panose="02040503050406030204" pitchFamily="18" charset="0"/>
                          </a:rPr>
                          <m:t>1</m:t>
                        </m:r>
                      </m:sub>
                    </m:sSub>
                    <m:r>
                      <a:rPr lang="en-US" altLang="zh-TW" sz="2600" i="1">
                        <a:latin typeface="Cambria Math" panose="02040503050406030204" pitchFamily="18" charset="0"/>
                      </a:rPr>
                      <m:t>&lt;0</m:t>
                    </m:r>
                  </m:oMath>
                </a14:m>
                <a:r>
                  <a:rPr lang="zh-TW" altLang="zh-TW" sz="2600" dirty="0"/>
                  <a:t>表示</a:t>
                </a:r>
                <a14:m>
                  <m:oMath xmlns:m="http://schemas.openxmlformats.org/officeDocument/2006/math">
                    <m:r>
                      <a:rPr lang="en-US" altLang="zh-TW" sz="2600" i="1">
                        <a:latin typeface="Cambria Math" panose="02040503050406030204" pitchFamily="18" charset="0"/>
                      </a:rPr>
                      <m:t>𝑋</m:t>
                    </m:r>
                  </m:oMath>
                </a14:m>
                <a:r>
                  <a:rPr lang="zh-TW" altLang="zh-TW" sz="2600" dirty="0"/>
                  <a:t>和</a:t>
                </a:r>
                <a:r>
                  <a:rPr lang="en-US" altLang="zh-TW" sz="2600" dirty="0"/>
                  <a:t>Y</a:t>
                </a:r>
                <a:r>
                  <a:rPr lang="zh-TW" altLang="zh-TW" sz="2600" dirty="0"/>
                  <a:t>呈現負向的關係，</a:t>
                </a:r>
                <a14:m>
                  <m:oMath xmlns:m="http://schemas.openxmlformats.org/officeDocument/2006/math">
                    <m:sSub>
                      <m:sSubPr>
                        <m:ctrlPr>
                          <a:rPr lang="zh-TW" altLang="zh-TW" sz="2600" i="1">
                            <a:latin typeface="Cambria Math" panose="02040503050406030204" pitchFamily="18" charset="0"/>
                          </a:rPr>
                        </m:ctrlPr>
                      </m:sSubPr>
                      <m:e>
                        <m:r>
                          <a:rPr lang="en-US" altLang="zh-TW" sz="2600" i="1">
                            <a:latin typeface="Cambria Math" panose="02040503050406030204" pitchFamily="18" charset="0"/>
                          </a:rPr>
                          <m:t>𝛽</m:t>
                        </m:r>
                      </m:e>
                      <m:sub>
                        <m:r>
                          <a:rPr lang="en-US" altLang="zh-TW" sz="2600" i="1">
                            <a:latin typeface="Cambria Math" panose="02040503050406030204" pitchFamily="18" charset="0"/>
                          </a:rPr>
                          <m:t>1</m:t>
                        </m:r>
                      </m:sub>
                    </m:sSub>
                    <m:r>
                      <a:rPr lang="en-US" altLang="zh-TW" sz="2600" i="1">
                        <a:latin typeface="Cambria Math" panose="02040503050406030204" pitchFamily="18" charset="0"/>
                      </a:rPr>
                      <m:t>=0</m:t>
                    </m:r>
                  </m:oMath>
                </a14:m>
                <a:r>
                  <a:rPr lang="zh-TW" altLang="zh-TW" sz="2600" dirty="0"/>
                  <a:t>表示</a:t>
                </a:r>
                <a14:m>
                  <m:oMath xmlns:m="http://schemas.openxmlformats.org/officeDocument/2006/math">
                    <m:r>
                      <m:rPr>
                        <m:sty m:val="p"/>
                      </m:rPr>
                      <a:rPr lang="en-US" altLang="zh-TW" sz="2600">
                        <a:latin typeface="Cambria Math" panose="02040503050406030204" pitchFamily="18" charset="0"/>
                      </a:rPr>
                      <m:t>X</m:t>
                    </m:r>
                  </m:oMath>
                </a14:m>
                <a:r>
                  <a:rPr lang="zh-TW" altLang="zh-TW" sz="2600" dirty="0"/>
                  <a:t>和</a:t>
                </a:r>
                <a:r>
                  <a:rPr lang="en-US" altLang="zh-TW" sz="2600" dirty="0"/>
                  <a:t>Y</a:t>
                </a:r>
                <a:r>
                  <a:rPr lang="zh-TW" altLang="zh-TW" sz="2600" dirty="0"/>
                  <a:t>無關係。因此檢定</a:t>
                </a:r>
                <a14:m>
                  <m:oMath xmlns:m="http://schemas.openxmlformats.org/officeDocument/2006/math">
                    <m:sSub>
                      <m:sSubPr>
                        <m:ctrlPr>
                          <a:rPr lang="zh-TW" altLang="zh-TW" sz="2600" i="1">
                            <a:latin typeface="Cambria Math" panose="02040503050406030204" pitchFamily="18" charset="0"/>
                          </a:rPr>
                        </m:ctrlPr>
                      </m:sSubPr>
                      <m:e>
                        <m:r>
                          <a:rPr lang="en-US" altLang="zh-TW" sz="2600" i="1">
                            <a:latin typeface="Cambria Math" panose="02040503050406030204" pitchFamily="18" charset="0"/>
                          </a:rPr>
                          <m:t>𝛽</m:t>
                        </m:r>
                      </m:e>
                      <m:sub>
                        <m:r>
                          <a:rPr lang="en-US" altLang="zh-TW" sz="2600" i="1">
                            <a:latin typeface="Cambria Math" panose="02040503050406030204" pitchFamily="18" charset="0"/>
                          </a:rPr>
                          <m:t>1</m:t>
                        </m:r>
                      </m:sub>
                    </m:sSub>
                  </m:oMath>
                </a14:m>
                <a:r>
                  <a:rPr lang="zh-TW" altLang="zh-TW" sz="2600" dirty="0"/>
                  <a:t>是否為</a:t>
                </a:r>
                <a:r>
                  <a:rPr lang="en-US" altLang="zh-TW" sz="2600" dirty="0"/>
                  <a:t>0</a:t>
                </a:r>
                <a:r>
                  <a:rPr lang="zh-TW" altLang="zh-TW" sz="2600" dirty="0"/>
                  <a:t>經常用來檢定</a:t>
                </a:r>
                <a14:m>
                  <m:oMath xmlns:m="http://schemas.openxmlformats.org/officeDocument/2006/math">
                    <m:r>
                      <m:rPr>
                        <m:sty m:val="p"/>
                      </m:rPr>
                      <a:rPr lang="en-US" altLang="zh-TW" sz="2600" i="0">
                        <a:latin typeface="Cambria Math" panose="02040503050406030204" pitchFamily="18" charset="0"/>
                      </a:rPr>
                      <m:t>X</m:t>
                    </m:r>
                  </m:oMath>
                </a14:m>
                <a:r>
                  <a:rPr lang="zh-TW" altLang="zh-TW" sz="2600" dirty="0"/>
                  <a:t>和</a:t>
                </a:r>
                <a:r>
                  <a:rPr lang="en-US" altLang="zh-TW" sz="2600" dirty="0"/>
                  <a:t>Y</a:t>
                </a:r>
                <a:r>
                  <a:rPr lang="zh-TW" altLang="zh-TW" sz="2600" dirty="0"/>
                  <a:t>是否有關係。</a:t>
                </a:r>
                <a:endParaRPr lang="en-US" altLang="zh-TW" sz="2600" dirty="0"/>
              </a:p>
              <a:p>
                <a:pPr>
                  <a:lnSpc>
                    <a:spcPct val="120000"/>
                  </a:lnSpc>
                </a:pPr>
                <a:r>
                  <a:rPr lang="zh-TW" altLang="zh-TW" sz="2600" dirty="0"/>
                  <a:t>使用迴歸模型的好處是其分析不但可以用來檢定</a:t>
                </a:r>
                <a14:m>
                  <m:oMath xmlns:m="http://schemas.openxmlformats.org/officeDocument/2006/math">
                    <m:r>
                      <m:rPr>
                        <m:sty m:val="p"/>
                      </m:rPr>
                      <a:rPr lang="en-US" altLang="zh-TW" sz="2600" i="0">
                        <a:latin typeface="Cambria Math" panose="02040503050406030204" pitchFamily="18" charset="0"/>
                      </a:rPr>
                      <m:t>X</m:t>
                    </m:r>
                  </m:oMath>
                </a14:m>
                <a:r>
                  <a:rPr lang="zh-TW" altLang="zh-TW" sz="2600" dirty="0"/>
                  <a:t>和</a:t>
                </a:r>
                <a:r>
                  <a:rPr lang="en-US" altLang="zh-TW" sz="2600" dirty="0"/>
                  <a:t>Y</a:t>
                </a:r>
                <a:r>
                  <a:rPr lang="zh-TW" altLang="zh-TW" sz="2600" dirty="0"/>
                  <a:t>是否有關係，</a:t>
                </a:r>
                <a14:m>
                  <m:oMath xmlns:m="http://schemas.openxmlformats.org/officeDocument/2006/math">
                    <m:sSub>
                      <m:sSubPr>
                        <m:ctrlPr>
                          <a:rPr lang="zh-TW" altLang="zh-TW" sz="2600" i="1">
                            <a:latin typeface="Cambria Math" panose="02040503050406030204" pitchFamily="18" charset="0"/>
                          </a:rPr>
                        </m:ctrlPr>
                      </m:sSubPr>
                      <m:e>
                        <m:r>
                          <a:rPr lang="en-US" altLang="zh-TW" sz="2600" i="1">
                            <a:latin typeface="Cambria Math" panose="02040503050406030204" pitchFamily="18" charset="0"/>
                          </a:rPr>
                          <m:t>𝛽</m:t>
                        </m:r>
                      </m:e>
                      <m:sub>
                        <m:r>
                          <a:rPr lang="en-US" altLang="zh-TW" sz="2600" i="1">
                            <a:latin typeface="Cambria Math" panose="02040503050406030204" pitchFamily="18" charset="0"/>
                          </a:rPr>
                          <m:t>1</m:t>
                        </m:r>
                      </m:sub>
                    </m:sSub>
                  </m:oMath>
                </a14:m>
                <a:r>
                  <a:rPr lang="zh-TW" altLang="zh-TW" sz="2600" dirty="0"/>
                  <a:t>值也可以用來橫量關係的大小。</a:t>
                </a:r>
                <a:endParaRPr lang="en-US" altLang="zh-TW" sz="2600" dirty="0"/>
              </a:p>
              <a:p>
                <a:pPr>
                  <a:lnSpc>
                    <a:spcPct val="120000"/>
                  </a:lnSpc>
                </a:pPr>
                <a:r>
                  <a:rPr lang="zh-TW" altLang="zh-TW" sz="2600" dirty="0"/>
                  <a:t>迴歸係數</a:t>
                </a:r>
                <a14:m>
                  <m:oMath xmlns:m="http://schemas.openxmlformats.org/officeDocument/2006/math">
                    <m:sSub>
                      <m:sSubPr>
                        <m:ctrlPr>
                          <a:rPr lang="zh-TW" altLang="zh-TW" sz="2600" i="1">
                            <a:latin typeface="Cambria Math" panose="02040503050406030204" pitchFamily="18" charset="0"/>
                          </a:rPr>
                        </m:ctrlPr>
                      </m:sSubPr>
                      <m:e>
                        <m:r>
                          <m:rPr>
                            <m:sty m:val="p"/>
                          </m:rPr>
                          <a:rPr lang="en-US" altLang="zh-TW" sz="2600">
                            <a:latin typeface="Cambria Math" panose="02040503050406030204" pitchFamily="18" charset="0"/>
                          </a:rPr>
                          <m:t>β</m:t>
                        </m:r>
                      </m:e>
                      <m:sub>
                        <m:r>
                          <a:rPr lang="en-US" altLang="zh-TW" sz="2600">
                            <a:latin typeface="Cambria Math" panose="02040503050406030204" pitchFamily="18" charset="0"/>
                          </a:rPr>
                          <m:t>0</m:t>
                        </m:r>
                      </m:sub>
                    </m:sSub>
                  </m:oMath>
                </a14:m>
                <a:r>
                  <a:rPr lang="zh-TW" altLang="zh-TW" sz="2600" dirty="0"/>
                  <a:t>與</a:t>
                </a:r>
                <a14:m>
                  <m:oMath xmlns:m="http://schemas.openxmlformats.org/officeDocument/2006/math">
                    <m:sSub>
                      <m:sSubPr>
                        <m:ctrlPr>
                          <a:rPr lang="zh-TW" altLang="zh-TW" sz="2600" i="1">
                            <a:latin typeface="Cambria Math" panose="02040503050406030204" pitchFamily="18" charset="0"/>
                          </a:rPr>
                        </m:ctrlPr>
                      </m:sSubPr>
                      <m:e>
                        <m:r>
                          <a:rPr lang="en-US" altLang="zh-TW" sz="2600" i="1">
                            <a:latin typeface="Cambria Math" panose="02040503050406030204" pitchFamily="18" charset="0"/>
                          </a:rPr>
                          <m:t>𝛽</m:t>
                        </m:r>
                      </m:e>
                      <m:sub>
                        <m:r>
                          <a:rPr lang="en-US" altLang="zh-TW" sz="2600" i="1">
                            <a:latin typeface="Cambria Math" panose="02040503050406030204" pitchFamily="18" charset="0"/>
                          </a:rPr>
                          <m:t>1</m:t>
                        </m:r>
                      </m:sub>
                    </m:sSub>
                  </m:oMath>
                </a14:m>
                <a:r>
                  <a:rPr lang="zh-TW" altLang="zh-TW" sz="2600" dirty="0"/>
                  <a:t>為未知數，必須透過收集的資料估計其值。</a:t>
                </a:r>
                <a:r>
                  <a:rPr lang="zh-TW" altLang="zh-TW" sz="2600" dirty="0">
                    <a:solidFill>
                      <a:srgbClr val="FF0000"/>
                    </a:solidFill>
                  </a:rPr>
                  <a:t>最簡單的估計方法為最小平方法</a:t>
                </a:r>
                <a:r>
                  <a:rPr lang="zh-TW" altLang="zh-TW" sz="2600" dirty="0"/>
                  <a:t>，即</a:t>
                </a:r>
                <a14:m>
                  <m:oMath xmlns:m="http://schemas.openxmlformats.org/officeDocument/2006/math">
                    <m:r>
                      <a:rPr lang="zh-TW" altLang="zh-TW" sz="2600">
                        <a:latin typeface="Cambria Math" panose="02040503050406030204" pitchFamily="18" charset="0"/>
                      </a:rPr>
                      <m:t>計算</m:t>
                    </m:r>
                    <m:sSub>
                      <m:sSubPr>
                        <m:ctrlPr>
                          <a:rPr lang="zh-TW" altLang="zh-TW" sz="2600" i="1">
                            <a:latin typeface="Cambria Math" panose="02040503050406030204" pitchFamily="18" charset="0"/>
                          </a:rPr>
                        </m:ctrlPr>
                      </m:sSubPr>
                      <m:e>
                        <m:r>
                          <m:rPr>
                            <m:sty m:val="p"/>
                          </m:rPr>
                          <a:rPr lang="en-US" altLang="zh-TW" sz="2600">
                            <a:latin typeface="Cambria Math" panose="02040503050406030204" pitchFamily="18" charset="0"/>
                          </a:rPr>
                          <m:t>β</m:t>
                        </m:r>
                      </m:e>
                      <m:sub>
                        <m:r>
                          <a:rPr lang="en-US" altLang="zh-TW" sz="2600">
                            <a:latin typeface="Cambria Math" panose="02040503050406030204" pitchFamily="18" charset="0"/>
                          </a:rPr>
                          <m:t>0</m:t>
                        </m:r>
                      </m:sub>
                    </m:sSub>
                  </m:oMath>
                </a14:m>
                <a:r>
                  <a:rPr lang="zh-TW" altLang="zh-TW" sz="2600" dirty="0"/>
                  <a:t>與</a:t>
                </a:r>
                <a14:m>
                  <m:oMath xmlns:m="http://schemas.openxmlformats.org/officeDocument/2006/math">
                    <m:sSub>
                      <m:sSubPr>
                        <m:ctrlPr>
                          <a:rPr lang="zh-TW" altLang="zh-TW" sz="2600" i="1">
                            <a:latin typeface="Cambria Math" panose="02040503050406030204" pitchFamily="18" charset="0"/>
                          </a:rPr>
                        </m:ctrlPr>
                      </m:sSubPr>
                      <m:e>
                        <m:r>
                          <a:rPr lang="en-US" altLang="zh-TW" sz="2600" i="1">
                            <a:latin typeface="Cambria Math" panose="02040503050406030204" pitchFamily="18" charset="0"/>
                          </a:rPr>
                          <m:t>𝛽</m:t>
                        </m:r>
                      </m:e>
                      <m:sub>
                        <m:r>
                          <a:rPr lang="en-US" altLang="zh-TW" sz="2600" i="1">
                            <a:latin typeface="Cambria Math" panose="02040503050406030204" pitchFamily="18" charset="0"/>
                          </a:rPr>
                          <m:t>1</m:t>
                        </m:r>
                      </m:sub>
                    </m:sSub>
                  </m:oMath>
                </a14:m>
                <a:r>
                  <a:rPr lang="zh-TW" altLang="zh-TW" sz="2600" dirty="0"/>
                  <a:t>使得誤差平方總合</a:t>
                </a:r>
                <a14:m>
                  <m:oMath xmlns:m="http://schemas.openxmlformats.org/officeDocument/2006/math">
                    <m:r>
                      <a:rPr lang="en-US" altLang="zh-TW" sz="2600">
                        <a:latin typeface="Cambria Math" panose="02040503050406030204" pitchFamily="18" charset="0"/>
                      </a:rPr>
                      <m:t>  </m:t>
                    </m:r>
                    <m:nary>
                      <m:naryPr>
                        <m:chr m:val="∑"/>
                        <m:ctrlPr>
                          <a:rPr lang="zh-TW" altLang="zh-TW" sz="2600" i="1">
                            <a:latin typeface="Cambria Math" panose="02040503050406030204" pitchFamily="18" charset="0"/>
                          </a:rPr>
                        </m:ctrlPr>
                      </m:naryPr>
                      <m:sub>
                        <m:r>
                          <a:rPr lang="en-US" altLang="zh-TW" sz="2600" i="1">
                            <a:latin typeface="Cambria Math" panose="02040503050406030204" pitchFamily="18" charset="0"/>
                          </a:rPr>
                          <m:t>𝑖</m:t>
                        </m:r>
                        <m:r>
                          <a:rPr lang="en-US" altLang="zh-TW" sz="2600" i="1">
                            <a:latin typeface="Cambria Math" panose="02040503050406030204" pitchFamily="18" charset="0"/>
                          </a:rPr>
                          <m:t>=1</m:t>
                        </m:r>
                      </m:sub>
                      <m:sup>
                        <m:r>
                          <a:rPr lang="en-US" altLang="zh-TW" sz="2600" i="1">
                            <a:latin typeface="Cambria Math" panose="02040503050406030204" pitchFamily="18" charset="0"/>
                          </a:rPr>
                          <m:t>𝑛</m:t>
                        </m:r>
                      </m:sup>
                      <m:e>
                        <m:sSup>
                          <m:sSupPr>
                            <m:ctrlPr>
                              <a:rPr lang="zh-TW" altLang="zh-TW" sz="2600" i="1">
                                <a:latin typeface="Cambria Math" panose="02040503050406030204" pitchFamily="18" charset="0"/>
                              </a:rPr>
                            </m:ctrlPr>
                          </m:sSupPr>
                          <m:e>
                            <m:sSub>
                              <m:sSubPr>
                                <m:ctrlPr>
                                  <a:rPr lang="zh-TW" altLang="zh-TW" sz="2600" i="1">
                                    <a:latin typeface="Cambria Math" panose="02040503050406030204" pitchFamily="18" charset="0"/>
                                  </a:rPr>
                                </m:ctrlPr>
                              </m:sSubPr>
                              <m:e>
                                <m:r>
                                  <a:rPr lang="en-US" altLang="zh-TW" sz="2600">
                                    <a:latin typeface="Cambria Math" panose="02040503050406030204" pitchFamily="18" charset="0"/>
                                  </a:rPr>
                                  <m:t>(</m:t>
                                </m:r>
                                <m:r>
                                  <m:rPr>
                                    <m:sty m:val="p"/>
                                  </m:rPr>
                                  <a:rPr lang="en-US" altLang="zh-TW" sz="2600">
                                    <a:latin typeface="Cambria Math" panose="02040503050406030204" pitchFamily="18" charset="0"/>
                                  </a:rPr>
                                  <m:t>ϵ</m:t>
                                </m:r>
                              </m:e>
                              <m:sub>
                                <m:r>
                                  <m:rPr>
                                    <m:sty m:val="p"/>
                                  </m:rPr>
                                  <a:rPr lang="en-US" altLang="zh-TW" sz="2600">
                                    <a:latin typeface="Cambria Math" panose="02040503050406030204" pitchFamily="18" charset="0"/>
                                  </a:rPr>
                                  <m:t>i</m:t>
                                </m:r>
                              </m:sub>
                            </m:sSub>
                            <m:r>
                              <a:rPr lang="en-US" altLang="zh-TW" sz="2600" i="1">
                                <a:latin typeface="Cambria Math" panose="02040503050406030204" pitchFamily="18" charset="0"/>
                              </a:rPr>
                              <m:t>)</m:t>
                            </m:r>
                          </m:e>
                          <m:sup>
                            <m:r>
                              <a:rPr lang="en-US" altLang="zh-TW" sz="2600" i="1">
                                <a:latin typeface="Cambria Math" panose="02040503050406030204" pitchFamily="18" charset="0"/>
                              </a:rPr>
                              <m:t>2</m:t>
                            </m:r>
                          </m:sup>
                        </m:sSup>
                      </m:e>
                    </m:nary>
                  </m:oMath>
                </a14:m>
                <a:r>
                  <a:rPr lang="en-US" altLang="zh-TW" sz="2600" dirty="0"/>
                  <a:t>= </a:t>
                </a:r>
                <a14:m>
                  <m:oMath xmlns:m="http://schemas.openxmlformats.org/officeDocument/2006/math">
                    <m:nary>
                      <m:naryPr>
                        <m:chr m:val="∑"/>
                        <m:ctrlPr>
                          <a:rPr lang="zh-TW" altLang="zh-TW" sz="2600" i="1">
                            <a:latin typeface="Cambria Math" panose="02040503050406030204" pitchFamily="18" charset="0"/>
                          </a:rPr>
                        </m:ctrlPr>
                      </m:naryPr>
                      <m:sub>
                        <m:r>
                          <a:rPr lang="en-US" altLang="zh-TW" sz="2600" i="1">
                            <a:latin typeface="Cambria Math" panose="02040503050406030204" pitchFamily="18" charset="0"/>
                          </a:rPr>
                          <m:t>𝑖</m:t>
                        </m:r>
                        <m:r>
                          <a:rPr lang="en-US" altLang="zh-TW" sz="2600" i="1">
                            <a:latin typeface="Cambria Math" panose="02040503050406030204" pitchFamily="18" charset="0"/>
                          </a:rPr>
                          <m:t>=1</m:t>
                        </m:r>
                      </m:sub>
                      <m:sup>
                        <m:r>
                          <a:rPr lang="en-US" altLang="zh-TW" sz="2600" i="1">
                            <a:latin typeface="Cambria Math" panose="02040503050406030204" pitchFamily="18" charset="0"/>
                          </a:rPr>
                          <m:t>𝑛</m:t>
                        </m:r>
                      </m:sup>
                      <m:e>
                        <m:sSup>
                          <m:sSupPr>
                            <m:ctrlPr>
                              <a:rPr lang="zh-TW" altLang="zh-TW" sz="2600" i="1">
                                <a:latin typeface="Cambria Math" panose="02040503050406030204" pitchFamily="18" charset="0"/>
                              </a:rPr>
                            </m:ctrlPr>
                          </m:sSupPr>
                          <m:e>
                            <m:d>
                              <m:dPr>
                                <m:ctrlPr>
                                  <a:rPr lang="zh-TW" altLang="zh-TW" sz="2600" i="1">
                                    <a:latin typeface="Cambria Math" panose="02040503050406030204" pitchFamily="18" charset="0"/>
                                  </a:rPr>
                                </m:ctrlPr>
                              </m:dPr>
                              <m:e>
                                <m:sSub>
                                  <m:sSubPr>
                                    <m:ctrlPr>
                                      <a:rPr lang="zh-TW" altLang="zh-TW" sz="2600" i="1">
                                        <a:latin typeface="Cambria Math" panose="02040503050406030204" pitchFamily="18" charset="0"/>
                                      </a:rPr>
                                    </m:ctrlPr>
                                  </m:sSubPr>
                                  <m:e>
                                    <m:r>
                                      <a:rPr lang="en-US" altLang="zh-TW" sz="2600" i="1">
                                        <a:latin typeface="Cambria Math" panose="02040503050406030204" pitchFamily="18" charset="0"/>
                                      </a:rPr>
                                      <m:t>𝑌</m:t>
                                    </m:r>
                                  </m:e>
                                  <m:sub>
                                    <m:r>
                                      <a:rPr lang="en-US" altLang="zh-TW" sz="2600" i="1">
                                        <a:latin typeface="Cambria Math" panose="02040503050406030204" pitchFamily="18" charset="0"/>
                                      </a:rPr>
                                      <m:t>𝑖</m:t>
                                    </m:r>
                                  </m:sub>
                                </m:sSub>
                                <m:r>
                                  <a:rPr lang="en-US" altLang="zh-TW" sz="2600" i="1">
                                    <a:latin typeface="Cambria Math" panose="02040503050406030204" pitchFamily="18" charset="0"/>
                                  </a:rPr>
                                  <m:t>−</m:t>
                                </m:r>
                                <m:sSub>
                                  <m:sSubPr>
                                    <m:ctrlPr>
                                      <a:rPr lang="zh-TW" altLang="zh-TW" sz="2600" i="1">
                                        <a:latin typeface="Cambria Math" panose="02040503050406030204" pitchFamily="18" charset="0"/>
                                      </a:rPr>
                                    </m:ctrlPr>
                                  </m:sSubPr>
                                  <m:e>
                                    <m:r>
                                      <a:rPr lang="en-US" altLang="zh-TW" sz="2600" i="1" smtClean="0">
                                        <a:latin typeface="Cambria Math" panose="02040503050406030204" pitchFamily="18" charset="0"/>
                                      </a:rPr>
                                      <m:t>𝛽</m:t>
                                    </m:r>
                                  </m:e>
                                  <m:sub>
                                    <m:r>
                                      <a:rPr lang="en-US" altLang="zh-TW" sz="2600" i="1">
                                        <a:latin typeface="Cambria Math" panose="02040503050406030204" pitchFamily="18" charset="0"/>
                                      </a:rPr>
                                      <m:t>0</m:t>
                                    </m:r>
                                  </m:sub>
                                </m:sSub>
                                <m:r>
                                  <a:rPr lang="en-US" altLang="zh-TW" sz="2600" b="0" i="1" smtClean="0">
                                    <a:latin typeface="Cambria Math" panose="02040503050406030204" pitchFamily="18" charset="0"/>
                                  </a:rPr>
                                  <m:t>−</m:t>
                                </m:r>
                                <m:sSub>
                                  <m:sSubPr>
                                    <m:ctrlPr>
                                      <a:rPr lang="zh-TW" altLang="zh-TW" sz="2600" i="1">
                                        <a:latin typeface="Cambria Math" panose="02040503050406030204" pitchFamily="18" charset="0"/>
                                      </a:rPr>
                                    </m:ctrlPr>
                                  </m:sSubPr>
                                  <m:e>
                                    <m:r>
                                      <a:rPr lang="en-US" altLang="zh-TW" sz="2600" i="1" smtClean="0">
                                        <a:latin typeface="Cambria Math" panose="02040503050406030204" pitchFamily="18" charset="0"/>
                                      </a:rPr>
                                      <m:t>𝛽</m:t>
                                    </m:r>
                                  </m:e>
                                  <m:sub>
                                    <m:r>
                                      <a:rPr lang="en-US" altLang="zh-TW" sz="2600" i="1">
                                        <a:latin typeface="Cambria Math" panose="02040503050406030204" pitchFamily="18" charset="0"/>
                                      </a:rPr>
                                      <m:t>1</m:t>
                                    </m:r>
                                  </m:sub>
                                </m:sSub>
                                <m:sSub>
                                  <m:sSubPr>
                                    <m:ctrlPr>
                                      <a:rPr lang="zh-TW" altLang="zh-TW" sz="2600" i="1">
                                        <a:latin typeface="Cambria Math" panose="02040503050406030204" pitchFamily="18" charset="0"/>
                                      </a:rPr>
                                    </m:ctrlPr>
                                  </m:sSubPr>
                                  <m:e>
                                    <m:r>
                                      <a:rPr lang="en-US" altLang="zh-TW" sz="2600" i="1">
                                        <a:latin typeface="Cambria Math" panose="02040503050406030204" pitchFamily="18" charset="0"/>
                                      </a:rPr>
                                      <m:t>𝑋</m:t>
                                    </m:r>
                                  </m:e>
                                  <m:sub>
                                    <m:r>
                                      <a:rPr lang="en-US" altLang="zh-TW" sz="2600" i="1">
                                        <a:latin typeface="Cambria Math" panose="02040503050406030204" pitchFamily="18" charset="0"/>
                                      </a:rPr>
                                      <m:t>𝑖</m:t>
                                    </m:r>
                                  </m:sub>
                                </m:sSub>
                              </m:e>
                            </m:d>
                          </m:e>
                          <m:sup>
                            <m:r>
                              <a:rPr lang="en-US" altLang="zh-TW" sz="2600" i="1">
                                <a:latin typeface="Cambria Math" panose="02040503050406030204" pitchFamily="18" charset="0"/>
                              </a:rPr>
                              <m:t>2</m:t>
                            </m:r>
                          </m:sup>
                        </m:sSup>
                      </m:e>
                    </m:nary>
                    <m:r>
                      <a:rPr lang="zh-TW" altLang="zh-TW" sz="2600">
                        <a:latin typeface="Cambria Math" panose="02040503050406030204" pitchFamily="18" charset="0"/>
                      </a:rPr>
                      <m:t>為最小。</m:t>
                    </m:r>
                  </m:oMath>
                </a14:m>
                <a:endParaRPr lang="zh-TW" altLang="en-US" sz="2600" dirty="0"/>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457200" y="980728"/>
                <a:ext cx="8435280" cy="5026563"/>
              </a:xfrm>
              <a:blipFill rotWithShape="0">
                <a:blip r:embed="rId2"/>
                <a:stretch>
                  <a:fillRect t="-243" b="-17354"/>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pPr>
              <a:defRPr/>
            </a:pPr>
            <a:r>
              <a:rPr lang="en-US" altLang="zh-TW" dirty="0"/>
              <a:t>19</a:t>
            </a:r>
          </a:p>
        </p:txBody>
      </p:sp>
    </p:spTree>
    <p:extLst>
      <p:ext uri="{BB962C8B-B14F-4D97-AF65-F5344CB8AC3E}">
        <p14:creationId xmlns:p14="http://schemas.microsoft.com/office/powerpoint/2010/main" val="82257493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346" y="130622"/>
            <a:ext cx="8229600" cy="922114"/>
          </a:xfrm>
        </p:spPr>
        <p:txBody>
          <a:bodyPr/>
          <a:lstStyle/>
          <a:p>
            <a:pPr algn="ctr"/>
            <a:r>
              <a:rPr lang="zh-TW" altLang="zh-TW" dirty="0">
                <a:effectLst/>
              </a:rPr>
              <a:t>簡單線性廻歸模型</a:t>
            </a:r>
            <a:endParaRPr lang="zh-TW" altLang="en-US" dirty="0"/>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224349" y="1052736"/>
                <a:ext cx="8474808" cy="5170579"/>
              </a:xfrm>
            </p:spPr>
            <p:txBody>
              <a:bodyPr>
                <a:normAutofit fontScale="92500"/>
              </a:bodyPr>
              <a:lstStyle/>
              <a:p>
                <a:pPr>
                  <a:lnSpc>
                    <a:spcPct val="120000"/>
                  </a:lnSpc>
                </a:pPr>
                <a:r>
                  <a:rPr lang="zh-TW" altLang="zh-TW" sz="2600" dirty="0"/>
                  <a:t>迴歸係數估計量分別為</a:t>
                </a:r>
              </a:p>
              <a:p>
                <a:pPr marL="109728" indent="0">
                  <a:lnSpc>
                    <a:spcPct val="120000"/>
                  </a:lnSpc>
                  <a:buNone/>
                </a:pPr>
                <a14:m>
                  <m:oMath xmlns:m="http://schemas.openxmlformats.org/officeDocument/2006/math">
                    <m:r>
                      <a:rPr lang="en-US" altLang="zh-TW" sz="2600">
                        <a:latin typeface="Cambria Math" panose="02040503050406030204" pitchFamily="18" charset="0"/>
                      </a:rPr>
                      <m:t>                        </m:t>
                    </m:r>
                    <m:sSub>
                      <m:sSubPr>
                        <m:ctrlPr>
                          <a:rPr lang="zh-TW" altLang="zh-TW" sz="2600" i="1">
                            <a:latin typeface="Cambria Math" panose="02040503050406030204" pitchFamily="18" charset="0"/>
                          </a:rPr>
                        </m:ctrlPr>
                      </m:sSubPr>
                      <m:e>
                        <m:acc>
                          <m:accPr>
                            <m:chr m:val="̂"/>
                            <m:ctrlPr>
                              <a:rPr lang="zh-TW" altLang="zh-TW" sz="2600" i="1">
                                <a:latin typeface="Cambria Math" panose="02040503050406030204" pitchFamily="18" charset="0"/>
                              </a:rPr>
                            </m:ctrlPr>
                          </m:accPr>
                          <m:e>
                            <m:r>
                              <a:rPr lang="en-US" altLang="zh-TW" sz="2600" i="1">
                                <a:latin typeface="Cambria Math" panose="02040503050406030204" pitchFamily="18" charset="0"/>
                              </a:rPr>
                              <m:t>𝛽</m:t>
                            </m:r>
                          </m:e>
                        </m:acc>
                      </m:e>
                      <m:sub>
                        <m:r>
                          <a:rPr lang="en-US" altLang="zh-TW" sz="2600" i="1">
                            <a:latin typeface="Cambria Math" panose="02040503050406030204" pitchFamily="18" charset="0"/>
                          </a:rPr>
                          <m:t>1</m:t>
                        </m:r>
                      </m:sub>
                    </m:sSub>
                    <m:r>
                      <a:rPr lang="en-US" altLang="zh-TW" sz="2600" i="1">
                        <a:latin typeface="Cambria Math" panose="02040503050406030204" pitchFamily="18" charset="0"/>
                      </a:rPr>
                      <m:t>=</m:t>
                    </m:r>
                    <m:f>
                      <m:fPr>
                        <m:ctrlPr>
                          <a:rPr lang="zh-TW" altLang="zh-TW" sz="2600" i="1">
                            <a:latin typeface="Cambria Math" panose="02040503050406030204" pitchFamily="18" charset="0"/>
                          </a:rPr>
                        </m:ctrlPr>
                      </m:fPr>
                      <m:num>
                        <m:nary>
                          <m:naryPr>
                            <m:chr m:val="∑"/>
                            <m:ctrlPr>
                              <a:rPr lang="zh-TW" altLang="zh-TW" sz="2600" i="1">
                                <a:latin typeface="Cambria Math" panose="02040503050406030204" pitchFamily="18" charset="0"/>
                              </a:rPr>
                            </m:ctrlPr>
                          </m:naryPr>
                          <m:sub>
                            <m:r>
                              <a:rPr lang="en-US" altLang="zh-TW" sz="2600" i="1">
                                <a:latin typeface="Cambria Math" panose="02040503050406030204" pitchFamily="18" charset="0"/>
                              </a:rPr>
                              <m:t>𝑖</m:t>
                            </m:r>
                            <m:r>
                              <a:rPr lang="en-US" altLang="zh-TW" sz="2600" i="1">
                                <a:latin typeface="Cambria Math" panose="02040503050406030204" pitchFamily="18" charset="0"/>
                              </a:rPr>
                              <m:t>=1</m:t>
                            </m:r>
                          </m:sub>
                          <m:sup>
                            <m:r>
                              <a:rPr lang="en-US" altLang="zh-TW" sz="2600" i="1">
                                <a:latin typeface="Cambria Math" panose="02040503050406030204" pitchFamily="18" charset="0"/>
                              </a:rPr>
                              <m:t>𝑛</m:t>
                            </m:r>
                          </m:sup>
                          <m:e>
                            <m:d>
                              <m:dPr>
                                <m:ctrlPr>
                                  <a:rPr lang="zh-TW" altLang="zh-TW" sz="2600" i="1">
                                    <a:latin typeface="Cambria Math" panose="02040503050406030204" pitchFamily="18" charset="0"/>
                                  </a:rPr>
                                </m:ctrlPr>
                              </m:dPr>
                              <m:e>
                                <m:sSub>
                                  <m:sSubPr>
                                    <m:ctrlPr>
                                      <a:rPr lang="zh-TW" altLang="zh-TW" sz="2600" i="1">
                                        <a:latin typeface="Cambria Math" panose="02040503050406030204" pitchFamily="18" charset="0"/>
                                      </a:rPr>
                                    </m:ctrlPr>
                                  </m:sSubPr>
                                  <m:e>
                                    <m:r>
                                      <a:rPr lang="en-US" altLang="zh-TW" sz="2600" i="1">
                                        <a:latin typeface="Cambria Math" panose="02040503050406030204" pitchFamily="18" charset="0"/>
                                      </a:rPr>
                                      <m:t>𝑋</m:t>
                                    </m:r>
                                  </m:e>
                                  <m:sub>
                                    <m:r>
                                      <a:rPr lang="en-US" altLang="zh-TW" sz="2600" i="1">
                                        <a:latin typeface="Cambria Math" panose="02040503050406030204" pitchFamily="18" charset="0"/>
                                      </a:rPr>
                                      <m:t>𝑖</m:t>
                                    </m:r>
                                  </m:sub>
                                </m:sSub>
                                <m:r>
                                  <a:rPr lang="en-US" altLang="zh-TW" sz="2600" i="1">
                                    <a:latin typeface="Cambria Math" panose="02040503050406030204" pitchFamily="18" charset="0"/>
                                  </a:rPr>
                                  <m:t>−</m:t>
                                </m:r>
                                <m:acc>
                                  <m:accPr>
                                    <m:chr m:val="̅"/>
                                    <m:ctrlPr>
                                      <a:rPr lang="zh-TW" altLang="zh-TW" sz="2600" i="1">
                                        <a:latin typeface="Cambria Math" panose="02040503050406030204" pitchFamily="18" charset="0"/>
                                      </a:rPr>
                                    </m:ctrlPr>
                                  </m:accPr>
                                  <m:e>
                                    <m:r>
                                      <a:rPr lang="en-US" altLang="zh-TW" sz="2600" i="1">
                                        <a:latin typeface="Cambria Math" panose="02040503050406030204" pitchFamily="18" charset="0"/>
                                      </a:rPr>
                                      <m:t>𝑋</m:t>
                                    </m:r>
                                  </m:e>
                                </m:acc>
                              </m:e>
                            </m:d>
                            <m:d>
                              <m:dPr>
                                <m:ctrlPr>
                                  <a:rPr lang="zh-TW" altLang="zh-TW" sz="2600" i="1">
                                    <a:latin typeface="Cambria Math" panose="02040503050406030204" pitchFamily="18" charset="0"/>
                                  </a:rPr>
                                </m:ctrlPr>
                              </m:dPr>
                              <m:e>
                                <m:sSub>
                                  <m:sSubPr>
                                    <m:ctrlPr>
                                      <a:rPr lang="zh-TW" altLang="zh-TW" sz="2600" i="1">
                                        <a:latin typeface="Cambria Math" panose="02040503050406030204" pitchFamily="18" charset="0"/>
                                      </a:rPr>
                                    </m:ctrlPr>
                                  </m:sSubPr>
                                  <m:e>
                                    <m:r>
                                      <a:rPr lang="en-US" altLang="zh-TW" sz="2600" i="1">
                                        <a:latin typeface="Cambria Math" panose="02040503050406030204" pitchFamily="18" charset="0"/>
                                      </a:rPr>
                                      <m:t>𝑌</m:t>
                                    </m:r>
                                  </m:e>
                                  <m:sub>
                                    <m:r>
                                      <a:rPr lang="en-US" altLang="zh-TW" sz="2600" i="1">
                                        <a:latin typeface="Cambria Math" panose="02040503050406030204" pitchFamily="18" charset="0"/>
                                      </a:rPr>
                                      <m:t>𝑖</m:t>
                                    </m:r>
                                  </m:sub>
                                </m:sSub>
                                <m:r>
                                  <a:rPr lang="en-US" altLang="zh-TW" sz="2600" i="1">
                                    <a:latin typeface="Cambria Math" panose="02040503050406030204" pitchFamily="18" charset="0"/>
                                  </a:rPr>
                                  <m:t>−</m:t>
                                </m:r>
                                <m:acc>
                                  <m:accPr>
                                    <m:chr m:val="̅"/>
                                    <m:ctrlPr>
                                      <a:rPr lang="zh-TW" altLang="zh-TW" sz="2600" i="1">
                                        <a:latin typeface="Cambria Math" panose="02040503050406030204" pitchFamily="18" charset="0"/>
                                      </a:rPr>
                                    </m:ctrlPr>
                                  </m:accPr>
                                  <m:e>
                                    <m:r>
                                      <a:rPr lang="en-US" altLang="zh-TW" sz="2600" i="1">
                                        <a:latin typeface="Cambria Math" panose="02040503050406030204" pitchFamily="18" charset="0"/>
                                      </a:rPr>
                                      <m:t>𝑌</m:t>
                                    </m:r>
                                  </m:e>
                                </m:acc>
                              </m:e>
                            </m:d>
                          </m:e>
                        </m:nary>
                      </m:num>
                      <m:den>
                        <m:nary>
                          <m:naryPr>
                            <m:chr m:val="∑"/>
                            <m:ctrlPr>
                              <a:rPr lang="zh-TW" altLang="zh-TW" sz="2600" i="1">
                                <a:latin typeface="Cambria Math" panose="02040503050406030204" pitchFamily="18" charset="0"/>
                              </a:rPr>
                            </m:ctrlPr>
                          </m:naryPr>
                          <m:sub>
                            <m:r>
                              <a:rPr lang="en-US" altLang="zh-TW" sz="2600" i="1">
                                <a:latin typeface="Cambria Math" panose="02040503050406030204" pitchFamily="18" charset="0"/>
                              </a:rPr>
                              <m:t>𝑖</m:t>
                            </m:r>
                            <m:r>
                              <a:rPr lang="en-US" altLang="zh-TW" sz="2600" i="1">
                                <a:latin typeface="Cambria Math" panose="02040503050406030204" pitchFamily="18" charset="0"/>
                              </a:rPr>
                              <m:t>=1</m:t>
                            </m:r>
                          </m:sub>
                          <m:sup>
                            <m:r>
                              <a:rPr lang="en-US" altLang="zh-TW" sz="2600" i="1">
                                <a:latin typeface="Cambria Math" panose="02040503050406030204" pitchFamily="18" charset="0"/>
                              </a:rPr>
                              <m:t>𝑛</m:t>
                            </m:r>
                          </m:sup>
                          <m:e>
                            <m:sSup>
                              <m:sSupPr>
                                <m:ctrlPr>
                                  <a:rPr lang="zh-TW" altLang="zh-TW" sz="2600" i="1">
                                    <a:latin typeface="Cambria Math" panose="02040503050406030204" pitchFamily="18" charset="0"/>
                                  </a:rPr>
                                </m:ctrlPr>
                              </m:sSupPr>
                              <m:e>
                                <m:d>
                                  <m:dPr>
                                    <m:ctrlPr>
                                      <a:rPr lang="zh-TW" altLang="zh-TW" sz="2600" i="1">
                                        <a:latin typeface="Cambria Math" panose="02040503050406030204" pitchFamily="18" charset="0"/>
                                      </a:rPr>
                                    </m:ctrlPr>
                                  </m:dPr>
                                  <m:e>
                                    <m:sSub>
                                      <m:sSubPr>
                                        <m:ctrlPr>
                                          <a:rPr lang="zh-TW" altLang="zh-TW" sz="2600" i="1">
                                            <a:latin typeface="Cambria Math" panose="02040503050406030204" pitchFamily="18" charset="0"/>
                                          </a:rPr>
                                        </m:ctrlPr>
                                      </m:sSubPr>
                                      <m:e>
                                        <m:r>
                                          <a:rPr lang="en-US" altLang="zh-TW" sz="2600" i="1">
                                            <a:latin typeface="Cambria Math" panose="02040503050406030204" pitchFamily="18" charset="0"/>
                                          </a:rPr>
                                          <m:t>𝑋</m:t>
                                        </m:r>
                                      </m:e>
                                      <m:sub>
                                        <m:r>
                                          <a:rPr lang="en-US" altLang="zh-TW" sz="2600" i="1">
                                            <a:latin typeface="Cambria Math" panose="02040503050406030204" pitchFamily="18" charset="0"/>
                                          </a:rPr>
                                          <m:t>𝑖</m:t>
                                        </m:r>
                                      </m:sub>
                                    </m:sSub>
                                    <m:r>
                                      <a:rPr lang="en-US" altLang="zh-TW" sz="2600" i="1">
                                        <a:latin typeface="Cambria Math" panose="02040503050406030204" pitchFamily="18" charset="0"/>
                                      </a:rPr>
                                      <m:t>−</m:t>
                                    </m:r>
                                    <m:acc>
                                      <m:accPr>
                                        <m:chr m:val="̅"/>
                                        <m:ctrlPr>
                                          <a:rPr lang="zh-TW" altLang="zh-TW" sz="2600" i="1">
                                            <a:latin typeface="Cambria Math" panose="02040503050406030204" pitchFamily="18" charset="0"/>
                                          </a:rPr>
                                        </m:ctrlPr>
                                      </m:accPr>
                                      <m:e>
                                        <m:r>
                                          <a:rPr lang="en-US" altLang="zh-TW" sz="2600" i="1">
                                            <a:latin typeface="Cambria Math" panose="02040503050406030204" pitchFamily="18" charset="0"/>
                                          </a:rPr>
                                          <m:t>𝑋</m:t>
                                        </m:r>
                                      </m:e>
                                    </m:acc>
                                  </m:e>
                                </m:d>
                              </m:e>
                              <m:sup>
                                <m:r>
                                  <a:rPr lang="en-US" altLang="zh-TW" sz="2600" i="1">
                                    <a:latin typeface="Cambria Math" panose="02040503050406030204" pitchFamily="18" charset="0"/>
                                  </a:rPr>
                                  <m:t>2</m:t>
                                </m:r>
                              </m:sup>
                            </m:sSup>
                          </m:e>
                        </m:nary>
                      </m:den>
                    </m:f>
                  </m:oMath>
                </a14:m>
                <a:r>
                  <a:rPr lang="zh-TW" altLang="zh-TW" sz="2600" dirty="0"/>
                  <a:t>、</a:t>
                </a:r>
                <a14:m>
                  <m:oMath xmlns:m="http://schemas.openxmlformats.org/officeDocument/2006/math">
                    <m:sSub>
                      <m:sSubPr>
                        <m:ctrlPr>
                          <a:rPr lang="zh-TW" altLang="zh-TW" sz="2600" i="1">
                            <a:latin typeface="Cambria Math" panose="02040503050406030204" pitchFamily="18" charset="0"/>
                          </a:rPr>
                        </m:ctrlPr>
                      </m:sSubPr>
                      <m:e>
                        <m:acc>
                          <m:accPr>
                            <m:chr m:val="̂"/>
                            <m:ctrlPr>
                              <a:rPr lang="zh-TW" altLang="zh-TW" sz="2600" i="1">
                                <a:latin typeface="Cambria Math" panose="02040503050406030204" pitchFamily="18" charset="0"/>
                              </a:rPr>
                            </m:ctrlPr>
                          </m:accPr>
                          <m:e>
                            <m:r>
                              <a:rPr lang="en-US" altLang="zh-TW" sz="2600" i="1">
                                <a:latin typeface="Cambria Math" panose="02040503050406030204" pitchFamily="18" charset="0"/>
                              </a:rPr>
                              <m:t>𝛽</m:t>
                            </m:r>
                          </m:e>
                        </m:acc>
                      </m:e>
                      <m:sub>
                        <m:r>
                          <a:rPr lang="en-US" altLang="zh-TW" sz="2600" i="1">
                            <a:latin typeface="Cambria Math" panose="02040503050406030204" pitchFamily="18" charset="0"/>
                          </a:rPr>
                          <m:t>0</m:t>
                        </m:r>
                      </m:sub>
                    </m:sSub>
                    <m:r>
                      <a:rPr lang="en-US" altLang="zh-TW" sz="2600" i="1">
                        <a:latin typeface="Cambria Math" panose="02040503050406030204" pitchFamily="18" charset="0"/>
                      </a:rPr>
                      <m:t>=</m:t>
                    </m:r>
                    <m:acc>
                      <m:accPr>
                        <m:chr m:val="̅"/>
                        <m:ctrlPr>
                          <a:rPr lang="zh-TW" altLang="zh-TW" sz="2600" i="1">
                            <a:latin typeface="Cambria Math" panose="02040503050406030204" pitchFamily="18" charset="0"/>
                          </a:rPr>
                        </m:ctrlPr>
                      </m:accPr>
                      <m:e>
                        <m:r>
                          <a:rPr lang="en-US" altLang="zh-TW" sz="2600" i="1">
                            <a:latin typeface="Cambria Math" panose="02040503050406030204" pitchFamily="18" charset="0"/>
                          </a:rPr>
                          <m:t>𝑌</m:t>
                        </m:r>
                      </m:e>
                    </m:acc>
                    <m:r>
                      <a:rPr lang="en-US" altLang="zh-TW" sz="2600" i="1">
                        <a:latin typeface="Cambria Math" panose="02040503050406030204" pitchFamily="18" charset="0"/>
                      </a:rPr>
                      <m:t>−</m:t>
                    </m:r>
                    <m:sSub>
                      <m:sSubPr>
                        <m:ctrlPr>
                          <a:rPr lang="zh-TW" altLang="zh-TW" sz="2600" i="1">
                            <a:latin typeface="Cambria Math" panose="02040503050406030204" pitchFamily="18" charset="0"/>
                          </a:rPr>
                        </m:ctrlPr>
                      </m:sSubPr>
                      <m:e>
                        <m:acc>
                          <m:accPr>
                            <m:chr m:val="̂"/>
                            <m:ctrlPr>
                              <a:rPr lang="zh-TW" altLang="zh-TW" sz="2600" i="1">
                                <a:latin typeface="Cambria Math" panose="02040503050406030204" pitchFamily="18" charset="0"/>
                              </a:rPr>
                            </m:ctrlPr>
                          </m:accPr>
                          <m:e>
                            <m:r>
                              <a:rPr lang="en-US" altLang="zh-TW" sz="2600" i="1">
                                <a:latin typeface="Cambria Math" panose="02040503050406030204" pitchFamily="18" charset="0"/>
                              </a:rPr>
                              <m:t>𝛽</m:t>
                            </m:r>
                          </m:e>
                        </m:acc>
                      </m:e>
                      <m:sub>
                        <m:r>
                          <a:rPr lang="en-US" altLang="zh-TW" sz="2600" i="1">
                            <a:latin typeface="Cambria Math" panose="02040503050406030204" pitchFamily="18" charset="0"/>
                          </a:rPr>
                          <m:t>1</m:t>
                        </m:r>
                      </m:sub>
                    </m:sSub>
                    <m:acc>
                      <m:accPr>
                        <m:chr m:val="̅"/>
                        <m:ctrlPr>
                          <a:rPr lang="zh-TW" altLang="zh-TW" sz="2600" i="1">
                            <a:latin typeface="Cambria Math" panose="02040503050406030204" pitchFamily="18" charset="0"/>
                          </a:rPr>
                        </m:ctrlPr>
                      </m:accPr>
                      <m:e>
                        <m:r>
                          <a:rPr lang="en-US" altLang="zh-TW" sz="2600" i="1">
                            <a:latin typeface="Cambria Math" panose="02040503050406030204" pitchFamily="18" charset="0"/>
                          </a:rPr>
                          <m:t>𝑋</m:t>
                        </m:r>
                      </m:e>
                    </m:acc>
                    <m:r>
                      <a:rPr lang="en-US" altLang="zh-TW" sz="2600" i="1">
                        <a:latin typeface="Cambria Math" panose="02040503050406030204" pitchFamily="18" charset="0"/>
                      </a:rPr>
                      <m:t> </m:t>
                    </m:r>
                  </m:oMath>
                </a14:m>
                <a:r>
                  <a:rPr lang="zh-TW" altLang="zh-TW" sz="2600" dirty="0"/>
                  <a:t>，</a:t>
                </a:r>
              </a:p>
              <a:p>
                <a:pPr marL="109728" indent="0">
                  <a:lnSpc>
                    <a:spcPct val="120000"/>
                  </a:lnSpc>
                  <a:buNone/>
                </a:pPr>
                <a:r>
                  <a:rPr lang="zh-TW" altLang="zh-TW" sz="2600" dirty="0"/>
                  <a:t>且變異數估計值為</a:t>
                </a:r>
                <a14:m>
                  <m:oMath xmlns:m="http://schemas.openxmlformats.org/officeDocument/2006/math">
                    <m:acc>
                      <m:accPr>
                        <m:chr m:val="̂"/>
                        <m:ctrlPr>
                          <a:rPr lang="zh-TW" altLang="zh-TW" sz="2600" i="1">
                            <a:latin typeface="Cambria Math" panose="02040503050406030204" pitchFamily="18" charset="0"/>
                          </a:rPr>
                        </m:ctrlPr>
                      </m:accPr>
                      <m:e>
                        <m:sSup>
                          <m:sSupPr>
                            <m:ctrlPr>
                              <a:rPr lang="zh-TW" altLang="zh-TW" sz="2600" i="1">
                                <a:latin typeface="Cambria Math" panose="02040503050406030204" pitchFamily="18" charset="0"/>
                              </a:rPr>
                            </m:ctrlPr>
                          </m:sSupPr>
                          <m:e>
                            <m:r>
                              <m:rPr>
                                <m:sty m:val="p"/>
                              </m:rPr>
                              <a:rPr lang="en-US" altLang="zh-TW" sz="2600">
                                <a:latin typeface="Cambria Math" panose="02040503050406030204" pitchFamily="18" charset="0"/>
                              </a:rPr>
                              <m:t>σ</m:t>
                            </m:r>
                          </m:e>
                          <m:sup>
                            <m:r>
                              <a:rPr lang="en-US" altLang="zh-TW" sz="2600">
                                <a:latin typeface="Cambria Math" panose="02040503050406030204" pitchFamily="18" charset="0"/>
                              </a:rPr>
                              <m:t>2</m:t>
                            </m:r>
                          </m:sup>
                        </m:sSup>
                      </m:e>
                    </m:acc>
                    <m:r>
                      <a:rPr lang="en-US" altLang="zh-TW" sz="2600" i="1">
                        <a:latin typeface="Cambria Math" panose="02040503050406030204" pitchFamily="18" charset="0"/>
                      </a:rPr>
                      <m:t>=</m:t>
                    </m:r>
                    <m:eqArr>
                      <m:eqArrPr>
                        <m:ctrlPr>
                          <a:rPr lang="zh-TW" altLang="zh-TW" sz="2600" i="1">
                            <a:latin typeface="Cambria Math" panose="02040503050406030204" pitchFamily="18" charset="0"/>
                          </a:rPr>
                        </m:ctrlPr>
                      </m:eqArrPr>
                      <m:e>
                        <m:f>
                          <m:fPr>
                            <m:ctrlPr>
                              <a:rPr lang="zh-TW" altLang="zh-TW" sz="2600" i="1">
                                <a:latin typeface="Cambria Math" panose="02040503050406030204" pitchFamily="18" charset="0"/>
                              </a:rPr>
                            </m:ctrlPr>
                          </m:fPr>
                          <m:num>
                            <m:nary>
                              <m:naryPr>
                                <m:chr m:val="∑"/>
                                <m:ctrlPr>
                                  <a:rPr lang="zh-TW" altLang="zh-TW" sz="2600" i="1">
                                    <a:latin typeface="Cambria Math" panose="02040503050406030204" pitchFamily="18" charset="0"/>
                                  </a:rPr>
                                </m:ctrlPr>
                              </m:naryPr>
                              <m:sub>
                                <m:r>
                                  <a:rPr lang="en-US" altLang="zh-TW" sz="2600" i="1">
                                    <a:latin typeface="Cambria Math" panose="02040503050406030204" pitchFamily="18" charset="0"/>
                                  </a:rPr>
                                  <m:t>𝑖</m:t>
                                </m:r>
                                <m:r>
                                  <a:rPr lang="en-US" altLang="zh-TW" sz="2600" i="1">
                                    <a:latin typeface="Cambria Math" panose="02040503050406030204" pitchFamily="18" charset="0"/>
                                  </a:rPr>
                                  <m:t>=1</m:t>
                                </m:r>
                              </m:sub>
                              <m:sup>
                                <m:r>
                                  <a:rPr lang="en-US" altLang="zh-TW" sz="2600" i="1">
                                    <a:latin typeface="Cambria Math" panose="02040503050406030204" pitchFamily="18" charset="0"/>
                                  </a:rPr>
                                  <m:t>𝑛</m:t>
                                </m:r>
                              </m:sup>
                              <m:e>
                                <m:sSup>
                                  <m:sSupPr>
                                    <m:ctrlPr>
                                      <a:rPr lang="zh-TW" altLang="zh-TW" sz="2600" i="1">
                                        <a:latin typeface="Cambria Math" panose="02040503050406030204" pitchFamily="18" charset="0"/>
                                      </a:rPr>
                                    </m:ctrlPr>
                                  </m:sSupPr>
                                  <m:e>
                                    <m:d>
                                      <m:dPr>
                                        <m:ctrlPr>
                                          <a:rPr lang="zh-TW" altLang="zh-TW" sz="2600" i="1">
                                            <a:latin typeface="Cambria Math" panose="02040503050406030204" pitchFamily="18" charset="0"/>
                                          </a:rPr>
                                        </m:ctrlPr>
                                      </m:dPr>
                                      <m:e>
                                        <m:sSub>
                                          <m:sSubPr>
                                            <m:ctrlPr>
                                              <a:rPr lang="zh-TW" altLang="zh-TW" sz="2600" i="1">
                                                <a:latin typeface="Cambria Math" panose="02040503050406030204" pitchFamily="18" charset="0"/>
                                              </a:rPr>
                                            </m:ctrlPr>
                                          </m:sSubPr>
                                          <m:e>
                                            <m:r>
                                              <a:rPr lang="en-US" altLang="zh-TW" sz="2600" i="1">
                                                <a:latin typeface="Cambria Math" panose="02040503050406030204" pitchFamily="18" charset="0"/>
                                              </a:rPr>
                                              <m:t>𝑦</m:t>
                                            </m:r>
                                          </m:e>
                                          <m:sub>
                                            <m:r>
                                              <a:rPr lang="en-US" altLang="zh-TW" sz="2600" i="1">
                                                <a:latin typeface="Cambria Math" panose="02040503050406030204" pitchFamily="18" charset="0"/>
                                              </a:rPr>
                                              <m:t>𝑖</m:t>
                                            </m:r>
                                          </m:sub>
                                        </m:sSub>
                                        <m:r>
                                          <a:rPr lang="en-US" altLang="zh-TW" sz="2600" i="1">
                                            <a:latin typeface="Cambria Math" panose="02040503050406030204" pitchFamily="18" charset="0"/>
                                          </a:rPr>
                                          <m:t>−</m:t>
                                        </m:r>
                                        <m:sSub>
                                          <m:sSubPr>
                                            <m:ctrlPr>
                                              <a:rPr lang="zh-TW" altLang="zh-TW" sz="2600" i="1">
                                                <a:latin typeface="Cambria Math" panose="02040503050406030204" pitchFamily="18" charset="0"/>
                                              </a:rPr>
                                            </m:ctrlPr>
                                          </m:sSubPr>
                                          <m:e>
                                            <m:acc>
                                              <m:accPr>
                                                <m:chr m:val="̂"/>
                                                <m:ctrlPr>
                                                  <a:rPr lang="zh-TW" altLang="zh-TW" sz="2600" i="1">
                                                    <a:latin typeface="Cambria Math" panose="02040503050406030204" pitchFamily="18" charset="0"/>
                                                  </a:rPr>
                                                </m:ctrlPr>
                                              </m:accPr>
                                              <m:e>
                                                <m:r>
                                                  <a:rPr lang="en-US" altLang="zh-TW" sz="2600" i="1">
                                                    <a:latin typeface="Cambria Math" panose="02040503050406030204" pitchFamily="18" charset="0"/>
                                                  </a:rPr>
                                                  <m:t>𝑦</m:t>
                                                </m:r>
                                              </m:e>
                                            </m:acc>
                                          </m:e>
                                          <m:sub>
                                            <m:r>
                                              <a:rPr lang="en-US" altLang="zh-TW" sz="2600" i="1">
                                                <a:latin typeface="Cambria Math" panose="02040503050406030204" pitchFamily="18" charset="0"/>
                                              </a:rPr>
                                              <m:t>𝑖</m:t>
                                            </m:r>
                                          </m:sub>
                                        </m:sSub>
                                      </m:e>
                                    </m:d>
                                  </m:e>
                                  <m:sup>
                                    <m:r>
                                      <a:rPr lang="en-US" altLang="zh-TW" sz="2600" i="1">
                                        <a:latin typeface="Cambria Math" panose="02040503050406030204" pitchFamily="18" charset="0"/>
                                      </a:rPr>
                                      <m:t>2</m:t>
                                    </m:r>
                                  </m:sup>
                                </m:sSup>
                              </m:e>
                            </m:nary>
                          </m:num>
                          <m:den>
                            <m:r>
                              <a:rPr lang="en-US" altLang="zh-TW" sz="2600" i="1">
                                <a:latin typeface="Cambria Math" panose="02040503050406030204" pitchFamily="18" charset="0"/>
                              </a:rPr>
                              <m:t>𝑛</m:t>
                            </m:r>
                            <m:r>
                              <a:rPr lang="en-US" altLang="zh-TW" sz="2600" i="1">
                                <a:latin typeface="Cambria Math" panose="02040503050406030204" pitchFamily="18" charset="0"/>
                              </a:rPr>
                              <m:t>−2</m:t>
                            </m:r>
                          </m:den>
                        </m:f>
                      </m:e>
                      <m:e>
                        <m:r>
                          <a:rPr lang="en-US" altLang="zh-TW" sz="2600" i="1">
                            <a:latin typeface="Cambria Math" panose="02040503050406030204" pitchFamily="18" charset="0"/>
                          </a:rPr>
                          <m:t> </m:t>
                        </m:r>
                      </m:e>
                    </m:eqArr>
                    <m:r>
                      <a:rPr lang="zh-TW" altLang="zh-TW" sz="2600">
                        <a:latin typeface="Cambria Math" panose="02040503050406030204" pitchFamily="18" charset="0"/>
                      </a:rPr>
                      <m:t>。</m:t>
                    </m:r>
                  </m:oMath>
                </a14:m>
                <a:endParaRPr lang="en-US" altLang="zh-TW" sz="2600" dirty="0"/>
              </a:p>
              <a:p>
                <a:pPr>
                  <a:lnSpc>
                    <a:spcPct val="120000"/>
                  </a:lnSpc>
                </a:pPr>
                <a:r>
                  <a:rPr lang="zh-TW" altLang="zh-TW" sz="2600" dirty="0"/>
                  <a:t>虛無假設 </a:t>
                </a:r>
                <a14:m>
                  <m:oMath xmlns:m="http://schemas.openxmlformats.org/officeDocument/2006/math">
                    <m:sSub>
                      <m:sSubPr>
                        <m:ctrlPr>
                          <a:rPr lang="zh-TW" altLang="zh-TW" sz="2600" i="1">
                            <a:latin typeface="Cambria Math" panose="02040503050406030204" pitchFamily="18" charset="0"/>
                          </a:rPr>
                        </m:ctrlPr>
                      </m:sSubPr>
                      <m:e>
                        <m:r>
                          <a:rPr lang="en-US" altLang="zh-TW" sz="2600" i="1">
                            <a:latin typeface="Cambria Math" panose="02040503050406030204" pitchFamily="18" charset="0"/>
                          </a:rPr>
                          <m:t>𝐻</m:t>
                        </m:r>
                      </m:e>
                      <m:sub>
                        <m:r>
                          <a:rPr lang="en-US" altLang="zh-TW" sz="2600" i="1">
                            <a:latin typeface="Cambria Math" panose="02040503050406030204" pitchFamily="18" charset="0"/>
                          </a:rPr>
                          <m:t>0</m:t>
                        </m:r>
                      </m:sub>
                    </m:sSub>
                    <m:r>
                      <a:rPr lang="en-US" altLang="zh-TW" sz="2600" i="1">
                        <a:latin typeface="Cambria Math" panose="02040503050406030204" pitchFamily="18" charset="0"/>
                      </a:rPr>
                      <m:t>:</m:t>
                    </m:r>
                    <m:sSub>
                      <m:sSubPr>
                        <m:ctrlPr>
                          <a:rPr lang="zh-TW" altLang="zh-TW" sz="2600" i="1">
                            <a:latin typeface="Cambria Math" panose="02040503050406030204" pitchFamily="18" charset="0"/>
                          </a:rPr>
                        </m:ctrlPr>
                      </m:sSubPr>
                      <m:e>
                        <m:r>
                          <a:rPr lang="en-US" altLang="zh-TW" sz="2600" i="1">
                            <a:latin typeface="Cambria Math" panose="02040503050406030204" pitchFamily="18" charset="0"/>
                          </a:rPr>
                          <m:t>𝛽</m:t>
                        </m:r>
                      </m:e>
                      <m:sub>
                        <m:r>
                          <a:rPr lang="en-US" altLang="zh-TW" sz="2600" i="1">
                            <a:latin typeface="Cambria Math" panose="02040503050406030204" pitchFamily="18" charset="0"/>
                          </a:rPr>
                          <m:t>1</m:t>
                        </m:r>
                      </m:sub>
                    </m:sSub>
                    <m:r>
                      <a:rPr lang="en-US" altLang="zh-TW" sz="2600" i="1">
                        <a:latin typeface="Cambria Math" panose="02040503050406030204" pitchFamily="18" charset="0"/>
                      </a:rPr>
                      <m:t>=0 </m:t>
                    </m:r>
                  </m:oMath>
                </a14:m>
                <a:r>
                  <a:rPr lang="en-US" altLang="zh-TW" sz="2600" dirty="0"/>
                  <a:t>(</a:t>
                </a:r>
                <a:r>
                  <a:rPr lang="zh-TW" altLang="zh-TW" sz="2600" dirty="0"/>
                  <a:t>經常檢定的假設</a:t>
                </a:r>
                <a:r>
                  <a:rPr lang="en-US" altLang="zh-TW" sz="2600" dirty="0"/>
                  <a:t>)</a:t>
                </a:r>
                <a14:m>
                  <m:oMath xmlns:m="http://schemas.openxmlformats.org/officeDocument/2006/math">
                    <m:r>
                      <a:rPr lang="zh-TW" altLang="zh-TW" sz="2600">
                        <a:latin typeface="Cambria Math" panose="02040503050406030204" pitchFamily="18" charset="0"/>
                      </a:rPr>
                      <m:t>。</m:t>
                    </m:r>
                  </m:oMath>
                </a14:m>
                <a:r>
                  <a:rPr lang="zh-TW" altLang="zh-TW" sz="2600" dirty="0"/>
                  <a:t>我們通常使用的檢定統計量為</a:t>
                </a:r>
                <a14:m>
                  <m:oMath xmlns:m="http://schemas.openxmlformats.org/officeDocument/2006/math">
                    <m:r>
                      <m:rPr>
                        <m:sty m:val="p"/>
                      </m:rPr>
                      <a:rPr lang="en-US" altLang="zh-TW" sz="2600">
                        <a:latin typeface="Cambria Math" panose="02040503050406030204" pitchFamily="18" charset="0"/>
                      </a:rPr>
                      <m:t>t</m:t>
                    </m:r>
                    <m:r>
                      <a:rPr lang="en-US" altLang="zh-TW" sz="2600">
                        <a:latin typeface="Cambria Math" panose="02040503050406030204" pitchFamily="18" charset="0"/>
                      </a:rPr>
                      <m:t>=</m:t>
                    </m:r>
                    <m:f>
                      <m:fPr>
                        <m:ctrlPr>
                          <a:rPr lang="zh-TW" altLang="zh-TW" sz="2600" i="1">
                            <a:latin typeface="Cambria Math" panose="02040503050406030204" pitchFamily="18" charset="0"/>
                          </a:rPr>
                        </m:ctrlPr>
                      </m:fPr>
                      <m:num>
                        <m:r>
                          <a:rPr lang="en-US" altLang="zh-TW" sz="2600" i="1">
                            <a:latin typeface="Cambria Math" panose="02040503050406030204" pitchFamily="18" charset="0"/>
                          </a:rPr>
                          <m:t> </m:t>
                        </m:r>
                        <m:sSub>
                          <m:sSubPr>
                            <m:ctrlPr>
                              <a:rPr lang="zh-TW" altLang="zh-TW" sz="2600" i="1">
                                <a:latin typeface="Cambria Math" panose="02040503050406030204" pitchFamily="18" charset="0"/>
                              </a:rPr>
                            </m:ctrlPr>
                          </m:sSubPr>
                          <m:e>
                            <m:acc>
                              <m:accPr>
                                <m:chr m:val="̂"/>
                                <m:ctrlPr>
                                  <a:rPr lang="zh-TW" altLang="zh-TW" sz="2600" i="1">
                                    <a:latin typeface="Cambria Math" panose="02040503050406030204" pitchFamily="18" charset="0"/>
                                  </a:rPr>
                                </m:ctrlPr>
                              </m:accPr>
                              <m:e>
                                <m:r>
                                  <m:rPr>
                                    <m:sty m:val="p"/>
                                  </m:rPr>
                                  <a:rPr lang="en-US" altLang="zh-TW" sz="2600">
                                    <a:latin typeface="Cambria Math" panose="02040503050406030204" pitchFamily="18" charset="0"/>
                                  </a:rPr>
                                  <m:t>β</m:t>
                                </m:r>
                              </m:e>
                            </m:acc>
                          </m:e>
                          <m:sub>
                            <m:r>
                              <a:rPr lang="en-US" altLang="zh-TW" sz="2600" i="1">
                                <a:latin typeface="Cambria Math" panose="02040503050406030204" pitchFamily="18" charset="0"/>
                              </a:rPr>
                              <m:t>1</m:t>
                            </m:r>
                          </m:sub>
                        </m:sSub>
                      </m:num>
                      <m:den>
                        <m:r>
                          <m:rPr>
                            <m:sty m:val="p"/>
                          </m:rPr>
                          <a:rPr lang="en-US" altLang="zh-TW" sz="2600">
                            <a:latin typeface="Cambria Math" panose="02040503050406030204" pitchFamily="18" charset="0"/>
                          </a:rPr>
                          <m:t>s</m:t>
                        </m:r>
                        <m:r>
                          <a:rPr lang="en-US" altLang="zh-TW" sz="2600">
                            <a:latin typeface="Cambria Math" panose="02040503050406030204" pitchFamily="18" charset="0"/>
                          </a:rPr>
                          <m:t>.</m:t>
                        </m:r>
                        <m:r>
                          <m:rPr>
                            <m:sty m:val="p"/>
                          </m:rPr>
                          <a:rPr lang="en-US" altLang="zh-TW" sz="2600">
                            <a:latin typeface="Cambria Math" panose="02040503050406030204" pitchFamily="18" charset="0"/>
                          </a:rPr>
                          <m:t>e</m:t>
                        </m:r>
                        <m:r>
                          <a:rPr lang="en-US" altLang="zh-TW" sz="2600">
                            <a:latin typeface="Cambria Math" panose="02040503050406030204" pitchFamily="18" charset="0"/>
                          </a:rPr>
                          <m:t>.</m:t>
                        </m:r>
                        <m:d>
                          <m:dPr>
                            <m:ctrlPr>
                              <a:rPr lang="zh-TW" altLang="zh-TW" sz="2600" i="1">
                                <a:latin typeface="Cambria Math" panose="02040503050406030204" pitchFamily="18" charset="0"/>
                              </a:rPr>
                            </m:ctrlPr>
                          </m:dPr>
                          <m:e>
                            <m:sSub>
                              <m:sSubPr>
                                <m:ctrlPr>
                                  <a:rPr lang="zh-TW" altLang="zh-TW" sz="2600" i="1">
                                    <a:latin typeface="Cambria Math" panose="02040503050406030204" pitchFamily="18" charset="0"/>
                                  </a:rPr>
                                </m:ctrlPr>
                              </m:sSubPr>
                              <m:e>
                                <m:acc>
                                  <m:accPr>
                                    <m:chr m:val="̂"/>
                                    <m:ctrlPr>
                                      <a:rPr lang="zh-TW" altLang="zh-TW" sz="2600" i="1">
                                        <a:latin typeface="Cambria Math" panose="02040503050406030204" pitchFamily="18" charset="0"/>
                                      </a:rPr>
                                    </m:ctrlPr>
                                  </m:accPr>
                                  <m:e>
                                    <m:r>
                                      <m:rPr>
                                        <m:sty m:val="p"/>
                                      </m:rPr>
                                      <a:rPr lang="en-US" altLang="zh-TW" sz="2600">
                                        <a:latin typeface="Cambria Math" panose="02040503050406030204" pitchFamily="18" charset="0"/>
                                      </a:rPr>
                                      <m:t>β</m:t>
                                    </m:r>
                                  </m:e>
                                </m:acc>
                              </m:e>
                              <m:sub>
                                <m:r>
                                  <a:rPr lang="en-US" altLang="zh-TW" sz="2600" i="1">
                                    <a:latin typeface="Cambria Math" panose="02040503050406030204" pitchFamily="18" charset="0"/>
                                  </a:rPr>
                                  <m:t>1</m:t>
                                </m:r>
                              </m:sub>
                            </m:sSub>
                          </m:e>
                        </m:d>
                      </m:den>
                    </m:f>
                    <m:r>
                      <a:rPr lang="en-US" altLang="zh-TW" sz="2600" i="1">
                        <a:latin typeface="Cambria Math" panose="02040503050406030204" pitchFamily="18" charset="0"/>
                      </a:rPr>
                      <m:t> </m:t>
                    </m:r>
                  </m:oMath>
                </a14:m>
                <a:r>
                  <a:rPr lang="zh-TW" altLang="zh-TW" sz="2600" dirty="0"/>
                  <a:t>，其中</a:t>
                </a:r>
                <a14:m>
                  <m:oMath xmlns:m="http://schemas.openxmlformats.org/officeDocument/2006/math">
                    <m:r>
                      <a:rPr lang="en-US" altLang="zh-TW" sz="2600" i="1">
                        <a:latin typeface="Cambria Math" panose="02040503050406030204" pitchFamily="18" charset="0"/>
                      </a:rPr>
                      <m:t>𝑠</m:t>
                    </m:r>
                    <m:r>
                      <a:rPr lang="en-US" altLang="zh-TW" sz="2600" i="1">
                        <a:latin typeface="Cambria Math" panose="02040503050406030204" pitchFamily="18" charset="0"/>
                      </a:rPr>
                      <m:t>.</m:t>
                    </m:r>
                    <m:r>
                      <a:rPr lang="en-US" altLang="zh-TW" sz="2600" i="1">
                        <a:latin typeface="Cambria Math" panose="02040503050406030204" pitchFamily="18" charset="0"/>
                      </a:rPr>
                      <m:t>𝑒</m:t>
                    </m:r>
                    <m:r>
                      <a:rPr lang="en-US" altLang="zh-TW" sz="2600" i="1">
                        <a:latin typeface="Cambria Math" panose="02040503050406030204" pitchFamily="18" charset="0"/>
                      </a:rPr>
                      <m:t>.</m:t>
                    </m:r>
                    <m:d>
                      <m:dPr>
                        <m:ctrlPr>
                          <a:rPr lang="zh-TW" altLang="zh-TW" sz="2600" i="1">
                            <a:latin typeface="Cambria Math" panose="02040503050406030204" pitchFamily="18" charset="0"/>
                          </a:rPr>
                        </m:ctrlPr>
                      </m:dPr>
                      <m:e>
                        <m:sSub>
                          <m:sSubPr>
                            <m:ctrlPr>
                              <a:rPr lang="zh-TW" altLang="zh-TW" sz="2600" i="1">
                                <a:latin typeface="Cambria Math" panose="02040503050406030204" pitchFamily="18" charset="0"/>
                              </a:rPr>
                            </m:ctrlPr>
                          </m:sSubPr>
                          <m:e>
                            <m:acc>
                              <m:accPr>
                                <m:chr m:val="̂"/>
                                <m:ctrlPr>
                                  <a:rPr lang="zh-TW" altLang="zh-TW" sz="2600" i="1">
                                    <a:latin typeface="Cambria Math" panose="02040503050406030204" pitchFamily="18" charset="0"/>
                                  </a:rPr>
                                </m:ctrlPr>
                              </m:accPr>
                              <m:e>
                                <m:r>
                                  <a:rPr lang="en-US" altLang="zh-TW" sz="2600" i="1">
                                    <a:latin typeface="Cambria Math" panose="02040503050406030204" pitchFamily="18" charset="0"/>
                                  </a:rPr>
                                  <m:t>𝛽</m:t>
                                </m:r>
                              </m:e>
                            </m:acc>
                          </m:e>
                          <m:sub>
                            <m:r>
                              <a:rPr lang="en-US" altLang="zh-TW" sz="2600" i="1">
                                <a:latin typeface="Cambria Math" panose="02040503050406030204" pitchFamily="18" charset="0"/>
                              </a:rPr>
                              <m:t>1</m:t>
                            </m:r>
                          </m:sub>
                        </m:sSub>
                      </m:e>
                    </m:d>
                    <m:r>
                      <a:rPr lang="en-US" altLang="zh-TW" sz="2600" i="1">
                        <a:latin typeface="Cambria Math" panose="02040503050406030204" pitchFamily="18" charset="0"/>
                      </a:rPr>
                      <m:t>=</m:t>
                    </m:r>
                    <m:acc>
                      <m:accPr>
                        <m:chr m:val="̂"/>
                        <m:ctrlPr>
                          <a:rPr lang="zh-TW" altLang="zh-TW" sz="2600" i="1">
                            <a:latin typeface="Cambria Math" panose="02040503050406030204" pitchFamily="18" charset="0"/>
                          </a:rPr>
                        </m:ctrlPr>
                      </m:accPr>
                      <m:e>
                        <m:r>
                          <m:rPr>
                            <m:sty m:val="p"/>
                          </m:rPr>
                          <a:rPr lang="en-US" altLang="zh-TW" sz="2600">
                            <a:latin typeface="Cambria Math" panose="02040503050406030204" pitchFamily="18" charset="0"/>
                          </a:rPr>
                          <m:t>σ</m:t>
                        </m:r>
                      </m:e>
                    </m:acc>
                    <m:rad>
                      <m:radPr>
                        <m:degHide m:val="on"/>
                        <m:ctrlPr>
                          <a:rPr lang="zh-TW" altLang="zh-TW" sz="2600" i="1">
                            <a:latin typeface="Cambria Math" panose="02040503050406030204" pitchFamily="18" charset="0"/>
                          </a:rPr>
                        </m:ctrlPr>
                      </m:radPr>
                      <m:deg/>
                      <m:e>
                        <m:f>
                          <m:fPr>
                            <m:ctrlPr>
                              <a:rPr lang="zh-TW" altLang="zh-TW" sz="2600" i="1">
                                <a:latin typeface="Cambria Math" panose="02040503050406030204" pitchFamily="18" charset="0"/>
                              </a:rPr>
                            </m:ctrlPr>
                          </m:fPr>
                          <m:num>
                            <m:r>
                              <a:rPr lang="en-US" altLang="zh-TW" sz="2600" i="1">
                                <a:latin typeface="Cambria Math" panose="02040503050406030204" pitchFamily="18" charset="0"/>
                              </a:rPr>
                              <m:t>1</m:t>
                            </m:r>
                          </m:num>
                          <m:den>
                            <m:nary>
                              <m:naryPr>
                                <m:chr m:val="∑"/>
                                <m:ctrlPr>
                                  <a:rPr lang="zh-TW" altLang="zh-TW" sz="2600" i="1">
                                    <a:latin typeface="Cambria Math" panose="02040503050406030204" pitchFamily="18" charset="0"/>
                                  </a:rPr>
                                </m:ctrlPr>
                              </m:naryPr>
                              <m:sub>
                                <m:r>
                                  <a:rPr lang="en-US" altLang="zh-TW" sz="2600" i="1">
                                    <a:latin typeface="Cambria Math" panose="02040503050406030204" pitchFamily="18" charset="0"/>
                                  </a:rPr>
                                  <m:t>𝑖</m:t>
                                </m:r>
                                <m:r>
                                  <a:rPr lang="en-US" altLang="zh-TW" sz="2600" i="1">
                                    <a:latin typeface="Cambria Math" panose="02040503050406030204" pitchFamily="18" charset="0"/>
                                  </a:rPr>
                                  <m:t>=1</m:t>
                                </m:r>
                              </m:sub>
                              <m:sup>
                                <m:r>
                                  <a:rPr lang="en-US" altLang="zh-TW" sz="2600" i="1">
                                    <a:latin typeface="Cambria Math" panose="02040503050406030204" pitchFamily="18" charset="0"/>
                                  </a:rPr>
                                  <m:t>𝑛</m:t>
                                </m:r>
                              </m:sup>
                              <m:e>
                                <m:sSup>
                                  <m:sSupPr>
                                    <m:ctrlPr>
                                      <a:rPr lang="en-US" altLang="zh-TW" sz="2600" i="1" smtClean="0">
                                        <a:latin typeface="Cambria Math" panose="02040503050406030204" pitchFamily="18" charset="0"/>
                                      </a:rPr>
                                    </m:ctrlPr>
                                  </m:sSupPr>
                                  <m:e>
                                    <m:d>
                                      <m:dPr>
                                        <m:begChr m:val="（"/>
                                        <m:endChr m:val="）"/>
                                        <m:ctrlPr>
                                          <a:rPr lang="zh-TW" altLang="zh-TW" sz="2600" i="1">
                                            <a:latin typeface="Cambria Math" panose="02040503050406030204" pitchFamily="18" charset="0"/>
                                          </a:rPr>
                                        </m:ctrlPr>
                                      </m:dPr>
                                      <m:e>
                                        <m:sSub>
                                          <m:sSubPr>
                                            <m:ctrlPr>
                                              <a:rPr lang="zh-TW" altLang="zh-TW" sz="2600" i="1">
                                                <a:latin typeface="Cambria Math" panose="02040503050406030204" pitchFamily="18" charset="0"/>
                                              </a:rPr>
                                            </m:ctrlPr>
                                          </m:sSubPr>
                                          <m:e>
                                            <m:r>
                                              <a:rPr lang="en-US" altLang="zh-TW" sz="2600" i="1">
                                                <a:latin typeface="Cambria Math" panose="02040503050406030204" pitchFamily="18" charset="0"/>
                                              </a:rPr>
                                              <m:t>𝑋</m:t>
                                            </m:r>
                                          </m:e>
                                          <m:sub>
                                            <m:r>
                                              <a:rPr lang="en-US" altLang="zh-TW" sz="2600" i="1">
                                                <a:latin typeface="Cambria Math" panose="02040503050406030204" pitchFamily="18" charset="0"/>
                                              </a:rPr>
                                              <m:t>𝑖</m:t>
                                            </m:r>
                                          </m:sub>
                                        </m:sSub>
                                        <m:r>
                                          <a:rPr lang="en-US" altLang="zh-TW" sz="2600" i="1">
                                            <a:latin typeface="Cambria Math" panose="02040503050406030204" pitchFamily="18" charset="0"/>
                                          </a:rPr>
                                          <m:t>−</m:t>
                                        </m:r>
                                        <m:acc>
                                          <m:accPr>
                                            <m:chr m:val="̅"/>
                                            <m:ctrlPr>
                                              <a:rPr lang="zh-TW" altLang="zh-TW" sz="2600" i="1">
                                                <a:latin typeface="Cambria Math" panose="02040503050406030204" pitchFamily="18" charset="0"/>
                                              </a:rPr>
                                            </m:ctrlPr>
                                          </m:accPr>
                                          <m:e>
                                            <m:r>
                                              <a:rPr lang="en-US" altLang="zh-TW" sz="2600" i="1">
                                                <a:latin typeface="Cambria Math" panose="02040503050406030204" pitchFamily="18" charset="0"/>
                                              </a:rPr>
                                              <m:t>𝑋</m:t>
                                            </m:r>
                                          </m:e>
                                        </m:acc>
                                      </m:e>
                                    </m:d>
                                  </m:e>
                                  <m:sup>
                                    <m:r>
                                      <a:rPr lang="en-US" altLang="zh-TW" sz="2600" b="0" i="1" smtClean="0">
                                        <a:latin typeface="Cambria Math" panose="02040503050406030204" pitchFamily="18" charset="0"/>
                                      </a:rPr>
                                      <m:t>2</m:t>
                                    </m:r>
                                  </m:sup>
                                </m:sSup>
                              </m:e>
                            </m:nary>
                          </m:den>
                        </m:f>
                      </m:e>
                    </m:rad>
                  </m:oMath>
                </a14:m>
                <a:r>
                  <a:rPr lang="en-US" altLang="zh-TW" sz="2600" dirty="0"/>
                  <a:t>; </a:t>
                </a:r>
                <a:r>
                  <a:rPr lang="zh-TW" altLang="en-US" sz="2600" dirty="0"/>
                  <a:t>在</a:t>
                </a:r>
                <a:r>
                  <a:rPr lang="zh-TW" altLang="zh-TW" sz="2600" dirty="0"/>
                  <a:t>虛無假設</a:t>
                </a:r>
                <a:r>
                  <a:rPr lang="zh-TW" altLang="en-US" sz="2600" dirty="0"/>
                  <a:t>下</a:t>
                </a:r>
                <a:r>
                  <a:rPr lang="zh-TW" altLang="zh-TW" sz="2600" dirty="0"/>
                  <a:t>，此統計量的抽樣分配為自由度為</a:t>
                </a:r>
                <a:r>
                  <a:rPr lang="en-US" altLang="zh-TW" sz="2600" dirty="0"/>
                  <a:t>n-2</a:t>
                </a:r>
                <a:r>
                  <a:rPr lang="zh-TW" altLang="zh-TW" sz="2600" dirty="0"/>
                  <a:t>的</a:t>
                </a:r>
                <a:r>
                  <a:rPr lang="en-US" altLang="zh-TW" sz="2600" dirty="0"/>
                  <a:t>t</a:t>
                </a:r>
                <a:r>
                  <a:rPr lang="zh-TW" altLang="zh-TW" sz="2600" dirty="0"/>
                  <a:t>分配，因此</a:t>
                </a:r>
                <a14:m>
                  <m:oMath xmlns:m="http://schemas.openxmlformats.org/officeDocument/2006/math">
                    <m:r>
                      <a:rPr lang="zh-TW" altLang="zh-TW" sz="2600">
                        <a:latin typeface="Cambria Math" panose="02040503050406030204" pitchFamily="18" charset="0"/>
                      </a:rPr>
                      <m:t>雙尾檢定的</m:t>
                    </m:r>
                  </m:oMath>
                </a14:m>
                <a:r>
                  <a:rPr lang="en-US" altLang="zh-TW" sz="2600" dirty="0"/>
                  <a:t> p </a:t>
                </a:r>
                <a:r>
                  <a:rPr lang="zh-TW" altLang="zh-TW" sz="2600" dirty="0"/>
                  <a:t>值為</a:t>
                </a:r>
                <a14:m>
                  <m:oMath xmlns:m="http://schemas.openxmlformats.org/officeDocument/2006/math">
                    <m:r>
                      <m:rPr>
                        <m:sty m:val="p"/>
                      </m:rPr>
                      <a:rPr lang="en-US" altLang="zh-TW" sz="2600">
                        <a:latin typeface="Cambria Math" panose="02040503050406030204" pitchFamily="18" charset="0"/>
                      </a:rPr>
                      <m:t>p</m:t>
                    </m:r>
                    <m:r>
                      <a:rPr lang="zh-TW" altLang="en-US" sz="2600" i="1">
                        <a:latin typeface="Cambria Math" panose="02040503050406030204" pitchFamily="18" charset="0"/>
                      </a:rPr>
                      <m:t>值</m:t>
                    </m:r>
                    <m:r>
                      <a:rPr lang="en-US" altLang="zh-TW" sz="2600">
                        <a:latin typeface="Cambria Math" panose="02040503050406030204" pitchFamily="18" charset="0"/>
                      </a:rPr>
                      <m:t>=2×</m:t>
                    </m:r>
                    <m:r>
                      <m:rPr>
                        <m:sty m:val="p"/>
                      </m:rPr>
                      <a:rPr lang="en-US" altLang="zh-TW" sz="2600">
                        <a:latin typeface="Cambria Math" panose="02040503050406030204" pitchFamily="18" charset="0"/>
                      </a:rPr>
                      <m:t>P</m:t>
                    </m:r>
                    <m:d>
                      <m:dPr>
                        <m:ctrlPr>
                          <a:rPr lang="zh-TW" altLang="zh-TW" sz="2600" i="1">
                            <a:latin typeface="Cambria Math" panose="02040503050406030204" pitchFamily="18" charset="0"/>
                          </a:rPr>
                        </m:ctrlPr>
                      </m:dPr>
                      <m:e>
                        <m:sSubSup>
                          <m:sSubSupPr>
                            <m:ctrlPr>
                              <a:rPr lang="zh-TW" altLang="zh-TW" sz="2600" i="1">
                                <a:latin typeface="Cambria Math" panose="02040503050406030204" pitchFamily="18" charset="0"/>
                              </a:rPr>
                            </m:ctrlPr>
                          </m:sSubSupPr>
                          <m:e>
                            <m:r>
                              <a:rPr lang="en-US" altLang="zh-TW" sz="2600" i="1">
                                <a:latin typeface="Cambria Math" panose="02040503050406030204" pitchFamily="18" charset="0"/>
                              </a:rPr>
                              <m:t>𝑡</m:t>
                            </m:r>
                          </m:e>
                          <m:sub>
                            <m:r>
                              <a:rPr lang="en-US" altLang="zh-TW" sz="2600">
                                <a:latin typeface="Cambria Math" panose="02040503050406030204" pitchFamily="18" charset="0"/>
                              </a:rPr>
                              <m:t>(</m:t>
                            </m:r>
                            <m:r>
                              <m:rPr>
                                <m:sty m:val="p"/>
                              </m:rPr>
                              <a:rPr lang="en-US" altLang="zh-TW" sz="2600">
                                <a:latin typeface="Cambria Math" panose="02040503050406030204" pitchFamily="18" charset="0"/>
                              </a:rPr>
                              <m:t>n</m:t>
                            </m:r>
                            <m:r>
                              <a:rPr lang="en-US" altLang="zh-TW" sz="2600" i="1">
                                <a:latin typeface="Cambria Math" panose="02040503050406030204" pitchFamily="18" charset="0"/>
                              </a:rPr>
                              <m:t>−</m:t>
                            </m:r>
                            <m:r>
                              <a:rPr lang="en-US" altLang="zh-TW" sz="2600">
                                <a:latin typeface="Cambria Math" panose="02040503050406030204" pitchFamily="18" charset="0"/>
                              </a:rPr>
                              <m:t>2)</m:t>
                            </m:r>
                          </m:sub>
                          <m:sup/>
                        </m:sSubSup>
                        <m:r>
                          <a:rPr lang="en-US" altLang="zh-TW" sz="2600">
                            <a:latin typeface="Cambria Math" panose="02040503050406030204" pitchFamily="18" charset="0"/>
                          </a:rPr>
                          <m:t>&gt;</m:t>
                        </m:r>
                        <m:d>
                          <m:dPr>
                            <m:begChr m:val="|"/>
                            <m:endChr m:val="|"/>
                            <m:ctrlPr>
                              <a:rPr lang="en-US" altLang="zh-TW" sz="2600" i="1" smtClean="0">
                                <a:latin typeface="Cambria Math" panose="02040503050406030204" pitchFamily="18" charset="0"/>
                              </a:rPr>
                            </m:ctrlPr>
                          </m:dPr>
                          <m:e>
                            <m:r>
                              <a:rPr lang="en-US" altLang="zh-TW" sz="2600" i="1">
                                <a:latin typeface="Cambria Math" panose="02040503050406030204" pitchFamily="18" charset="0"/>
                              </a:rPr>
                              <m:t>𝑡</m:t>
                            </m:r>
                          </m:e>
                        </m:d>
                      </m:e>
                    </m:d>
                  </m:oMath>
                </a14:m>
                <a:r>
                  <a:rPr lang="zh-TW" altLang="zh-TW" sz="2600" dirty="0"/>
                  <a:t>。</a:t>
                </a:r>
                <a:endParaRPr lang="en-US" altLang="zh-TW" sz="2600" dirty="0"/>
              </a:p>
              <a:p>
                <a:endParaRPr lang="zh-TW" altLang="en-US" dirty="0"/>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224349" y="1052736"/>
                <a:ext cx="8474808" cy="5170579"/>
              </a:xfrm>
              <a:blipFill rotWithShape="0">
                <a:blip r:embed="rId2"/>
                <a:stretch>
                  <a:fillRect t="-354"/>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pPr>
              <a:defRPr/>
            </a:pPr>
            <a:r>
              <a:rPr lang="en-US" altLang="zh-TW" dirty="0"/>
              <a:t>20</a:t>
            </a:r>
          </a:p>
        </p:txBody>
      </p:sp>
    </p:spTree>
    <p:extLst>
      <p:ext uri="{BB962C8B-B14F-4D97-AF65-F5344CB8AC3E}">
        <p14:creationId xmlns:p14="http://schemas.microsoft.com/office/powerpoint/2010/main" val="241589944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274638"/>
            <a:ext cx="8229600" cy="806037"/>
          </a:xfrm>
        </p:spPr>
        <p:txBody>
          <a:bodyPr/>
          <a:lstStyle/>
          <a:p>
            <a:pPr algn="ctr"/>
            <a:r>
              <a:rPr lang="zh-TW" altLang="zh-TW" dirty="0">
                <a:effectLst/>
              </a:rPr>
              <a:t>簡單線性廻歸模型</a:t>
            </a:r>
            <a:endParaRPr lang="zh-TW" altLang="en-US" dirty="0"/>
          </a:p>
        </p:txBody>
      </p:sp>
      <p:sp>
        <p:nvSpPr>
          <p:cNvPr id="2" name="內容版面配置區 1"/>
          <p:cNvSpPr>
            <a:spLocks noGrp="1"/>
          </p:cNvSpPr>
          <p:nvPr>
            <p:ph idx="1"/>
          </p:nvPr>
        </p:nvSpPr>
        <p:spPr>
          <a:xfrm>
            <a:off x="457200" y="1196752"/>
            <a:ext cx="8229600" cy="4810539"/>
          </a:xfrm>
        </p:spPr>
        <p:txBody>
          <a:bodyPr/>
          <a:lstStyle/>
          <a:p>
            <a:pPr>
              <a:lnSpc>
                <a:spcPct val="120000"/>
              </a:lnSpc>
            </a:pPr>
            <a:r>
              <a:rPr lang="zh-TW" altLang="zh-TW" sz="2400" dirty="0"/>
              <a:t>表</a:t>
            </a:r>
            <a:r>
              <a:rPr lang="en-US" altLang="zh-TW" sz="2400" dirty="0"/>
              <a:t>7-5</a:t>
            </a:r>
            <a:r>
              <a:rPr lang="zh-TW" altLang="zh-TW" sz="2400" dirty="0"/>
              <a:t>為心血管疾病資料收壓縮與年齡的簡單線性迴歸結果</a:t>
            </a:r>
            <a:r>
              <a:rPr lang="zh-TW" altLang="en-US" sz="2400" dirty="0"/>
              <a:t>。</a:t>
            </a:r>
            <a:endParaRPr lang="en-US" altLang="zh-TW" sz="2400" dirty="0"/>
          </a:p>
          <a:p>
            <a:pPr>
              <a:lnSpc>
                <a:spcPct val="120000"/>
              </a:lnSpc>
            </a:pPr>
            <a:r>
              <a:rPr lang="en-US" altLang="zh-TW" sz="2400" dirty="0"/>
              <a:t>SPSS</a:t>
            </a:r>
            <a:r>
              <a:rPr lang="zh-TW" altLang="zh-TW" sz="2400" dirty="0"/>
              <a:t>分析方法選擇：點選分析</a:t>
            </a:r>
            <a:r>
              <a:rPr lang="en-US" altLang="zh-TW" sz="2400" dirty="0">
                <a:sym typeface="Wingdings" panose="05000000000000000000" pitchFamily="2" charset="2"/>
              </a:rPr>
              <a:t></a:t>
            </a:r>
            <a:r>
              <a:rPr lang="zh-TW" altLang="zh-TW" sz="2400" dirty="0"/>
              <a:t>迴歸</a:t>
            </a:r>
            <a:r>
              <a:rPr lang="en-US" altLang="zh-TW" sz="2400" dirty="0">
                <a:sym typeface="Wingdings" panose="05000000000000000000" pitchFamily="2" charset="2"/>
              </a:rPr>
              <a:t></a:t>
            </a:r>
            <a:r>
              <a:rPr lang="zh-TW" altLang="zh-TW" sz="2400" dirty="0"/>
              <a:t>選擇依變數為收縮壓與自變數為年齡</a:t>
            </a:r>
            <a:r>
              <a:rPr lang="en-US" altLang="zh-TW" sz="2400" dirty="0">
                <a:sym typeface="Wingdings" panose="05000000000000000000" pitchFamily="2" charset="2"/>
              </a:rPr>
              <a:t></a:t>
            </a:r>
            <a:r>
              <a:rPr lang="zh-TW" altLang="zh-TW" sz="2400" dirty="0"/>
              <a:t>開始分析。</a:t>
            </a:r>
          </a:p>
          <a:p>
            <a:endParaRPr lang="zh-TW" altLang="en-US" dirty="0"/>
          </a:p>
        </p:txBody>
      </p:sp>
      <p:sp>
        <p:nvSpPr>
          <p:cNvPr id="3" name="投影片編號版面配置區 2"/>
          <p:cNvSpPr>
            <a:spLocks noGrp="1"/>
          </p:cNvSpPr>
          <p:nvPr>
            <p:ph type="sldNum" sz="quarter" idx="12"/>
          </p:nvPr>
        </p:nvSpPr>
        <p:spPr/>
        <p:txBody>
          <a:bodyPr/>
          <a:lstStyle/>
          <a:p>
            <a:pPr>
              <a:defRPr/>
            </a:pPr>
            <a:r>
              <a:rPr lang="en-US" altLang="zh-TW" dirty="0"/>
              <a:t>21</a:t>
            </a:r>
          </a:p>
        </p:txBody>
      </p:sp>
      <p:pic>
        <p:nvPicPr>
          <p:cNvPr id="7" name="圖片 6">
            <a:extLst>
              <a:ext uri="{FF2B5EF4-FFF2-40B4-BE49-F238E27FC236}">
                <a16:creationId xmlns:a16="http://schemas.microsoft.com/office/drawing/2014/main" id="{A115C9F6-B096-406A-9AD5-29749DCA4A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1640" y="3429000"/>
            <a:ext cx="6480720" cy="1872208"/>
          </a:xfrm>
          <a:prstGeom prst="rect">
            <a:avLst/>
          </a:prstGeom>
        </p:spPr>
      </p:pic>
    </p:spTree>
    <p:extLst>
      <p:ext uri="{BB962C8B-B14F-4D97-AF65-F5344CB8AC3E}">
        <p14:creationId xmlns:p14="http://schemas.microsoft.com/office/powerpoint/2010/main" val="210763280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1295636" y="155364"/>
            <a:ext cx="6552728" cy="1188720"/>
          </a:xfrm>
        </p:spPr>
        <p:txBody>
          <a:bodyPr>
            <a:normAutofit/>
          </a:bodyPr>
          <a:lstStyle/>
          <a:p>
            <a:pPr algn="ctr"/>
            <a:r>
              <a:rPr lang="zh-TW" altLang="en-US" dirty="0">
                <a:effectLst/>
              </a:rPr>
              <a:t> </a:t>
            </a:r>
            <a:r>
              <a:rPr lang="zh-TW" altLang="zh-TW" dirty="0">
                <a:effectLst/>
              </a:rPr>
              <a:t>收壓縮與年齡簡單線性迴歸圖</a:t>
            </a:r>
            <a:endParaRPr lang="zh-TW" altLang="en-US" dirty="0"/>
          </a:p>
        </p:txBody>
      </p:sp>
      <p:sp>
        <p:nvSpPr>
          <p:cNvPr id="2" name="內容版面配置區 1"/>
          <p:cNvSpPr>
            <a:spLocks noGrp="1"/>
          </p:cNvSpPr>
          <p:nvPr>
            <p:ph idx="1"/>
          </p:nvPr>
        </p:nvSpPr>
        <p:spPr/>
        <p:txBody>
          <a:bodyPr/>
          <a:lstStyle/>
          <a:p>
            <a:endParaRPr lang="zh-TW" altLang="en-US"/>
          </a:p>
        </p:txBody>
      </p:sp>
      <p:sp>
        <p:nvSpPr>
          <p:cNvPr id="3" name="投影片編號版面配置區 2"/>
          <p:cNvSpPr>
            <a:spLocks noGrp="1"/>
          </p:cNvSpPr>
          <p:nvPr>
            <p:ph type="sldNum" sz="quarter" idx="12"/>
          </p:nvPr>
        </p:nvSpPr>
        <p:spPr/>
        <p:txBody>
          <a:bodyPr/>
          <a:lstStyle/>
          <a:p>
            <a:pPr>
              <a:defRPr/>
            </a:pPr>
            <a:r>
              <a:rPr lang="en-US" altLang="zh-TW" dirty="0"/>
              <a:t>22</a:t>
            </a:r>
          </a:p>
        </p:txBody>
      </p:sp>
      <p:pic>
        <p:nvPicPr>
          <p:cNvPr id="5" name="圖片 4"/>
          <p:cNvPicPr/>
          <p:nvPr/>
        </p:nvPicPr>
        <p:blipFill rotWithShape="1">
          <a:blip r:embed="rId2" cstate="print"/>
          <a:srcRect t="8821"/>
          <a:stretch/>
        </p:blipFill>
        <p:spPr bwMode="auto">
          <a:xfrm>
            <a:off x="1907704" y="1772816"/>
            <a:ext cx="5328592" cy="439594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383641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274638"/>
            <a:ext cx="8363272" cy="1143000"/>
          </a:xfrm>
        </p:spPr>
        <p:txBody>
          <a:bodyPr>
            <a:noAutofit/>
          </a:bodyPr>
          <a:lstStyle/>
          <a:p>
            <a:pPr algn="ctr"/>
            <a:r>
              <a:rPr lang="zh-TW" altLang="zh-TW" sz="2800" dirty="0"/>
              <a:t>決定係數</a:t>
            </a:r>
            <a:r>
              <a:rPr lang="en-US" altLang="zh-TW" sz="2800" dirty="0"/>
              <a:t>(coefficient of determination)</a:t>
            </a:r>
            <a:endParaRPr lang="zh-TW" altLang="en-US" sz="2800" dirty="0"/>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524036" y="2276872"/>
                <a:ext cx="8229600" cy="2808312"/>
              </a:xfrm>
            </p:spPr>
            <p:txBody>
              <a:bodyPr>
                <a:normAutofit lnSpcReduction="10000"/>
              </a:bodyPr>
              <a:lstStyle/>
              <a:p>
                <a:pPr>
                  <a:lnSpc>
                    <a:spcPct val="120000"/>
                  </a:lnSpc>
                </a:pPr>
                <a:r>
                  <a:rPr lang="zh-TW" altLang="zh-TW" dirty="0"/>
                  <a:t>在簡單線性迴歸模型中最常被使用來判斷模型是否合適的方法是使用 </a:t>
                </a:r>
                <a:r>
                  <a:rPr lang="en-US" altLang="zh-TW" dirty="0"/>
                  <a:t>“</a:t>
                </a:r>
                <a:r>
                  <a:rPr lang="zh-TW" altLang="zh-TW" dirty="0"/>
                  <a:t>決定係數（</a:t>
                </a:r>
                <a:r>
                  <a:rPr lang="en-US" altLang="zh-TW" dirty="0"/>
                  <a:t>coefficient of determination</a:t>
                </a:r>
                <a:r>
                  <a:rPr lang="zh-TW" altLang="zh-TW" dirty="0"/>
                  <a:t>，</a:t>
                </a:r>
                <a:r>
                  <a:rPr lang="en-US" altLang="zh-TW" dirty="0"/>
                  <a:t> R</a:t>
                </a:r>
                <a:r>
                  <a:rPr lang="en-US" altLang="zh-TW" baseline="30000" dirty="0"/>
                  <a:t>2</a:t>
                </a:r>
                <a:r>
                  <a:rPr lang="zh-TW" altLang="zh-TW" dirty="0"/>
                  <a:t>）</a:t>
                </a:r>
                <a:r>
                  <a:rPr lang="en-US" altLang="zh-TW" dirty="0"/>
                  <a:t>”</a:t>
                </a:r>
                <a:r>
                  <a:rPr lang="zh-TW" altLang="zh-TW" dirty="0"/>
                  <a:t>，又稱</a:t>
                </a:r>
                <a:r>
                  <a:rPr lang="en-US" altLang="zh-TW" dirty="0"/>
                  <a:t>R</a:t>
                </a:r>
                <a:r>
                  <a:rPr lang="zh-TW" altLang="zh-TW" dirty="0"/>
                  <a:t>平方值，其定義如下</a:t>
                </a:r>
                <a14:m>
                  <m:oMath xmlns:m="http://schemas.openxmlformats.org/officeDocument/2006/math">
                    <m:sSup>
                      <m:sSupPr>
                        <m:ctrlPr>
                          <a:rPr lang="zh-TW" altLang="zh-TW" i="1">
                            <a:latin typeface="Cambria Math" panose="02040503050406030204" pitchFamily="18" charset="0"/>
                          </a:rPr>
                        </m:ctrlPr>
                      </m:sSupPr>
                      <m:e>
                        <m:r>
                          <a:rPr lang="zh-TW" altLang="en-US" i="1">
                            <a:latin typeface="Cambria Math" panose="02040503050406030204" pitchFamily="18" charset="0"/>
                          </a:rPr>
                          <m:t>：</m:t>
                        </m:r>
                        <m:r>
                          <m:rPr>
                            <m:sty m:val="p"/>
                          </m:rPr>
                          <a:rPr lang="en-US" altLang="zh-TW">
                            <a:latin typeface="Cambria Math" panose="02040503050406030204" pitchFamily="18" charset="0"/>
                          </a:rPr>
                          <m:t>R</m:t>
                        </m:r>
                      </m:e>
                      <m:sup>
                        <m:r>
                          <a:rPr lang="en-US" altLang="zh-TW">
                            <a:latin typeface="Cambria Math" panose="02040503050406030204" pitchFamily="18" charset="0"/>
                          </a:rPr>
                          <m:t>2</m:t>
                        </m:r>
                      </m:sup>
                    </m:sSup>
                    <m:r>
                      <a:rPr lang="en-US" altLang="zh-TW" i="1">
                        <a:latin typeface="Cambria Math" panose="02040503050406030204" pitchFamily="18" charset="0"/>
                      </a:rPr>
                      <m:t>=</m:t>
                    </m:r>
                    <m:f>
                      <m:fPr>
                        <m:ctrlPr>
                          <a:rPr lang="zh-TW" altLang="zh-TW" i="1">
                            <a:latin typeface="Cambria Math" panose="02040503050406030204" pitchFamily="18" charset="0"/>
                          </a:rPr>
                        </m:ctrlPr>
                      </m:fPr>
                      <m:num>
                        <m:nary>
                          <m:naryPr>
                            <m:chr m:val="∑"/>
                            <m:ctrlPr>
                              <a:rPr lang="zh-TW" altLang="zh-TW" i="1">
                                <a:latin typeface="Cambria Math" panose="02040503050406030204" pitchFamily="18" charset="0"/>
                              </a:rPr>
                            </m:ctrlPr>
                          </m:naryPr>
                          <m:sub>
                            <m:r>
                              <a:rPr lang="en-US" altLang="zh-TW" i="1">
                                <a:latin typeface="Cambria Math" panose="02040503050406030204" pitchFamily="18" charset="0"/>
                              </a:rPr>
                              <m:t>𝑖</m:t>
                            </m:r>
                          </m:sub>
                          <m:sup>
                            <m:r>
                              <a:rPr lang="en-US" altLang="zh-TW" i="1">
                                <a:latin typeface="Cambria Math" panose="02040503050406030204" pitchFamily="18" charset="0"/>
                              </a:rPr>
                              <m:t>𝑛</m:t>
                            </m:r>
                          </m:sup>
                          <m:e>
                            <m:sSup>
                              <m:sSupPr>
                                <m:ctrlPr>
                                  <a:rPr lang="zh-TW" altLang="zh-TW" i="1">
                                    <a:latin typeface="Cambria Math" panose="02040503050406030204" pitchFamily="18" charset="0"/>
                                  </a:rPr>
                                </m:ctrlPr>
                              </m:sSupPr>
                              <m:e>
                                <m:d>
                                  <m:dPr>
                                    <m:ctrlPr>
                                      <a:rPr lang="zh-TW" altLang="zh-TW" i="1">
                                        <a:latin typeface="Cambria Math" panose="02040503050406030204" pitchFamily="18" charset="0"/>
                                      </a:rPr>
                                    </m:ctrlPr>
                                  </m:dPr>
                                  <m:e>
                                    <m:sSub>
                                      <m:sSubPr>
                                        <m:ctrlPr>
                                          <a:rPr lang="zh-TW" altLang="zh-TW" i="1">
                                            <a:latin typeface="Cambria Math" panose="02040503050406030204" pitchFamily="18" charset="0"/>
                                          </a:rPr>
                                        </m:ctrlPr>
                                      </m:sSubPr>
                                      <m:e>
                                        <m:acc>
                                          <m:accPr>
                                            <m:chr m:val="̂"/>
                                            <m:ctrlPr>
                                              <a:rPr lang="zh-TW" altLang="zh-TW" i="1">
                                                <a:latin typeface="Cambria Math" panose="02040503050406030204" pitchFamily="18" charset="0"/>
                                              </a:rPr>
                                            </m:ctrlPr>
                                          </m:accPr>
                                          <m:e>
                                            <m:r>
                                              <a:rPr lang="en-US" altLang="zh-TW" i="1">
                                                <a:latin typeface="Cambria Math" panose="02040503050406030204" pitchFamily="18" charset="0"/>
                                              </a:rPr>
                                              <m:t>𝑌</m:t>
                                            </m:r>
                                          </m:e>
                                        </m:acc>
                                      </m:e>
                                      <m:sub>
                                        <m:r>
                                          <a:rPr lang="en-US" altLang="zh-TW" i="1">
                                            <a:latin typeface="Cambria Math" panose="02040503050406030204" pitchFamily="18" charset="0"/>
                                          </a:rPr>
                                          <m:t>𝑖</m:t>
                                        </m:r>
                                      </m:sub>
                                    </m:sSub>
                                    <m:r>
                                      <a:rPr lang="en-US" altLang="zh-TW" i="1">
                                        <a:latin typeface="Cambria Math" panose="02040503050406030204" pitchFamily="18" charset="0"/>
                                      </a:rPr>
                                      <m:t>−</m:t>
                                    </m:r>
                                    <m:acc>
                                      <m:accPr>
                                        <m:chr m:val="̅"/>
                                        <m:ctrlPr>
                                          <a:rPr lang="zh-TW" altLang="zh-TW" i="1">
                                            <a:latin typeface="Cambria Math" panose="02040503050406030204" pitchFamily="18" charset="0"/>
                                          </a:rPr>
                                        </m:ctrlPr>
                                      </m:accPr>
                                      <m:e>
                                        <m:r>
                                          <a:rPr lang="en-US" altLang="zh-TW" i="1">
                                            <a:latin typeface="Cambria Math" panose="02040503050406030204" pitchFamily="18" charset="0"/>
                                          </a:rPr>
                                          <m:t>𝑌</m:t>
                                        </m:r>
                                      </m:e>
                                    </m:acc>
                                  </m:e>
                                </m:d>
                              </m:e>
                              <m:sup>
                                <m:r>
                                  <a:rPr lang="en-US" altLang="zh-TW" i="1">
                                    <a:latin typeface="Cambria Math" panose="02040503050406030204" pitchFamily="18" charset="0"/>
                                  </a:rPr>
                                  <m:t>2</m:t>
                                </m:r>
                              </m:sup>
                            </m:sSup>
                          </m:e>
                        </m:nary>
                      </m:num>
                      <m:den>
                        <m:nary>
                          <m:naryPr>
                            <m:chr m:val="∑"/>
                            <m:ctrlPr>
                              <a:rPr lang="zh-TW" altLang="zh-TW" i="1">
                                <a:latin typeface="Cambria Math" panose="02040503050406030204" pitchFamily="18" charset="0"/>
                              </a:rPr>
                            </m:ctrlPr>
                          </m:naryPr>
                          <m:sub>
                            <m:r>
                              <a:rPr lang="en-US" altLang="zh-TW" i="1">
                                <a:latin typeface="Cambria Math" panose="02040503050406030204" pitchFamily="18" charset="0"/>
                              </a:rPr>
                              <m:t>𝑖</m:t>
                            </m:r>
                          </m:sub>
                          <m:sup>
                            <m:r>
                              <a:rPr lang="en-US" altLang="zh-TW" i="1">
                                <a:latin typeface="Cambria Math" panose="02040503050406030204" pitchFamily="18" charset="0"/>
                              </a:rPr>
                              <m:t>𝑛</m:t>
                            </m:r>
                          </m:sup>
                          <m:e>
                            <m:sSup>
                              <m:sSupPr>
                                <m:ctrlPr>
                                  <a:rPr lang="zh-TW" altLang="zh-TW" i="1">
                                    <a:latin typeface="Cambria Math" panose="02040503050406030204" pitchFamily="18" charset="0"/>
                                  </a:rPr>
                                </m:ctrlPr>
                              </m:sSupPr>
                              <m:e>
                                <m:d>
                                  <m:dPr>
                                    <m:ctrlPr>
                                      <a:rPr lang="zh-TW" altLang="zh-TW" i="1">
                                        <a:latin typeface="Cambria Math" panose="02040503050406030204" pitchFamily="18" charset="0"/>
                                      </a:rPr>
                                    </m:ctrlPr>
                                  </m:dPr>
                                  <m:e>
                                    <m:sSub>
                                      <m:sSubPr>
                                        <m:ctrlPr>
                                          <a:rPr lang="zh-TW" altLang="zh-TW" i="1">
                                            <a:latin typeface="Cambria Math" panose="02040503050406030204" pitchFamily="18" charset="0"/>
                                          </a:rPr>
                                        </m:ctrlPr>
                                      </m:sSubPr>
                                      <m:e>
                                        <m:r>
                                          <a:rPr lang="en-US" altLang="zh-TW" i="1">
                                            <a:latin typeface="Cambria Math" panose="02040503050406030204" pitchFamily="18" charset="0"/>
                                          </a:rPr>
                                          <m:t>𝑌</m:t>
                                        </m:r>
                                      </m:e>
                                      <m:sub>
                                        <m:r>
                                          <a:rPr lang="en-US" altLang="zh-TW" i="1">
                                            <a:latin typeface="Cambria Math" panose="02040503050406030204" pitchFamily="18" charset="0"/>
                                          </a:rPr>
                                          <m:t>𝑖</m:t>
                                        </m:r>
                                      </m:sub>
                                    </m:sSub>
                                    <m:r>
                                      <a:rPr lang="en-US" altLang="zh-TW" i="1">
                                        <a:latin typeface="Cambria Math" panose="02040503050406030204" pitchFamily="18" charset="0"/>
                                      </a:rPr>
                                      <m:t>−</m:t>
                                    </m:r>
                                    <m:acc>
                                      <m:accPr>
                                        <m:chr m:val="̅"/>
                                        <m:ctrlPr>
                                          <a:rPr lang="zh-TW" altLang="zh-TW" i="1">
                                            <a:latin typeface="Cambria Math" panose="02040503050406030204" pitchFamily="18" charset="0"/>
                                          </a:rPr>
                                        </m:ctrlPr>
                                      </m:accPr>
                                      <m:e>
                                        <m:r>
                                          <a:rPr lang="en-US" altLang="zh-TW" i="1">
                                            <a:latin typeface="Cambria Math" panose="02040503050406030204" pitchFamily="18" charset="0"/>
                                          </a:rPr>
                                          <m:t>𝑌</m:t>
                                        </m:r>
                                      </m:e>
                                    </m:acc>
                                  </m:e>
                                </m:d>
                              </m:e>
                              <m:sup>
                                <m:r>
                                  <a:rPr lang="en-US" altLang="zh-TW" i="1">
                                    <a:latin typeface="Cambria Math" panose="02040503050406030204" pitchFamily="18" charset="0"/>
                                  </a:rPr>
                                  <m:t>2</m:t>
                                </m:r>
                              </m:sup>
                            </m:sSup>
                          </m:e>
                        </m:nary>
                      </m:den>
                    </m:f>
                  </m:oMath>
                </a14:m>
                <a:r>
                  <a:rPr lang="zh-TW" altLang="en-US" dirty="0"/>
                  <a:t>，</a:t>
                </a:r>
                <a:r>
                  <a:rPr lang="zh-TW" altLang="zh-TW" dirty="0"/>
                  <a:t>其中</a:t>
                </a:r>
                <a14:m>
                  <m:oMath xmlns:m="http://schemas.openxmlformats.org/officeDocument/2006/math">
                    <m:sSub>
                      <m:sSubPr>
                        <m:ctrlPr>
                          <a:rPr lang="zh-TW" altLang="zh-TW" i="1">
                            <a:latin typeface="Cambria Math" panose="02040503050406030204" pitchFamily="18" charset="0"/>
                          </a:rPr>
                        </m:ctrlPr>
                      </m:sSubPr>
                      <m:e>
                        <m:acc>
                          <m:accPr>
                            <m:chr m:val="̂"/>
                            <m:ctrlPr>
                              <a:rPr lang="zh-TW" altLang="zh-TW" i="1">
                                <a:latin typeface="Cambria Math" panose="02040503050406030204" pitchFamily="18" charset="0"/>
                              </a:rPr>
                            </m:ctrlPr>
                          </m:accPr>
                          <m:e>
                            <m:r>
                              <m:rPr>
                                <m:sty m:val="p"/>
                              </m:rPr>
                              <a:rPr lang="en-US" altLang="zh-TW">
                                <a:latin typeface="Cambria Math" panose="02040503050406030204" pitchFamily="18" charset="0"/>
                              </a:rPr>
                              <m:t>Y</m:t>
                            </m:r>
                          </m:e>
                        </m:acc>
                      </m:e>
                      <m:sub>
                        <m:r>
                          <a:rPr lang="en-US" altLang="zh-TW" i="1">
                            <a:latin typeface="Cambria Math" panose="02040503050406030204" pitchFamily="18" charset="0"/>
                          </a:rPr>
                          <m:t>𝑖</m:t>
                        </m:r>
                      </m:sub>
                    </m:sSub>
                    <m:r>
                      <a:rPr lang="en-US" altLang="zh-TW" i="1">
                        <a:latin typeface="Cambria Math" panose="02040503050406030204" pitchFamily="18" charset="0"/>
                      </a:rPr>
                      <m:t>=</m:t>
                    </m:r>
                    <m:sSub>
                      <m:sSubPr>
                        <m:ctrlPr>
                          <a:rPr lang="zh-TW" altLang="zh-TW" i="1">
                            <a:latin typeface="Cambria Math" panose="02040503050406030204" pitchFamily="18" charset="0"/>
                          </a:rPr>
                        </m:ctrlPr>
                      </m:sSubPr>
                      <m:e>
                        <m:acc>
                          <m:accPr>
                            <m:chr m:val="̂"/>
                            <m:ctrlPr>
                              <a:rPr lang="zh-TW" altLang="zh-TW" i="1">
                                <a:latin typeface="Cambria Math" panose="02040503050406030204" pitchFamily="18" charset="0"/>
                              </a:rPr>
                            </m:ctrlPr>
                          </m:accPr>
                          <m:e>
                            <m:r>
                              <a:rPr lang="en-US" altLang="zh-TW" i="1">
                                <a:latin typeface="Cambria Math" panose="02040503050406030204" pitchFamily="18" charset="0"/>
                              </a:rPr>
                              <m:t>𝛽</m:t>
                            </m:r>
                          </m:e>
                        </m:acc>
                      </m:e>
                      <m:sub>
                        <m:r>
                          <a:rPr lang="en-US" altLang="zh-TW" i="1">
                            <a:latin typeface="Cambria Math" panose="02040503050406030204" pitchFamily="18" charset="0"/>
                          </a:rPr>
                          <m:t>0</m:t>
                        </m:r>
                      </m:sub>
                    </m:sSub>
                    <m:r>
                      <a:rPr lang="en-US" altLang="zh-TW" i="1">
                        <a:latin typeface="Cambria Math" panose="02040503050406030204" pitchFamily="18" charset="0"/>
                      </a:rPr>
                      <m:t>+</m:t>
                    </m:r>
                    <m:sSub>
                      <m:sSubPr>
                        <m:ctrlPr>
                          <a:rPr lang="zh-TW" altLang="zh-TW" i="1">
                            <a:latin typeface="Cambria Math" panose="02040503050406030204" pitchFamily="18" charset="0"/>
                          </a:rPr>
                        </m:ctrlPr>
                      </m:sSubPr>
                      <m:e>
                        <m:acc>
                          <m:accPr>
                            <m:chr m:val="̂"/>
                            <m:ctrlPr>
                              <a:rPr lang="zh-TW" altLang="zh-TW" i="1">
                                <a:latin typeface="Cambria Math" panose="02040503050406030204" pitchFamily="18" charset="0"/>
                              </a:rPr>
                            </m:ctrlPr>
                          </m:accPr>
                          <m:e>
                            <m:r>
                              <a:rPr lang="en-US" altLang="zh-TW" i="1">
                                <a:latin typeface="Cambria Math" panose="02040503050406030204" pitchFamily="18" charset="0"/>
                              </a:rPr>
                              <m:t>𝛽</m:t>
                            </m:r>
                          </m:e>
                        </m:acc>
                      </m:e>
                      <m:sub>
                        <m:r>
                          <a:rPr lang="en-US" altLang="zh-TW" i="1">
                            <a:latin typeface="Cambria Math" panose="02040503050406030204" pitchFamily="18" charset="0"/>
                          </a:rPr>
                          <m:t>1</m:t>
                        </m:r>
                      </m:sub>
                    </m:sSub>
                    <m:sSub>
                      <m:sSubPr>
                        <m:ctrlPr>
                          <a:rPr lang="zh-TW" altLang="zh-TW" i="1">
                            <a:latin typeface="Cambria Math" panose="02040503050406030204" pitchFamily="18" charset="0"/>
                          </a:rPr>
                        </m:ctrlPr>
                      </m:sSubPr>
                      <m:e>
                        <m:r>
                          <a:rPr lang="en-US" altLang="zh-TW" i="1">
                            <a:latin typeface="Cambria Math" panose="02040503050406030204" pitchFamily="18" charset="0"/>
                          </a:rPr>
                          <m:t>𝑋</m:t>
                        </m:r>
                      </m:e>
                      <m:sub>
                        <m:r>
                          <a:rPr lang="en-US" altLang="zh-TW" i="1">
                            <a:latin typeface="Cambria Math" panose="02040503050406030204" pitchFamily="18" charset="0"/>
                          </a:rPr>
                          <m:t>𝑖</m:t>
                        </m:r>
                      </m:sub>
                    </m:sSub>
                    <m:r>
                      <a:rPr lang="zh-TW" altLang="zh-TW">
                        <a:latin typeface="Cambria Math" panose="02040503050406030204" pitchFamily="18" charset="0"/>
                      </a:rPr>
                      <m:t>。</m:t>
                    </m:r>
                  </m:oMath>
                </a14:m>
                <a:endParaRPr lang="en-US" altLang="zh-TW" dirty="0"/>
              </a:p>
              <a:p>
                <a:pPr>
                  <a:lnSpc>
                    <a:spcPct val="120000"/>
                  </a:lnSpc>
                </a:pPr>
                <a:endParaRPr lang="en-US" altLang="zh-TW" dirty="0"/>
              </a:p>
              <a:p>
                <a:pPr>
                  <a:lnSpc>
                    <a:spcPct val="120000"/>
                  </a:lnSpc>
                </a:pPr>
                <a:r>
                  <a:rPr lang="en-US" altLang="zh-TW" dirty="0"/>
                  <a:t>R</a:t>
                </a:r>
                <a:r>
                  <a:rPr lang="en-US" altLang="zh-TW" baseline="30000" dirty="0"/>
                  <a:t>2</a:t>
                </a:r>
                <a:r>
                  <a:rPr lang="zh-TW" altLang="zh-TW" dirty="0"/>
                  <a:t>是用來衡量 </a:t>
                </a:r>
                <a:r>
                  <a:rPr lang="en-US" altLang="zh-TW" dirty="0"/>
                  <a:t>“</a:t>
                </a:r>
                <a:r>
                  <a:rPr lang="zh-TW" altLang="zh-TW" dirty="0"/>
                  <a:t>估計的依變數值</a:t>
                </a:r>
                <a:r>
                  <a:rPr lang="en-US" altLang="zh-TW" dirty="0"/>
                  <a:t>” </a:t>
                </a:r>
                <a:r>
                  <a:rPr lang="zh-TW" altLang="zh-TW" dirty="0"/>
                  <a:t>的總變動量佔 </a:t>
                </a:r>
                <a:r>
                  <a:rPr lang="en-US" altLang="zh-TW" dirty="0"/>
                  <a:t>“</a:t>
                </a:r>
                <a:r>
                  <a:rPr lang="zh-TW" altLang="zh-TW" dirty="0"/>
                  <a:t>觀測的依變數值的總變動量</a:t>
                </a:r>
                <a:r>
                  <a:rPr lang="en-US" altLang="zh-TW" dirty="0"/>
                  <a:t>” </a:t>
                </a:r>
                <a:r>
                  <a:rPr lang="zh-TW" altLang="zh-TW" dirty="0"/>
                  <a:t>的比例情形，又可以解釋為 </a:t>
                </a:r>
                <a:r>
                  <a:rPr lang="en-US" altLang="zh-TW" dirty="0"/>
                  <a:t>“</a:t>
                </a:r>
                <a:r>
                  <a:rPr lang="zh-TW" altLang="zh-TW" dirty="0"/>
                  <a:t>自變數解釋了多少比例的依變數的變異</a:t>
                </a:r>
                <a:r>
                  <a:rPr lang="en-US" altLang="zh-TW" dirty="0"/>
                  <a:t>”</a:t>
                </a:r>
                <a:r>
                  <a:rPr lang="zh-TW" altLang="zh-TW" dirty="0"/>
                  <a:t>，此數值會介於</a:t>
                </a:r>
                <a:r>
                  <a:rPr lang="en-US" altLang="zh-TW" dirty="0"/>
                  <a:t>0~1</a:t>
                </a:r>
                <a:r>
                  <a:rPr lang="zh-TW" altLang="zh-TW" dirty="0"/>
                  <a:t>之間，愈靠近</a:t>
                </a:r>
                <a:r>
                  <a:rPr lang="en-US" altLang="zh-TW" dirty="0"/>
                  <a:t>1</a:t>
                </a:r>
                <a:r>
                  <a:rPr lang="zh-TW" altLang="zh-TW" dirty="0"/>
                  <a:t>表示此模型愈適合。</a:t>
                </a:r>
              </a:p>
              <a:p>
                <a:endParaRPr lang="zh-TW" altLang="en-US" dirty="0"/>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524036" y="2276872"/>
                <a:ext cx="8229600" cy="2808312"/>
              </a:xfrm>
              <a:blipFill>
                <a:blip r:embed="rId2"/>
                <a:stretch>
                  <a:fillRect l="-519" t="-1087" r="-370"/>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pPr>
              <a:defRPr/>
            </a:pPr>
            <a:r>
              <a:rPr lang="en-US" altLang="zh-TW" dirty="0"/>
              <a:t>23</a:t>
            </a:r>
          </a:p>
        </p:txBody>
      </p:sp>
    </p:spTree>
    <p:extLst>
      <p:ext uri="{BB962C8B-B14F-4D97-AF65-F5344CB8AC3E}">
        <p14:creationId xmlns:p14="http://schemas.microsoft.com/office/powerpoint/2010/main" val="274105114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274638"/>
            <a:ext cx="8229600" cy="778098"/>
          </a:xfrm>
        </p:spPr>
        <p:txBody>
          <a:bodyPr>
            <a:noAutofit/>
          </a:bodyPr>
          <a:lstStyle/>
          <a:p>
            <a:r>
              <a:rPr lang="zh-TW" altLang="zh-TW" sz="2400" dirty="0"/>
              <a:t>決定係數</a:t>
            </a:r>
            <a:r>
              <a:rPr lang="en-US" altLang="zh-TW" sz="2400" dirty="0"/>
              <a:t>(coefficient of determination)</a:t>
            </a:r>
            <a:endParaRPr lang="zh-TW" altLang="en-US" sz="2400" dirty="0"/>
          </a:p>
        </p:txBody>
      </p:sp>
      <p:sp>
        <p:nvSpPr>
          <p:cNvPr id="2" name="內容版面配置區 1"/>
          <p:cNvSpPr>
            <a:spLocks noGrp="1"/>
          </p:cNvSpPr>
          <p:nvPr>
            <p:ph idx="1"/>
          </p:nvPr>
        </p:nvSpPr>
        <p:spPr>
          <a:xfrm>
            <a:off x="457200" y="1196752"/>
            <a:ext cx="8229600" cy="4810539"/>
          </a:xfrm>
        </p:spPr>
        <p:txBody>
          <a:bodyPr>
            <a:normAutofit/>
          </a:bodyPr>
          <a:lstStyle/>
          <a:p>
            <a:r>
              <a:rPr lang="zh-TW" altLang="zh-TW" sz="2000" dirty="0"/>
              <a:t>在收縮壓與年齡的模型結果中，決定係數僅為</a:t>
            </a:r>
            <a:r>
              <a:rPr lang="en-US" altLang="zh-TW" sz="2000" dirty="0"/>
              <a:t>0.1767</a:t>
            </a:r>
            <a:r>
              <a:rPr lang="zh-TW" altLang="zh-TW" sz="2000" dirty="0"/>
              <a:t>，表示雖然迴歸係數相當顯著，但在散佈圖中卻無法明顯的看出線性關係，因此線性迴歸模型用來解釋兩者之間的關係不是相當的好。</a:t>
            </a:r>
            <a:endParaRPr lang="en-US" altLang="zh-TW" sz="2000" dirty="0"/>
          </a:p>
          <a:p>
            <a:endParaRPr lang="en-US" altLang="zh-TW" sz="2000" dirty="0"/>
          </a:p>
          <a:p>
            <a:r>
              <a:rPr lang="zh-TW" altLang="en-US" sz="2000" dirty="0"/>
              <a:t>下</a:t>
            </a:r>
            <a:r>
              <a:rPr lang="zh-TW" altLang="zh-TW" sz="2000" dirty="0"/>
              <a:t>表為收縮壓（依變數）和舒張壓（自變數）的簡單線性迴歸結果，顯著水準為</a:t>
            </a:r>
            <a:r>
              <a:rPr lang="en-US" altLang="zh-TW" sz="2000" dirty="0"/>
              <a:t>0.05</a:t>
            </a:r>
            <a:r>
              <a:rPr lang="zh-TW" altLang="zh-TW" sz="2000" dirty="0"/>
              <a:t>時，雙尾檢定結果顯示有顯著的關係，但決定係數為</a:t>
            </a:r>
            <a:r>
              <a:rPr lang="en-US" altLang="zh-TW" sz="2000" dirty="0"/>
              <a:t>0.552</a:t>
            </a:r>
            <a:r>
              <a:rPr lang="zh-TW" altLang="zh-TW" sz="2000" dirty="0"/>
              <a:t>。</a:t>
            </a:r>
            <a:endParaRPr lang="zh-TW" altLang="en-US" sz="2000" dirty="0"/>
          </a:p>
        </p:txBody>
      </p:sp>
      <p:sp>
        <p:nvSpPr>
          <p:cNvPr id="6" name="矩形 5"/>
          <p:cNvSpPr/>
          <p:nvPr/>
        </p:nvSpPr>
        <p:spPr>
          <a:xfrm>
            <a:off x="1835696" y="3933056"/>
            <a:ext cx="6030416" cy="369332"/>
          </a:xfrm>
          <a:prstGeom prst="rect">
            <a:avLst/>
          </a:prstGeom>
        </p:spPr>
        <p:txBody>
          <a:bodyPr wrap="square">
            <a:spAutoFit/>
          </a:bodyPr>
          <a:lstStyle/>
          <a:p>
            <a:r>
              <a:rPr lang="en-US" altLang="zh-TW" sz="1800" dirty="0">
                <a:ea typeface="標楷體" panose="03000509000000000000" pitchFamily="65" charset="-120"/>
                <a:cs typeface="Times New Roman" panose="02020603050405020304" pitchFamily="18" charset="0"/>
              </a:rPr>
              <a:t> </a:t>
            </a:r>
            <a:r>
              <a:rPr lang="zh-TW" altLang="zh-TW" sz="1800" dirty="0">
                <a:ea typeface="標楷體" panose="03000509000000000000" pitchFamily="65" charset="-120"/>
                <a:cs typeface="Times New Roman" panose="02020603050405020304" pitchFamily="18" charset="0"/>
              </a:rPr>
              <a:t>收縮壓與舒張壓散佈簡單線性迴歸結果（</a:t>
            </a:r>
            <a:r>
              <a:rPr lang="en-US" altLang="zh-TW" sz="1800" dirty="0">
                <a:ea typeface="標楷體" panose="03000509000000000000" pitchFamily="65" charset="-120"/>
              </a:rPr>
              <a:t>R</a:t>
            </a:r>
            <a:r>
              <a:rPr lang="en-US" altLang="zh-TW" sz="1800" baseline="30000" dirty="0">
                <a:ea typeface="標楷體" panose="03000509000000000000" pitchFamily="65" charset="-120"/>
              </a:rPr>
              <a:t>2</a:t>
            </a:r>
            <a:r>
              <a:rPr lang="en-US" altLang="zh-TW" sz="1800" dirty="0">
                <a:ea typeface="標楷體" panose="03000509000000000000" pitchFamily="65" charset="-120"/>
              </a:rPr>
              <a:t>=0.552</a:t>
            </a:r>
            <a:r>
              <a:rPr lang="zh-TW" altLang="zh-TW" sz="1800" dirty="0">
                <a:ea typeface="標楷體" panose="03000509000000000000" pitchFamily="65" charset="-120"/>
                <a:cs typeface="Times New Roman" panose="02020603050405020304" pitchFamily="18" charset="0"/>
              </a:rPr>
              <a:t>）</a:t>
            </a:r>
            <a:endParaRPr lang="zh-TW" altLang="en-US" sz="1800" dirty="0"/>
          </a:p>
        </p:txBody>
      </p:sp>
      <p:pic>
        <p:nvPicPr>
          <p:cNvPr id="7" name="圖片 6">
            <a:extLst>
              <a:ext uri="{FF2B5EF4-FFF2-40B4-BE49-F238E27FC236}">
                <a16:creationId xmlns:a16="http://schemas.microsoft.com/office/drawing/2014/main" id="{4B7E7BFF-68F3-4420-8D83-9A0ABAB3A9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1760" y="4513534"/>
            <a:ext cx="4420217" cy="1305107"/>
          </a:xfrm>
          <a:prstGeom prst="rect">
            <a:avLst/>
          </a:prstGeom>
        </p:spPr>
      </p:pic>
    </p:spTree>
    <p:extLst>
      <p:ext uri="{BB962C8B-B14F-4D97-AF65-F5344CB8AC3E}">
        <p14:creationId xmlns:p14="http://schemas.microsoft.com/office/powerpoint/2010/main" val="304280530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274638"/>
            <a:ext cx="8229600" cy="806037"/>
          </a:xfrm>
        </p:spPr>
        <p:txBody>
          <a:bodyPr/>
          <a:lstStyle/>
          <a:p>
            <a:r>
              <a:rPr lang="zh-TW" altLang="en-US" dirty="0"/>
              <a:t>作業</a:t>
            </a:r>
          </a:p>
        </p:txBody>
      </p:sp>
      <p:sp>
        <p:nvSpPr>
          <p:cNvPr id="2" name="內容版面配置區 1"/>
          <p:cNvSpPr>
            <a:spLocks noGrp="1"/>
          </p:cNvSpPr>
          <p:nvPr>
            <p:ph idx="1"/>
          </p:nvPr>
        </p:nvSpPr>
        <p:spPr>
          <a:xfrm>
            <a:off x="457200" y="1080675"/>
            <a:ext cx="8229600" cy="5084629"/>
          </a:xfrm>
        </p:spPr>
        <p:txBody>
          <a:bodyPr>
            <a:normAutofit/>
          </a:bodyPr>
          <a:lstStyle/>
          <a:p>
            <a:pPr marL="109728" lvl="0" indent="0">
              <a:buClrTx/>
              <a:buNone/>
            </a:pPr>
            <a:r>
              <a:rPr lang="en-US" altLang="zh-TW" sz="3000" dirty="0"/>
              <a:t>1. </a:t>
            </a:r>
            <a:r>
              <a:rPr lang="zh-TW" altLang="zh-TW" sz="3000" dirty="0"/>
              <a:t>試利用心血管疾病資料（</a:t>
            </a:r>
            <a:r>
              <a:rPr lang="en-US" altLang="zh-TW" sz="3000" dirty="0"/>
              <a:t>CVD ALL</a:t>
            </a:r>
            <a:r>
              <a:rPr lang="zh-TW" altLang="zh-TW" sz="3000" dirty="0"/>
              <a:t>）分析沒有心血管疾病成人之腰圍與收縮壓的關係。（顯著水準設定為</a:t>
            </a:r>
            <a:r>
              <a:rPr lang="en-US" altLang="zh-TW" sz="3000" dirty="0"/>
              <a:t>0.05</a:t>
            </a:r>
            <a:r>
              <a:rPr lang="zh-TW" altLang="zh-TW" sz="3000" dirty="0"/>
              <a:t>）</a:t>
            </a:r>
          </a:p>
          <a:p>
            <a:pPr marL="109728" lvl="0" indent="0">
              <a:buNone/>
            </a:pPr>
            <a:r>
              <a:rPr lang="en-US" altLang="zh-TW" dirty="0"/>
              <a:t>(1)</a:t>
            </a:r>
            <a:r>
              <a:rPr lang="zh-TW" altLang="zh-TW" dirty="0"/>
              <a:t>請問腰圍與收縮壓的皮爾生相關係數為何？兩者是否存在顯著的線性關係？</a:t>
            </a:r>
          </a:p>
          <a:p>
            <a:pPr marL="109728" lvl="0" indent="0">
              <a:buNone/>
            </a:pPr>
            <a:r>
              <a:rPr lang="en-US" altLang="zh-TW" dirty="0"/>
              <a:t>(2)</a:t>
            </a:r>
            <a:r>
              <a:rPr lang="zh-TW" altLang="zh-TW" dirty="0"/>
              <a:t>請問腰圍與收縮壓的斯皮爾曼等級相關為何？兩者是否存在顯著的等級相關？</a:t>
            </a:r>
            <a:endParaRPr lang="en-US" altLang="zh-TW" dirty="0"/>
          </a:p>
          <a:p>
            <a:pPr marL="109728" lvl="0" indent="0">
              <a:buNone/>
            </a:pPr>
            <a:r>
              <a:rPr lang="en-US" altLang="zh-TW" dirty="0"/>
              <a:t>(3)</a:t>
            </a:r>
            <a:r>
              <a:rPr lang="zh-TW" altLang="zh-TW" dirty="0"/>
              <a:t>試利用簡單線性迴歸模型建立腰圍預測收縮壓之模型，</a:t>
            </a:r>
          </a:p>
          <a:p>
            <a:pPr marL="109728" lvl="0" indent="0">
              <a:buNone/>
            </a:pPr>
            <a:r>
              <a:rPr lang="en-US" altLang="zh-TW" dirty="0"/>
              <a:t>    I. </a:t>
            </a:r>
            <a:r>
              <a:rPr lang="zh-TW" altLang="zh-TW" dirty="0"/>
              <a:t>請問此模型為何？</a:t>
            </a:r>
          </a:p>
          <a:p>
            <a:pPr marL="109728" lvl="0" indent="0">
              <a:buNone/>
            </a:pPr>
            <a:r>
              <a:rPr lang="en-US" altLang="zh-TW" dirty="0"/>
              <a:t>    II. </a:t>
            </a:r>
            <a:r>
              <a:rPr lang="zh-TW" altLang="zh-TW" dirty="0"/>
              <a:t>腰圍是否與收縮壓有顯著相關？此模型腰圍解釋了收縮壓變異的多少百分比？</a:t>
            </a:r>
          </a:p>
          <a:p>
            <a:pPr marL="109728" indent="0">
              <a:buNone/>
            </a:pPr>
            <a:r>
              <a:rPr lang="en-US" altLang="zh-TW" dirty="0"/>
              <a:t>    III. </a:t>
            </a:r>
            <a:r>
              <a:rPr lang="zh-TW" altLang="zh-TW" dirty="0"/>
              <a:t>若有一人腰圍為</a:t>
            </a:r>
            <a:r>
              <a:rPr lang="en-US" altLang="zh-TW" dirty="0"/>
              <a:t>100</a:t>
            </a:r>
            <a:r>
              <a:rPr lang="zh-TW" altLang="zh-TW" dirty="0"/>
              <a:t>公分，請預測此人平均而言收縮壓</a:t>
            </a:r>
            <a:r>
              <a:rPr lang="zh-TW" altLang="en-US" dirty="0"/>
              <a:t>為</a:t>
            </a:r>
            <a:r>
              <a:rPr lang="zh-TW" altLang="zh-TW" dirty="0"/>
              <a:t>何？</a:t>
            </a:r>
          </a:p>
          <a:p>
            <a:endParaRPr lang="zh-TW" altLang="en-US" dirty="0"/>
          </a:p>
        </p:txBody>
      </p:sp>
      <p:sp>
        <p:nvSpPr>
          <p:cNvPr id="5" name="投影片編號版面配置區 4"/>
          <p:cNvSpPr>
            <a:spLocks noGrp="1"/>
          </p:cNvSpPr>
          <p:nvPr>
            <p:ph type="sldNum" sz="quarter" idx="12"/>
          </p:nvPr>
        </p:nvSpPr>
        <p:spPr/>
        <p:txBody>
          <a:bodyPr/>
          <a:lstStyle/>
          <a:p>
            <a:pPr>
              <a:defRPr/>
            </a:pPr>
            <a:r>
              <a:rPr lang="en-US" altLang="zh-TW" dirty="0"/>
              <a:t>25</a:t>
            </a:r>
          </a:p>
        </p:txBody>
      </p:sp>
    </p:spTree>
    <p:extLst>
      <p:ext uri="{BB962C8B-B14F-4D97-AF65-F5344CB8AC3E}">
        <p14:creationId xmlns:p14="http://schemas.microsoft.com/office/powerpoint/2010/main" val="310490389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a:xfrm>
            <a:off x="8604448" y="6381328"/>
            <a:ext cx="365760" cy="365125"/>
          </a:xfrm>
        </p:spPr>
        <p:txBody>
          <a:bodyPr/>
          <a:lstStyle/>
          <a:p>
            <a:pPr>
              <a:defRPr/>
            </a:pPr>
            <a:r>
              <a:rPr lang="en-US" altLang="zh-TW" dirty="0"/>
              <a:t>26</a:t>
            </a:r>
          </a:p>
        </p:txBody>
      </p:sp>
      <p:sp>
        <p:nvSpPr>
          <p:cNvPr id="3" name="文字方塊 2">
            <a:extLst>
              <a:ext uri="{FF2B5EF4-FFF2-40B4-BE49-F238E27FC236}">
                <a16:creationId xmlns:a16="http://schemas.microsoft.com/office/drawing/2014/main" id="{6F2A0607-594A-4BD9-A2BB-62FE3B96233D}"/>
              </a:ext>
            </a:extLst>
          </p:cNvPr>
          <p:cNvSpPr txBox="1"/>
          <p:nvPr/>
        </p:nvSpPr>
        <p:spPr>
          <a:xfrm>
            <a:off x="3707904" y="2852936"/>
            <a:ext cx="2736304" cy="461665"/>
          </a:xfrm>
          <a:prstGeom prst="rect">
            <a:avLst/>
          </a:prstGeom>
          <a:noFill/>
        </p:spPr>
        <p:txBody>
          <a:bodyPr wrap="square" rtlCol="0">
            <a:spAutoFit/>
          </a:bodyPr>
          <a:lstStyle/>
          <a:p>
            <a:r>
              <a:rPr lang="en-US" altLang="zh-TW" sz="2400" dirty="0"/>
              <a:t>Thank you !!</a:t>
            </a:r>
            <a:endParaRPr lang="zh-TW"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包裹">
  <a:themeElements>
    <a:clrScheme name="包裹">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包裹">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包裹">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TM10001115[[fn=包裹]]</Template>
  <TotalTime>5652</TotalTime>
  <Words>2252</Words>
  <Application>Microsoft Office PowerPoint</Application>
  <PresentationFormat>如螢幕大小 (4:3)</PresentationFormat>
  <Paragraphs>212</Paragraphs>
  <Slides>27</Slides>
  <Notes>2</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27</vt:i4>
      </vt:variant>
    </vt:vector>
  </HeadingPairs>
  <TitlesOfParts>
    <vt:vector size="34" baseType="lpstr">
      <vt:lpstr>標楷體</vt:lpstr>
      <vt:lpstr>Arial</vt:lpstr>
      <vt:lpstr>Calibri</vt:lpstr>
      <vt:lpstr>Cambria Math</vt:lpstr>
      <vt:lpstr>Gill Sans MT</vt:lpstr>
      <vt:lpstr>Times New Roman</vt:lpstr>
      <vt:lpstr>包裹</vt:lpstr>
      <vt:lpstr>PowerPoint 簡報</vt:lpstr>
      <vt:lpstr>關鍵字(Key words)</vt:lpstr>
      <vt:lpstr>PowerPoint 簡報</vt:lpstr>
      <vt:lpstr>基隆地區社區整合式疾病篩檢資料</vt:lpstr>
      <vt:lpstr>收縮壓與年齡散佈圖</vt:lpstr>
      <vt:lpstr>PowerPoint 簡報</vt:lpstr>
      <vt:lpstr>相關係數之估計及相關性檢定</vt:lpstr>
      <vt:lpstr>不同母體相關係數資料散佈圖</vt:lpstr>
      <vt:lpstr>相關係數之估計及相關性檢定</vt:lpstr>
      <vt:lpstr>相關係數之估計及相關性檢定</vt:lpstr>
      <vt:lpstr>皮爾生相關係數</vt:lpstr>
      <vt:lpstr>相關係數之估計及相關性檢定</vt:lpstr>
      <vt:lpstr>相關係數之估計及相關性檢定</vt:lpstr>
      <vt:lpstr>相關係數之估計及相關性檢定</vt:lpstr>
      <vt:lpstr>斯皮爾曼相關係數</vt:lpstr>
      <vt:lpstr>兩相關係數之比較</vt:lpstr>
      <vt:lpstr> 相關係數為0資料與極端值</vt:lpstr>
      <vt:lpstr>簡單線性廻歸模型</vt:lpstr>
      <vt:lpstr>簡單線性廻歸模型</vt:lpstr>
      <vt:lpstr>簡單線性廻歸模型</vt:lpstr>
      <vt:lpstr>簡單線性廻歸模型</vt:lpstr>
      <vt:lpstr>簡單線性廻歸模型</vt:lpstr>
      <vt:lpstr> 收壓縮與年齡簡單線性迴歸圖</vt:lpstr>
      <vt:lpstr>決定係數(coefficient of determination)</vt:lpstr>
      <vt:lpstr>決定係數(coefficient of determination)</vt:lpstr>
      <vt:lpstr>作業</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無投影片標題</dc:title>
  <dc:creator>I-Chen Chang</dc:creator>
  <cp:lastModifiedBy>User</cp:lastModifiedBy>
  <cp:revision>472</cp:revision>
  <dcterms:created xsi:type="dcterms:W3CDTF">2002-10-31T16:48:07Z</dcterms:created>
  <dcterms:modified xsi:type="dcterms:W3CDTF">2024-11-22T03:37:46Z</dcterms:modified>
</cp:coreProperties>
</file>