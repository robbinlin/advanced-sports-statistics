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notesMasterIdLst>
    <p:notesMasterId r:id="rId31"/>
  </p:notesMasterIdLst>
  <p:handoutMasterIdLst>
    <p:handoutMasterId r:id="rId32"/>
  </p:handoutMasterIdLst>
  <p:sldIdLst>
    <p:sldId id="285" r:id="rId2"/>
    <p:sldId id="348" r:id="rId3"/>
    <p:sldId id="298" r:id="rId4"/>
    <p:sldId id="329" r:id="rId5"/>
    <p:sldId id="331" r:id="rId6"/>
    <p:sldId id="332" r:id="rId7"/>
    <p:sldId id="320" r:id="rId8"/>
    <p:sldId id="327" r:id="rId9"/>
    <p:sldId id="322" r:id="rId10"/>
    <p:sldId id="323" r:id="rId11"/>
    <p:sldId id="324" r:id="rId12"/>
    <p:sldId id="335" r:id="rId13"/>
    <p:sldId id="336" r:id="rId14"/>
    <p:sldId id="337" r:id="rId15"/>
    <p:sldId id="338" r:id="rId16"/>
    <p:sldId id="340" r:id="rId17"/>
    <p:sldId id="339" r:id="rId18"/>
    <p:sldId id="341" r:id="rId19"/>
    <p:sldId id="342" r:id="rId20"/>
    <p:sldId id="343" r:id="rId21"/>
    <p:sldId id="344" r:id="rId22"/>
    <p:sldId id="353" r:id="rId23"/>
    <p:sldId id="352" r:id="rId24"/>
    <p:sldId id="347" r:id="rId25"/>
    <p:sldId id="354" r:id="rId26"/>
    <p:sldId id="355" r:id="rId27"/>
    <p:sldId id="356" r:id="rId28"/>
    <p:sldId id="351" r:id="rId29"/>
    <p:sldId id="303" r:id="rId30"/>
  </p:sldIdLst>
  <p:sldSz cx="9144000" cy="6858000" type="screen4x3"/>
  <p:notesSz cx="7010400" cy="9167813"/>
  <p:defaultTextStyle>
    <a:defPPr>
      <a:defRPr lang="en-US"/>
    </a:defPPr>
    <a:lvl1pPr algn="l" rtl="0" fontAlgn="base">
      <a:spcBef>
        <a:spcPct val="0"/>
      </a:spcBef>
      <a:spcAft>
        <a:spcPct val="0"/>
      </a:spcAft>
      <a:defRPr sz="2400" kern="1200">
        <a:solidFill>
          <a:schemeClr val="tx1"/>
        </a:solidFill>
        <a:latin typeface="Times New Roman" pitchFamily="18" charset="0"/>
        <a:ea typeface="新細明體" pitchFamily="18" charset="-120"/>
        <a:cs typeface="+mn-cs"/>
      </a:defRPr>
    </a:lvl1pPr>
    <a:lvl2pPr marL="457200" algn="l" rtl="0" fontAlgn="base">
      <a:spcBef>
        <a:spcPct val="0"/>
      </a:spcBef>
      <a:spcAft>
        <a:spcPct val="0"/>
      </a:spcAft>
      <a:defRPr sz="2400" kern="1200">
        <a:solidFill>
          <a:schemeClr val="tx1"/>
        </a:solidFill>
        <a:latin typeface="Times New Roman" pitchFamily="18" charset="0"/>
        <a:ea typeface="新細明體" pitchFamily="18" charset="-120"/>
        <a:cs typeface="+mn-cs"/>
      </a:defRPr>
    </a:lvl2pPr>
    <a:lvl3pPr marL="914400" algn="l" rtl="0" fontAlgn="base">
      <a:spcBef>
        <a:spcPct val="0"/>
      </a:spcBef>
      <a:spcAft>
        <a:spcPct val="0"/>
      </a:spcAft>
      <a:defRPr sz="2400" kern="1200">
        <a:solidFill>
          <a:schemeClr val="tx1"/>
        </a:solidFill>
        <a:latin typeface="Times New Roman" pitchFamily="18" charset="0"/>
        <a:ea typeface="新細明體" pitchFamily="18" charset="-120"/>
        <a:cs typeface="+mn-cs"/>
      </a:defRPr>
    </a:lvl3pPr>
    <a:lvl4pPr marL="1371600" algn="l" rtl="0" fontAlgn="base">
      <a:spcBef>
        <a:spcPct val="0"/>
      </a:spcBef>
      <a:spcAft>
        <a:spcPct val="0"/>
      </a:spcAft>
      <a:defRPr sz="2400" kern="1200">
        <a:solidFill>
          <a:schemeClr val="tx1"/>
        </a:solidFill>
        <a:latin typeface="Times New Roman" pitchFamily="18" charset="0"/>
        <a:ea typeface="新細明體" pitchFamily="18" charset="-120"/>
        <a:cs typeface="+mn-cs"/>
      </a:defRPr>
    </a:lvl4pPr>
    <a:lvl5pPr marL="1828800" algn="l" rtl="0" fontAlgn="base">
      <a:spcBef>
        <a:spcPct val="0"/>
      </a:spcBef>
      <a:spcAft>
        <a:spcPct val="0"/>
      </a:spcAft>
      <a:defRPr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sz="2400" kern="1200">
        <a:solidFill>
          <a:schemeClr val="tx1"/>
        </a:solidFill>
        <a:latin typeface="Times New Roman" pitchFamily="18" charset="0"/>
        <a:ea typeface="新細明體" pitchFamily="18" charset="-120"/>
        <a:cs typeface="+mn-cs"/>
      </a:defRPr>
    </a:lvl9pPr>
  </p:defaultTextStyle>
  <p:extLst>
    <p:ext uri="{521415D9-36F7-43E2-AB2F-B90AF26B5E84}">
      <p14:sectionLst xmlns:p14="http://schemas.microsoft.com/office/powerpoint/2010/main">
        <p14:section name="預設章節" id="{BB5DDB68-EEC3-4706-B95C-4B65A3A860DE}">
          <p14:sldIdLst>
            <p14:sldId id="285"/>
            <p14:sldId id="348"/>
            <p14:sldId id="298"/>
            <p14:sldId id="329"/>
            <p14:sldId id="331"/>
            <p14:sldId id="332"/>
            <p14:sldId id="320"/>
            <p14:sldId id="327"/>
            <p14:sldId id="322"/>
            <p14:sldId id="323"/>
            <p14:sldId id="324"/>
            <p14:sldId id="335"/>
            <p14:sldId id="336"/>
            <p14:sldId id="337"/>
            <p14:sldId id="338"/>
            <p14:sldId id="340"/>
            <p14:sldId id="339"/>
            <p14:sldId id="341"/>
            <p14:sldId id="342"/>
            <p14:sldId id="343"/>
            <p14:sldId id="344"/>
            <p14:sldId id="353"/>
            <p14:sldId id="352"/>
            <p14:sldId id="347"/>
          </p14:sldIdLst>
        </p14:section>
        <p14:section name="未命名的章節" id="{FA0B83D6-0DB2-4ADD-B281-E040C9857F7D}">
          <p14:sldIdLst>
            <p14:sldId id="354"/>
          </p14:sldIdLst>
        </p14:section>
        <p14:section name="未命名的章節" id="{04D2E071-31F0-44CB-AF8B-68CCA23A3C52}">
          <p14:sldIdLst/>
        </p14:section>
        <p14:section name="未命名的章節" id="{ED0C104D-E973-432C-B8A2-636157E2E1A0}">
          <p14:sldIdLst>
            <p14:sldId id="355"/>
            <p14:sldId id="356"/>
            <p14:sldId id="351"/>
            <p14:sldId id="30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7">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0000"/>
    <a:srgbClr val="3333CC"/>
    <a:srgbClr val="FFFF00"/>
    <a:srgbClr val="CCECFF"/>
    <a:srgbClr val="FFFFCC"/>
    <a:srgbClr val="FFCC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6387" autoAdjust="0"/>
  </p:normalViewPr>
  <p:slideViewPr>
    <p:cSldViewPr>
      <p:cViewPr varScale="1">
        <p:scale>
          <a:sx n="101" d="100"/>
          <a:sy n="101" d="100"/>
        </p:scale>
        <p:origin x="1920" y="102"/>
      </p:cViewPr>
      <p:guideLst>
        <p:guide orient="horz" pos="2160"/>
        <p:guide pos="2880"/>
      </p:guideLst>
    </p:cSldViewPr>
  </p:slideViewPr>
  <p:outlineViewPr>
    <p:cViewPr>
      <p:scale>
        <a:sx n="33" d="100"/>
        <a:sy n="33" d="100"/>
      </p:scale>
      <p:origin x="0" y="-19602"/>
    </p:cViewPr>
  </p:outlineViewPr>
  <p:notesTextViewPr>
    <p:cViewPr>
      <p:scale>
        <a:sx n="100" d="100"/>
        <a:sy n="100" d="100"/>
      </p:scale>
      <p:origin x="0" y="0"/>
    </p:cViewPr>
  </p:notesTextViewPr>
  <p:sorterViewPr>
    <p:cViewPr>
      <p:scale>
        <a:sx n="66" d="100"/>
        <a:sy n="66" d="100"/>
      </p:scale>
      <p:origin x="0" y="-684"/>
    </p:cViewPr>
  </p:sorterViewPr>
  <p:notesViewPr>
    <p:cSldViewPr>
      <p:cViewPr varScale="1">
        <p:scale>
          <a:sx n="40" d="100"/>
          <a:sy n="40" d="100"/>
        </p:scale>
        <p:origin x="-1488" y="-96"/>
      </p:cViewPr>
      <p:guideLst>
        <p:guide orient="horz" pos="2887"/>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99A109-444C-4523-93B6-49F50955CA8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03D9EA6-8409-4FDA-AA80-48F777CDDF17}">
      <dgm:prSet/>
      <dgm:spPr/>
      <dgm:t>
        <a:bodyPr/>
        <a:lstStyle/>
        <a:p>
          <a:r>
            <a:rPr lang="zh-TW" dirty="0"/>
            <a:t>母群體特性中最重要的是</a:t>
          </a:r>
          <a:r>
            <a:rPr lang="zh-TW" b="1" dirty="0">
              <a:solidFill>
                <a:srgbClr val="FF0000"/>
              </a:solidFill>
            </a:rPr>
            <a:t>母體平均值、標準差及母體比例</a:t>
          </a:r>
          <a:r>
            <a:rPr lang="zh-TW" dirty="0"/>
            <a:t>，例如攝取乳清蛋白的小孩在平均跳高及標準差；如何使用所收集的樣本去估計這些母體參數？</a:t>
          </a:r>
          <a:endParaRPr lang="en-US" dirty="0"/>
        </a:p>
      </dgm:t>
    </dgm:pt>
    <dgm:pt modelId="{385C1CDB-D00B-4626-823E-5208FE86DBB8}" type="parTrans" cxnId="{CD76DCD5-F6AC-4F4B-8950-A4E4233BE453}">
      <dgm:prSet/>
      <dgm:spPr/>
      <dgm:t>
        <a:bodyPr/>
        <a:lstStyle/>
        <a:p>
          <a:endParaRPr lang="en-US"/>
        </a:p>
      </dgm:t>
    </dgm:pt>
    <dgm:pt modelId="{27D6F679-2872-44EA-803B-DF0C3D14D98A}" type="sibTrans" cxnId="{CD76DCD5-F6AC-4F4B-8950-A4E4233BE453}">
      <dgm:prSet/>
      <dgm:spPr/>
      <dgm:t>
        <a:bodyPr/>
        <a:lstStyle/>
        <a:p>
          <a:endParaRPr lang="en-US"/>
        </a:p>
      </dgm:t>
    </dgm:pt>
    <dgm:pt modelId="{3E9F935A-77D3-46C2-AA30-3BD51596BEF8}">
      <dgm:prSet/>
      <dgm:spPr/>
      <dgm:t>
        <a:bodyPr/>
        <a:lstStyle/>
        <a:p>
          <a:r>
            <a:rPr lang="zh-TW" dirty="0"/>
            <a:t>統計估計的技巧在於如何</a:t>
          </a:r>
          <a:r>
            <a:rPr lang="zh-TW" b="1" dirty="0">
              <a:solidFill>
                <a:srgbClr val="FF0000"/>
              </a:solidFill>
            </a:rPr>
            <a:t>利用樣本做出最佳推論</a:t>
          </a:r>
          <a:r>
            <a:rPr lang="zh-TW" dirty="0"/>
            <a:t>，然而資料來自母群體抽樣，不同次抽樣所獲得的估計值也不盡相同，如何評估估計值與母群體參數的差異？。</a:t>
          </a:r>
          <a:endParaRPr lang="en-US" dirty="0"/>
        </a:p>
      </dgm:t>
    </dgm:pt>
    <dgm:pt modelId="{AE846285-DB5B-401E-8AC8-A64D936C5562}" type="parTrans" cxnId="{1C2A2168-2C87-466C-8206-79863B55785C}">
      <dgm:prSet/>
      <dgm:spPr/>
      <dgm:t>
        <a:bodyPr/>
        <a:lstStyle/>
        <a:p>
          <a:endParaRPr lang="en-US"/>
        </a:p>
      </dgm:t>
    </dgm:pt>
    <dgm:pt modelId="{0D58FA24-68A7-4E86-9A2E-640ABA660DB5}" type="sibTrans" cxnId="{1C2A2168-2C87-466C-8206-79863B55785C}">
      <dgm:prSet/>
      <dgm:spPr/>
      <dgm:t>
        <a:bodyPr/>
        <a:lstStyle/>
        <a:p>
          <a:endParaRPr lang="en-US"/>
        </a:p>
      </dgm:t>
    </dgm:pt>
    <dgm:pt modelId="{206FC52A-EE1F-409D-BB32-9257A0DBAB3C}">
      <dgm:prSet/>
      <dgm:spPr/>
      <dgm:t>
        <a:bodyPr/>
        <a:lstStyle/>
        <a:p>
          <a:r>
            <a:rPr lang="zh-TW" dirty="0"/>
            <a:t>因為樣本平均數或標準差這些估計值都是</a:t>
          </a:r>
          <a:r>
            <a:rPr lang="zh-TW" b="1" dirty="0">
              <a:solidFill>
                <a:srgbClr val="FF0000"/>
              </a:solidFill>
            </a:rPr>
            <a:t>一個單值</a:t>
          </a:r>
          <a:r>
            <a:rPr lang="zh-TW" dirty="0"/>
            <a:t>，不是區間或範圍，所以又稱為點估計值</a:t>
          </a:r>
          <a:r>
            <a:rPr lang="en-US" dirty="0"/>
            <a:t>(point estimates)</a:t>
          </a:r>
          <a:r>
            <a:rPr lang="zh-TW" dirty="0"/>
            <a:t>。</a:t>
          </a:r>
          <a:endParaRPr lang="en-US" dirty="0"/>
        </a:p>
      </dgm:t>
    </dgm:pt>
    <dgm:pt modelId="{B31DFB41-CE42-4E4A-8936-FA8CED9196D7}" type="parTrans" cxnId="{BE40D510-FB4E-407C-A46A-6D81B516E83F}">
      <dgm:prSet/>
      <dgm:spPr/>
      <dgm:t>
        <a:bodyPr/>
        <a:lstStyle/>
        <a:p>
          <a:endParaRPr lang="en-US"/>
        </a:p>
      </dgm:t>
    </dgm:pt>
    <dgm:pt modelId="{161A532C-B6D1-487E-A7B4-59F426DEB5D5}" type="sibTrans" cxnId="{BE40D510-FB4E-407C-A46A-6D81B516E83F}">
      <dgm:prSet/>
      <dgm:spPr/>
      <dgm:t>
        <a:bodyPr/>
        <a:lstStyle/>
        <a:p>
          <a:endParaRPr lang="en-US"/>
        </a:p>
      </dgm:t>
    </dgm:pt>
    <dgm:pt modelId="{4CBCD57A-86C8-44AB-BFA7-349FCC3E3D5D}" type="pres">
      <dgm:prSet presAssocID="{4199A109-444C-4523-93B6-49F50955CA87}" presName="root" presStyleCnt="0">
        <dgm:presLayoutVars>
          <dgm:dir/>
          <dgm:resizeHandles val="exact"/>
        </dgm:presLayoutVars>
      </dgm:prSet>
      <dgm:spPr/>
    </dgm:pt>
    <dgm:pt modelId="{70A12A83-D337-48C9-9FF8-D87525CA5516}" type="pres">
      <dgm:prSet presAssocID="{903D9EA6-8409-4FDA-AA80-48F777CDDF17}" presName="compNode" presStyleCnt="0"/>
      <dgm:spPr/>
    </dgm:pt>
    <dgm:pt modelId="{2F4A6998-1473-47C0-9EC3-45D43FFAFAB5}" type="pres">
      <dgm:prSet presAssocID="{903D9EA6-8409-4FDA-AA80-48F777CDDF17}" presName="bgRect" presStyleLbl="bgShp" presStyleIdx="0" presStyleCnt="3"/>
      <dgm:spPr/>
    </dgm:pt>
    <dgm:pt modelId="{B8591814-DF8E-4F19-853E-6C14DB0E5019}" type="pres">
      <dgm:prSet presAssocID="{903D9EA6-8409-4FDA-AA80-48F777CDDF1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字幕"/>
        </a:ext>
      </dgm:extLst>
    </dgm:pt>
    <dgm:pt modelId="{ECD9A20F-5DF4-4963-B478-B31F47F73069}" type="pres">
      <dgm:prSet presAssocID="{903D9EA6-8409-4FDA-AA80-48F777CDDF17}" presName="spaceRect" presStyleCnt="0"/>
      <dgm:spPr/>
    </dgm:pt>
    <dgm:pt modelId="{C3019137-BBAA-4E56-8113-2BE777639077}" type="pres">
      <dgm:prSet presAssocID="{903D9EA6-8409-4FDA-AA80-48F777CDDF17}" presName="parTx" presStyleLbl="revTx" presStyleIdx="0" presStyleCnt="3">
        <dgm:presLayoutVars>
          <dgm:chMax val="0"/>
          <dgm:chPref val="0"/>
        </dgm:presLayoutVars>
      </dgm:prSet>
      <dgm:spPr/>
    </dgm:pt>
    <dgm:pt modelId="{70B9BB1F-48B4-49B8-B66C-149E8DC00B42}" type="pres">
      <dgm:prSet presAssocID="{27D6F679-2872-44EA-803B-DF0C3D14D98A}" presName="sibTrans" presStyleCnt="0"/>
      <dgm:spPr/>
    </dgm:pt>
    <dgm:pt modelId="{5E3930FF-272F-4298-A49B-E7715C6C3C4D}" type="pres">
      <dgm:prSet presAssocID="{3E9F935A-77D3-46C2-AA30-3BD51596BEF8}" presName="compNode" presStyleCnt="0"/>
      <dgm:spPr/>
    </dgm:pt>
    <dgm:pt modelId="{3B65229B-54ED-4800-B3CD-52C9CC9E27C7}" type="pres">
      <dgm:prSet presAssocID="{3E9F935A-77D3-46C2-AA30-3BD51596BEF8}" presName="bgRect" presStyleLbl="bgShp" presStyleIdx="1" presStyleCnt="3"/>
      <dgm:spPr/>
    </dgm:pt>
    <dgm:pt modelId="{330D9803-AF6B-4415-8043-0076C4C37011}" type="pres">
      <dgm:prSet presAssocID="{3E9F935A-77D3-46C2-AA30-3BD51596BEF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ycle with People"/>
        </a:ext>
      </dgm:extLst>
    </dgm:pt>
    <dgm:pt modelId="{F34DA5D7-1E69-4C78-A7F6-F682B1C676B4}" type="pres">
      <dgm:prSet presAssocID="{3E9F935A-77D3-46C2-AA30-3BD51596BEF8}" presName="spaceRect" presStyleCnt="0"/>
      <dgm:spPr/>
    </dgm:pt>
    <dgm:pt modelId="{A01FFAA8-547C-4349-809E-29F26B9584D2}" type="pres">
      <dgm:prSet presAssocID="{3E9F935A-77D3-46C2-AA30-3BD51596BEF8}" presName="parTx" presStyleLbl="revTx" presStyleIdx="1" presStyleCnt="3">
        <dgm:presLayoutVars>
          <dgm:chMax val="0"/>
          <dgm:chPref val="0"/>
        </dgm:presLayoutVars>
      </dgm:prSet>
      <dgm:spPr/>
    </dgm:pt>
    <dgm:pt modelId="{9EE7A4D7-69A4-4633-9A2C-CF7AD496F0AF}" type="pres">
      <dgm:prSet presAssocID="{0D58FA24-68A7-4E86-9A2E-640ABA660DB5}" presName="sibTrans" presStyleCnt="0"/>
      <dgm:spPr/>
    </dgm:pt>
    <dgm:pt modelId="{308BAE06-16A3-4B3A-B972-99BBD2639992}" type="pres">
      <dgm:prSet presAssocID="{206FC52A-EE1F-409D-BB32-9257A0DBAB3C}" presName="compNode" presStyleCnt="0"/>
      <dgm:spPr/>
    </dgm:pt>
    <dgm:pt modelId="{55E329DE-3314-482D-927D-33CD946F0DFC}" type="pres">
      <dgm:prSet presAssocID="{206FC52A-EE1F-409D-BB32-9257A0DBAB3C}" presName="bgRect" presStyleLbl="bgShp" presStyleIdx="2" presStyleCnt="3"/>
      <dgm:spPr/>
    </dgm:pt>
    <dgm:pt modelId="{EBC9EB2B-6057-4A60-8884-0BA59FD28BCA}" type="pres">
      <dgm:prSet presAssocID="{206FC52A-EE1F-409D-BB32-9257A0DBAB3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行銷"/>
        </a:ext>
      </dgm:extLst>
    </dgm:pt>
    <dgm:pt modelId="{21186F88-FCCE-4F29-8758-F183C88D157E}" type="pres">
      <dgm:prSet presAssocID="{206FC52A-EE1F-409D-BB32-9257A0DBAB3C}" presName="spaceRect" presStyleCnt="0"/>
      <dgm:spPr/>
    </dgm:pt>
    <dgm:pt modelId="{4A933543-5BB1-4852-9991-16FE5F65BB5E}" type="pres">
      <dgm:prSet presAssocID="{206FC52A-EE1F-409D-BB32-9257A0DBAB3C}" presName="parTx" presStyleLbl="revTx" presStyleIdx="2" presStyleCnt="3">
        <dgm:presLayoutVars>
          <dgm:chMax val="0"/>
          <dgm:chPref val="0"/>
        </dgm:presLayoutVars>
      </dgm:prSet>
      <dgm:spPr/>
    </dgm:pt>
  </dgm:ptLst>
  <dgm:cxnLst>
    <dgm:cxn modelId="{C338BA08-013A-4CD0-B65F-A17366F07A15}" type="presOf" srcId="{206FC52A-EE1F-409D-BB32-9257A0DBAB3C}" destId="{4A933543-5BB1-4852-9991-16FE5F65BB5E}" srcOrd="0" destOrd="0" presId="urn:microsoft.com/office/officeart/2018/2/layout/IconVerticalSolidList"/>
    <dgm:cxn modelId="{BE40D510-FB4E-407C-A46A-6D81B516E83F}" srcId="{4199A109-444C-4523-93B6-49F50955CA87}" destId="{206FC52A-EE1F-409D-BB32-9257A0DBAB3C}" srcOrd="2" destOrd="0" parTransId="{B31DFB41-CE42-4E4A-8936-FA8CED9196D7}" sibTransId="{161A532C-B6D1-487E-A7B4-59F426DEB5D5}"/>
    <dgm:cxn modelId="{1C2A2168-2C87-466C-8206-79863B55785C}" srcId="{4199A109-444C-4523-93B6-49F50955CA87}" destId="{3E9F935A-77D3-46C2-AA30-3BD51596BEF8}" srcOrd="1" destOrd="0" parTransId="{AE846285-DB5B-401E-8AC8-A64D936C5562}" sibTransId="{0D58FA24-68A7-4E86-9A2E-640ABA660DB5}"/>
    <dgm:cxn modelId="{9B709348-BA7B-4165-964A-A8577F0A83E1}" type="presOf" srcId="{3E9F935A-77D3-46C2-AA30-3BD51596BEF8}" destId="{A01FFAA8-547C-4349-809E-29F26B9584D2}" srcOrd="0" destOrd="0" presId="urn:microsoft.com/office/officeart/2018/2/layout/IconVerticalSolidList"/>
    <dgm:cxn modelId="{1AC99D75-2FD4-47C4-BE0C-A860E85F6EE8}" type="presOf" srcId="{903D9EA6-8409-4FDA-AA80-48F777CDDF17}" destId="{C3019137-BBAA-4E56-8113-2BE777639077}" srcOrd="0" destOrd="0" presId="urn:microsoft.com/office/officeart/2018/2/layout/IconVerticalSolidList"/>
    <dgm:cxn modelId="{CD76DCD5-F6AC-4F4B-8950-A4E4233BE453}" srcId="{4199A109-444C-4523-93B6-49F50955CA87}" destId="{903D9EA6-8409-4FDA-AA80-48F777CDDF17}" srcOrd="0" destOrd="0" parTransId="{385C1CDB-D00B-4626-823E-5208FE86DBB8}" sibTransId="{27D6F679-2872-44EA-803B-DF0C3D14D98A}"/>
    <dgm:cxn modelId="{4A6762FD-F745-46D0-B2B2-DF3046881FDB}" type="presOf" srcId="{4199A109-444C-4523-93B6-49F50955CA87}" destId="{4CBCD57A-86C8-44AB-BFA7-349FCC3E3D5D}" srcOrd="0" destOrd="0" presId="urn:microsoft.com/office/officeart/2018/2/layout/IconVerticalSolidList"/>
    <dgm:cxn modelId="{53CAA7A7-F243-4697-A6F1-6A716AB1E63F}" type="presParOf" srcId="{4CBCD57A-86C8-44AB-BFA7-349FCC3E3D5D}" destId="{70A12A83-D337-48C9-9FF8-D87525CA5516}" srcOrd="0" destOrd="0" presId="urn:microsoft.com/office/officeart/2018/2/layout/IconVerticalSolidList"/>
    <dgm:cxn modelId="{EA3D556E-A70A-4EB4-9651-395160FCB43A}" type="presParOf" srcId="{70A12A83-D337-48C9-9FF8-D87525CA5516}" destId="{2F4A6998-1473-47C0-9EC3-45D43FFAFAB5}" srcOrd="0" destOrd="0" presId="urn:microsoft.com/office/officeart/2018/2/layout/IconVerticalSolidList"/>
    <dgm:cxn modelId="{6F1E2318-AE0B-4E23-8E3C-1074444B46CB}" type="presParOf" srcId="{70A12A83-D337-48C9-9FF8-D87525CA5516}" destId="{B8591814-DF8E-4F19-853E-6C14DB0E5019}" srcOrd="1" destOrd="0" presId="urn:microsoft.com/office/officeart/2018/2/layout/IconVerticalSolidList"/>
    <dgm:cxn modelId="{2DC3EF0E-6832-454F-BDE0-F371BFA944F2}" type="presParOf" srcId="{70A12A83-D337-48C9-9FF8-D87525CA5516}" destId="{ECD9A20F-5DF4-4963-B478-B31F47F73069}" srcOrd="2" destOrd="0" presId="urn:microsoft.com/office/officeart/2018/2/layout/IconVerticalSolidList"/>
    <dgm:cxn modelId="{8C7DD1A2-6377-4311-A69D-FABDF3FB9593}" type="presParOf" srcId="{70A12A83-D337-48C9-9FF8-D87525CA5516}" destId="{C3019137-BBAA-4E56-8113-2BE777639077}" srcOrd="3" destOrd="0" presId="urn:microsoft.com/office/officeart/2018/2/layout/IconVerticalSolidList"/>
    <dgm:cxn modelId="{6729BD58-E2C0-4B28-8FFC-C64A79F5E2FA}" type="presParOf" srcId="{4CBCD57A-86C8-44AB-BFA7-349FCC3E3D5D}" destId="{70B9BB1F-48B4-49B8-B66C-149E8DC00B42}" srcOrd="1" destOrd="0" presId="urn:microsoft.com/office/officeart/2018/2/layout/IconVerticalSolidList"/>
    <dgm:cxn modelId="{42D76FD7-1EC0-4FE3-9A7B-217F5DA85278}" type="presParOf" srcId="{4CBCD57A-86C8-44AB-BFA7-349FCC3E3D5D}" destId="{5E3930FF-272F-4298-A49B-E7715C6C3C4D}" srcOrd="2" destOrd="0" presId="urn:microsoft.com/office/officeart/2018/2/layout/IconVerticalSolidList"/>
    <dgm:cxn modelId="{8E0692CD-4229-4EBF-AE8A-1E90378E2947}" type="presParOf" srcId="{5E3930FF-272F-4298-A49B-E7715C6C3C4D}" destId="{3B65229B-54ED-4800-B3CD-52C9CC9E27C7}" srcOrd="0" destOrd="0" presId="urn:microsoft.com/office/officeart/2018/2/layout/IconVerticalSolidList"/>
    <dgm:cxn modelId="{3549D745-326C-4E79-B42B-329CEDDD0CA9}" type="presParOf" srcId="{5E3930FF-272F-4298-A49B-E7715C6C3C4D}" destId="{330D9803-AF6B-4415-8043-0076C4C37011}" srcOrd="1" destOrd="0" presId="urn:microsoft.com/office/officeart/2018/2/layout/IconVerticalSolidList"/>
    <dgm:cxn modelId="{DFFA942D-A691-4E8A-9CD4-8A8A32493367}" type="presParOf" srcId="{5E3930FF-272F-4298-A49B-E7715C6C3C4D}" destId="{F34DA5D7-1E69-4C78-A7F6-F682B1C676B4}" srcOrd="2" destOrd="0" presId="urn:microsoft.com/office/officeart/2018/2/layout/IconVerticalSolidList"/>
    <dgm:cxn modelId="{2B4DA970-D1FA-4840-92FC-5E4935CEFCC7}" type="presParOf" srcId="{5E3930FF-272F-4298-A49B-E7715C6C3C4D}" destId="{A01FFAA8-547C-4349-809E-29F26B9584D2}" srcOrd="3" destOrd="0" presId="urn:microsoft.com/office/officeart/2018/2/layout/IconVerticalSolidList"/>
    <dgm:cxn modelId="{CCFF31CE-966C-43AF-A5B9-312D4EC9C259}" type="presParOf" srcId="{4CBCD57A-86C8-44AB-BFA7-349FCC3E3D5D}" destId="{9EE7A4D7-69A4-4633-9A2C-CF7AD496F0AF}" srcOrd="3" destOrd="0" presId="urn:microsoft.com/office/officeart/2018/2/layout/IconVerticalSolidList"/>
    <dgm:cxn modelId="{AF8EDDA9-3C5B-4A8F-9324-C6CF3BEB68BB}" type="presParOf" srcId="{4CBCD57A-86C8-44AB-BFA7-349FCC3E3D5D}" destId="{308BAE06-16A3-4B3A-B972-99BBD2639992}" srcOrd="4" destOrd="0" presId="urn:microsoft.com/office/officeart/2018/2/layout/IconVerticalSolidList"/>
    <dgm:cxn modelId="{BEBACA91-CE85-49FB-B719-B115F5F0A9FC}" type="presParOf" srcId="{308BAE06-16A3-4B3A-B972-99BBD2639992}" destId="{55E329DE-3314-482D-927D-33CD946F0DFC}" srcOrd="0" destOrd="0" presId="urn:microsoft.com/office/officeart/2018/2/layout/IconVerticalSolidList"/>
    <dgm:cxn modelId="{B1D0CE5E-1F29-4410-90BE-D0548A05FDE3}" type="presParOf" srcId="{308BAE06-16A3-4B3A-B972-99BBD2639992}" destId="{EBC9EB2B-6057-4A60-8884-0BA59FD28BCA}" srcOrd="1" destOrd="0" presId="urn:microsoft.com/office/officeart/2018/2/layout/IconVerticalSolidList"/>
    <dgm:cxn modelId="{F4C81A94-18C6-4C74-ABEB-B252B12896A0}" type="presParOf" srcId="{308BAE06-16A3-4B3A-B972-99BBD2639992}" destId="{21186F88-FCCE-4F29-8758-F183C88D157E}" srcOrd="2" destOrd="0" presId="urn:microsoft.com/office/officeart/2018/2/layout/IconVerticalSolidList"/>
    <dgm:cxn modelId="{9F073C67-31E0-4AF1-A0B4-BF687DD82B3A}" type="presParOf" srcId="{308BAE06-16A3-4B3A-B972-99BBD2639992}" destId="{4A933543-5BB1-4852-9991-16FE5F65BB5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A6998-1473-47C0-9EC3-45D43FFAFAB5}">
      <dsp:nvSpPr>
        <dsp:cNvPr id="0" name=""/>
        <dsp:cNvSpPr/>
      </dsp:nvSpPr>
      <dsp:spPr>
        <a:xfrm>
          <a:off x="0" y="729"/>
          <a:ext cx="5376439" cy="17072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591814-DF8E-4F19-853E-6C14DB0E5019}">
      <dsp:nvSpPr>
        <dsp:cNvPr id="0" name=""/>
        <dsp:cNvSpPr/>
      </dsp:nvSpPr>
      <dsp:spPr>
        <a:xfrm>
          <a:off x="516428" y="384849"/>
          <a:ext cx="938960" cy="9389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019137-BBAA-4E56-8113-2BE777639077}">
      <dsp:nvSpPr>
        <dsp:cNvPr id="0" name=""/>
        <dsp:cNvSpPr/>
      </dsp:nvSpPr>
      <dsp:spPr>
        <a:xfrm>
          <a:off x="1971817" y="729"/>
          <a:ext cx="3404621" cy="170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679" tIns="180679" rIns="180679" bIns="180679" numCol="1" spcCol="1270" anchor="ctr" anchorCtr="0">
          <a:noAutofit/>
        </a:bodyPr>
        <a:lstStyle/>
        <a:p>
          <a:pPr marL="0" lvl="0" indent="0" algn="l" defTabSz="711200">
            <a:lnSpc>
              <a:spcPct val="90000"/>
            </a:lnSpc>
            <a:spcBef>
              <a:spcPct val="0"/>
            </a:spcBef>
            <a:spcAft>
              <a:spcPct val="35000"/>
            </a:spcAft>
            <a:buNone/>
          </a:pPr>
          <a:r>
            <a:rPr lang="zh-TW" sz="1600" kern="1200" dirty="0"/>
            <a:t>母群體特性中最重要的是</a:t>
          </a:r>
          <a:r>
            <a:rPr lang="zh-TW" sz="1600" b="1" kern="1200" dirty="0">
              <a:solidFill>
                <a:srgbClr val="FF0000"/>
              </a:solidFill>
            </a:rPr>
            <a:t>母體平均值、標準差及母體比例</a:t>
          </a:r>
          <a:r>
            <a:rPr lang="zh-TW" sz="1600" kern="1200" dirty="0"/>
            <a:t>，例如攝取乳清蛋白的小孩在平均跳高及標準差；如何使用所收集的樣本去估計這些母體參數？</a:t>
          </a:r>
          <a:endParaRPr lang="en-US" sz="1600" kern="1200" dirty="0"/>
        </a:p>
      </dsp:txBody>
      <dsp:txXfrm>
        <a:off x="1971817" y="729"/>
        <a:ext cx="3404621" cy="1707201"/>
      </dsp:txXfrm>
    </dsp:sp>
    <dsp:sp modelId="{3B65229B-54ED-4800-B3CD-52C9CC9E27C7}">
      <dsp:nvSpPr>
        <dsp:cNvPr id="0" name=""/>
        <dsp:cNvSpPr/>
      </dsp:nvSpPr>
      <dsp:spPr>
        <a:xfrm>
          <a:off x="0" y="2134731"/>
          <a:ext cx="5376439" cy="17072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0D9803-AF6B-4415-8043-0076C4C37011}">
      <dsp:nvSpPr>
        <dsp:cNvPr id="0" name=""/>
        <dsp:cNvSpPr/>
      </dsp:nvSpPr>
      <dsp:spPr>
        <a:xfrm>
          <a:off x="516428" y="2518851"/>
          <a:ext cx="938960" cy="9389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1FFAA8-547C-4349-809E-29F26B9584D2}">
      <dsp:nvSpPr>
        <dsp:cNvPr id="0" name=""/>
        <dsp:cNvSpPr/>
      </dsp:nvSpPr>
      <dsp:spPr>
        <a:xfrm>
          <a:off x="1971817" y="2134731"/>
          <a:ext cx="3404621" cy="170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679" tIns="180679" rIns="180679" bIns="180679" numCol="1" spcCol="1270" anchor="ctr" anchorCtr="0">
          <a:noAutofit/>
        </a:bodyPr>
        <a:lstStyle/>
        <a:p>
          <a:pPr marL="0" lvl="0" indent="0" algn="l" defTabSz="711200">
            <a:lnSpc>
              <a:spcPct val="90000"/>
            </a:lnSpc>
            <a:spcBef>
              <a:spcPct val="0"/>
            </a:spcBef>
            <a:spcAft>
              <a:spcPct val="35000"/>
            </a:spcAft>
            <a:buNone/>
          </a:pPr>
          <a:r>
            <a:rPr lang="zh-TW" sz="1600" kern="1200" dirty="0"/>
            <a:t>統計估計的技巧在於如何</a:t>
          </a:r>
          <a:r>
            <a:rPr lang="zh-TW" sz="1600" b="1" kern="1200" dirty="0">
              <a:solidFill>
                <a:srgbClr val="FF0000"/>
              </a:solidFill>
            </a:rPr>
            <a:t>利用樣本做出最佳推論</a:t>
          </a:r>
          <a:r>
            <a:rPr lang="zh-TW" sz="1600" kern="1200" dirty="0"/>
            <a:t>，然而資料來自母群體抽樣，不同次抽樣所獲得的估計值也不盡相同，如何評估估計值與母群體參數的差異？。</a:t>
          </a:r>
          <a:endParaRPr lang="en-US" sz="1600" kern="1200" dirty="0"/>
        </a:p>
      </dsp:txBody>
      <dsp:txXfrm>
        <a:off x="1971817" y="2134731"/>
        <a:ext cx="3404621" cy="1707201"/>
      </dsp:txXfrm>
    </dsp:sp>
    <dsp:sp modelId="{55E329DE-3314-482D-927D-33CD946F0DFC}">
      <dsp:nvSpPr>
        <dsp:cNvPr id="0" name=""/>
        <dsp:cNvSpPr/>
      </dsp:nvSpPr>
      <dsp:spPr>
        <a:xfrm>
          <a:off x="0" y="4268733"/>
          <a:ext cx="5376439" cy="170720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C9EB2B-6057-4A60-8884-0BA59FD28BCA}">
      <dsp:nvSpPr>
        <dsp:cNvPr id="0" name=""/>
        <dsp:cNvSpPr/>
      </dsp:nvSpPr>
      <dsp:spPr>
        <a:xfrm>
          <a:off x="516428" y="4652853"/>
          <a:ext cx="938960" cy="9389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933543-5BB1-4852-9991-16FE5F65BB5E}">
      <dsp:nvSpPr>
        <dsp:cNvPr id="0" name=""/>
        <dsp:cNvSpPr/>
      </dsp:nvSpPr>
      <dsp:spPr>
        <a:xfrm>
          <a:off x="1971817" y="4268733"/>
          <a:ext cx="3404621" cy="1707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0679" tIns="180679" rIns="180679" bIns="180679" numCol="1" spcCol="1270" anchor="ctr" anchorCtr="0">
          <a:noAutofit/>
        </a:bodyPr>
        <a:lstStyle/>
        <a:p>
          <a:pPr marL="0" lvl="0" indent="0" algn="l" defTabSz="711200">
            <a:lnSpc>
              <a:spcPct val="90000"/>
            </a:lnSpc>
            <a:spcBef>
              <a:spcPct val="0"/>
            </a:spcBef>
            <a:spcAft>
              <a:spcPct val="35000"/>
            </a:spcAft>
            <a:buNone/>
          </a:pPr>
          <a:r>
            <a:rPr lang="zh-TW" sz="1600" kern="1200" dirty="0"/>
            <a:t>因為樣本平均數或標準差這些估計值都是</a:t>
          </a:r>
          <a:r>
            <a:rPr lang="zh-TW" sz="1600" b="1" kern="1200" dirty="0">
              <a:solidFill>
                <a:srgbClr val="FF0000"/>
              </a:solidFill>
            </a:rPr>
            <a:t>一個單值</a:t>
          </a:r>
          <a:r>
            <a:rPr lang="zh-TW" sz="1600" kern="1200" dirty="0"/>
            <a:t>，不是區間或範圍，所以又稱為點估計值</a:t>
          </a:r>
          <a:r>
            <a:rPr lang="en-US" sz="1600" kern="1200" dirty="0"/>
            <a:t>(point estimates)</a:t>
          </a:r>
          <a:r>
            <a:rPr lang="zh-TW" sz="1600" kern="1200" dirty="0"/>
            <a:t>。</a:t>
          </a:r>
          <a:endParaRPr lang="en-US" sz="1600" kern="1200" dirty="0"/>
        </a:p>
      </dsp:txBody>
      <dsp:txXfrm>
        <a:off x="1971817" y="4268733"/>
        <a:ext cx="3404621" cy="17072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4099" name="Rectangle 3"/>
          <p:cNvSpPr>
            <a:spLocks noGrp="1" noChangeArrowheads="1"/>
          </p:cNvSpPr>
          <p:nvPr>
            <p:ph type="dt" sz="quarter"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4100" name="Rectangle 4"/>
          <p:cNvSpPr>
            <a:spLocks noGrp="1" noChangeArrowheads="1"/>
          </p:cNvSpPr>
          <p:nvPr>
            <p:ph type="ftr" sz="quarter" idx="2"/>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4101" name="Rectangle 5"/>
          <p:cNvSpPr>
            <a:spLocks noGrp="1" noChangeArrowheads="1"/>
          </p:cNvSpPr>
          <p:nvPr>
            <p:ph type="sldNum" sz="quarter" idx="3"/>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70F4BBA2-0881-46FD-9FE3-D2C6230B5628}" type="slidenum">
              <a:rPr lang="zh-TW" altLang="en-US"/>
              <a:pPr>
                <a:defRPr/>
              </a:pPr>
              <a:t>‹#›</a:t>
            </a:fld>
            <a:endParaRPr lang="en-US" altLang="zh-TW"/>
          </a:p>
        </p:txBody>
      </p:sp>
    </p:spTree>
    <p:extLst>
      <p:ext uri="{BB962C8B-B14F-4D97-AF65-F5344CB8AC3E}">
        <p14:creationId xmlns:p14="http://schemas.microsoft.com/office/powerpoint/2010/main" val="26431231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defTabSz="923925">
              <a:defRPr kumimoji="1" sz="1200" smtClean="0"/>
            </a:lvl1pPr>
          </a:lstStyle>
          <a:p>
            <a:pPr>
              <a:defRPr/>
            </a:pPr>
            <a:endParaRPr lang="en-US" altLang="zh-TW"/>
          </a:p>
        </p:txBody>
      </p:sp>
      <p:sp>
        <p:nvSpPr>
          <p:cNvPr id="6147" name="Rectangle 3"/>
          <p:cNvSpPr>
            <a:spLocks noGrp="1" noChangeArrowheads="1"/>
          </p:cNvSpPr>
          <p:nvPr>
            <p:ph type="dt" idx="1"/>
          </p:nvPr>
        </p:nvSpPr>
        <p:spPr bwMode="auto">
          <a:xfrm>
            <a:off x="3971925" y="0"/>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lvl1pPr algn="r" defTabSz="923925">
              <a:defRPr kumimoji="1" sz="1200" smtClean="0"/>
            </a:lvl1pPr>
          </a:lstStyle>
          <a:p>
            <a:pPr>
              <a:defRPr/>
            </a:pPr>
            <a:endParaRPr lang="en-US" altLang="zh-TW"/>
          </a:p>
        </p:txBody>
      </p:sp>
      <p:sp>
        <p:nvSpPr>
          <p:cNvPr id="18436" name="Rectangle 4"/>
          <p:cNvSpPr>
            <a:spLocks noGrp="1" noRot="1" noChangeAspect="1" noChangeArrowheads="1"/>
          </p:cNvSpPr>
          <p:nvPr>
            <p:ph type="sldImg" idx="2"/>
          </p:nvPr>
        </p:nvSpPr>
        <p:spPr bwMode="auto">
          <a:xfrm>
            <a:off x="1212850" y="687388"/>
            <a:ext cx="4584700" cy="3438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354513"/>
            <a:ext cx="5140325" cy="412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t" anchorCtr="0" compatLnSpc="1">
            <a:prstTxWarp prst="textNoShape">
              <a:avLst/>
            </a:prstTxWarp>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150" name="Rectangle 6"/>
          <p:cNvSpPr>
            <a:spLocks noGrp="1" noChangeArrowheads="1"/>
          </p:cNvSpPr>
          <p:nvPr>
            <p:ph type="ftr" sz="quarter" idx="4"/>
          </p:nvPr>
        </p:nvSpPr>
        <p:spPr bwMode="auto">
          <a:xfrm>
            <a:off x="0"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defTabSz="923925">
              <a:defRPr kumimoji="1" sz="1200" smtClean="0"/>
            </a:lvl1pPr>
          </a:lstStyle>
          <a:p>
            <a:pPr>
              <a:defRPr/>
            </a:pPr>
            <a:endParaRPr lang="en-US" altLang="zh-TW"/>
          </a:p>
        </p:txBody>
      </p:sp>
      <p:sp>
        <p:nvSpPr>
          <p:cNvPr id="6151" name="Rectangle 7"/>
          <p:cNvSpPr>
            <a:spLocks noGrp="1" noChangeArrowheads="1"/>
          </p:cNvSpPr>
          <p:nvPr>
            <p:ph type="sldNum" sz="quarter" idx="5"/>
          </p:nvPr>
        </p:nvSpPr>
        <p:spPr bwMode="auto">
          <a:xfrm>
            <a:off x="3971925" y="8709025"/>
            <a:ext cx="303847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446" tIns="46223" rIns="92446" bIns="46223" numCol="1" anchor="b" anchorCtr="0" compatLnSpc="1">
            <a:prstTxWarp prst="textNoShape">
              <a:avLst/>
            </a:prstTxWarp>
          </a:bodyPr>
          <a:lstStyle>
            <a:lvl1pPr algn="r" defTabSz="923925">
              <a:defRPr kumimoji="1" sz="1200" smtClean="0"/>
            </a:lvl1pPr>
          </a:lstStyle>
          <a:p>
            <a:pPr>
              <a:defRPr/>
            </a:pPr>
            <a:fld id="{F6CB8617-DEA2-4C3F-A6C7-D26FB938FA71}" type="slidenum">
              <a:rPr lang="zh-TW" altLang="en-US"/>
              <a:pPr>
                <a:defRPr/>
              </a:pPr>
              <a:t>‹#›</a:t>
            </a:fld>
            <a:endParaRPr lang="en-US" altLang="zh-TW"/>
          </a:p>
        </p:txBody>
      </p:sp>
    </p:spTree>
    <p:extLst>
      <p:ext uri="{BB962C8B-B14F-4D97-AF65-F5344CB8AC3E}">
        <p14:creationId xmlns:p14="http://schemas.microsoft.com/office/powerpoint/2010/main" val="1532268032"/>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23925" eaLnBrk="0" hangingPunct="0">
              <a:defRPr sz="2400">
                <a:solidFill>
                  <a:schemeClr val="tx1"/>
                </a:solidFill>
                <a:latin typeface="Times New Roman" pitchFamily="18" charset="0"/>
                <a:ea typeface="新細明體" pitchFamily="18" charset="-120"/>
              </a:defRPr>
            </a:lvl1pPr>
            <a:lvl2pPr marL="742950" indent="-285750" defTabSz="923925" eaLnBrk="0" hangingPunct="0">
              <a:defRPr sz="2400">
                <a:solidFill>
                  <a:schemeClr val="tx1"/>
                </a:solidFill>
                <a:latin typeface="Times New Roman" pitchFamily="18" charset="0"/>
                <a:ea typeface="新細明體" pitchFamily="18" charset="-120"/>
              </a:defRPr>
            </a:lvl2pPr>
            <a:lvl3pPr marL="1143000" indent="-228600" defTabSz="923925" eaLnBrk="0" hangingPunct="0">
              <a:defRPr sz="2400">
                <a:solidFill>
                  <a:schemeClr val="tx1"/>
                </a:solidFill>
                <a:latin typeface="Times New Roman" pitchFamily="18" charset="0"/>
                <a:ea typeface="新細明體" pitchFamily="18" charset="-120"/>
              </a:defRPr>
            </a:lvl3pPr>
            <a:lvl4pPr marL="1600200" indent="-228600" defTabSz="923925" eaLnBrk="0" hangingPunct="0">
              <a:defRPr sz="2400">
                <a:solidFill>
                  <a:schemeClr val="tx1"/>
                </a:solidFill>
                <a:latin typeface="Times New Roman" pitchFamily="18" charset="0"/>
                <a:ea typeface="新細明體" pitchFamily="18" charset="-120"/>
              </a:defRPr>
            </a:lvl4pPr>
            <a:lvl5pPr marL="2057400" indent="-228600" defTabSz="923925" eaLnBrk="0" hangingPunct="0">
              <a:defRPr sz="2400">
                <a:solidFill>
                  <a:schemeClr val="tx1"/>
                </a:solidFill>
                <a:latin typeface="Times New Roman" pitchFamily="18" charset="0"/>
                <a:ea typeface="新細明體" pitchFamily="18" charset="-120"/>
              </a:defRPr>
            </a:lvl5pPr>
            <a:lvl6pPr marL="25146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923925"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fld id="{B09CE4B1-9B23-4BEE-837D-E673249EFD8C}" type="slidenum">
              <a:rPr lang="zh-TW" altLang="en-US" sz="1200"/>
              <a:pPr eaLnBrk="1" hangingPunct="1"/>
              <a:t>1</a:t>
            </a:fld>
            <a:endParaRPr lang="en-US" altLang="zh-TW" sz="1200"/>
          </a:p>
        </p:txBody>
      </p:sp>
      <p:sp>
        <p:nvSpPr>
          <p:cNvPr id="19459" name="Rectangle 2"/>
          <p:cNvSpPr>
            <a:spLocks noGrp="1" noRot="1" noChangeAspect="1" noChangeArrowheads="1" noTextEdit="1"/>
          </p:cNvSpPr>
          <p:nvPr>
            <p:ph type="sldImg"/>
          </p:nvPr>
        </p:nvSpPr>
        <p:spPr>
          <a:xfrm>
            <a:off x="1220788" y="693738"/>
            <a:ext cx="4567237" cy="3425825"/>
          </a:xfrm>
          <a:ln/>
        </p:spPr>
      </p:sp>
    </p:spTree>
    <p:extLst>
      <p:ext uri="{BB962C8B-B14F-4D97-AF65-F5344CB8AC3E}">
        <p14:creationId xmlns:p14="http://schemas.microsoft.com/office/powerpoint/2010/main" val="64896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pPr>
              <a:defRPr/>
            </a:pPr>
            <a:fld id="{F6CB8617-DEA2-4C3F-A6C7-D26FB938FA71}" type="slidenum">
              <a:rPr lang="zh-TW" altLang="en-US" smtClean="0"/>
              <a:pPr>
                <a:defRPr/>
              </a:pPr>
              <a:t>3</a:t>
            </a:fld>
            <a:endParaRPr lang="en-US" altLang="zh-TW"/>
          </a:p>
        </p:txBody>
      </p:sp>
    </p:spTree>
    <p:extLst>
      <p:ext uri="{BB962C8B-B14F-4D97-AF65-F5344CB8AC3E}">
        <p14:creationId xmlns:p14="http://schemas.microsoft.com/office/powerpoint/2010/main" val="2080696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22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44024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129598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zh-TW" altLang="en-US"/>
          </a:p>
        </p:txBody>
      </p:sp>
      <p:sp>
        <p:nvSpPr>
          <p:cNvPr id="7" name="Slide Number Placeholder 6"/>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4167985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822960" y="2582334"/>
            <a:ext cx="3703320" cy="32867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63440" y="2582334"/>
            <a:ext cx="3703320" cy="32867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4131183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pPr>
              <a:defRPr/>
            </a:pPr>
            <a:endParaRPr lang="en-US" altLang="zh-TW"/>
          </a:p>
        </p:txBody>
      </p:sp>
      <p:sp>
        <p:nvSpPr>
          <p:cNvPr id="4" name="Footer Placeholder 3"/>
          <p:cNvSpPr>
            <a:spLocks noGrp="1"/>
          </p:cNvSpPr>
          <p:nvPr>
            <p:ph type="ftr" sz="quarter" idx="11"/>
          </p:nvPr>
        </p:nvSpPr>
        <p:spPr/>
        <p:txBody>
          <a:bodyPr/>
          <a:lstStyle/>
          <a:p>
            <a:pPr>
              <a:defRPr/>
            </a:pPr>
            <a:endParaRPr lang="zh-TW" altLang="en-US"/>
          </a:p>
        </p:txBody>
      </p:sp>
      <p:sp>
        <p:nvSpPr>
          <p:cNvPr id="5" name="Slide Number Placeholder 4"/>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51796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ltLang="zh-TW"/>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zh-TW" altLang="en-US"/>
          </a:p>
        </p:txBody>
      </p:sp>
      <p:sp>
        <p:nvSpPr>
          <p:cNvPr id="9" name="Slide Number Placeholder 8"/>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3792721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ltLang="zh-TW"/>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endParaRPr lang="en-US" altLang="zh-TW"/>
          </a:p>
        </p:txBody>
      </p:sp>
    </p:spTree>
    <p:extLst>
      <p:ext uri="{BB962C8B-B14F-4D97-AF65-F5344CB8AC3E}">
        <p14:creationId xmlns:p14="http://schemas.microsoft.com/office/powerpoint/2010/main" val="410596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pPr>
              <a:defRPr/>
            </a:pPr>
            <a:endParaRPr lang="en-US" altLang="zh-TW"/>
          </a:p>
        </p:txBody>
      </p:sp>
      <p:sp>
        <p:nvSpPr>
          <p:cNvPr id="6" name="Footer Placeholder 5"/>
          <p:cNvSpPr>
            <a:spLocks noGrp="1"/>
          </p:cNvSpPr>
          <p:nvPr>
            <p:ph type="ftr" sz="quarter" idx="11"/>
          </p:nvPr>
        </p:nvSpPr>
        <p:spPr/>
        <p:txBody>
          <a:bodyPr/>
          <a:lstStyle/>
          <a:p>
            <a:pPr>
              <a:defRPr/>
            </a:pPr>
            <a:endParaRPr lang="zh-TW" altLang="en-US"/>
          </a:p>
        </p:txBody>
      </p:sp>
      <p:sp>
        <p:nvSpPr>
          <p:cNvPr id="7" name="Slide Number Placeholder 6"/>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79391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4060582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pPr>
              <a:defRPr/>
            </a:pPr>
            <a:endParaRPr lang="en-US" altLang="zh-TW"/>
          </a:p>
        </p:txBody>
      </p:sp>
      <p:sp>
        <p:nvSpPr>
          <p:cNvPr id="5" name="Footer Placeholder 4"/>
          <p:cNvSpPr>
            <a:spLocks noGrp="1"/>
          </p:cNvSpPr>
          <p:nvPr>
            <p:ph type="ftr" sz="quarter" idx="11"/>
          </p:nvPr>
        </p:nvSpPr>
        <p:spPr/>
        <p:txBody>
          <a:bodyPr/>
          <a:lstStyle/>
          <a:p>
            <a:pPr>
              <a:defRPr/>
            </a:pPr>
            <a:endParaRPr lang="zh-TW" altLang="en-US"/>
          </a:p>
        </p:txBody>
      </p:sp>
      <p:sp>
        <p:nvSpPr>
          <p:cNvPr id="6" name="Slide Number Placeholder 5"/>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1755145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zh-TW"/>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zh-TW"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endParaRPr lang="en-US" altLang="zh-TW"/>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105304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e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3.e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5.emf"/><Relationship Id="rId7" Type="http://schemas.openxmlformats.org/officeDocument/2006/relationships/image" Target="../media/image17.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20.png"/><Relationship Id="rId5" Type="http://schemas.openxmlformats.org/officeDocument/2006/relationships/image" Target="../media/image16.wmf"/><Relationship Id="rId10" Type="http://schemas.openxmlformats.org/officeDocument/2006/relationships/image" Target="../media/image19.png"/><Relationship Id="rId4" Type="http://schemas.openxmlformats.org/officeDocument/2006/relationships/oleObject" Target="../embeddings/oleObject9.bin"/><Relationship Id="rId9" Type="http://schemas.openxmlformats.org/officeDocument/2006/relationships/image" Target="../media/image18.wmf"/></Relationships>
</file>

<file path=ppt/slides/_rels/slide9.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5" Type="http://schemas.openxmlformats.org/officeDocument/2006/relationships/image" Target="../media/image20.wmf"/><Relationship Id="rId10" Type="http://schemas.openxmlformats.org/officeDocument/2006/relationships/image" Target="../media/image190.png"/><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4.wmf"/><Relationship Id="rId12" Type="http://schemas.openxmlformats.org/officeDocument/2006/relationships/oleObject" Target="../embeddings/oleObject20.bin"/><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5.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31.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0.png"/><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3" Type="http://schemas.openxmlformats.org/officeDocument/2006/relationships/image" Target="../media/image360.png"/><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27.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23"/>
          <p:cNvSpPr txBox="1">
            <a:spLocks noChangeArrowheads="1"/>
          </p:cNvSpPr>
          <p:nvPr/>
        </p:nvSpPr>
        <p:spPr bwMode="auto">
          <a:xfrm>
            <a:off x="0" y="6521450"/>
            <a:ext cx="2209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defRPr sz="2400">
                <a:solidFill>
                  <a:schemeClr val="tx1"/>
                </a:solidFill>
                <a:latin typeface="Times New Roman" pitchFamily="18" charset="0"/>
                <a:ea typeface="新細明體" pitchFamily="18" charset="-120"/>
              </a:defRPr>
            </a:lvl1pPr>
            <a:lvl2pPr marL="742950" indent="-285750" defTabSz="762000" eaLnBrk="0" hangingPunct="0">
              <a:defRPr sz="2400">
                <a:solidFill>
                  <a:schemeClr val="tx1"/>
                </a:solidFill>
                <a:latin typeface="Times New Roman" pitchFamily="18" charset="0"/>
                <a:ea typeface="新細明體" pitchFamily="18" charset="-120"/>
              </a:defRPr>
            </a:lvl2pPr>
            <a:lvl3pPr marL="1143000" indent="-228600" defTabSz="762000" eaLnBrk="0" hangingPunct="0">
              <a:defRPr sz="2400">
                <a:solidFill>
                  <a:schemeClr val="tx1"/>
                </a:solidFill>
                <a:latin typeface="Times New Roman" pitchFamily="18" charset="0"/>
                <a:ea typeface="新細明體" pitchFamily="18" charset="-120"/>
              </a:defRPr>
            </a:lvl3pPr>
            <a:lvl4pPr marL="1600200" indent="-228600" defTabSz="762000" eaLnBrk="0" hangingPunct="0">
              <a:defRPr sz="2400">
                <a:solidFill>
                  <a:schemeClr val="tx1"/>
                </a:solidFill>
                <a:latin typeface="Times New Roman" pitchFamily="18" charset="0"/>
                <a:ea typeface="新細明體" pitchFamily="18" charset="-120"/>
              </a:defRPr>
            </a:lvl4pPr>
            <a:lvl5pPr marL="2057400" indent="-228600" defTabSz="762000" eaLnBrk="0" hangingPunct="0">
              <a:defRPr sz="2400">
                <a:solidFill>
                  <a:schemeClr val="tx1"/>
                </a:solidFill>
                <a:latin typeface="Times New Roman" pitchFamily="18" charset="0"/>
                <a:ea typeface="新細明體" pitchFamily="18" charset="-120"/>
              </a:defRPr>
            </a:lvl5pPr>
            <a:lvl6pPr marL="25146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defTabSz="7620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ctr" eaLnBrk="1" hangingPunct="1">
              <a:spcBef>
                <a:spcPct val="50000"/>
              </a:spcBef>
            </a:pPr>
            <a:r>
              <a:rPr kumimoji="1" lang="zh-TW" altLang="en-US" sz="1600">
                <a:ea typeface="標楷體" pitchFamily="65" charset="-120"/>
              </a:rPr>
              <a:t> </a:t>
            </a:r>
            <a:endParaRPr kumimoji="1" lang="en-US" altLang="zh-TW" sz="1600">
              <a:ea typeface="標楷體" pitchFamily="65" charset="-120"/>
            </a:endParaRPr>
          </a:p>
        </p:txBody>
      </p:sp>
      <p:sp>
        <p:nvSpPr>
          <p:cNvPr id="2052" name="Text Box 25"/>
          <p:cNvSpPr txBox="1">
            <a:spLocks noChangeArrowheads="1"/>
          </p:cNvSpPr>
          <p:nvPr/>
        </p:nvSpPr>
        <p:spPr bwMode="auto">
          <a:xfrm>
            <a:off x="827584" y="908720"/>
            <a:ext cx="7272338" cy="110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algn="ctr" eaLnBrk="1" hangingPunct="1">
              <a:lnSpc>
                <a:spcPct val="80000"/>
              </a:lnSpc>
            </a:pPr>
            <a:r>
              <a:rPr lang="zh-TW" altLang="en-US" sz="4100" b="1" dirty="0">
                <a:solidFill>
                  <a:schemeClr val="tx2"/>
                </a:solidFill>
                <a:effectLst>
                  <a:outerShdw blurRad="31750" dist="25400" dir="5400000" algn="tl" rotWithShape="0">
                    <a:srgbClr val="000000">
                      <a:alpha val="25000"/>
                    </a:srgbClr>
                  </a:outerShdw>
                </a:effectLst>
                <a:latin typeface="標楷體" pitchFamily="65" charset="-120"/>
                <a:ea typeface="標楷體" pitchFamily="65" charset="-120"/>
                <a:cs typeface="+mj-cs"/>
              </a:rPr>
              <a:t>　</a:t>
            </a:r>
            <a:endParaRPr lang="en-US" altLang="zh-TW" sz="4100" b="1" dirty="0">
              <a:solidFill>
                <a:schemeClr val="tx2"/>
              </a:solidFill>
              <a:effectLst>
                <a:outerShdw blurRad="31750" dist="25400" dir="5400000" algn="tl" rotWithShape="0">
                  <a:srgbClr val="000000">
                    <a:alpha val="25000"/>
                  </a:srgbClr>
                </a:outerShdw>
              </a:effectLst>
              <a:latin typeface="標楷體" pitchFamily="65" charset="-120"/>
              <a:ea typeface="標楷體" pitchFamily="65" charset="-120"/>
              <a:cs typeface="+mj-cs"/>
            </a:endParaRPr>
          </a:p>
          <a:p>
            <a:pPr algn="ctr" eaLnBrk="1" hangingPunct="1">
              <a:lnSpc>
                <a:spcPct val="80000"/>
              </a:lnSpc>
            </a:pPr>
            <a:r>
              <a:rPr lang="zh-TW" altLang="en-US" sz="4100" b="1" dirty="0">
                <a:solidFill>
                  <a:schemeClr val="tx2"/>
                </a:solidFill>
                <a:effectLst>
                  <a:outerShdw blurRad="31750" dist="25400" dir="5400000" algn="tl" rotWithShape="0">
                    <a:srgbClr val="000000">
                      <a:alpha val="25000"/>
                    </a:srgbClr>
                  </a:outerShdw>
                </a:effectLst>
                <a:latin typeface="標楷體" pitchFamily="65" charset="-120"/>
                <a:ea typeface="標楷體" pitchFamily="65" charset="-120"/>
                <a:cs typeface="+mj-cs"/>
              </a:rPr>
              <a:t>估計及檢定</a:t>
            </a:r>
          </a:p>
        </p:txBody>
      </p:sp>
      <p:sp>
        <p:nvSpPr>
          <p:cNvPr id="5" name="投影片編號版面配置區 4"/>
          <p:cNvSpPr>
            <a:spLocks noGrp="1"/>
          </p:cNvSpPr>
          <p:nvPr>
            <p:ph type="sldNum" sz="quarter" idx="12"/>
          </p:nvPr>
        </p:nvSpPr>
        <p:spPr/>
        <p:txBody>
          <a:bodyPr/>
          <a:lstStyle/>
          <a:p>
            <a:pPr>
              <a:defRPr/>
            </a:pPr>
            <a:r>
              <a:rPr lang="en-US" altLang="zh-TW" dirty="0"/>
              <a:t>1</a:t>
            </a:r>
          </a:p>
        </p:txBody>
      </p:sp>
      <p:sp>
        <p:nvSpPr>
          <p:cNvPr id="2" name="文字方塊 1"/>
          <p:cNvSpPr txBox="1"/>
          <p:nvPr/>
        </p:nvSpPr>
        <p:spPr>
          <a:xfrm>
            <a:off x="2209800" y="5013176"/>
            <a:ext cx="5544616" cy="461665"/>
          </a:xfrm>
          <a:prstGeom prst="rect">
            <a:avLst/>
          </a:prstGeom>
          <a:noFill/>
        </p:spPr>
        <p:txBody>
          <a:bodyPr wrap="square" rtlCol="0">
            <a:spAutoFit/>
          </a:bodyPr>
          <a:lstStyle/>
          <a:p>
            <a:r>
              <a:rPr lang="zh-TW" altLang="en-US" dirty="0"/>
              <a:t>林彥光     競技與教練科學研究所</a:t>
            </a:r>
            <a:endParaRPr lang="en-US" altLang="zh-TW"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800100" y="260648"/>
            <a:ext cx="7543800" cy="1450757"/>
          </a:xfrm>
        </p:spPr>
        <p:txBody>
          <a:bodyPr>
            <a:normAutofit/>
          </a:bodyPr>
          <a:lstStyle/>
          <a:p>
            <a:r>
              <a:rPr lang="zh-TW" altLang="zh-TW" sz="3200" dirty="0">
                <a:latin typeface="標楷體" pitchFamily="65" charset="-120"/>
                <a:ea typeface="標楷體" pitchFamily="65" charset="-120"/>
              </a:rPr>
              <a:t>關鍵字</a:t>
            </a:r>
            <a:endParaRPr lang="zh-TW" altLang="en-US" sz="3200" dirty="0">
              <a:latin typeface="Times New Roman" pitchFamily="18" charset="0"/>
              <a:ea typeface="標楷體" pitchFamily="65" charset="-120"/>
              <a:cs typeface="Times New Roman" pitchFamily="18" charset="0"/>
            </a:endParaRPr>
          </a:p>
        </p:txBody>
      </p:sp>
      <p:sp>
        <p:nvSpPr>
          <p:cNvPr id="2" name="內容版面配置區 1"/>
          <p:cNvSpPr>
            <a:spLocks noGrp="1"/>
          </p:cNvSpPr>
          <p:nvPr>
            <p:ph idx="1"/>
          </p:nvPr>
        </p:nvSpPr>
        <p:spPr>
          <a:xfrm>
            <a:off x="685019" y="1988840"/>
            <a:ext cx="3394720" cy="4525963"/>
          </a:xfrm>
        </p:spPr>
        <p:txBody>
          <a:bodyPr>
            <a:normAutofit/>
          </a:bodyPr>
          <a:lstStyle/>
          <a:p>
            <a:pPr>
              <a:buFont typeface="Wingdings" panose="05000000000000000000" pitchFamily="2" charset="2"/>
              <a:buChar char="Ø"/>
            </a:pPr>
            <a:r>
              <a:rPr lang="zh-TW" altLang="zh-TW" sz="2400" dirty="0">
                <a:latin typeface="標楷體" pitchFamily="65" charset="-120"/>
                <a:ea typeface="標楷體" pitchFamily="65" charset="-120"/>
              </a:rPr>
              <a:t>估計</a:t>
            </a:r>
            <a:endParaRPr lang="en-US" altLang="zh-TW" sz="2400" dirty="0">
              <a:latin typeface="標楷體" pitchFamily="65" charset="-120"/>
              <a:ea typeface="標楷體" pitchFamily="65" charset="-120"/>
            </a:endParaRPr>
          </a:p>
          <a:p>
            <a:pPr>
              <a:buFont typeface="Wingdings" panose="05000000000000000000" pitchFamily="2" charset="2"/>
              <a:buChar char="Ø"/>
            </a:pPr>
            <a:r>
              <a:rPr lang="zh-TW" altLang="zh-TW" sz="2400" dirty="0">
                <a:latin typeface="標楷體" pitchFamily="65" charset="-120"/>
                <a:ea typeface="標楷體" pitchFamily="65" charset="-120"/>
              </a:rPr>
              <a:t>信賴區間</a:t>
            </a:r>
            <a:endParaRPr lang="en-US" altLang="zh-TW" sz="2400" dirty="0">
              <a:latin typeface="標楷體" pitchFamily="65" charset="-120"/>
              <a:ea typeface="標楷體" pitchFamily="65" charset="-120"/>
            </a:endParaRPr>
          </a:p>
          <a:p>
            <a:pPr>
              <a:buFont typeface="Wingdings" panose="05000000000000000000" pitchFamily="2" charset="2"/>
              <a:buChar char="Ø"/>
            </a:pPr>
            <a:r>
              <a:rPr lang="zh-TW" altLang="zh-TW" sz="2400" dirty="0">
                <a:latin typeface="標楷體" pitchFamily="65" charset="-120"/>
                <a:ea typeface="標楷體" pitchFamily="65" charset="-120"/>
              </a:rPr>
              <a:t>假設檢定</a:t>
            </a:r>
            <a:endParaRPr lang="en-US" altLang="zh-TW" sz="2400" dirty="0">
              <a:latin typeface="標楷體" pitchFamily="65" charset="-120"/>
              <a:ea typeface="標楷體" pitchFamily="65" charset="-120"/>
            </a:endParaRPr>
          </a:p>
          <a:p>
            <a:pPr>
              <a:buFont typeface="Wingdings" panose="05000000000000000000" pitchFamily="2" charset="2"/>
              <a:buChar char="Ø"/>
            </a:pPr>
            <a:r>
              <a:rPr lang="zh-TW" altLang="zh-TW" sz="2400" dirty="0">
                <a:latin typeface="標楷體" pitchFamily="65" charset="-120"/>
                <a:ea typeface="標楷體" pitchFamily="65" charset="-120"/>
              </a:rPr>
              <a:t>估計量</a:t>
            </a:r>
            <a:endParaRPr lang="en-US" altLang="zh-TW" sz="2400" dirty="0">
              <a:latin typeface="標楷體" pitchFamily="65" charset="-120"/>
              <a:ea typeface="標楷體" pitchFamily="65" charset="-120"/>
            </a:endParaRPr>
          </a:p>
          <a:p>
            <a:pPr>
              <a:buFont typeface="Wingdings" panose="05000000000000000000" pitchFamily="2" charset="2"/>
              <a:buChar char="Ø"/>
            </a:pPr>
            <a:r>
              <a:rPr lang="zh-TW" altLang="zh-TW" sz="2400" dirty="0">
                <a:latin typeface="標楷體" pitchFamily="65" charset="-120"/>
                <a:ea typeface="標楷體" pitchFamily="65" charset="-120"/>
              </a:rPr>
              <a:t>信心水準</a:t>
            </a:r>
            <a:endParaRPr lang="en-US" altLang="zh-TW" sz="2400" dirty="0">
              <a:latin typeface="標楷體" pitchFamily="65" charset="-120"/>
              <a:ea typeface="標楷體" pitchFamily="65" charset="-120"/>
            </a:endParaRPr>
          </a:p>
          <a:p>
            <a:pPr lvl="0">
              <a:buFont typeface="Wingdings" panose="05000000000000000000" pitchFamily="2" charset="2"/>
              <a:buChar char="Ø"/>
            </a:pPr>
            <a:r>
              <a:rPr lang="zh-TW" altLang="zh-TW" sz="2400" dirty="0">
                <a:latin typeface="標楷體" pitchFamily="65" charset="-120"/>
                <a:ea typeface="標楷體" pitchFamily="65" charset="-120"/>
              </a:rPr>
              <a:t>虛無假設</a:t>
            </a:r>
            <a:endParaRPr lang="en-US" altLang="zh-TW" sz="2400" dirty="0">
              <a:latin typeface="標楷體" pitchFamily="65" charset="-120"/>
              <a:ea typeface="標楷體" pitchFamily="65" charset="-120"/>
            </a:endParaRPr>
          </a:p>
          <a:p>
            <a:pPr lvl="0">
              <a:buFont typeface="Wingdings" panose="05000000000000000000" pitchFamily="2" charset="2"/>
              <a:buChar char="Ø"/>
            </a:pPr>
            <a:r>
              <a:rPr lang="zh-TW" altLang="zh-TW" sz="2400" dirty="0">
                <a:latin typeface="標楷體" pitchFamily="65" charset="-120"/>
                <a:ea typeface="標楷體" pitchFamily="65" charset="-120"/>
              </a:rPr>
              <a:t>對立假設</a:t>
            </a:r>
            <a:endParaRPr lang="en-US" altLang="zh-TW" sz="2400"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zh-TW" altLang="zh-TW" dirty="0">
              <a:latin typeface="標楷體" pitchFamily="65" charset="-120"/>
              <a:ea typeface="標楷體" pitchFamily="65" charset="-120"/>
            </a:endParaRPr>
          </a:p>
        </p:txBody>
      </p:sp>
      <p:sp>
        <p:nvSpPr>
          <p:cNvPr id="4" name="投影片編號版面配置區 3"/>
          <p:cNvSpPr>
            <a:spLocks noGrp="1"/>
          </p:cNvSpPr>
          <p:nvPr>
            <p:ph type="sldNum" sz="quarter" idx="12"/>
          </p:nvPr>
        </p:nvSpPr>
        <p:spPr/>
        <p:txBody>
          <a:bodyPr/>
          <a:lstStyle/>
          <a:p>
            <a:pPr>
              <a:defRPr/>
            </a:pPr>
            <a:r>
              <a:rPr lang="en-US" altLang="zh-TW" dirty="0"/>
              <a:t>26</a:t>
            </a:r>
          </a:p>
        </p:txBody>
      </p:sp>
      <p:sp>
        <p:nvSpPr>
          <p:cNvPr id="5" name="內容版面配置區 1"/>
          <p:cNvSpPr txBox="1">
            <a:spLocks/>
          </p:cNvSpPr>
          <p:nvPr/>
        </p:nvSpPr>
        <p:spPr>
          <a:xfrm>
            <a:off x="4355976" y="1896892"/>
            <a:ext cx="3394720" cy="4525963"/>
          </a:xfrm>
          <a:prstGeom prst="rect">
            <a:avLst/>
          </a:prstGeom>
        </p:spPr>
        <p:txBody>
          <a:bodyPr vert="horz">
            <a:normAutofit/>
          </a:bodyPr>
          <a:lstStyle/>
          <a:p>
            <a:pPr marL="452628" indent="-342900" fontAlgn="auto">
              <a:spcBef>
                <a:spcPts val="400"/>
              </a:spcBef>
              <a:spcAft>
                <a:spcPts val="0"/>
              </a:spcAft>
              <a:buClr>
                <a:schemeClr val="accent1"/>
              </a:buClr>
              <a:buSzPct val="68000"/>
              <a:buFont typeface="Wingdings" panose="05000000000000000000" pitchFamily="2" charset="2"/>
              <a:buChar char="Ø"/>
            </a:pPr>
            <a:r>
              <a:rPr lang="zh-TW" altLang="zh-TW" dirty="0">
                <a:latin typeface="標楷體" pitchFamily="65" charset="-120"/>
                <a:ea typeface="標楷體" pitchFamily="65" charset="-120"/>
              </a:rPr>
              <a:t>型一錯誤</a:t>
            </a:r>
            <a:endParaRPr lang="en-US" altLang="zh-TW" dirty="0">
              <a:latin typeface="標楷體" pitchFamily="65" charset="-120"/>
              <a:ea typeface="標楷體" pitchFamily="65" charset="-120"/>
            </a:endParaRPr>
          </a:p>
          <a:p>
            <a:pPr marL="452628" lvl="0" indent="-342900" fontAlgn="auto">
              <a:spcBef>
                <a:spcPts val="400"/>
              </a:spcBef>
              <a:spcAft>
                <a:spcPts val="0"/>
              </a:spcAft>
              <a:buClr>
                <a:schemeClr val="accent1"/>
              </a:buClr>
              <a:buSzPct val="68000"/>
              <a:buFont typeface="Wingdings" panose="05000000000000000000" pitchFamily="2" charset="2"/>
              <a:buChar char="Ø"/>
            </a:pPr>
            <a:r>
              <a:rPr lang="zh-TW" altLang="zh-TW" dirty="0">
                <a:latin typeface="標楷體" pitchFamily="65" charset="-120"/>
                <a:ea typeface="標楷體" pitchFamily="65" charset="-120"/>
              </a:rPr>
              <a:t>型二錯誤</a:t>
            </a:r>
            <a:endParaRPr lang="en-US" altLang="zh-TW" dirty="0">
              <a:latin typeface="標楷體" pitchFamily="65" charset="-120"/>
              <a:ea typeface="標楷體" pitchFamily="65" charset="-120"/>
            </a:endParaRPr>
          </a:p>
          <a:p>
            <a:pPr marL="452628" lvl="0" indent="-342900" fontAlgn="auto">
              <a:spcBef>
                <a:spcPts val="400"/>
              </a:spcBef>
              <a:spcAft>
                <a:spcPts val="0"/>
              </a:spcAft>
              <a:buClr>
                <a:schemeClr val="accent1"/>
              </a:buClr>
              <a:buSzPct val="68000"/>
              <a:buFont typeface="Wingdings" panose="05000000000000000000" pitchFamily="2" charset="2"/>
              <a:buChar char="Ø"/>
            </a:pPr>
            <a:r>
              <a:rPr lang="zh-TW" altLang="zh-TW" dirty="0">
                <a:latin typeface="標楷體" pitchFamily="65" charset="-120"/>
                <a:ea typeface="標楷體" pitchFamily="65" charset="-120"/>
              </a:rPr>
              <a:t>檢定力</a:t>
            </a:r>
            <a:endParaRPr lang="en-US" altLang="zh-TW" dirty="0">
              <a:latin typeface="標楷體" pitchFamily="65" charset="-120"/>
              <a:ea typeface="標楷體" pitchFamily="65" charset="-120"/>
            </a:endParaRPr>
          </a:p>
          <a:p>
            <a:pPr marL="452628" lvl="0" indent="-342900" fontAlgn="auto">
              <a:spcBef>
                <a:spcPts val="400"/>
              </a:spcBef>
              <a:spcAft>
                <a:spcPts val="0"/>
              </a:spcAft>
              <a:buClr>
                <a:schemeClr val="accent1"/>
              </a:buClr>
              <a:buSzPct val="68000"/>
              <a:buFont typeface="Wingdings" panose="05000000000000000000" pitchFamily="2" charset="2"/>
              <a:buChar char="Ø"/>
            </a:pPr>
            <a:r>
              <a:rPr lang="en-US" altLang="zh-TW" dirty="0">
                <a:latin typeface="標楷體" pitchFamily="65" charset="-120"/>
                <a:ea typeface="標楷體" pitchFamily="65" charset="-120"/>
              </a:rPr>
              <a:t>P</a:t>
            </a:r>
            <a:r>
              <a:rPr lang="zh-TW" altLang="zh-TW" dirty="0">
                <a:latin typeface="標楷體" pitchFamily="65" charset="-120"/>
                <a:ea typeface="標楷體" pitchFamily="65" charset="-120"/>
              </a:rPr>
              <a:t>值</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6" name="Rectangle 4103">
            <a:extLst>
              <a:ext uri="{FF2B5EF4-FFF2-40B4-BE49-F238E27FC236}">
                <a16:creationId xmlns:a16="http://schemas.microsoft.com/office/drawing/2014/main" id="{35230A27-1553-42F8-99D7-829868E13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7" name="Rectangle 4105">
            <a:extLst>
              <a:ext uri="{FF2B5EF4-FFF2-40B4-BE49-F238E27FC236}">
                <a16:creationId xmlns:a16="http://schemas.microsoft.com/office/drawing/2014/main" id="{A772232D-B4D6-429F-B3D1-2D9891B85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bg2"/>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28" name="Straight Connector 4107">
            <a:extLst>
              <a:ext uri="{FF2B5EF4-FFF2-40B4-BE49-F238E27FC236}">
                <a16:creationId xmlns:a16="http://schemas.microsoft.com/office/drawing/2014/main" id="{02CC3441-26B3-4381-B3DF-8AE3C288BC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7688"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4129" name="Rectangle 3"/>
          <p:cNvSpPr>
            <a:spLocks noGrp="1" noChangeArrowheads="1"/>
          </p:cNvSpPr>
          <p:nvPr>
            <p:ph idx="1"/>
          </p:nvPr>
        </p:nvSpPr>
        <p:spPr>
          <a:xfrm>
            <a:off x="3851161" y="963507"/>
            <a:ext cx="4601323" cy="4938851"/>
          </a:xfrm>
        </p:spPr>
        <p:txBody>
          <a:bodyPr anchor="ctr">
            <a:normAutofit/>
          </a:bodyPr>
          <a:lstStyle/>
          <a:p>
            <a:pPr>
              <a:buFont typeface="Wingdings" panose="05000000000000000000" pitchFamily="2" charset="2"/>
              <a:buChar char="l"/>
            </a:pPr>
            <a:r>
              <a:rPr lang="zh-TW" altLang="en-US" sz="2400" dirty="0">
                <a:latin typeface="標楷體" pitchFamily="65" charset="-120"/>
                <a:ea typeface="標楷體" pitchFamily="65" charset="-120"/>
              </a:rPr>
              <a:t>所收集資料為樣本，目的並不在於推論這少數觀測值的樣本資料，</a:t>
            </a:r>
            <a:endParaRPr lang="en-US" altLang="zh-TW" sz="2400" dirty="0">
              <a:latin typeface="標楷體" pitchFamily="65" charset="-120"/>
              <a:ea typeface="標楷體" pitchFamily="65" charset="-120"/>
            </a:endParaRPr>
          </a:p>
          <a:p>
            <a:pPr>
              <a:buFont typeface="Wingdings" panose="05000000000000000000" pitchFamily="2" charset="2"/>
              <a:buChar char="l"/>
            </a:pPr>
            <a:endParaRPr lang="en-US" altLang="zh-TW" sz="2400" dirty="0">
              <a:latin typeface="標楷體" pitchFamily="65" charset="-120"/>
              <a:ea typeface="標楷體" pitchFamily="65" charset="-120"/>
            </a:endParaRPr>
          </a:p>
          <a:p>
            <a:pPr>
              <a:buFont typeface="Wingdings" panose="05000000000000000000" pitchFamily="2" charset="2"/>
              <a:buChar char="l"/>
            </a:pPr>
            <a:r>
              <a:rPr lang="zh-TW" altLang="en-US" sz="2400" dirty="0">
                <a:latin typeface="標楷體" pitchFamily="65" charset="-120"/>
                <a:ea typeface="標楷體" pitchFamily="65" charset="-120"/>
              </a:rPr>
              <a:t> 而是想推測這筆資料所代表母群體的重要性質，如母體參數、母體分配及結構等。</a:t>
            </a:r>
            <a:endParaRPr lang="en-US" altLang="zh-TW" sz="2400" dirty="0">
              <a:latin typeface="標楷體" pitchFamily="65" charset="-120"/>
              <a:ea typeface="標楷體" pitchFamily="65" charset="-120"/>
            </a:endParaRPr>
          </a:p>
          <a:p>
            <a:pPr>
              <a:buFont typeface="Wingdings" panose="05000000000000000000" pitchFamily="2" charset="2"/>
              <a:buChar char="l"/>
            </a:pPr>
            <a:endParaRPr lang="en-US" altLang="zh-TW" sz="2400" dirty="0">
              <a:latin typeface="標楷體" pitchFamily="65" charset="-120"/>
              <a:ea typeface="標楷體" pitchFamily="65" charset="-120"/>
            </a:endParaRPr>
          </a:p>
          <a:p>
            <a:pPr>
              <a:buFont typeface="Wingdings" panose="05000000000000000000" pitchFamily="2" charset="2"/>
              <a:buChar char="l"/>
            </a:pPr>
            <a:r>
              <a:rPr lang="zh-TW" altLang="en-US" sz="2400" dirty="0">
                <a:latin typeface="標楷體" pitchFamily="65" charset="-120"/>
                <a:ea typeface="標楷體" pitchFamily="65" charset="-120"/>
              </a:rPr>
              <a:t> 主要原因還是在一般的研究上，成本和時間有限，我們無法或不可能觀測到目標母群體內所有成員，。</a:t>
            </a:r>
          </a:p>
        </p:txBody>
      </p:sp>
      <p:sp>
        <p:nvSpPr>
          <p:cNvPr id="4" name="投影片編號版面配置區 3"/>
          <p:cNvSpPr>
            <a:spLocks noGrp="1"/>
          </p:cNvSpPr>
          <p:nvPr>
            <p:ph type="sldNum" sz="quarter" idx="12"/>
          </p:nvPr>
        </p:nvSpPr>
        <p:spPr>
          <a:xfrm>
            <a:off x="7425343" y="6459785"/>
            <a:ext cx="984019" cy="365125"/>
          </a:xfrm>
        </p:spPr>
        <p:txBody>
          <a:bodyPr>
            <a:normAutofit/>
          </a:bodyPr>
          <a:lstStyle/>
          <a:p>
            <a:pPr>
              <a:spcAft>
                <a:spcPts val="600"/>
              </a:spcAft>
              <a:defRPr/>
            </a:pPr>
            <a:r>
              <a:rPr lang="en-US" altLang="zh-TW">
                <a:solidFill>
                  <a:schemeClr val="tx1">
                    <a:lumMod val="65000"/>
                    <a:lumOff val="35000"/>
                  </a:schemeClr>
                </a:solidFill>
              </a:rPr>
              <a:t>3</a:t>
            </a:r>
          </a:p>
        </p:txBody>
      </p:sp>
      <p:sp>
        <p:nvSpPr>
          <p:cNvPr id="3" name="文字方塊 2">
            <a:extLst>
              <a:ext uri="{FF2B5EF4-FFF2-40B4-BE49-F238E27FC236}">
                <a16:creationId xmlns:a16="http://schemas.microsoft.com/office/drawing/2014/main" id="{EBB892CB-A2AD-EDBF-2696-8EC0A51E406C}"/>
              </a:ext>
            </a:extLst>
          </p:cNvPr>
          <p:cNvSpPr txBox="1"/>
          <p:nvPr/>
        </p:nvSpPr>
        <p:spPr>
          <a:xfrm>
            <a:off x="775325" y="2204864"/>
            <a:ext cx="2530627" cy="1938992"/>
          </a:xfrm>
          <a:prstGeom prst="rect">
            <a:avLst/>
          </a:prstGeom>
          <a:noFill/>
        </p:spPr>
        <p:txBody>
          <a:bodyPr wrap="square">
            <a:spAutoFit/>
          </a:bodyPr>
          <a:lstStyle/>
          <a:p>
            <a:pPr marL="450850" indent="-450850"/>
            <a:r>
              <a:rPr lang="zh-TW" altLang="zh-TW" sz="2400" dirty="0">
                <a:latin typeface="標楷體" pitchFamily="65" charset="-120"/>
                <a:ea typeface="標楷體" pitchFamily="65" charset="-120"/>
              </a:rPr>
              <a:t>統計推論：</a:t>
            </a:r>
            <a:endParaRPr lang="en-US" altLang="zh-TW" sz="2400" dirty="0">
              <a:latin typeface="標楷體" pitchFamily="65" charset="-120"/>
              <a:ea typeface="標楷體" pitchFamily="65" charset="-120"/>
            </a:endParaRPr>
          </a:p>
          <a:p>
            <a:pPr marL="450850" indent="-450850">
              <a:buFont typeface="Arial" panose="020B0604020202020204" pitchFamily="34" charset="0"/>
              <a:buChar char="•"/>
            </a:pPr>
            <a:r>
              <a:rPr lang="zh-TW" altLang="zh-TW" sz="2400" dirty="0">
                <a:latin typeface="標楷體" pitchFamily="65" charset="-120"/>
                <a:ea typeface="標楷體" pitchFamily="65" charset="-120"/>
              </a:rPr>
              <a:t>估計</a:t>
            </a:r>
            <a:endParaRPr lang="en-US" altLang="zh-TW" sz="2400" dirty="0">
              <a:latin typeface="標楷體" pitchFamily="65" charset="-120"/>
              <a:ea typeface="標楷體" pitchFamily="65" charset="-120"/>
            </a:endParaRPr>
          </a:p>
          <a:p>
            <a:pPr marL="450850" indent="-450850">
              <a:buFont typeface="Arial" panose="020B0604020202020204" pitchFamily="34" charset="0"/>
              <a:buChar char="•"/>
            </a:pPr>
            <a:r>
              <a:rPr lang="zh-TW" altLang="zh-TW" sz="2400" dirty="0">
                <a:latin typeface="標楷體" pitchFamily="65" charset="-120"/>
                <a:ea typeface="標楷體" pitchFamily="65" charset="-120"/>
              </a:rPr>
              <a:t>信賴區間</a:t>
            </a:r>
            <a:endParaRPr lang="en-US" altLang="zh-TW" sz="2400" dirty="0">
              <a:latin typeface="標楷體" pitchFamily="65" charset="-120"/>
              <a:ea typeface="標楷體" pitchFamily="65" charset="-120"/>
            </a:endParaRPr>
          </a:p>
          <a:p>
            <a:pPr marL="450850" indent="-450850">
              <a:buFont typeface="Arial" panose="020B0604020202020204" pitchFamily="34" charset="0"/>
              <a:buChar char="•"/>
            </a:pPr>
            <a:r>
              <a:rPr lang="zh-TW" altLang="zh-TW" sz="2400" dirty="0">
                <a:latin typeface="標楷體" pitchFamily="65" charset="-120"/>
                <a:ea typeface="標楷體" pitchFamily="65" charset="-120"/>
              </a:rPr>
              <a:t>假設檢定</a:t>
            </a:r>
            <a:endParaRPr lang="en-US" altLang="zh-TW" sz="2400" dirty="0">
              <a:latin typeface="標楷體" pitchFamily="65" charset="-120"/>
              <a:ea typeface="標楷體" pitchFamily="65" charset="-120"/>
            </a:endParaRPr>
          </a:p>
          <a:p>
            <a:pPr marL="450850" indent="-450850"/>
            <a:endParaRPr lang="en-US" altLang="zh-TW" sz="2400" dirty="0">
              <a:latin typeface="標楷體" pitchFamily="65" charset="-120"/>
              <a:ea typeface="標楷體" pitchFamily="65"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pPr>
              <a:defRPr/>
            </a:pPr>
            <a:r>
              <a:rPr lang="en-US" altLang="zh-TW" dirty="0"/>
              <a:t>4</a:t>
            </a:r>
          </a:p>
        </p:txBody>
      </p:sp>
      <p:sp>
        <p:nvSpPr>
          <p:cNvPr id="2" name="矩形 1"/>
          <p:cNvSpPr/>
          <p:nvPr/>
        </p:nvSpPr>
        <p:spPr>
          <a:xfrm>
            <a:off x="734637" y="1916832"/>
            <a:ext cx="7983934" cy="4126964"/>
          </a:xfrm>
          <a:prstGeom prst="rect">
            <a:avLst/>
          </a:prstGeom>
        </p:spPr>
        <p:txBody>
          <a:bodyPr wrap="square">
            <a:spAutoFit/>
          </a:bodyPr>
          <a:lstStyle/>
          <a:p>
            <a:pPr marL="450850" indent="-450850">
              <a:lnSpc>
                <a:spcPct val="110000"/>
              </a:lnSpc>
            </a:pPr>
            <a:r>
              <a:rPr lang="zh-TW" altLang="en-US" dirty="0">
                <a:ea typeface="標楷體" pitchFamily="65" charset="-120"/>
                <a:cs typeface="Times New Roman" panose="02020603050405020304" pitchFamily="18" charset="0"/>
              </a:rPr>
              <a:t>例</a:t>
            </a:r>
            <a:r>
              <a:rPr lang="en-US" altLang="zh-TW" dirty="0">
                <a:ea typeface="標楷體" pitchFamily="65" charset="-120"/>
                <a:cs typeface="Times New Roman" panose="02020603050405020304" pitchFamily="18" charset="0"/>
              </a:rPr>
              <a:t>:</a:t>
            </a:r>
            <a:r>
              <a:rPr lang="zh-TW" altLang="en-US" dirty="0">
                <a:ea typeface="標楷體" pitchFamily="65" charset="-120"/>
                <a:cs typeface="Times New Roman" panose="02020603050405020304" pitchFamily="18" charset="0"/>
              </a:rPr>
              <a:t>研究者招募了 </a:t>
            </a:r>
            <a:r>
              <a:rPr lang="en-US" altLang="zh-TW" dirty="0">
                <a:ea typeface="標楷體" pitchFamily="65" charset="-120"/>
                <a:cs typeface="Times New Roman" panose="02020603050405020304" pitchFamily="18" charset="0"/>
              </a:rPr>
              <a:t>83 </a:t>
            </a:r>
            <a:r>
              <a:rPr lang="zh-TW" altLang="en-US" dirty="0">
                <a:ea typeface="標楷體" pitchFamily="65" charset="-120"/>
                <a:cs typeface="Times New Roman" panose="02020603050405020304" pitchFamily="18" charset="0"/>
              </a:rPr>
              <a:t>位國小學童，將她們隨機分為兩組，一組每天攝取 </a:t>
            </a:r>
            <a:r>
              <a:rPr lang="en-US" altLang="zh-TW" dirty="0">
                <a:ea typeface="標楷體" pitchFamily="65" charset="-120"/>
                <a:cs typeface="Times New Roman" panose="02020603050405020304" pitchFamily="18" charset="0"/>
              </a:rPr>
              <a:t>4 </a:t>
            </a:r>
            <a:r>
              <a:rPr lang="zh-TW" altLang="en-US" dirty="0">
                <a:ea typeface="標楷體" pitchFamily="65" charset="-120"/>
                <a:cs typeface="Times New Roman" panose="02020603050405020304" pitchFamily="18" charset="0"/>
              </a:rPr>
              <a:t>克乳清蛋白補充品 ，另一組每天攝取 </a:t>
            </a:r>
            <a:r>
              <a:rPr lang="en-US" altLang="zh-TW" dirty="0">
                <a:ea typeface="標楷體" pitchFamily="65" charset="-120"/>
                <a:cs typeface="Times New Roman" panose="02020603050405020304" pitchFamily="18" charset="0"/>
              </a:rPr>
              <a:t>4 </a:t>
            </a:r>
            <a:r>
              <a:rPr lang="zh-TW" altLang="en-US" dirty="0">
                <a:ea typeface="標楷體" pitchFamily="65" charset="-120"/>
                <a:cs typeface="Times New Roman" panose="02020603050405020304" pitchFamily="18" charset="0"/>
              </a:rPr>
              <a:t>克的碳水化合物；攝取期間是</a:t>
            </a:r>
            <a:r>
              <a:rPr lang="en-US" altLang="zh-TW" dirty="0">
                <a:ea typeface="標楷體" pitchFamily="65" charset="-120"/>
                <a:cs typeface="Times New Roman" panose="02020603050405020304" pitchFamily="18" charset="0"/>
              </a:rPr>
              <a:t>6</a:t>
            </a:r>
            <a:r>
              <a:rPr lang="zh-TW" altLang="en-US" dirty="0">
                <a:ea typeface="標楷體" pitchFamily="65" charset="-120"/>
                <a:cs typeface="Times New Roman" panose="02020603050405020304" pitchFamily="18" charset="0"/>
              </a:rPr>
              <a:t>個月</a:t>
            </a:r>
            <a:r>
              <a:rPr lang="zh-TW" altLang="en-US" dirty="0">
                <a:latin typeface="標楷體" pitchFamily="65" charset="-120"/>
                <a:ea typeface="標楷體" pitchFamily="65" charset="-120"/>
              </a:rPr>
              <a:t>，研究者測驗他們跳高的高度並且進一步分析攝取乳清蛋白補充品與否，和小孩跳高高度之間的關係。</a:t>
            </a:r>
            <a:endParaRPr lang="en-US" altLang="zh-TW" dirty="0">
              <a:latin typeface="標楷體" pitchFamily="65" charset="-120"/>
              <a:ea typeface="標楷體" pitchFamily="65" charset="-120"/>
            </a:endParaRPr>
          </a:p>
          <a:p>
            <a:pPr marL="450850" indent="-450850">
              <a:lnSpc>
                <a:spcPct val="110000"/>
              </a:lnSpc>
            </a:pPr>
            <a:endParaRPr lang="en-US" altLang="zh-TW" dirty="0">
              <a:latin typeface="標楷體" pitchFamily="65" charset="-120"/>
              <a:ea typeface="標楷體" pitchFamily="65" charset="-120"/>
            </a:endParaRPr>
          </a:p>
          <a:p>
            <a:pPr marL="450850" indent="-450850">
              <a:lnSpc>
                <a:spcPct val="110000"/>
              </a:lnSpc>
            </a:pPr>
            <a:endParaRPr lang="en-US" altLang="zh-TW" dirty="0">
              <a:latin typeface="標楷體" pitchFamily="65" charset="-120"/>
              <a:ea typeface="標楷體" pitchFamily="65" charset="-120"/>
            </a:endParaRPr>
          </a:p>
          <a:p>
            <a:pPr marL="450850" indent="-450850">
              <a:lnSpc>
                <a:spcPct val="110000"/>
              </a:lnSpc>
            </a:pPr>
            <a:r>
              <a:rPr lang="zh-TW" altLang="en-US" dirty="0">
                <a:latin typeface="標楷體" pitchFamily="65" charset="-120"/>
                <a:ea typeface="標楷體" pitchFamily="65" charset="-120"/>
              </a:rPr>
              <a:t>研究目的</a:t>
            </a:r>
            <a:r>
              <a:rPr lang="en-US" altLang="zh-TW" dirty="0">
                <a:latin typeface="標楷體" pitchFamily="65" charset="-120"/>
                <a:ea typeface="標楷體" pitchFamily="65" charset="-120"/>
              </a:rPr>
              <a:t>:</a:t>
            </a:r>
            <a:r>
              <a:rPr lang="zh-TW" altLang="en-US" dirty="0">
                <a:latin typeface="標楷體" pitchFamily="65" charset="-120"/>
                <a:ea typeface="標楷體" pitchFamily="65" charset="-120"/>
              </a:rPr>
              <a:t>我們的目的並不是這</a:t>
            </a:r>
            <a:r>
              <a:rPr lang="en-US" altLang="zh-TW" dirty="0">
                <a:latin typeface="標楷體" pitchFamily="65" charset="-120"/>
                <a:ea typeface="標楷體" pitchFamily="65" charset="-120"/>
              </a:rPr>
              <a:t>83</a:t>
            </a:r>
            <a:r>
              <a:rPr lang="zh-TW" altLang="en-US" dirty="0">
                <a:latin typeface="標楷體" pitchFamily="65" charset="-120"/>
                <a:ea typeface="標楷體" pitchFamily="65" charset="-120"/>
              </a:rPr>
              <a:t>位國小生的跳高情形，而是希望藉由此資料知道“所有”國小學生攝取乳清蛋白與否對跳高高度的影響。</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p:cNvSpPr txBox="1">
            <a:spLocks noChangeArrowheads="1"/>
          </p:cNvSpPr>
          <p:nvPr/>
        </p:nvSpPr>
        <p:spPr bwMode="auto">
          <a:xfrm>
            <a:off x="950913" y="692150"/>
            <a:ext cx="527367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4000">
                <a:latin typeface="標楷體" pitchFamily="65" charset="-120"/>
                <a:ea typeface="標楷體" pitchFamily="65" charset="-120"/>
              </a:rPr>
              <a:t>點估計</a:t>
            </a:r>
            <a:r>
              <a:rPr lang="en-US" altLang="zh-TW" sz="4000">
                <a:ea typeface="標楷體" pitchFamily="65" charset="-120"/>
              </a:rPr>
              <a:t>(Point Estimates)</a:t>
            </a:r>
          </a:p>
        </p:txBody>
      </p:sp>
      <p:grpSp>
        <p:nvGrpSpPr>
          <p:cNvPr id="2" name="群組 1"/>
          <p:cNvGrpSpPr/>
          <p:nvPr/>
        </p:nvGrpSpPr>
        <p:grpSpPr>
          <a:xfrm>
            <a:off x="611560" y="1700808"/>
            <a:ext cx="7056438" cy="3809727"/>
            <a:chOff x="1187624" y="2060848"/>
            <a:chExt cx="7056438" cy="3809727"/>
          </a:xfrm>
        </p:grpSpPr>
        <p:grpSp>
          <p:nvGrpSpPr>
            <p:cNvPr id="6147" name="Group 15"/>
            <p:cNvGrpSpPr>
              <a:grpSpLocks/>
            </p:cNvGrpSpPr>
            <p:nvPr/>
          </p:nvGrpSpPr>
          <p:grpSpPr bwMode="auto">
            <a:xfrm>
              <a:off x="1187624" y="2060848"/>
              <a:ext cx="7056438" cy="3600450"/>
              <a:chOff x="431" y="1162"/>
              <a:chExt cx="4989" cy="2631"/>
            </a:xfrm>
          </p:grpSpPr>
          <p:sp>
            <p:nvSpPr>
              <p:cNvPr id="6150" name="Oval 2"/>
              <p:cNvSpPr>
                <a:spLocks noChangeArrowheads="1"/>
              </p:cNvSpPr>
              <p:nvPr/>
            </p:nvSpPr>
            <p:spPr bwMode="auto">
              <a:xfrm>
                <a:off x="431" y="1797"/>
                <a:ext cx="2041" cy="1996"/>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6151" name="Oval 3"/>
              <p:cNvSpPr>
                <a:spLocks noChangeArrowheads="1"/>
              </p:cNvSpPr>
              <p:nvPr/>
            </p:nvSpPr>
            <p:spPr bwMode="auto">
              <a:xfrm>
                <a:off x="4150" y="2115"/>
                <a:ext cx="1270" cy="1179"/>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33796" name="Line 4"/>
              <p:cNvSpPr>
                <a:spLocks noChangeShapeType="1"/>
              </p:cNvSpPr>
              <p:nvPr/>
            </p:nvSpPr>
            <p:spPr bwMode="auto">
              <a:xfrm>
                <a:off x="2290" y="2568"/>
                <a:ext cx="172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Lst>
            </p:spPr>
            <p:txBody>
              <a:bodyPr/>
              <a:lstStyle/>
              <a:p>
                <a:pPr>
                  <a:defRPr/>
                </a:pP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6153" name="Text Box 6"/>
              <p:cNvSpPr txBox="1">
                <a:spLocks noChangeArrowheads="1"/>
              </p:cNvSpPr>
              <p:nvPr/>
            </p:nvSpPr>
            <p:spPr bwMode="auto">
              <a:xfrm>
                <a:off x="1111" y="1162"/>
                <a:ext cx="1219" cy="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4000" dirty="0">
                    <a:ea typeface="標楷體" pitchFamily="65" charset="-120"/>
                  </a:rPr>
                  <a:t>母群體</a:t>
                </a:r>
              </a:p>
            </p:txBody>
          </p:sp>
          <p:sp>
            <p:nvSpPr>
              <p:cNvPr id="6154" name="Text Box 7"/>
              <p:cNvSpPr txBox="1">
                <a:spLocks noChangeArrowheads="1"/>
              </p:cNvSpPr>
              <p:nvPr/>
            </p:nvSpPr>
            <p:spPr bwMode="auto">
              <a:xfrm>
                <a:off x="1156" y="3249"/>
                <a:ext cx="705" cy="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3200">
                    <a:ea typeface="標楷體" pitchFamily="65" charset="-120"/>
                  </a:rPr>
                  <a:t>未知</a:t>
                </a:r>
              </a:p>
            </p:txBody>
          </p:sp>
          <p:sp>
            <p:nvSpPr>
              <p:cNvPr id="6155" name="Text Box 8"/>
              <p:cNvSpPr txBox="1">
                <a:spLocks noChangeArrowheads="1"/>
              </p:cNvSpPr>
              <p:nvPr/>
            </p:nvSpPr>
            <p:spPr bwMode="auto">
              <a:xfrm>
                <a:off x="2835" y="2116"/>
                <a:ext cx="783"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3600" dirty="0">
                    <a:ea typeface="標楷體" pitchFamily="65" charset="-120"/>
                  </a:rPr>
                  <a:t>抽樣</a:t>
                </a:r>
              </a:p>
            </p:txBody>
          </p:sp>
          <p:graphicFrame>
            <p:nvGraphicFramePr>
              <p:cNvPr id="6156" name="Object 9"/>
              <p:cNvGraphicFramePr>
                <a:graphicFrameLocks noChangeAspect="1"/>
              </p:cNvGraphicFramePr>
              <p:nvPr/>
            </p:nvGraphicFramePr>
            <p:xfrm>
              <a:off x="748" y="2115"/>
              <a:ext cx="1361" cy="422"/>
            </p:xfrm>
            <a:graphic>
              <a:graphicData uri="http://schemas.openxmlformats.org/presentationml/2006/ole">
                <mc:AlternateContent xmlns:mc="http://schemas.openxmlformats.org/markup-compatibility/2006">
                  <mc:Choice xmlns:v="urn:schemas-microsoft-com:vml" Requires="v">
                    <p:oleObj name="方程式" r:id="rId2" imgW="736600" imgH="228600" progId="Equation.3">
                      <p:embed/>
                    </p:oleObj>
                  </mc:Choice>
                  <mc:Fallback>
                    <p:oleObj name="方程式" r:id="rId2" imgW="736600" imgH="228600" progId="Equation.3">
                      <p:embed/>
                      <p:pic>
                        <p:nvPicPr>
                          <p:cNvPr id="0" name="Picture 7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 y="2115"/>
                            <a:ext cx="1361" cy="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7" name="Object 10"/>
              <p:cNvGraphicFramePr>
                <a:graphicFrameLocks noChangeAspect="1"/>
              </p:cNvGraphicFramePr>
              <p:nvPr>
                <p:extLst>
                  <p:ext uri="{D42A27DB-BD31-4B8C-83A1-F6EECF244321}">
                    <p14:modId xmlns:p14="http://schemas.microsoft.com/office/powerpoint/2010/main" val="4211641093"/>
                  </p:ext>
                </p:extLst>
              </p:nvPr>
            </p:nvGraphicFramePr>
            <p:xfrm>
              <a:off x="1275" y="2832"/>
              <a:ext cx="420" cy="454"/>
            </p:xfrm>
            <a:graphic>
              <a:graphicData uri="http://schemas.openxmlformats.org/presentationml/2006/ole">
                <mc:AlternateContent xmlns:mc="http://schemas.openxmlformats.org/markup-compatibility/2006">
                  <mc:Choice xmlns:v="urn:schemas-microsoft-com:vml" Requires="v">
                    <p:oleObj name="方程式" r:id="rId4" imgW="152268" imgH="164957" progId="Equation.3">
                      <p:embed/>
                    </p:oleObj>
                  </mc:Choice>
                  <mc:Fallback>
                    <p:oleObj name="方程式" r:id="rId4" imgW="152268" imgH="164957" progId="Equation.3">
                      <p:embed/>
                      <p:pic>
                        <p:nvPicPr>
                          <p:cNvPr id="0" name="Picture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5" y="2832"/>
                            <a:ext cx="420"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8" name="Line 11"/>
              <p:cNvSpPr>
                <a:spLocks noChangeShapeType="1"/>
              </p:cNvSpPr>
              <p:nvPr/>
            </p:nvSpPr>
            <p:spPr bwMode="auto">
              <a:xfrm flipH="1">
                <a:off x="1695" y="3158"/>
                <a:ext cx="312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aphicFrame>
            <p:nvGraphicFramePr>
              <p:cNvPr id="6159" name="Object 12"/>
              <p:cNvGraphicFramePr>
                <a:graphicFrameLocks noChangeAspect="1"/>
              </p:cNvGraphicFramePr>
              <p:nvPr>
                <p:extLst>
                  <p:ext uri="{D42A27DB-BD31-4B8C-83A1-F6EECF244321}">
                    <p14:modId xmlns:p14="http://schemas.microsoft.com/office/powerpoint/2010/main" val="1347958360"/>
                  </p:ext>
                </p:extLst>
              </p:nvPr>
            </p:nvGraphicFramePr>
            <p:xfrm>
              <a:off x="4683" y="2706"/>
              <a:ext cx="264" cy="312"/>
            </p:xfrm>
            <a:graphic>
              <a:graphicData uri="http://schemas.openxmlformats.org/presentationml/2006/ole">
                <mc:AlternateContent xmlns:mc="http://schemas.openxmlformats.org/markup-compatibility/2006">
                  <mc:Choice xmlns:v="urn:schemas-microsoft-com:vml" Requires="v">
                    <p:oleObj name="方程式" r:id="rId6" imgW="139680" imgH="164880" progId="Equation.3">
                      <p:embed/>
                    </p:oleObj>
                  </mc:Choice>
                  <mc:Fallback>
                    <p:oleObj name="方程式" r:id="rId6" imgW="139680" imgH="164880" progId="Equation.3">
                      <p:embed/>
                      <p:pic>
                        <p:nvPicPr>
                          <p:cNvPr id="0" name="Picture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 y="2706"/>
                            <a:ext cx="264"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0" name="Line 13"/>
              <p:cNvSpPr>
                <a:spLocks noChangeShapeType="1"/>
              </p:cNvSpPr>
              <p:nvPr/>
            </p:nvSpPr>
            <p:spPr bwMode="auto">
              <a:xfrm>
                <a:off x="4830" y="3067"/>
                <a:ext cx="0" cy="9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aphicFrame>
            <p:nvGraphicFramePr>
              <p:cNvPr id="6161" name="Object 14"/>
              <p:cNvGraphicFramePr>
                <a:graphicFrameLocks noChangeAspect="1"/>
              </p:cNvGraphicFramePr>
              <p:nvPr/>
            </p:nvGraphicFramePr>
            <p:xfrm>
              <a:off x="4286" y="2296"/>
              <a:ext cx="1008" cy="330"/>
            </p:xfrm>
            <a:graphic>
              <a:graphicData uri="http://schemas.openxmlformats.org/presentationml/2006/ole">
                <mc:AlternateContent xmlns:mc="http://schemas.openxmlformats.org/markup-compatibility/2006">
                  <mc:Choice xmlns:v="urn:schemas-microsoft-com:vml" Requires="v">
                    <p:oleObj name="方程式" r:id="rId8" imgW="698500" imgH="228600" progId="Equation.3">
                      <p:embed/>
                    </p:oleObj>
                  </mc:Choice>
                  <mc:Fallback>
                    <p:oleObj name="方程式" r:id="rId8" imgW="698500" imgH="228600" progId="Equation.3">
                      <p:embed/>
                      <p:pic>
                        <p:nvPicPr>
                          <p:cNvPr id="0" name="Picture 7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6" y="2296"/>
                            <a:ext cx="1008" cy="33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6148" name="Text Box 17"/>
            <p:cNvSpPr txBox="1">
              <a:spLocks noChangeArrowheads="1"/>
            </p:cNvSpPr>
            <p:nvPr/>
          </p:nvSpPr>
          <p:spPr bwMode="auto">
            <a:xfrm flipH="1">
              <a:off x="6588125" y="2636838"/>
              <a:ext cx="15176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4000" dirty="0">
                  <a:ea typeface="標楷體" pitchFamily="65" charset="-120"/>
                </a:rPr>
                <a:t>樣本</a:t>
              </a:r>
            </a:p>
          </p:txBody>
        </p:sp>
        <p:sp>
          <p:nvSpPr>
            <p:cNvPr id="6149" name="Text Box 18"/>
            <p:cNvSpPr txBox="1">
              <a:spLocks noChangeArrowheads="1"/>
            </p:cNvSpPr>
            <p:nvPr/>
          </p:nvSpPr>
          <p:spPr bwMode="auto">
            <a:xfrm>
              <a:off x="4284663" y="5229225"/>
              <a:ext cx="2374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r>
                <a:rPr lang="zh-TW" altLang="en-US" sz="3600" dirty="0">
                  <a:ea typeface="標楷體" pitchFamily="65" charset="-120"/>
                </a:rPr>
                <a:t>推論</a:t>
              </a:r>
              <a:r>
                <a:rPr lang="en-US" altLang="zh-TW" sz="3600" dirty="0">
                  <a:ea typeface="標楷體" pitchFamily="65" charset="-120"/>
                </a:rPr>
                <a:t>(</a:t>
              </a:r>
              <a:r>
                <a:rPr lang="zh-TW" altLang="en-US" sz="3600" dirty="0">
                  <a:latin typeface="標楷體" pitchFamily="65" charset="-120"/>
                  <a:ea typeface="標楷體" pitchFamily="65" charset="-120"/>
                </a:rPr>
                <a:t>估計</a:t>
              </a:r>
              <a:r>
                <a:rPr lang="en-US" altLang="zh-TW" sz="3600" dirty="0">
                  <a:latin typeface="標楷體" pitchFamily="65" charset="-120"/>
                  <a:ea typeface="標楷體" pitchFamily="65" charset="-120"/>
                </a:rPr>
                <a:t>)</a:t>
              </a:r>
            </a:p>
          </p:txBody>
        </p:sp>
      </p:grpSp>
      <p:sp>
        <p:nvSpPr>
          <p:cNvPr id="18" name="投影片編號版面配置區 17"/>
          <p:cNvSpPr>
            <a:spLocks noGrp="1"/>
          </p:cNvSpPr>
          <p:nvPr>
            <p:ph type="sldNum" sz="quarter" idx="12"/>
          </p:nvPr>
        </p:nvSpPr>
        <p:spPr/>
        <p:txBody>
          <a:bodyPr/>
          <a:lstStyle/>
          <a:p>
            <a:pPr>
              <a:defRPr/>
            </a:pPr>
            <a:r>
              <a:rPr lang="en-US" altLang="zh-TW"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A6B16355-27FB-445B-B646-02AB73637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0" name="Rectangle 2"/>
          <p:cNvSpPr>
            <a:spLocks noGrp="1" noChangeArrowheads="1"/>
          </p:cNvSpPr>
          <p:nvPr>
            <p:ph type="title"/>
          </p:nvPr>
        </p:nvSpPr>
        <p:spPr bwMode="auto">
          <a:xfrm>
            <a:off x="6132908" y="634946"/>
            <a:ext cx="2759569" cy="5055904"/>
          </a:xfrm>
        </p:spPr>
        <p:txBody>
          <a:bodyPr numCol="1" anchor="ctr" anchorCtr="0" compatLnSpc="1">
            <a:prstTxWarp prst="textNoShape">
              <a:avLst/>
            </a:prstTxWarp>
            <a:normAutofit/>
          </a:bodyPr>
          <a:lstStyle/>
          <a:p>
            <a:pPr algn="ctr"/>
            <a:r>
              <a:rPr lang="zh-TW" altLang="en-US" sz="3200" dirty="0">
                <a:latin typeface="標楷體" pitchFamily="65" charset="-120"/>
                <a:ea typeface="標楷體" pitchFamily="65" charset="-120"/>
              </a:rPr>
              <a:t>點估計</a:t>
            </a:r>
            <a:br>
              <a:rPr lang="en-US" altLang="zh-TW" sz="3200" dirty="0">
                <a:latin typeface="標楷體" pitchFamily="65" charset="-120"/>
                <a:ea typeface="標楷體" pitchFamily="65" charset="-120"/>
              </a:rPr>
            </a:br>
            <a:r>
              <a:rPr lang="en-US" altLang="zh-TW" sz="3200" dirty="0">
                <a:latin typeface="Times New Roman" pitchFamily="18" charset="0"/>
                <a:ea typeface="標楷體" pitchFamily="65" charset="-120"/>
              </a:rPr>
              <a:t>(Point Estimates)</a:t>
            </a:r>
          </a:p>
        </p:txBody>
      </p:sp>
      <p:cxnSp>
        <p:nvCxnSpPr>
          <p:cNvPr id="7179" name="Straight Connector 7178">
            <a:extLst>
              <a:ext uri="{FF2B5EF4-FFF2-40B4-BE49-F238E27FC236}">
                <a16:creationId xmlns:a16="http://schemas.microsoft.com/office/drawing/2014/main" id="{06DA680F-F6AC-453E-A8BF-C5BDED2851D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92733" y="1791298"/>
            <a:ext cx="0" cy="27432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181" name="Rectangle 7180">
            <a:extLst>
              <a:ext uri="{FF2B5EF4-FFF2-40B4-BE49-F238E27FC236}">
                <a16:creationId xmlns:a16="http://schemas.microsoft.com/office/drawing/2014/main" id="{6B3BF2E5-C3AB-441F-A430-491119C56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7183" name="Rectangle 7182">
            <a:extLst>
              <a:ext uri="{FF2B5EF4-FFF2-40B4-BE49-F238E27FC236}">
                <a16:creationId xmlns:a16="http://schemas.microsoft.com/office/drawing/2014/main" id="{DD07C90B-B81A-473B-8919-CA924E61F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4" name="投影片編號版面配置區 3"/>
          <p:cNvSpPr>
            <a:spLocks noGrp="1"/>
          </p:cNvSpPr>
          <p:nvPr>
            <p:ph type="sldNum" sz="quarter" idx="12"/>
          </p:nvPr>
        </p:nvSpPr>
        <p:spPr>
          <a:xfrm>
            <a:off x="7425343" y="6459785"/>
            <a:ext cx="984019" cy="365125"/>
          </a:xfrm>
        </p:spPr>
        <p:txBody>
          <a:bodyPr>
            <a:normAutofit/>
          </a:bodyPr>
          <a:lstStyle/>
          <a:p>
            <a:pPr>
              <a:spcAft>
                <a:spcPts val="600"/>
              </a:spcAft>
              <a:defRPr/>
            </a:pPr>
            <a:r>
              <a:rPr lang="en-US" altLang="zh-TW" dirty="0"/>
              <a:t>6</a:t>
            </a:r>
            <a:endParaRPr lang="en-US" altLang="zh-TW"/>
          </a:p>
        </p:txBody>
      </p:sp>
      <p:graphicFrame>
        <p:nvGraphicFramePr>
          <p:cNvPr id="7173" name="Rectangle 3">
            <a:extLst>
              <a:ext uri="{FF2B5EF4-FFF2-40B4-BE49-F238E27FC236}">
                <a16:creationId xmlns:a16="http://schemas.microsoft.com/office/drawing/2014/main" id="{6905BBD1-204A-1D53-666E-667C74C076F7}"/>
              </a:ext>
            </a:extLst>
          </p:cNvPr>
          <p:cNvGraphicFramePr>
            <a:graphicFrameLocks noGrp="1"/>
          </p:cNvGraphicFramePr>
          <p:nvPr>
            <p:ph idx="1"/>
            <p:extLst>
              <p:ext uri="{D42A27DB-BD31-4B8C-83A1-F6EECF244321}">
                <p14:modId xmlns:p14="http://schemas.microsoft.com/office/powerpoint/2010/main" val="2174102388"/>
              </p:ext>
            </p:extLst>
          </p:nvPr>
        </p:nvGraphicFramePr>
        <p:xfrm>
          <a:off x="419697" y="188640"/>
          <a:ext cx="5376439" cy="5976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066800" y="811706"/>
            <a:ext cx="7010400" cy="701675"/>
          </a:xfrm>
        </p:spPr>
        <p:txBody>
          <a:bodyPr/>
          <a:lstStyle/>
          <a:p>
            <a:pPr fontAlgn="auto">
              <a:spcAft>
                <a:spcPts val="0"/>
              </a:spcAft>
              <a:defRPr/>
            </a:pPr>
            <a:r>
              <a:rPr lang="zh-TW" altLang="en-US" sz="4000" dirty="0">
                <a:solidFill>
                  <a:schemeClr val="tx1"/>
                </a:solidFill>
                <a:latin typeface="標楷體" pitchFamily="65" charset="-120"/>
                <a:ea typeface="標楷體" panose="03000509000000000000" pitchFamily="65" charset="-120"/>
              </a:rPr>
              <a:t>母體參數值之信賴區間估計</a:t>
            </a:r>
            <a:endParaRPr lang="en-US" altLang="zh-TW" sz="4000" i="1" dirty="0">
              <a:solidFill>
                <a:schemeClr val="tx1"/>
              </a:solidFill>
              <a:latin typeface="標楷體" panose="03000509000000000000" pitchFamily="65" charset="-120"/>
              <a:ea typeface="標楷體" panose="03000509000000000000" pitchFamily="65" charset="-120"/>
            </a:endParaRPr>
          </a:p>
        </p:txBody>
      </p:sp>
      <p:sp>
        <p:nvSpPr>
          <p:cNvPr id="143363" name="Rectangle 3"/>
          <p:cNvSpPr>
            <a:spLocks noGrp="1" noChangeArrowheads="1"/>
          </p:cNvSpPr>
          <p:nvPr>
            <p:ph idx="1"/>
          </p:nvPr>
        </p:nvSpPr>
        <p:spPr>
          <a:xfrm>
            <a:off x="385887" y="1993363"/>
            <a:ext cx="8372226" cy="4679113"/>
          </a:xfrm>
        </p:spPr>
        <p:txBody>
          <a:bodyPr>
            <a:normAutofit fontScale="85000" lnSpcReduction="20000"/>
          </a:bodyPr>
          <a:lstStyle/>
          <a:p>
            <a:pPr>
              <a:buFont typeface="Wingdings" panose="05000000000000000000" pitchFamily="2" charset="2"/>
              <a:buChar char="l"/>
            </a:pPr>
            <a:r>
              <a:rPr lang="zh-TW" altLang="en-US" sz="2400" dirty="0">
                <a:latin typeface="標楷體" pitchFamily="65" charset="-120"/>
                <a:ea typeface="標楷體" pitchFamily="65" charset="-120"/>
              </a:rPr>
              <a:t>以樣本平均值   當作最佳點估計，但通常母體平均值  未知，那如何知道此樣品平均值是否可靠呢？</a:t>
            </a:r>
            <a:endParaRPr lang="en-US" altLang="zh-TW" sz="2400" dirty="0">
              <a:latin typeface="標楷體" pitchFamily="65" charset="-120"/>
              <a:ea typeface="標楷體" pitchFamily="65" charset="-120"/>
            </a:endParaRPr>
          </a:p>
          <a:p>
            <a:pPr>
              <a:buFont typeface="Wingdings" panose="05000000000000000000" pitchFamily="2" charset="2"/>
              <a:buChar char="l"/>
            </a:pPr>
            <a:endParaRPr lang="zh-TW" altLang="en-US" sz="2400" dirty="0">
              <a:latin typeface="標楷體" pitchFamily="65" charset="-120"/>
              <a:ea typeface="標楷體" pitchFamily="65" charset="-120"/>
            </a:endParaRPr>
          </a:p>
          <a:p>
            <a:pPr>
              <a:buFont typeface="Wingdings" panose="05000000000000000000" pitchFamily="2" charset="2"/>
              <a:buChar char="l"/>
            </a:pPr>
            <a:r>
              <a:rPr lang="zh-TW" altLang="en-US" sz="2400" dirty="0">
                <a:latin typeface="標楷體" pitchFamily="65" charset="-120"/>
                <a:ea typeface="標楷體" pitchFamily="65" charset="-120"/>
              </a:rPr>
              <a:t>信賴區間</a:t>
            </a:r>
            <a:r>
              <a:rPr lang="en-US" altLang="zh-TW" sz="2400" dirty="0">
                <a:latin typeface="標楷體" pitchFamily="65" charset="-120"/>
                <a:ea typeface="標楷體" pitchFamily="65" charset="-120"/>
              </a:rPr>
              <a:t>(</a:t>
            </a:r>
            <a:r>
              <a:rPr lang="en-US" altLang="zh-TW" sz="2400" dirty="0">
                <a:latin typeface="Times New Roman" pitchFamily="18" charset="0"/>
                <a:ea typeface="標楷體" pitchFamily="65" charset="-120"/>
                <a:cs typeface="Times New Roman" pitchFamily="18" charset="0"/>
              </a:rPr>
              <a:t>confidence interval</a:t>
            </a:r>
            <a:r>
              <a:rPr lang="zh-TW" altLang="en-US" sz="2400" dirty="0">
                <a:latin typeface="Times New Roman" pitchFamily="18" charset="0"/>
                <a:ea typeface="標楷體" pitchFamily="65" charset="-120"/>
                <a:cs typeface="Times New Roman" pitchFamily="18" charset="0"/>
              </a:rPr>
              <a:t>；</a:t>
            </a:r>
            <a:r>
              <a:rPr lang="en-US" altLang="zh-TW" sz="2400" dirty="0">
                <a:latin typeface="Times New Roman" pitchFamily="18" charset="0"/>
                <a:ea typeface="標楷體" pitchFamily="65" charset="-120"/>
                <a:cs typeface="Times New Roman" pitchFamily="18" charset="0"/>
              </a:rPr>
              <a:t>CI</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：使用樣本資料計算出一個區間</a:t>
            </a:r>
            <a:r>
              <a:rPr lang="en-US" altLang="zh-TW" sz="2400" dirty="0">
                <a:latin typeface="標楷體" pitchFamily="65" charset="-120"/>
                <a:ea typeface="標楷體" pitchFamily="65" charset="-120"/>
              </a:rPr>
              <a:t>(</a:t>
            </a:r>
            <a:r>
              <a:rPr lang="en-US" altLang="zh-TW" sz="2400" dirty="0">
                <a:latin typeface="Times New Roman" pitchFamily="18" charset="0"/>
                <a:ea typeface="標楷體" pitchFamily="65" charset="-120"/>
              </a:rPr>
              <a:t>a , b</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，以估計母體參數，並指出該區間包含母體參數的機率達到最低要求。</a:t>
            </a:r>
            <a:endParaRPr lang="en-US" altLang="zh-TW" sz="2400" dirty="0">
              <a:latin typeface="標楷體" pitchFamily="65" charset="-120"/>
              <a:ea typeface="標楷體" pitchFamily="65" charset="-120"/>
            </a:endParaRPr>
          </a:p>
          <a:p>
            <a:pPr>
              <a:buFont typeface="Wingdings" panose="05000000000000000000" pitchFamily="2" charset="2"/>
              <a:buChar char="l"/>
            </a:pPr>
            <a:endParaRPr lang="zh-TW" altLang="en-US" sz="2400" dirty="0">
              <a:latin typeface="標楷體" pitchFamily="65" charset="-120"/>
              <a:ea typeface="標楷體" pitchFamily="65" charset="-120"/>
            </a:endParaRPr>
          </a:p>
          <a:p>
            <a:pPr>
              <a:buFont typeface="Wingdings" panose="05000000000000000000" pitchFamily="2" charset="2"/>
              <a:buChar char="l"/>
            </a:pPr>
            <a:r>
              <a:rPr lang="zh-TW" altLang="en-US" sz="2400" dirty="0">
                <a:latin typeface="標楷體" pitchFamily="65" charset="-120"/>
                <a:ea typeface="標楷體" pitchFamily="65" charset="-120"/>
              </a:rPr>
              <a:t>信心水準</a:t>
            </a:r>
            <a:r>
              <a:rPr lang="en-US" altLang="zh-TW" sz="2400" dirty="0">
                <a:latin typeface="標楷體" pitchFamily="65" charset="-120"/>
                <a:ea typeface="標楷體" pitchFamily="65" charset="-120"/>
              </a:rPr>
              <a:t>(</a:t>
            </a:r>
            <a:r>
              <a:rPr lang="en-US" altLang="zh-TW" sz="2400" dirty="0">
                <a:latin typeface="Times New Roman" pitchFamily="18" charset="0"/>
                <a:ea typeface="標楷體" pitchFamily="65" charset="-120"/>
              </a:rPr>
              <a:t>confidence level</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：是指信賴區間內包含母體參數的機率，通常有</a:t>
            </a:r>
            <a:r>
              <a:rPr lang="en-US" altLang="zh-TW" sz="2400" dirty="0">
                <a:latin typeface="標楷體" pitchFamily="65" charset="-120"/>
                <a:ea typeface="標楷體" pitchFamily="65" charset="-120"/>
              </a:rPr>
              <a:t>90%</a:t>
            </a:r>
            <a:r>
              <a:rPr lang="zh-TW" altLang="en-US" sz="2400" dirty="0">
                <a:latin typeface="標楷體" pitchFamily="65" charset="-120"/>
                <a:ea typeface="標楷體" pitchFamily="65" charset="-120"/>
              </a:rPr>
              <a:t>、</a:t>
            </a:r>
            <a:r>
              <a:rPr lang="en-US" altLang="zh-TW" sz="2400" u="sng" dirty="0">
                <a:latin typeface="標楷體" pitchFamily="65" charset="-120"/>
                <a:ea typeface="標楷體" pitchFamily="65" charset="-120"/>
              </a:rPr>
              <a:t>95%</a:t>
            </a:r>
            <a:r>
              <a:rPr lang="zh-TW" altLang="en-US" sz="2400" dirty="0">
                <a:latin typeface="標楷體" pitchFamily="65" charset="-120"/>
                <a:ea typeface="標楷體" pitchFamily="65" charset="-120"/>
              </a:rPr>
              <a:t>、</a:t>
            </a:r>
            <a:r>
              <a:rPr lang="en-US" altLang="zh-TW" sz="2400" dirty="0">
                <a:latin typeface="標楷體" pitchFamily="65" charset="-120"/>
                <a:ea typeface="標楷體" pitchFamily="65" charset="-120"/>
              </a:rPr>
              <a:t>99%</a:t>
            </a:r>
            <a:r>
              <a:rPr lang="zh-TW" altLang="en-US" sz="2400" dirty="0">
                <a:latin typeface="標楷體" pitchFamily="65" charset="-120"/>
                <a:ea typeface="標楷體" pitchFamily="65" charset="-120"/>
              </a:rPr>
              <a:t>，並以 </a:t>
            </a:r>
            <a:r>
              <a:rPr lang="zh-TW" altLang="en-US" sz="2400" dirty="0">
                <a:solidFill>
                  <a:sysClr val="windowText" lastClr="000000"/>
                </a:solidFill>
                <a:latin typeface="標楷體" pitchFamily="65" charset="-120"/>
                <a:ea typeface="標楷體" pitchFamily="65" charset="-120"/>
              </a:rPr>
              <a:t>    </a:t>
            </a:r>
            <a:r>
              <a:rPr lang="zh-TW" altLang="en-US" sz="2400" dirty="0">
                <a:latin typeface="標楷體" pitchFamily="65" charset="-120"/>
                <a:ea typeface="標楷體" pitchFamily="65" charset="-120"/>
              </a:rPr>
              <a:t>表示。 </a:t>
            </a:r>
            <a:endParaRPr lang="en-US" altLang="zh-TW" sz="2400" dirty="0">
              <a:latin typeface="標楷體" pitchFamily="65" charset="-120"/>
              <a:ea typeface="標楷體" pitchFamily="65" charset="-120"/>
            </a:endParaRPr>
          </a:p>
          <a:p>
            <a:pPr>
              <a:buFont typeface="Wingdings" panose="05000000000000000000" pitchFamily="2" charset="2"/>
              <a:buChar char="l"/>
            </a:pPr>
            <a:endParaRPr lang="en-US" altLang="zh-TW" sz="2400" dirty="0">
              <a:latin typeface="標楷體" pitchFamily="65" charset="-120"/>
              <a:ea typeface="標楷體" pitchFamily="65" charset="-120"/>
            </a:endParaRPr>
          </a:p>
          <a:p>
            <a:pPr>
              <a:buFont typeface="Wingdings" panose="05000000000000000000" pitchFamily="2" charset="2"/>
              <a:buChar char="l"/>
            </a:pPr>
            <a:r>
              <a:rPr lang="zh-TW" altLang="en-US" sz="2400" dirty="0">
                <a:latin typeface="Times New Roman" pitchFamily="18" charset="0"/>
                <a:ea typeface="標楷體" pitchFamily="65" charset="-120"/>
              </a:rPr>
              <a:t>此一區間稱為</a:t>
            </a:r>
            <a:r>
              <a:rPr lang="en-US" altLang="zh-TW" sz="2400" dirty="0">
                <a:latin typeface="Times New Roman" pitchFamily="18" charset="0"/>
                <a:ea typeface="標楷體" pitchFamily="65" charset="-120"/>
              </a:rPr>
              <a:t>(1</a:t>
            </a:r>
            <a:r>
              <a:rPr lang="zh-TW" altLang="en-US" sz="2400" dirty="0">
                <a:latin typeface="Times New Roman" pitchFamily="18" charset="0"/>
                <a:ea typeface="標楷體" pitchFamily="65" charset="-120"/>
              </a:rPr>
              <a:t>－</a:t>
            </a:r>
            <a:r>
              <a:rPr lang="en-US" altLang="zh-TW" sz="2400" dirty="0">
                <a:latin typeface="Times New Roman" pitchFamily="18" charset="0"/>
                <a:ea typeface="標楷體" pitchFamily="65" charset="-120"/>
              </a:rPr>
              <a:t>α)×100%</a:t>
            </a:r>
            <a:r>
              <a:rPr lang="zh-TW" altLang="en-US" sz="2400" dirty="0">
                <a:latin typeface="Times New Roman" pitchFamily="18" charset="0"/>
                <a:ea typeface="標楷體" pitchFamily="65" charset="-120"/>
              </a:rPr>
              <a:t>信賴區間</a:t>
            </a:r>
            <a:r>
              <a:rPr lang="en-US" altLang="zh-TW" sz="2400" dirty="0">
                <a:latin typeface="Times New Roman" pitchFamily="18" charset="0"/>
                <a:ea typeface="標楷體" pitchFamily="65" charset="-120"/>
              </a:rPr>
              <a:t>(Confidence Interval)</a:t>
            </a:r>
            <a:r>
              <a:rPr lang="zh-TW" altLang="en-US" sz="2400" dirty="0">
                <a:latin typeface="Times New Roman" pitchFamily="18" charset="0"/>
                <a:ea typeface="標楷體" pitchFamily="65" charset="-120"/>
              </a:rPr>
              <a:t>。</a:t>
            </a:r>
            <a:endParaRPr lang="en-US" altLang="zh-TW" sz="2400" dirty="0">
              <a:latin typeface="Times New Roman" pitchFamily="18" charset="0"/>
              <a:ea typeface="標楷體" pitchFamily="65" charset="-120"/>
            </a:endParaRPr>
          </a:p>
          <a:p>
            <a:pPr>
              <a:buFont typeface="Wingdings" panose="05000000000000000000" pitchFamily="2" charset="2"/>
              <a:buChar char="l"/>
            </a:pPr>
            <a:endParaRPr lang="en-US" altLang="zh-TW" sz="2400" dirty="0">
              <a:latin typeface="Times New Roman" pitchFamily="18" charset="0"/>
              <a:ea typeface="標楷體" pitchFamily="65" charset="-120"/>
            </a:endParaRPr>
          </a:p>
          <a:p>
            <a:pPr>
              <a:buFont typeface="Wingdings" panose="05000000000000000000" pitchFamily="2" charset="2"/>
              <a:buChar char="l"/>
            </a:pPr>
            <a:r>
              <a:rPr lang="zh-TW" altLang="en-US" sz="2400" dirty="0">
                <a:latin typeface="標楷體" pitchFamily="65" charset="-120"/>
                <a:ea typeface="標楷體" pitchFamily="65" charset="-120"/>
              </a:rPr>
              <a:t>信賴區間是隨機，不同樣本計算的信賴區間不同，故稱為區間估計</a:t>
            </a:r>
            <a:r>
              <a:rPr lang="en-US" altLang="zh-TW" sz="2400" dirty="0">
                <a:latin typeface="標楷體" pitchFamily="65" charset="-120"/>
                <a:ea typeface="標楷體" pitchFamily="65" charset="-120"/>
              </a:rPr>
              <a:t>(</a:t>
            </a:r>
            <a:r>
              <a:rPr lang="en-US" altLang="zh-TW" sz="2400" dirty="0">
                <a:latin typeface="Times New Roman" pitchFamily="18" charset="0"/>
                <a:ea typeface="標楷體" pitchFamily="65" charset="-120"/>
              </a:rPr>
              <a:t>Interval Estimation</a:t>
            </a:r>
            <a:r>
              <a:rPr lang="en-US" altLang="zh-TW" sz="2400" dirty="0">
                <a:latin typeface="標楷體" pitchFamily="65" charset="-120"/>
                <a:ea typeface="標楷體" pitchFamily="65" charset="-120"/>
              </a:rPr>
              <a:t>)</a:t>
            </a:r>
            <a:endParaRPr lang="zh-TW" altLang="en-US" sz="2400" dirty="0">
              <a:latin typeface="標楷體" pitchFamily="65" charset="-120"/>
              <a:ea typeface="標楷體" pitchFamily="65" charset="-120"/>
            </a:endParaRPr>
          </a:p>
        </p:txBody>
      </p:sp>
      <p:sp>
        <p:nvSpPr>
          <p:cNvPr id="9" name="投影片編號版面配置區 8"/>
          <p:cNvSpPr>
            <a:spLocks noGrp="1"/>
          </p:cNvSpPr>
          <p:nvPr>
            <p:ph type="sldNum" sz="quarter" idx="12"/>
          </p:nvPr>
        </p:nvSpPr>
        <p:spPr/>
        <p:txBody>
          <a:bodyPr/>
          <a:lstStyle/>
          <a:p>
            <a:pPr>
              <a:defRPr/>
            </a:pPr>
            <a:r>
              <a:rPr lang="en-US" altLang="zh-TW" dirty="0"/>
              <a:t>8</a:t>
            </a:r>
          </a:p>
        </p:txBody>
      </p:sp>
      <p:graphicFrame>
        <p:nvGraphicFramePr>
          <p:cNvPr id="9220" name="Object 5"/>
          <p:cNvGraphicFramePr>
            <a:graphicFrameLocks noChangeAspect="1"/>
          </p:cNvGraphicFramePr>
          <p:nvPr>
            <p:extLst>
              <p:ext uri="{D42A27DB-BD31-4B8C-83A1-F6EECF244321}">
                <p14:modId xmlns:p14="http://schemas.microsoft.com/office/powerpoint/2010/main" val="2852803499"/>
              </p:ext>
            </p:extLst>
          </p:nvPr>
        </p:nvGraphicFramePr>
        <p:xfrm>
          <a:off x="6516243" y="1993363"/>
          <a:ext cx="287337" cy="309562"/>
        </p:xfrm>
        <a:graphic>
          <a:graphicData uri="http://schemas.openxmlformats.org/presentationml/2006/ole">
            <mc:AlternateContent xmlns:mc="http://schemas.openxmlformats.org/markup-compatibility/2006">
              <mc:Choice xmlns:v="urn:schemas-microsoft-com:vml" Requires="v">
                <p:oleObj name="方程式" r:id="rId2" imgW="241200" imgH="266760" progId="Equation.3">
                  <p:embed/>
                </p:oleObj>
              </mc:Choice>
              <mc:Fallback>
                <p:oleObj name="方程式" r:id="rId2" imgW="241200" imgH="266760" progId="Equation.3">
                  <p:embed/>
                  <p:pic>
                    <p:nvPicPr>
                      <p:cNvPr id="0" name="Picture 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43" y="1993363"/>
                        <a:ext cx="287337"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1" name="Rectangle 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9222" name="Object 7"/>
          <p:cNvGraphicFramePr>
            <a:graphicFrameLocks noChangeAspect="1"/>
          </p:cNvGraphicFramePr>
          <p:nvPr>
            <p:extLst>
              <p:ext uri="{D42A27DB-BD31-4B8C-83A1-F6EECF244321}">
                <p14:modId xmlns:p14="http://schemas.microsoft.com/office/powerpoint/2010/main" val="1815527860"/>
              </p:ext>
            </p:extLst>
          </p:nvPr>
        </p:nvGraphicFramePr>
        <p:xfrm>
          <a:off x="2123728" y="1858800"/>
          <a:ext cx="360362" cy="406400"/>
        </p:xfrm>
        <a:graphic>
          <a:graphicData uri="http://schemas.openxmlformats.org/presentationml/2006/ole">
            <mc:AlternateContent xmlns:mc="http://schemas.openxmlformats.org/markup-compatibility/2006">
              <mc:Choice xmlns:v="urn:schemas-microsoft-com:vml" Requires="v">
                <p:oleObj name="方程式" r:id="rId4" imgW="215640" imgH="266760" progId="Equation.3">
                  <p:embed/>
                </p:oleObj>
              </mc:Choice>
              <mc:Fallback>
                <p:oleObj name="方程式" r:id="rId4" imgW="215640" imgH="266760" progId="Equation.3">
                  <p:embed/>
                  <p:pic>
                    <p:nvPicPr>
                      <p:cNvPr id="0" name="Picture 5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3728" y="1858800"/>
                        <a:ext cx="360362" cy="406400"/>
                      </a:xfrm>
                      <a:prstGeom prst="rect">
                        <a:avLst/>
                      </a:prstGeom>
                      <a:solidFill>
                        <a:schemeClr val="bg1"/>
                      </a:solidFill>
                    </p:spPr>
                  </p:pic>
                </p:oleObj>
              </mc:Fallback>
            </mc:AlternateContent>
          </a:graphicData>
        </a:graphic>
      </p:graphicFrame>
      <p:sp>
        <p:nvSpPr>
          <p:cNvPr id="9223" name="Rectangle 11"/>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9224" name="Object 10"/>
          <p:cNvGraphicFramePr>
            <a:graphicFrameLocks noChangeAspect="1"/>
          </p:cNvGraphicFramePr>
          <p:nvPr>
            <p:extLst>
              <p:ext uri="{D42A27DB-BD31-4B8C-83A1-F6EECF244321}">
                <p14:modId xmlns:p14="http://schemas.microsoft.com/office/powerpoint/2010/main" val="461573543"/>
              </p:ext>
            </p:extLst>
          </p:nvPr>
        </p:nvGraphicFramePr>
        <p:xfrm>
          <a:off x="3131840" y="4179725"/>
          <a:ext cx="576262" cy="306388"/>
        </p:xfrm>
        <a:graphic>
          <a:graphicData uri="http://schemas.openxmlformats.org/presentationml/2006/ole">
            <mc:AlternateContent xmlns:mc="http://schemas.openxmlformats.org/markup-compatibility/2006">
              <mc:Choice xmlns:v="urn:schemas-microsoft-com:vml" Requires="v">
                <p:oleObj name="方程式" r:id="rId6" imgW="558360" imgH="279360" progId="Equation.3">
                  <p:embed/>
                </p:oleObj>
              </mc:Choice>
              <mc:Fallback>
                <p:oleObj name="方程式" r:id="rId6" imgW="558360" imgH="279360" progId="Equation.3">
                  <p:embed/>
                  <p:pic>
                    <p:nvPicPr>
                      <p:cNvPr id="0" name="Picture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4179725"/>
                        <a:ext cx="576262" cy="306388"/>
                      </a:xfrm>
                      <a:prstGeom prst="rect">
                        <a:avLst/>
                      </a:prstGeom>
                      <a:solidFill>
                        <a:schemeClr val="bg1"/>
                      </a:solidFill>
                      <a:ln>
                        <a:solidFill>
                          <a:schemeClr val="accent1"/>
                        </a:solidFill>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1547664" y="812677"/>
            <a:ext cx="6529387" cy="701675"/>
          </a:xfrm>
        </p:spPr>
        <p:txBody>
          <a:bodyPr/>
          <a:lstStyle/>
          <a:p>
            <a:pPr fontAlgn="auto">
              <a:spcAft>
                <a:spcPts val="0"/>
              </a:spcAft>
              <a:defRPr/>
            </a:pPr>
            <a:r>
              <a:rPr lang="zh-TW" altLang="en-US" sz="4000" dirty="0">
                <a:solidFill>
                  <a:schemeClr val="tx1"/>
                </a:solidFill>
                <a:latin typeface="標楷體" pitchFamily="65" charset="-120"/>
                <a:ea typeface="標楷體" panose="03000509000000000000" pitchFamily="65" charset="-120"/>
              </a:rPr>
              <a:t>母體平均值之信賴區間估計</a:t>
            </a:r>
            <a:endParaRPr lang="en-US" altLang="zh-TW" sz="4000" i="1" dirty="0">
              <a:solidFill>
                <a:schemeClr val="tx1"/>
              </a:solidFill>
              <a:latin typeface="標楷體" panose="03000509000000000000" pitchFamily="65" charset="-120"/>
              <a:ea typeface="標楷體" panose="03000509000000000000" pitchFamily="65" charset="-120"/>
            </a:endParaRPr>
          </a:p>
        </p:txBody>
      </p:sp>
      <p:sp>
        <p:nvSpPr>
          <p:cNvPr id="10243" name="Rectangle 3"/>
          <p:cNvSpPr>
            <a:spLocks noGrp="1" noChangeArrowheads="1"/>
          </p:cNvSpPr>
          <p:nvPr>
            <p:ph idx="1"/>
          </p:nvPr>
        </p:nvSpPr>
        <p:spPr>
          <a:xfrm>
            <a:off x="377031" y="1926501"/>
            <a:ext cx="8389937" cy="4681538"/>
          </a:xfrm>
        </p:spPr>
        <p:txBody>
          <a:bodyPr/>
          <a:lstStyle/>
          <a:p>
            <a:pPr marL="609600" indent="-609600">
              <a:lnSpc>
                <a:spcPct val="110000"/>
              </a:lnSpc>
            </a:pPr>
            <a:r>
              <a:rPr lang="zh-TW" altLang="en-US" sz="2800" dirty="0">
                <a:latin typeface="標楷體" pitchFamily="65" charset="-120"/>
                <a:ea typeface="標楷體" pitchFamily="65" charset="-120"/>
              </a:rPr>
              <a:t> </a:t>
            </a:r>
          </a:p>
        </p:txBody>
      </p:sp>
      <p:sp>
        <p:nvSpPr>
          <p:cNvPr id="24" name="投影片編號版面配置區 23"/>
          <p:cNvSpPr>
            <a:spLocks noGrp="1"/>
          </p:cNvSpPr>
          <p:nvPr>
            <p:ph type="sldNum" sz="quarter" idx="12"/>
          </p:nvPr>
        </p:nvSpPr>
        <p:spPr/>
        <p:txBody>
          <a:bodyPr/>
          <a:lstStyle/>
          <a:p>
            <a:pPr>
              <a:defRPr/>
            </a:pPr>
            <a:r>
              <a:rPr lang="en-US" altLang="zh-TW" dirty="0"/>
              <a:t>9</a:t>
            </a:r>
          </a:p>
        </p:txBody>
      </p:sp>
      <p:sp>
        <p:nvSpPr>
          <p:cNvPr id="10245" name="Rectangle 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0246"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0247" name="Object 9"/>
          <p:cNvGraphicFramePr>
            <a:graphicFrameLocks noChangeAspect="1"/>
          </p:cNvGraphicFramePr>
          <p:nvPr>
            <p:extLst>
              <p:ext uri="{D42A27DB-BD31-4B8C-83A1-F6EECF244321}">
                <p14:modId xmlns:p14="http://schemas.microsoft.com/office/powerpoint/2010/main" val="1452249565"/>
              </p:ext>
            </p:extLst>
          </p:nvPr>
        </p:nvGraphicFramePr>
        <p:xfrm>
          <a:off x="5743625" y="1777277"/>
          <a:ext cx="1780753" cy="814694"/>
        </p:xfrm>
        <a:graphic>
          <a:graphicData uri="http://schemas.openxmlformats.org/presentationml/2006/ole">
            <mc:AlternateContent xmlns:mc="http://schemas.openxmlformats.org/markup-compatibility/2006">
              <mc:Choice xmlns:v="urn:schemas-microsoft-com:vml" Requires="v">
                <p:oleObj name="方程式" r:id="rId2" imgW="1510560" imgH="685800" progId="Equation.3">
                  <p:embed/>
                </p:oleObj>
              </mc:Choice>
              <mc:Fallback>
                <p:oleObj name="方程式" r:id="rId2" imgW="1510560" imgH="685800" progId="Equation.3">
                  <p:embed/>
                  <p:pic>
                    <p:nvPicPr>
                      <p:cNvPr id="0" name="Picture 1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3625" y="1777277"/>
                        <a:ext cx="1780753" cy="8146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 name="Text Box 10"/>
          <p:cNvSpPr txBox="1">
            <a:spLocks noChangeArrowheads="1"/>
          </p:cNvSpPr>
          <p:nvPr/>
        </p:nvSpPr>
        <p:spPr bwMode="auto">
          <a:xfrm>
            <a:off x="971600" y="1926501"/>
            <a:ext cx="52562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sz="2800" dirty="0">
                <a:ea typeface="標楷體" pitchFamily="65" charset="-120"/>
              </a:rPr>
              <a:t>因為樣本平均值的抽樣分佈為</a:t>
            </a:r>
          </a:p>
        </p:txBody>
      </p:sp>
      <p:sp>
        <p:nvSpPr>
          <p:cNvPr id="10249" name="Rectangle 11"/>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0250" name="Object 12"/>
          <p:cNvGraphicFramePr>
            <a:graphicFrameLocks noChangeAspect="1"/>
          </p:cNvGraphicFramePr>
          <p:nvPr>
            <p:extLst>
              <p:ext uri="{D42A27DB-BD31-4B8C-83A1-F6EECF244321}">
                <p14:modId xmlns:p14="http://schemas.microsoft.com/office/powerpoint/2010/main" val="2201646867"/>
              </p:ext>
            </p:extLst>
          </p:nvPr>
        </p:nvGraphicFramePr>
        <p:xfrm>
          <a:off x="1910235" y="2676499"/>
          <a:ext cx="990178" cy="498857"/>
        </p:xfrm>
        <a:graphic>
          <a:graphicData uri="http://schemas.openxmlformats.org/presentationml/2006/ole">
            <mc:AlternateContent xmlns:mc="http://schemas.openxmlformats.org/markup-compatibility/2006">
              <mc:Choice xmlns:v="urn:schemas-microsoft-com:vml" Requires="v">
                <p:oleObj name="方程式" r:id="rId4" imgW="457200" imgH="228600" progId="Equation.3">
                  <p:embed/>
                </p:oleObj>
              </mc:Choice>
              <mc:Fallback>
                <p:oleObj name="方程式" r:id="rId4" imgW="457200" imgH="228600" progId="Equation.3">
                  <p:embed/>
                  <p:pic>
                    <p:nvPicPr>
                      <p:cNvPr id="0" name="Picture 1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0235" y="2676499"/>
                        <a:ext cx="990178" cy="4988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51" name="Object 13"/>
          <p:cNvGraphicFramePr>
            <a:graphicFrameLocks noChangeAspect="1"/>
          </p:cNvGraphicFramePr>
          <p:nvPr>
            <p:extLst>
              <p:ext uri="{D42A27DB-BD31-4B8C-83A1-F6EECF244321}">
                <p14:modId xmlns:p14="http://schemas.microsoft.com/office/powerpoint/2010/main" val="3379793542"/>
              </p:ext>
            </p:extLst>
          </p:nvPr>
        </p:nvGraphicFramePr>
        <p:xfrm>
          <a:off x="3294113" y="2566263"/>
          <a:ext cx="1133921" cy="819341"/>
        </p:xfrm>
        <a:graphic>
          <a:graphicData uri="http://schemas.openxmlformats.org/presentationml/2006/ole">
            <mc:AlternateContent xmlns:mc="http://schemas.openxmlformats.org/markup-compatibility/2006">
              <mc:Choice xmlns:v="urn:schemas-microsoft-com:vml" Requires="v">
                <p:oleObj name="方程式" r:id="rId6" imgW="583920" imgH="419040" progId="Equation.3">
                  <p:embed/>
                </p:oleObj>
              </mc:Choice>
              <mc:Fallback>
                <p:oleObj name="方程式" r:id="rId6" imgW="583920" imgH="419040" progId="Equation.3">
                  <p:embed/>
                  <p:pic>
                    <p:nvPicPr>
                      <p:cNvPr id="0" name="Picture 1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4113" y="2566263"/>
                        <a:ext cx="1133921" cy="8193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Text Box 14"/>
          <p:cNvSpPr txBox="1">
            <a:spLocks noChangeArrowheads="1"/>
          </p:cNvSpPr>
          <p:nvPr/>
        </p:nvSpPr>
        <p:spPr bwMode="auto">
          <a:xfrm>
            <a:off x="1043038" y="2699499"/>
            <a:ext cx="56165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sz="2800" dirty="0">
                <a:ea typeface="標楷體" pitchFamily="65" charset="-120"/>
              </a:rPr>
              <a:t>所以            ，               而標準化後</a:t>
            </a:r>
          </a:p>
        </p:txBody>
      </p:sp>
      <p:sp>
        <p:nvSpPr>
          <p:cNvPr id="10253" name="Rectangle 1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0254" name="Rectangle 16"/>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0255" name="Object 17"/>
          <p:cNvGraphicFramePr>
            <a:graphicFrameLocks noChangeAspect="1"/>
          </p:cNvGraphicFramePr>
          <p:nvPr>
            <p:extLst>
              <p:ext uri="{D42A27DB-BD31-4B8C-83A1-F6EECF244321}">
                <p14:modId xmlns:p14="http://schemas.microsoft.com/office/powerpoint/2010/main" val="3431387092"/>
              </p:ext>
            </p:extLst>
          </p:nvPr>
        </p:nvGraphicFramePr>
        <p:xfrm>
          <a:off x="6531025" y="2574201"/>
          <a:ext cx="1353393" cy="874277"/>
        </p:xfrm>
        <a:graphic>
          <a:graphicData uri="http://schemas.openxmlformats.org/presentationml/2006/ole">
            <mc:AlternateContent xmlns:mc="http://schemas.openxmlformats.org/markup-compatibility/2006">
              <mc:Choice xmlns:v="urn:schemas-microsoft-com:vml" Requires="v">
                <p:oleObj name="方程式" r:id="rId8" imgW="660240" imgH="431640" progId="Equation.3">
                  <p:embed/>
                </p:oleObj>
              </mc:Choice>
              <mc:Fallback>
                <p:oleObj name="方程式" r:id="rId8" imgW="660240" imgH="431640" progId="Equation.3">
                  <p:embed/>
                  <p:pic>
                    <p:nvPicPr>
                      <p:cNvPr id="0" name="Picture 1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31025" y="2574201"/>
                        <a:ext cx="1353393" cy="874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6" name="Rectangle 18"/>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0258" name="Rectangle 20"/>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mc:AlternateContent xmlns:mc="http://schemas.openxmlformats.org/markup-compatibility/2006" xmlns:a14="http://schemas.microsoft.com/office/drawing/2010/main">
        <mc:Choice Requires="a14">
          <p:sp>
            <p:nvSpPr>
              <p:cNvPr id="2" name="矩形 1"/>
              <p:cNvSpPr/>
              <p:nvPr/>
            </p:nvSpPr>
            <p:spPr>
              <a:xfrm>
                <a:off x="1722327" y="3654767"/>
                <a:ext cx="5480411" cy="9221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2F2B20"/>
                          </a:solidFill>
                          <a:latin typeface="Cambria Math"/>
                          <a:ea typeface="標楷體" pitchFamily="65" charset="-120"/>
                        </a:rPr>
                        <m:t>𝑃</m:t>
                      </m:r>
                      <m:d>
                        <m:dPr>
                          <m:ctrlPr>
                            <a:rPr lang="en-US" altLang="zh-TW" b="0" i="1" smtClean="0">
                              <a:solidFill>
                                <a:srgbClr val="2F2B20"/>
                              </a:solidFill>
                              <a:latin typeface="Cambria Math" panose="02040503050406030204" pitchFamily="18" charset="0"/>
                              <a:ea typeface="標楷體" pitchFamily="65" charset="-120"/>
                            </a:rPr>
                          </m:ctrlPr>
                        </m:dPr>
                        <m:e>
                          <m:r>
                            <a:rPr lang="en-US" altLang="zh-TW" b="0" i="1" smtClean="0">
                              <a:solidFill>
                                <a:srgbClr val="2F2B20"/>
                              </a:solidFill>
                              <a:latin typeface="Cambria Math"/>
                              <a:ea typeface="標楷體" pitchFamily="65" charset="-120"/>
                            </a:rPr>
                            <m:t>−</m:t>
                          </m:r>
                          <m:sSub>
                            <m:sSubPr>
                              <m:ctrlPr>
                                <a:rPr lang="en-US" altLang="zh-TW" b="0" i="1" smtClean="0">
                                  <a:solidFill>
                                    <a:srgbClr val="2F2B20"/>
                                  </a:solidFill>
                                  <a:latin typeface="Cambria Math" panose="02040503050406030204" pitchFamily="18" charset="0"/>
                                  <a:ea typeface="標楷體" pitchFamily="65" charset="-120"/>
                                </a:rPr>
                              </m:ctrlPr>
                            </m:sSubPr>
                            <m:e>
                              <m:r>
                                <a:rPr lang="en-US" altLang="zh-TW" b="0" i="1" smtClean="0">
                                  <a:solidFill>
                                    <a:srgbClr val="2F2B20"/>
                                  </a:solidFill>
                                  <a:latin typeface="Cambria Math"/>
                                  <a:ea typeface="標楷體" pitchFamily="65" charset="-120"/>
                                </a:rPr>
                                <m:t>𝑍</m:t>
                              </m:r>
                            </m:e>
                            <m:sub>
                              <m:r>
                                <a:rPr lang="en-US" altLang="zh-TW" b="0" i="1" smtClean="0">
                                  <a:solidFill>
                                    <a:srgbClr val="2F2B20"/>
                                  </a:solidFill>
                                  <a:latin typeface="Cambria Math" panose="02040503050406030204" pitchFamily="18" charset="0"/>
                                  <a:ea typeface="標楷體" pitchFamily="65" charset="-120"/>
                                </a:rPr>
                                <m:t>1−</m:t>
                              </m:r>
                              <m:r>
                                <a:rPr lang="zh-TW" altLang="en-US" b="0" i="1" smtClean="0">
                                  <a:solidFill>
                                    <a:srgbClr val="2F2B20"/>
                                  </a:solidFill>
                                  <a:latin typeface="Cambria Math"/>
                                  <a:ea typeface="標楷體" pitchFamily="65" charset="-120"/>
                                </a:rPr>
                                <m:t>𝛼</m:t>
                              </m:r>
                              <m:r>
                                <a:rPr lang="en-US" altLang="zh-TW" b="0" i="1" smtClean="0">
                                  <a:solidFill>
                                    <a:srgbClr val="2F2B20"/>
                                  </a:solidFill>
                                  <a:latin typeface="Cambria Math"/>
                                  <a:ea typeface="標楷體" pitchFamily="65" charset="-120"/>
                                </a:rPr>
                                <m:t>/2</m:t>
                              </m:r>
                            </m:sub>
                          </m:sSub>
                          <m:r>
                            <a:rPr lang="en-US" altLang="zh-TW" b="0" i="1" smtClean="0">
                              <a:solidFill>
                                <a:srgbClr val="2F2B20"/>
                              </a:solidFill>
                              <a:latin typeface="Cambria Math"/>
                              <a:ea typeface="Cambria Math"/>
                            </a:rPr>
                            <m:t>≤</m:t>
                          </m:r>
                          <m:f>
                            <m:fPr>
                              <m:ctrlPr>
                                <a:rPr lang="en-US" altLang="zh-TW" b="0" i="1" smtClean="0">
                                  <a:solidFill>
                                    <a:srgbClr val="2F2B20"/>
                                  </a:solidFill>
                                  <a:latin typeface="Cambria Math" panose="02040503050406030204" pitchFamily="18" charset="0"/>
                                  <a:ea typeface="Cambria Math"/>
                                </a:rPr>
                              </m:ctrlPr>
                            </m:fPr>
                            <m:num>
                              <m:acc>
                                <m:accPr>
                                  <m:chr m:val="̅"/>
                                  <m:ctrlPr>
                                    <a:rPr lang="en-US" altLang="zh-TW" b="0" i="1" smtClean="0">
                                      <a:solidFill>
                                        <a:srgbClr val="2F2B20"/>
                                      </a:solidFill>
                                      <a:latin typeface="Cambria Math" panose="02040503050406030204" pitchFamily="18" charset="0"/>
                                      <a:ea typeface="Cambria Math"/>
                                    </a:rPr>
                                  </m:ctrlPr>
                                </m:accPr>
                                <m:e>
                                  <m:r>
                                    <a:rPr lang="en-US" altLang="zh-TW" b="0" i="1" smtClean="0">
                                      <a:solidFill>
                                        <a:srgbClr val="2F2B20"/>
                                      </a:solidFill>
                                      <a:latin typeface="Cambria Math"/>
                                      <a:ea typeface="Cambria Math"/>
                                    </a:rPr>
                                    <m:t>𝑥</m:t>
                                  </m:r>
                                </m:e>
                              </m:acc>
                              <m:r>
                                <a:rPr lang="en-US" altLang="zh-TW" b="0" i="1" smtClean="0">
                                  <a:solidFill>
                                    <a:srgbClr val="2F2B20"/>
                                  </a:solidFill>
                                  <a:latin typeface="Cambria Math"/>
                                  <a:ea typeface="標楷體" pitchFamily="65" charset="-120"/>
                                </a:rPr>
                                <m:t>−</m:t>
                              </m:r>
                              <m:r>
                                <a:rPr lang="zh-TW" altLang="en-US" b="0" i="1" smtClean="0">
                                  <a:solidFill>
                                    <a:srgbClr val="2F2B20"/>
                                  </a:solidFill>
                                  <a:latin typeface="Cambria Math"/>
                                  <a:ea typeface="標楷體" pitchFamily="65" charset="-120"/>
                                </a:rPr>
                                <m:t>𝜇</m:t>
                              </m:r>
                            </m:num>
                            <m:den>
                              <m:sSub>
                                <m:sSubPr>
                                  <m:ctrlPr>
                                    <a:rPr lang="en-US" altLang="zh-TW" b="0" i="1" smtClean="0">
                                      <a:solidFill>
                                        <a:srgbClr val="2F2B20"/>
                                      </a:solidFill>
                                      <a:latin typeface="Cambria Math" panose="02040503050406030204" pitchFamily="18" charset="0"/>
                                      <a:ea typeface="Cambria Math"/>
                                    </a:rPr>
                                  </m:ctrlPr>
                                </m:sSubPr>
                                <m:e>
                                  <m:r>
                                    <a:rPr lang="zh-TW" altLang="en-US" b="0" i="1" smtClean="0">
                                      <a:solidFill>
                                        <a:srgbClr val="2F2B20"/>
                                      </a:solidFill>
                                      <a:latin typeface="Cambria Math"/>
                                      <a:ea typeface="Cambria Math"/>
                                    </a:rPr>
                                    <m:t>𝜎</m:t>
                                  </m:r>
                                </m:e>
                                <m:sub>
                                  <m:acc>
                                    <m:accPr>
                                      <m:chr m:val="̅"/>
                                      <m:ctrlPr>
                                        <a:rPr lang="en-US" altLang="zh-TW" b="0" i="1" smtClean="0">
                                          <a:solidFill>
                                            <a:srgbClr val="2F2B20"/>
                                          </a:solidFill>
                                          <a:latin typeface="Cambria Math" panose="02040503050406030204" pitchFamily="18" charset="0"/>
                                          <a:ea typeface="Cambria Math"/>
                                        </a:rPr>
                                      </m:ctrlPr>
                                    </m:accPr>
                                    <m:e>
                                      <m:r>
                                        <a:rPr lang="en-US" altLang="zh-TW" b="0" i="1" smtClean="0">
                                          <a:solidFill>
                                            <a:srgbClr val="2F2B20"/>
                                          </a:solidFill>
                                          <a:latin typeface="Cambria Math"/>
                                          <a:ea typeface="Cambria Math"/>
                                        </a:rPr>
                                        <m:t>𝑥</m:t>
                                      </m:r>
                                    </m:e>
                                  </m:acc>
                                </m:sub>
                              </m:sSub>
                            </m:den>
                          </m:f>
                          <m:r>
                            <a:rPr lang="en-US" altLang="zh-TW" b="0" i="1" smtClean="0">
                              <a:solidFill>
                                <a:srgbClr val="2F2B20"/>
                              </a:solidFill>
                              <a:latin typeface="Cambria Math"/>
                              <a:ea typeface="Cambria Math"/>
                            </a:rPr>
                            <m:t>≤</m:t>
                          </m:r>
                          <m:sSub>
                            <m:sSubPr>
                              <m:ctrlPr>
                                <a:rPr lang="en-US" altLang="zh-TW" b="0" i="1" smtClean="0">
                                  <a:solidFill>
                                    <a:srgbClr val="2F2B20"/>
                                  </a:solidFill>
                                  <a:latin typeface="Cambria Math" panose="02040503050406030204" pitchFamily="18" charset="0"/>
                                  <a:ea typeface="Cambria Math"/>
                                </a:rPr>
                              </m:ctrlPr>
                            </m:sSubPr>
                            <m:e>
                              <m:r>
                                <a:rPr lang="en-US" altLang="zh-TW" b="0" i="1" smtClean="0">
                                  <a:solidFill>
                                    <a:srgbClr val="2F2B20"/>
                                  </a:solidFill>
                                  <a:latin typeface="Cambria Math"/>
                                  <a:ea typeface="Cambria Math"/>
                                </a:rPr>
                                <m:t>𝑍</m:t>
                              </m:r>
                            </m:e>
                            <m:sub>
                              <m:r>
                                <a:rPr lang="en-US" altLang="zh-TW" b="0" i="1" smtClean="0">
                                  <a:solidFill>
                                    <a:srgbClr val="2F2B20"/>
                                  </a:solidFill>
                                  <a:latin typeface="Cambria Math" panose="02040503050406030204" pitchFamily="18" charset="0"/>
                                  <a:ea typeface="Cambria Math"/>
                                </a:rPr>
                                <m:t>1−</m:t>
                              </m:r>
                              <m:r>
                                <a:rPr lang="zh-TW" altLang="en-US" b="0" i="1" smtClean="0">
                                  <a:solidFill>
                                    <a:srgbClr val="2F2B20"/>
                                  </a:solidFill>
                                  <a:latin typeface="Cambria Math"/>
                                  <a:ea typeface="Cambria Math"/>
                                </a:rPr>
                                <m:t>𝛼</m:t>
                              </m:r>
                              <m:r>
                                <a:rPr lang="en-US" altLang="zh-TW" b="0" i="1" smtClean="0">
                                  <a:solidFill>
                                    <a:srgbClr val="2F2B20"/>
                                  </a:solidFill>
                                  <a:latin typeface="Cambria Math"/>
                                  <a:ea typeface="Cambria Math"/>
                                </a:rPr>
                                <m:t>/2</m:t>
                              </m:r>
                            </m:sub>
                          </m:sSub>
                        </m:e>
                      </m:d>
                      <m:r>
                        <a:rPr lang="en-US" altLang="zh-TW" b="0" i="1" smtClean="0">
                          <a:solidFill>
                            <a:srgbClr val="2F2B20"/>
                          </a:solidFill>
                          <a:latin typeface="Cambria Math"/>
                          <a:ea typeface="標楷體" pitchFamily="65" charset="-120"/>
                        </a:rPr>
                        <m:t>=1−</m:t>
                      </m:r>
                      <m:r>
                        <a:rPr lang="zh-TW" altLang="en-US" b="0" i="1" smtClean="0">
                          <a:solidFill>
                            <a:srgbClr val="2F2B20"/>
                          </a:solidFill>
                          <a:latin typeface="Cambria Math"/>
                          <a:ea typeface="標楷體" pitchFamily="65" charset="-120"/>
                        </a:rPr>
                        <m:t>𝛼</m:t>
                      </m:r>
                    </m:oMath>
                  </m:oMathPara>
                </a14:m>
                <a:endParaRPr lang="zh-TW"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722327" y="3654767"/>
                <a:ext cx="5480411" cy="922176"/>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矩形 21"/>
              <p:cNvSpPr/>
              <p:nvPr/>
            </p:nvSpPr>
            <p:spPr>
              <a:xfrm>
                <a:off x="1260052" y="5182485"/>
                <a:ext cx="6834512" cy="52123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2F2B20"/>
                          </a:solidFill>
                          <a:latin typeface="Cambria Math"/>
                          <a:ea typeface="標楷體" pitchFamily="65" charset="-120"/>
                        </a:rPr>
                        <m:t>𝑃</m:t>
                      </m:r>
                      <m:d>
                        <m:dPr>
                          <m:ctrlPr>
                            <a:rPr lang="en-US" altLang="zh-TW" b="0" i="1" smtClean="0">
                              <a:solidFill>
                                <a:srgbClr val="2F2B20"/>
                              </a:solidFill>
                              <a:latin typeface="Cambria Math" panose="02040503050406030204" pitchFamily="18" charset="0"/>
                              <a:ea typeface="標楷體" pitchFamily="65" charset="-120"/>
                            </a:rPr>
                          </m:ctrlPr>
                        </m:dPr>
                        <m:e>
                          <m:acc>
                            <m:accPr>
                              <m:chr m:val="̅"/>
                              <m:ctrlPr>
                                <a:rPr lang="en-US" altLang="zh-TW" b="0" i="1" smtClean="0">
                                  <a:solidFill>
                                    <a:srgbClr val="2F2B20"/>
                                  </a:solidFill>
                                  <a:latin typeface="Cambria Math" panose="02040503050406030204" pitchFamily="18" charset="0"/>
                                  <a:ea typeface="標楷體" pitchFamily="65" charset="-120"/>
                                </a:rPr>
                              </m:ctrlPr>
                            </m:accPr>
                            <m:e>
                              <m:r>
                                <a:rPr lang="en-US" altLang="zh-TW" b="0" i="1" smtClean="0">
                                  <a:solidFill>
                                    <a:srgbClr val="2F2B20"/>
                                  </a:solidFill>
                                  <a:latin typeface="Cambria Math"/>
                                  <a:ea typeface="標楷體" pitchFamily="65" charset="-120"/>
                                </a:rPr>
                                <m:t>𝑥</m:t>
                              </m:r>
                            </m:e>
                          </m:acc>
                          <m:r>
                            <a:rPr lang="en-US" altLang="zh-TW" b="0" i="1" smtClean="0">
                              <a:solidFill>
                                <a:srgbClr val="2F2B20"/>
                              </a:solidFill>
                              <a:latin typeface="Cambria Math"/>
                              <a:ea typeface="標楷體" pitchFamily="65" charset="-120"/>
                            </a:rPr>
                            <m:t>−</m:t>
                          </m:r>
                          <m:sSub>
                            <m:sSubPr>
                              <m:ctrlPr>
                                <a:rPr lang="en-US" altLang="zh-TW" b="0" i="1" smtClean="0">
                                  <a:solidFill>
                                    <a:srgbClr val="2F2B20"/>
                                  </a:solidFill>
                                  <a:latin typeface="Cambria Math" panose="02040503050406030204" pitchFamily="18" charset="0"/>
                                  <a:ea typeface="標楷體" pitchFamily="65" charset="-120"/>
                                </a:rPr>
                              </m:ctrlPr>
                            </m:sSubPr>
                            <m:e>
                              <m:r>
                                <a:rPr lang="en-US" altLang="zh-TW" b="0" i="1" smtClean="0">
                                  <a:solidFill>
                                    <a:srgbClr val="2F2B20"/>
                                  </a:solidFill>
                                  <a:latin typeface="Cambria Math"/>
                                  <a:ea typeface="標楷體" pitchFamily="65" charset="-120"/>
                                </a:rPr>
                                <m:t>𝑍</m:t>
                              </m:r>
                            </m:e>
                            <m:sub>
                              <m:r>
                                <a:rPr lang="en-US" altLang="zh-TW" b="0" i="1" smtClean="0">
                                  <a:solidFill>
                                    <a:srgbClr val="2F2B20"/>
                                  </a:solidFill>
                                  <a:latin typeface="Cambria Math" panose="02040503050406030204" pitchFamily="18" charset="0"/>
                                  <a:ea typeface="標楷體" pitchFamily="65" charset="-120"/>
                                </a:rPr>
                                <m:t>1−</m:t>
                              </m:r>
                              <m:r>
                                <a:rPr lang="zh-TW" altLang="en-US" b="0" i="1" smtClean="0">
                                  <a:solidFill>
                                    <a:srgbClr val="2F2B20"/>
                                  </a:solidFill>
                                  <a:latin typeface="Cambria Math"/>
                                  <a:ea typeface="標楷體" pitchFamily="65" charset="-120"/>
                                </a:rPr>
                                <m:t>𝛼</m:t>
                              </m:r>
                              <m:r>
                                <a:rPr lang="en-US" altLang="zh-TW" b="0" i="1" smtClean="0">
                                  <a:solidFill>
                                    <a:srgbClr val="2F2B20"/>
                                  </a:solidFill>
                                  <a:latin typeface="Cambria Math"/>
                                  <a:ea typeface="標楷體" pitchFamily="65" charset="-120"/>
                                </a:rPr>
                                <m:t>/2</m:t>
                              </m:r>
                            </m:sub>
                          </m:sSub>
                          <m:sSub>
                            <m:sSubPr>
                              <m:ctrlPr>
                                <a:rPr lang="en-US" altLang="zh-TW" b="0" i="1" smtClean="0">
                                  <a:solidFill>
                                    <a:srgbClr val="2F2B20"/>
                                  </a:solidFill>
                                  <a:latin typeface="Cambria Math" panose="02040503050406030204" pitchFamily="18" charset="0"/>
                                  <a:ea typeface="標楷體" pitchFamily="65" charset="-120"/>
                                </a:rPr>
                              </m:ctrlPr>
                            </m:sSubPr>
                            <m:e>
                              <m:r>
                                <a:rPr lang="zh-TW" altLang="en-US" b="0" i="1" smtClean="0">
                                  <a:solidFill>
                                    <a:srgbClr val="2F2B20"/>
                                  </a:solidFill>
                                  <a:latin typeface="Cambria Math"/>
                                  <a:ea typeface="標楷體" pitchFamily="65" charset="-120"/>
                                </a:rPr>
                                <m:t>𝜎</m:t>
                              </m:r>
                            </m:e>
                            <m:sub>
                              <m:acc>
                                <m:accPr>
                                  <m:chr m:val="̅"/>
                                  <m:ctrlPr>
                                    <a:rPr lang="en-US" altLang="zh-TW" b="0" i="1" smtClean="0">
                                      <a:solidFill>
                                        <a:srgbClr val="2F2B20"/>
                                      </a:solidFill>
                                      <a:latin typeface="Cambria Math" panose="02040503050406030204" pitchFamily="18" charset="0"/>
                                      <a:ea typeface="標楷體" pitchFamily="65" charset="-120"/>
                                    </a:rPr>
                                  </m:ctrlPr>
                                </m:accPr>
                                <m:e>
                                  <m:r>
                                    <a:rPr lang="en-US" altLang="zh-TW" b="0" i="1" smtClean="0">
                                      <a:solidFill>
                                        <a:srgbClr val="2F2B20"/>
                                      </a:solidFill>
                                      <a:latin typeface="Cambria Math"/>
                                      <a:ea typeface="標楷體" pitchFamily="65" charset="-120"/>
                                    </a:rPr>
                                    <m:t>𝑥</m:t>
                                  </m:r>
                                </m:e>
                              </m:acc>
                            </m:sub>
                          </m:sSub>
                          <m:r>
                            <a:rPr lang="en-US" altLang="zh-TW" b="0" i="1" smtClean="0">
                              <a:solidFill>
                                <a:srgbClr val="2F2B20"/>
                              </a:solidFill>
                              <a:latin typeface="Cambria Math"/>
                              <a:ea typeface="Cambria Math"/>
                            </a:rPr>
                            <m:t>≤</m:t>
                          </m:r>
                          <m:r>
                            <a:rPr lang="zh-TW" altLang="en-US" b="0" i="1" smtClean="0">
                              <a:solidFill>
                                <a:srgbClr val="2F2B20"/>
                              </a:solidFill>
                              <a:latin typeface="Cambria Math"/>
                              <a:ea typeface="Cambria Math"/>
                            </a:rPr>
                            <m:t>𝜇</m:t>
                          </m:r>
                          <m:r>
                            <a:rPr lang="en-US" altLang="zh-TW" b="0" i="1" smtClean="0">
                              <a:solidFill>
                                <a:srgbClr val="2F2B20"/>
                              </a:solidFill>
                              <a:latin typeface="Cambria Math"/>
                              <a:ea typeface="Cambria Math"/>
                            </a:rPr>
                            <m:t>≤</m:t>
                          </m:r>
                          <m:acc>
                            <m:accPr>
                              <m:chr m:val="̅"/>
                              <m:ctrlPr>
                                <a:rPr lang="en-US" altLang="zh-TW" i="1">
                                  <a:solidFill>
                                    <a:srgbClr val="2F2B20"/>
                                  </a:solidFill>
                                  <a:latin typeface="Cambria Math" panose="02040503050406030204" pitchFamily="18" charset="0"/>
                                  <a:ea typeface="標楷體" pitchFamily="65" charset="-120"/>
                                </a:rPr>
                              </m:ctrlPr>
                            </m:accPr>
                            <m:e>
                              <m:r>
                                <a:rPr lang="en-US" altLang="zh-TW" i="1">
                                  <a:solidFill>
                                    <a:srgbClr val="2F2B20"/>
                                  </a:solidFill>
                                  <a:latin typeface="Cambria Math"/>
                                  <a:ea typeface="標楷體" pitchFamily="65" charset="-120"/>
                                </a:rPr>
                                <m:t>𝑥</m:t>
                              </m:r>
                            </m:e>
                          </m:acc>
                          <m:r>
                            <a:rPr lang="en-US" altLang="zh-TW" b="0" i="1" smtClean="0">
                              <a:solidFill>
                                <a:srgbClr val="2F2B20"/>
                              </a:solidFill>
                              <a:latin typeface="Cambria Math"/>
                              <a:ea typeface="標楷體" pitchFamily="65" charset="-120"/>
                            </a:rPr>
                            <m:t>+</m:t>
                          </m:r>
                          <m:sSub>
                            <m:sSubPr>
                              <m:ctrlPr>
                                <a:rPr lang="en-US" altLang="zh-TW" i="1">
                                  <a:solidFill>
                                    <a:srgbClr val="2F2B20"/>
                                  </a:solidFill>
                                  <a:latin typeface="Cambria Math" panose="02040503050406030204" pitchFamily="18" charset="0"/>
                                  <a:ea typeface="標楷體" pitchFamily="65" charset="-120"/>
                                </a:rPr>
                              </m:ctrlPr>
                            </m:sSubPr>
                            <m:e>
                              <m:r>
                                <a:rPr lang="en-US" altLang="zh-TW" i="1">
                                  <a:solidFill>
                                    <a:srgbClr val="2F2B20"/>
                                  </a:solidFill>
                                  <a:latin typeface="Cambria Math"/>
                                  <a:ea typeface="標楷體" pitchFamily="65" charset="-120"/>
                                </a:rPr>
                                <m:t>𝑍</m:t>
                              </m:r>
                            </m:e>
                            <m:sub>
                              <m:r>
                                <a:rPr lang="en-US" altLang="zh-TW" b="0" i="1" smtClean="0">
                                  <a:solidFill>
                                    <a:srgbClr val="2F2B20"/>
                                  </a:solidFill>
                                  <a:latin typeface="Cambria Math" panose="02040503050406030204" pitchFamily="18" charset="0"/>
                                  <a:ea typeface="標楷體" pitchFamily="65" charset="-120"/>
                                </a:rPr>
                                <m:t>1−</m:t>
                              </m:r>
                              <m:r>
                                <a:rPr lang="zh-TW" altLang="en-US" i="1">
                                  <a:solidFill>
                                    <a:srgbClr val="2F2B20"/>
                                  </a:solidFill>
                                  <a:latin typeface="Cambria Math"/>
                                  <a:ea typeface="標楷體" pitchFamily="65" charset="-120"/>
                                </a:rPr>
                                <m:t>𝛼</m:t>
                              </m:r>
                              <m:r>
                                <a:rPr lang="en-US" altLang="zh-TW" i="1">
                                  <a:solidFill>
                                    <a:srgbClr val="2F2B20"/>
                                  </a:solidFill>
                                  <a:latin typeface="Cambria Math"/>
                                  <a:ea typeface="標楷體" pitchFamily="65" charset="-120"/>
                                </a:rPr>
                                <m:t>/2</m:t>
                              </m:r>
                            </m:sub>
                          </m:sSub>
                          <m:sSub>
                            <m:sSubPr>
                              <m:ctrlPr>
                                <a:rPr lang="en-US" altLang="zh-TW" i="1">
                                  <a:solidFill>
                                    <a:srgbClr val="2F2B20"/>
                                  </a:solidFill>
                                  <a:latin typeface="Cambria Math" panose="02040503050406030204" pitchFamily="18" charset="0"/>
                                  <a:ea typeface="標楷體" pitchFamily="65" charset="-120"/>
                                </a:rPr>
                              </m:ctrlPr>
                            </m:sSubPr>
                            <m:e>
                              <m:r>
                                <a:rPr lang="zh-TW" altLang="en-US" i="1">
                                  <a:solidFill>
                                    <a:srgbClr val="2F2B20"/>
                                  </a:solidFill>
                                  <a:latin typeface="Cambria Math"/>
                                  <a:ea typeface="標楷體" pitchFamily="65" charset="-120"/>
                                </a:rPr>
                                <m:t>𝜎</m:t>
                              </m:r>
                            </m:e>
                            <m:sub>
                              <m:acc>
                                <m:accPr>
                                  <m:chr m:val="̅"/>
                                  <m:ctrlPr>
                                    <a:rPr lang="en-US" altLang="zh-TW" i="1">
                                      <a:solidFill>
                                        <a:srgbClr val="2F2B20"/>
                                      </a:solidFill>
                                      <a:latin typeface="Cambria Math" panose="02040503050406030204" pitchFamily="18" charset="0"/>
                                      <a:ea typeface="標楷體" pitchFamily="65" charset="-120"/>
                                    </a:rPr>
                                  </m:ctrlPr>
                                </m:accPr>
                                <m:e>
                                  <m:r>
                                    <a:rPr lang="en-US" altLang="zh-TW" i="1">
                                      <a:solidFill>
                                        <a:srgbClr val="2F2B20"/>
                                      </a:solidFill>
                                      <a:latin typeface="Cambria Math"/>
                                      <a:ea typeface="標楷體" pitchFamily="65" charset="-120"/>
                                    </a:rPr>
                                    <m:t>𝑥</m:t>
                                  </m:r>
                                </m:e>
                              </m:acc>
                            </m:sub>
                          </m:sSub>
                        </m:e>
                      </m:d>
                      <m:r>
                        <a:rPr lang="en-US" altLang="zh-TW" b="0" i="1" smtClean="0">
                          <a:solidFill>
                            <a:srgbClr val="2F2B20"/>
                          </a:solidFill>
                          <a:latin typeface="Cambria Math"/>
                          <a:ea typeface="標楷體" pitchFamily="65" charset="-120"/>
                        </a:rPr>
                        <m:t>=1−</m:t>
                      </m:r>
                      <m:r>
                        <a:rPr lang="zh-TW" altLang="en-US" b="0" i="1" smtClean="0">
                          <a:solidFill>
                            <a:srgbClr val="2F2B20"/>
                          </a:solidFill>
                          <a:latin typeface="Cambria Math"/>
                          <a:ea typeface="標楷體" pitchFamily="65" charset="-120"/>
                        </a:rPr>
                        <m:t>𝛼</m:t>
                      </m:r>
                    </m:oMath>
                  </m:oMathPara>
                </a14:m>
                <a:endParaRPr lang="zh-TW" altLang="en-US" dirty="0"/>
              </a:p>
            </p:txBody>
          </p:sp>
        </mc:Choice>
        <mc:Fallback xmlns="">
          <p:sp>
            <p:nvSpPr>
              <p:cNvPr id="22" name="矩形 21"/>
              <p:cNvSpPr>
                <a:spLocks noRot="1" noChangeAspect="1" noMove="1" noResize="1" noEditPoints="1" noAdjustHandles="1" noChangeArrowheads="1" noChangeShapeType="1" noTextEdit="1"/>
              </p:cNvSpPr>
              <p:nvPr/>
            </p:nvSpPr>
            <p:spPr>
              <a:xfrm>
                <a:off x="1260052" y="5182485"/>
                <a:ext cx="6834512" cy="521233"/>
              </a:xfrm>
              <a:prstGeom prst="rect">
                <a:avLst/>
              </a:prstGeom>
              <a:blipFill>
                <a:blip r:embed="rId11"/>
                <a:stretch>
                  <a:fillRect/>
                </a:stretch>
              </a:blipFill>
            </p:spPr>
            <p:txBody>
              <a:bodyPr/>
              <a:lstStyle/>
              <a:p>
                <a:r>
                  <a:rPr lang="zh-TW"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623727" y="2132935"/>
            <a:ext cx="8389937" cy="647700"/>
          </a:xfrm>
        </p:spPr>
        <p:txBody>
          <a:bodyPr/>
          <a:lstStyle/>
          <a:p>
            <a:pPr marL="609600" indent="-609600">
              <a:lnSpc>
                <a:spcPct val="110000"/>
              </a:lnSpc>
            </a:pPr>
            <a:r>
              <a:rPr lang="zh-TW" altLang="en-US" sz="2400" dirty="0">
                <a:latin typeface="標楷體" pitchFamily="65" charset="-120"/>
                <a:ea typeface="標楷體" panose="03000509000000000000" pitchFamily="65" charset="-120"/>
              </a:rPr>
              <a:t>信心水準</a:t>
            </a:r>
            <a:r>
              <a:rPr lang="en-US" altLang="zh-TW" sz="2400" dirty="0">
                <a:latin typeface="標楷體" panose="03000509000000000000" pitchFamily="65" charset="-120"/>
                <a:ea typeface="標楷體" panose="03000509000000000000" pitchFamily="65" charset="-120"/>
              </a:rPr>
              <a:t>0.95</a:t>
            </a:r>
            <a:r>
              <a:rPr lang="zh-TW" altLang="en-US" sz="2400" dirty="0">
                <a:latin typeface="標楷體" panose="03000509000000000000" pitchFamily="65" charset="-120"/>
                <a:ea typeface="標楷體" panose="03000509000000000000" pitchFamily="65" charset="-120"/>
              </a:rPr>
              <a:t>，所以</a:t>
            </a:r>
          </a:p>
        </p:txBody>
      </p:sp>
      <p:sp>
        <p:nvSpPr>
          <p:cNvPr id="24" name="投影片編號版面配置區 23"/>
          <p:cNvSpPr>
            <a:spLocks noGrp="1"/>
          </p:cNvSpPr>
          <p:nvPr>
            <p:ph type="sldNum" sz="quarter" idx="12"/>
          </p:nvPr>
        </p:nvSpPr>
        <p:spPr/>
        <p:txBody>
          <a:bodyPr/>
          <a:lstStyle/>
          <a:p>
            <a:pPr>
              <a:defRPr/>
            </a:pPr>
            <a:r>
              <a:rPr lang="en-US" altLang="zh-TW" dirty="0"/>
              <a:t>10</a:t>
            </a:r>
          </a:p>
        </p:txBody>
      </p:sp>
      <p:sp>
        <p:nvSpPr>
          <p:cNvPr id="11268" name="Rectangle 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69" name="Rectangle 7"/>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0" name="Rectangle 11"/>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1" name="Rectangle 15"/>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2" name="Rectangle 16"/>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3" name="Rectangle 18"/>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4" name="Rectangle 20"/>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75" name="Rectangle 27"/>
          <p:cNvSpPr>
            <a:spLocks noChangeArrowheads="1"/>
          </p:cNvSpPr>
          <p:nvPr/>
        </p:nvSpPr>
        <p:spPr bwMode="auto">
          <a:xfrm>
            <a:off x="0" y="3100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1276" name="Object 26"/>
          <p:cNvGraphicFramePr>
            <a:graphicFrameLocks noChangeAspect="1"/>
          </p:cNvGraphicFramePr>
          <p:nvPr>
            <p:extLst>
              <p:ext uri="{D42A27DB-BD31-4B8C-83A1-F6EECF244321}">
                <p14:modId xmlns:p14="http://schemas.microsoft.com/office/powerpoint/2010/main" val="3959709648"/>
              </p:ext>
            </p:extLst>
          </p:nvPr>
        </p:nvGraphicFramePr>
        <p:xfrm>
          <a:off x="4572000" y="1980234"/>
          <a:ext cx="3228950" cy="1781175"/>
        </p:xfrm>
        <a:graphic>
          <a:graphicData uri="http://schemas.openxmlformats.org/presentationml/2006/ole">
            <mc:AlternateContent xmlns:mc="http://schemas.openxmlformats.org/markup-compatibility/2006">
              <mc:Choice xmlns:v="urn:schemas-microsoft-com:vml" Requires="v">
                <p:oleObj name="方程式" r:id="rId2" imgW="1473120" imgH="914400" progId="Equation.3">
                  <p:embed/>
                </p:oleObj>
              </mc:Choice>
              <mc:Fallback>
                <p:oleObj name="方程式" r:id="rId2" imgW="1473120" imgH="914400" progId="Equation.3">
                  <p:embed/>
                  <p:pic>
                    <p:nvPicPr>
                      <p:cNvPr id="0" name="Picture 72"/>
                      <p:cNvPicPr>
                        <a:picLocks noChangeAspect="1" noChangeArrowheads="1"/>
                      </p:cNvPicPr>
                      <p:nvPr/>
                    </p:nvPicPr>
                    <p:blipFill>
                      <a:blip r:embed="rId3"/>
                      <a:srcRect/>
                      <a:stretch>
                        <a:fillRect/>
                      </a:stretch>
                    </p:blipFill>
                    <p:spPr bwMode="auto">
                      <a:xfrm>
                        <a:off x="4572000" y="1980234"/>
                        <a:ext cx="3228950" cy="1781175"/>
                      </a:xfrm>
                      <a:prstGeom prst="rect">
                        <a:avLst/>
                      </a:prstGeom>
                      <a:noFill/>
                    </p:spPr>
                  </p:pic>
                </p:oleObj>
              </mc:Fallback>
            </mc:AlternateContent>
          </a:graphicData>
        </a:graphic>
      </p:graphicFrame>
      <p:sp>
        <p:nvSpPr>
          <p:cNvPr id="11278" name="Rectangle 32"/>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80" name="AutoShape 33"/>
          <p:cNvSpPr>
            <a:spLocks noChangeArrowheads="1"/>
          </p:cNvSpPr>
          <p:nvPr/>
        </p:nvSpPr>
        <p:spPr bwMode="auto">
          <a:xfrm>
            <a:off x="646276" y="4094487"/>
            <a:ext cx="647700" cy="360362"/>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1281" name="Rectangle 35"/>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1282" name="Object 34"/>
          <p:cNvGraphicFramePr>
            <a:graphicFrameLocks noChangeAspect="1"/>
          </p:cNvGraphicFramePr>
          <p:nvPr>
            <p:extLst>
              <p:ext uri="{D42A27DB-BD31-4B8C-83A1-F6EECF244321}">
                <p14:modId xmlns:p14="http://schemas.microsoft.com/office/powerpoint/2010/main" val="3157843165"/>
              </p:ext>
            </p:extLst>
          </p:nvPr>
        </p:nvGraphicFramePr>
        <p:xfrm>
          <a:off x="1593918" y="4875927"/>
          <a:ext cx="1754013" cy="956481"/>
        </p:xfrm>
        <a:graphic>
          <a:graphicData uri="http://schemas.openxmlformats.org/presentationml/2006/ole">
            <mc:AlternateContent xmlns:mc="http://schemas.openxmlformats.org/markup-compatibility/2006">
              <mc:Choice xmlns:v="urn:schemas-microsoft-com:vml" Requires="v">
                <p:oleObj name="方程式" r:id="rId4" imgW="774360" imgH="419040" progId="Equation.3">
                  <p:embed/>
                </p:oleObj>
              </mc:Choice>
              <mc:Fallback>
                <p:oleObj name="方程式" r:id="rId4" imgW="774360" imgH="419040" progId="Equation.3">
                  <p:embed/>
                  <p:pic>
                    <p:nvPicPr>
                      <p:cNvPr id="0" name="Picture 7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3918" y="4875927"/>
                        <a:ext cx="1754013" cy="9564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3" name="Rectangle 37"/>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1284" name="Object 36"/>
          <p:cNvGraphicFramePr>
            <a:graphicFrameLocks noChangeAspect="1"/>
          </p:cNvGraphicFramePr>
          <p:nvPr>
            <p:extLst>
              <p:ext uri="{D42A27DB-BD31-4B8C-83A1-F6EECF244321}">
                <p14:modId xmlns:p14="http://schemas.microsoft.com/office/powerpoint/2010/main" val="1222282262"/>
              </p:ext>
            </p:extLst>
          </p:nvPr>
        </p:nvGraphicFramePr>
        <p:xfrm>
          <a:off x="3905858" y="4875927"/>
          <a:ext cx="3540273" cy="959782"/>
        </p:xfrm>
        <a:graphic>
          <a:graphicData uri="http://schemas.openxmlformats.org/presentationml/2006/ole">
            <mc:AlternateContent xmlns:mc="http://schemas.openxmlformats.org/markup-compatibility/2006">
              <mc:Choice xmlns:v="urn:schemas-microsoft-com:vml" Requires="v">
                <p:oleObj name="方程式" r:id="rId6" imgW="1701720" imgH="457200" progId="Equation.3">
                  <p:embed/>
                </p:oleObj>
              </mc:Choice>
              <mc:Fallback>
                <p:oleObj name="方程式" r:id="rId6" imgW="1701720" imgH="457200" progId="Equation.3">
                  <p:embed/>
                  <p:pic>
                    <p:nvPicPr>
                      <p:cNvPr id="0" name="Picture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5858" y="4875927"/>
                        <a:ext cx="3540273" cy="9597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5" name="AutoShape 38"/>
          <p:cNvSpPr>
            <a:spLocks noChangeArrowheads="1"/>
          </p:cNvSpPr>
          <p:nvPr/>
        </p:nvSpPr>
        <p:spPr bwMode="auto">
          <a:xfrm>
            <a:off x="646276" y="5173987"/>
            <a:ext cx="647700" cy="360362"/>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mc:AlternateContent xmlns:mc="http://schemas.openxmlformats.org/markup-compatibility/2006" xmlns:a14="http://schemas.microsoft.com/office/drawing/2010/main">
        <mc:Choice Requires="a14">
          <p:sp>
            <p:nvSpPr>
              <p:cNvPr id="23" name="矩形 22"/>
              <p:cNvSpPr/>
              <p:nvPr/>
            </p:nvSpPr>
            <p:spPr>
              <a:xfrm>
                <a:off x="1577562" y="3860666"/>
                <a:ext cx="620703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solidFill>
                            <a:srgbClr val="2F2B20"/>
                          </a:solidFill>
                          <a:latin typeface="Cambria Math"/>
                          <a:ea typeface="標楷體" pitchFamily="65" charset="-120"/>
                        </a:rPr>
                        <m:t>𝑃</m:t>
                      </m:r>
                      <m:d>
                        <m:dPr>
                          <m:ctrlPr>
                            <a:rPr lang="en-US" altLang="zh-TW" b="0" i="1" smtClean="0">
                              <a:solidFill>
                                <a:srgbClr val="2F2B20"/>
                              </a:solidFill>
                              <a:latin typeface="Cambria Math" panose="02040503050406030204" pitchFamily="18" charset="0"/>
                              <a:ea typeface="標楷體" pitchFamily="65" charset="-120"/>
                            </a:rPr>
                          </m:ctrlPr>
                        </m:dPr>
                        <m:e>
                          <m:acc>
                            <m:accPr>
                              <m:chr m:val="̅"/>
                              <m:ctrlPr>
                                <a:rPr lang="en-US" altLang="zh-TW" b="0" i="1" smtClean="0">
                                  <a:solidFill>
                                    <a:srgbClr val="2F2B20"/>
                                  </a:solidFill>
                                  <a:latin typeface="Cambria Math" panose="02040503050406030204" pitchFamily="18" charset="0"/>
                                  <a:ea typeface="標楷體" pitchFamily="65" charset="-120"/>
                                </a:rPr>
                              </m:ctrlPr>
                            </m:accPr>
                            <m:e>
                              <m:r>
                                <a:rPr lang="en-US" altLang="zh-TW" b="0" i="1" smtClean="0">
                                  <a:solidFill>
                                    <a:srgbClr val="2F2B20"/>
                                  </a:solidFill>
                                  <a:latin typeface="Cambria Math"/>
                                  <a:ea typeface="標楷體" pitchFamily="65" charset="-120"/>
                                </a:rPr>
                                <m:t>𝑥</m:t>
                              </m:r>
                            </m:e>
                          </m:acc>
                          <m:r>
                            <a:rPr lang="en-US" altLang="zh-TW" b="0" i="1" smtClean="0">
                              <a:solidFill>
                                <a:srgbClr val="2F2B20"/>
                              </a:solidFill>
                              <a:latin typeface="Cambria Math"/>
                              <a:ea typeface="標楷體" pitchFamily="65" charset="-120"/>
                            </a:rPr>
                            <m:t>−1.96</m:t>
                          </m:r>
                          <m:sSub>
                            <m:sSubPr>
                              <m:ctrlPr>
                                <a:rPr lang="en-US" altLang="zh-TW" b="0" i="1" smtClean="0">
                                  <a:solidFill>
                                    <a:srgbClr val="2F2B20"/>
                                  </a:solidFill>
                                  <a:latin typeface="Cambria Math" panose="02040503050406030204" pitchFamily="18" charset="0"/>
                                  <a:ea typeface="標楷體" pitchFamily="65" charset="-120"/>
                                </a:rPr>
                              </m:ctrlPr>
                            </m:sSubPr>
                            <m:e>
                              <m:r>
                                <a:rPr lang="zh-TW" altLang="en-US" b="0" i="1" smtClean="0">
                                  <a:solidFill>
                                    <a:srgbClr val="2F2B20"/>
                                  </a:solidFill>
                                  <a:latin typeface="Cambria Math"/>
                                  <a:ea typeface="標楷體" pitchFamily="65" charset="-120"/>
                                </a:rPr>
                                <m:t>𝜎</m:t>
                              </m:r>
                            </m:e>
                            <m:sub>
                              <m:acc>
                                <m:accPr>
                                  <m:chr m:val="̅"/>
                                  <m:ctrlPr>
                                    <a:rPr lang="en-US" altLang="zh-TW" b="0" i="1" smtClean="0">
                                      <a:solidFill>
                                        <a:srgbClr val="2F2B20"/>
                                      </a:solidFill>
                                      <a:latin typeface="Cambria Math" panose="02040503050406030204" pitchFamily="18" charset="0"/>
                                      <a:ea typeface="標楷體" pitchFamily="65" charset="-120"/>
                                    </a:rPr>
                                  </m:ctrlPr>
                                </m:accPr>
                                <m:e>
                                  <m:r>
                                    <a:rPr lang="en-US" altLang="zh-TW" b="0" i="1" smtClean="0">
                                      <a:solidFill>
                                        <a:srgbClr val="2F2B20"/>
                                      </a:solidFill>
                                      <a:latin typeface="Cambria Math"/>
                                      <a:ea typeface="標楷體" pitchFamily="65" charset="-120"/>
                                    </a:rPr>
                                    <m:t>𝑥</m:t>
                                  </m:r>
                                </m:e>
                              </m:acc>
                            </m:sub>
                          </m:sSub>
                          <m:r>
                            <a:rPr lang="en-US" altLang="zh-TW" b="0" i="1" smtClean="0">
                              <a:solidFill>
                                <a:srgbClr val="2F2B20"/>
                              </a:solidFill>
                              <a:latin typeface="Cambria Math"/>
                              <a:ea typeface="Cambria Math"/>
                            </a:rPr>
                            <m:t>≤</m:t>
                          </m:r>
                          <m:r>
                            <a:rPr lang="zh-TW" altLang="en-US" b="0" i="1" smtClean="0">
                              <a:solidFill>
                                <a:srgbClr val="2F2B20"/>
                              </a:solidFill>
                              <a:latin typeface="Cambria Math"/>
                              <a:ea typeface="Cambria Math"/>
                            </a:rPr>
                            <m:t>𝜇</m:t>
                          </m:r>
                          <m:r>
                            <a:rPr lang="en-US" altLang="zh-TW" b="0" i="1" smtClean="0">
                              <a:solidFill>
                                <a:srgbClr val="2F2B20"/>
                              </a:solidFill>
                              <a:latin typeface="Cambria Math"/>
                              <a:ea typeface="Cambria Math"/>
                            </a:rPr>
                            <m:t>≤</m:t>
                          </m:r>
                          <m:acc>
                            <m:accPr>
                              <m:chr m:val="̅"/>
                              <m:ctrlPr>
                                <a:rPr lang="en-US" altLang="zh-TW" i="1">
                                  <a:solidFill>
                                    <a:srgbClr val="2F2B20"/>
                                  </a:solidFill>
                                  <a:latin typeface="Cambria Math" panose="02040503050406030204" pitchFamily="18" charset="0"/>
                                  <a:ea typeface="標楷體" pitchFamily="65" charset="-120"/>
                                </a:rPr>
                              </m:ctrlPr>
                            </m:accPr>
                            <m:e>
                              <m:r>
                                <a:rPr lang="en-US" altLang="zh-TW" i="1">
                                  <a:solidFill>
                                    <a:srgbClr val="2F2B20"/>
                                  </a:solidFill>
                                  <a:latin typeface="Cambria Math"/>
                                  <a:ea typeface="標楷體" pitchFamily="65" charset="-120"/>
                                </a:rPr>
                                <m:t>𝑥</m:t>
                              </m:r>
                            </m:e>
                          </m:acc>
                          <m:r>
                            <a:rPr lang="en-US" altLang="zh-TW" b="0" i="1" smtClean="0">
                              <a:solidFill>
                                <a:srgbClr val="2F2B20"/>
                              </a:solidFill>
                              <a:latin typeface="Cambria Math"/>
                              <a:ea typeface="標楷體" pitchFamily="65" charset="-120"/>
                            </a:rPr>
                            <m:t>+1.96</m:t>
                          </m:r>
                          <m:sSub>
                            <m:sSubPr>
                              <m:ctrlPr>
                                <a:rPr lang="en-US" altLang="zh-TW" i="1">
                                  <a:solidFill>
                                    <a:srgbClr val="2F2B20"/>
                                  </a:solidFill>
                                  <a:latin typeface="Cambria Math" panose="02040503050406030204" pitchFamily="18" charset="0"/>
                                  <a:ea typeface="標楷體" pitchFamily="65" charset="-120"/>
                                </a:rPr>
                              </m:ctrlPr>
                            </m:sSubPr>
                            <m:e>
                              <m:r>
                                <a:rPr lang="zh-TW" altLang="en-US" i="1">
                                  <a:solidFill>
                                    <a:srgbClr val="2F2B20"/>
                                  </a:solidFill>
                                  <a:latin typeface="Cambria Math"/>
                                  <a:ea typeface="標楷體" pitchFamily="65" charset="-120"/>
                                </a:rPr>
                                <m:t>𝜎</m:t>
                              </m:r>
                            </m:e>
                            <m:sub>
                              <m:acc>
                                <m:accPr>
                                  <m:chr m:val="̅"/>
                                  <m:ctrlPr>
                                    <a:rPr lang="en-US" altLang="zh-TW" i="1">
                                      <a:solidFill>
                                        <a:srgbClr val="2F2B20"/>
                                      </a:solidFill>
                                      <a:latin typeface="Cambria Math" panose="02040503050406030204" pitchFamily="18" charset="0"/>
                                      <a:ea typeface="標楷體" pitchFamily="65" charset="-120"/>
                                    </a:rPr>
                                  </m:ctrlPr>
                                </m:accPr>
                                <m:e>
                                  <m:r>
                                    <a:rPr lang="en-US" altLang="zh-TW" i="1">
                                      <a:solidFill>
                                        <a:srgbClr val="2F2B20"/>
                                      </a:solidFill>
                                      <a:latin typeface="Cambria Math"/>
                                      <a:ea typeface="標楷體" pitchFamily="65" charset="-120"/>
                                    </a:rPr>
                                    <m:t>𝑥</m:t>
                                  </m:r>
                                </m:e>
                              </m:acc>
                            </m:sub>
                          </m:sSub>
                        </m:e>
                      </m:d>
                      <m:r>
                        <a:rPr lang="en-US" altLang="zh-TW" b="0" i="1" smtClean="0">
                          <a:solidFill>
                            <a:srgbClr val="2F2B20"/>
                          </a:solidFill>
                          <a:latin typeface="Cambria Math"/>
                          <a:ea typeface="標楷體" pitchFamily="65" charset="-120"/>
                        </a:rPr>
                        <m:t>=0.95</m:t>
                      </m:r>
                    </m:oMath>
                  </m:oMathPara>
                </a14:m>
                <a:endParaRPr lang="zh-TW" altLang="en-US" dirty="0"/>
              </a:p>
            </p:txBody>
          </p:sp>
        </mc:Choice>
        <mc:Fallback xmlns="">
          <p:sp>
            <p:nvSpPr>
              <p:cNvPr id="23" name="矩形 22"/>
              <p:cNvSpPr>
                <a:spLocks noRot="1" noChangeAspect="1" noMove="1" noResize="1" noEditPoints="1" noAdjustHandles="1" noChangeArrowheads="1" noChangeShapeType="1" noTextEdit="1"/>
              </p:cNvSpPr>
              <p:nvPr/>
            </p:nvSpPr>
            <p:spPr>
              <a:xfrm>
                <a:off x="1577562" y="3860666"/>
                <a:ext cx="6207032" cy="461665"/>
              </a:xfrm>
              <a:prstGeom prst="rect">
                <a:avLst/>
              </a:prstGeom>
              <a:blipFill>
                <a:blip r:embed="rId10"/>
                <a:stretch>
                  <a:fillRect b="-9211"/>
                </a:stretch>
              </a:blipFill>
            </p:spPr>
            <p:txBody>
              <a:bodyPr/>
              <a:lstStyle/>
              <a:p>
                <a:r>
                  <a:rPr lang="zh-TW" altLang="en-US">
                    <a:noFill/>
                  </a:rPr>
                  <a:t> </a:t>
                </a:r>
              </a:p>
            </p:txBody>
          </p:sp>
        </mc:Fallback>
      </mc:AlternateContent>
      <p:sp>
        <p:nvSpPr>
          <p:cNvPr id="2" name="文字方塊 1"/>
          <p:cNvSpPr txBox="1"/>
          <p:nvPr/>
        </p:nvSpPr>
        <p:spPr>
          <a:xfrm>
            <a:off x="3401088" y="5117313"/>
            <a:ext cx="492443" cy="461665"/>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或</a:t>
            </a:r>
          </a:p>
        </p:txBody>
      </p:sp>
      <p:sp>
        <p:nvSpPr>
          <p:cNvPr id="25" name="矩形 24"/>
          <p:cNvSpPr/>
          <p:nvPr/>
        </p:nvSpPr>
        <p:spPr>
          <a:xfrm>
            <a:off x="323528" y="6407298"/>
            <a:ext cx="8284030" cy="411336"/>
          </a:xfrm>
          <a:prstGeom prst="rect">
            <a:avLst/>
          </a:prstGeom>
        </p:spPr>
        <p:txBody>
          <a:bodyPr wrap="square">
            <a:spAutoFit/>
          </a:bodyPr>
          <a:lstStyle/>
          <a:p>
            <a:r>
              <a:rPr lang="en-US" altLang="zh-TW" sz="2000" dirty="0"/>
              <a:t>(</a:t>
            </a:r>
            <a:r>
              <a:rPr lang="zh-TW" altLang="en-US" sz="2000" dirty="0"/>
              <a:t>https://homepage.divms.uiowa.edu/~mbognar/applets/normal.html</a:t>
            </a:r>
            <a:r>
              <a:rPr lang="en-US" altLang="zh-TW" sz="2000" dirty="0"/>
              <a:t>)</a:t>
            </a:r>
            <a:endParaRPr lang="zh-TW"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1547813" y="476250"/>
            <a:ext cx="6529387" cy="701675"/>
          </a:xfrm>
        </p:spPr>
        <p:txBody>
          <a:bodyPr/>
          <a:lstStyle/>
          <a:p>
            <a:pPr fontAlgn="auto">
              <a:spcAft>
                <a:spcPts val="0"/>
              </a:spcAft>
              <a:defRPr/>
            </a:pPr>
            <a:r>
              <a:rPr lang="zh-TW" altLang="en-US" sz="4000" dirty="0">
                <a:solidFill>
                  <a:srgbClr val="2F2B20"/>
                </a:solidFill>
                <a:latin typeface="標楷體" pitchFamily="65" charset="-120"/>
                <a:ea typeface="標楷體" panose="03000509000000000000" pitchFamily="65" charset="-120"/>
              </a:rPr>
              <a:t>母體平均值之信賴區間估計</a:t>
            </a:r>
            <a:endParaRPr lang="en-US" altLang="zh-TW" sz="2800" i="1" u="sng" dirty="0">
              <a:latin typeface="Times New Roman" pitchFamily="18" charset="0"/>
            </a:endParaRPr>
          </a:p>
        </p:txBody>
      </p:sp>
      <p:sp>
        <p:nvSpPr>
          <p:cNvPr id="12291" name="Rectangle 3"/>
          <p:cNvSpPr>
            <a:spLocks noGrp="1" noChangeArrowheads="1"/>
          </p:cNvSpPr>
          <p:nvPr>
            <p:ph idx="1"/>
          </p:nvPr>
        </p:nvSpPr>
        <p:spPr>
          <a:xfrm>
            <a:off x="377031" y="1833750"/>
            <a:ext cx="8389937" cy="647700"/>
          </a:xfrm>
        </p:spPr>
        <p:txBody>
          <a:bodyPr/>
          <a:lstStyle/>
          <a:p>
            <a:pPr marL="609600" indent="-609600">
              <a:lnSpc>
                <a:spcPct val="110000"/>
              </a:lnSpc>
              <a:buClrTx/>
            </a:pPr>
            <a:r>
              <a:rPr lang="zh-TW" altLang="en-US" sz="2400" dirty="0">
                <a:latin typeface="標楷體" pitchFamily="65" charset="-120"/>
                <a:ea typeface="標楷體" panose="03000509000000000000" pitchFamily="65" charset="-120"/>
              </a:rPr>
              <a:t>同理</a:t>
            </a:r>
            <a:r>
              <a:rPr lang="en-US" altLang="zh-TW" sz="2400" dirty="0">
                <a:latin typeface="標楷體" panose="03000509000000000000" pitchFamily="65" charset="-120"/>
                <a:ea typeface="標楷體" panose="03000509000000000000" pitchFamily="65" charset="-120"/>
              </a:rPr>
              <a:t>99%</a:t>
            </a:r>
            <a:r>
              <a:rPr lang="zh-TW" altLang="en-US" sz="2400" dirty="0">
                <a:latin typeface="標楷體" pitchFamily="65" charset="-120"/>
                <a:ea typeface="標楷體" panose="03000509000000000000" pitchFamily="65" charset="-120"/>
              </a:rPr>
              <a:t>信賴區間：</a:t>
            </a:r>
          </a:p>
        </p:txBody>
      </p:sp>
      <p:sp>
        <p:nvSpPr>
          <p:cNvPr id="28" name="投影片編號版面配置區 27"/>
          <p:cNvSpPr>
            <a:spLocks noGrp="1"/>
          </p:cNvSpPr>
          <p:nvPr>
            <p:ph type="sldNum" sz="quarter" idx="12"/>
          </p:nvPr>
        </p:nvSpPr>
        <p:spPr/>
        <p:txBody>
          <a:bodyPr/>
          <a:lstStyle/>
          <a:p>
            <a:pPr>
              <a:defRPr/>
            </a:pPr>
            <a:r>
              <a:rPr lang="en-US" altLang="zh-TW" dirty="0"/>
              <a:t>11</a:t>
            </a:r>
          </a:p>
        </p:txBody>
      </p:sp>
      <p:sp>
        <p:nvSpPr>
          <p:cNvPr id="12292" name="Rectangle 5"/>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3" name="Rectangle 6"/>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4" name="Rectangle 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5" name="Rectangle 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6"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7" name="Rectangle 10"/>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8" name="Rectangle 11"/>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299" name="Rectangle 12"/>
          <p:cNvSpPr>
            <a:spLocks noChangeArrowheads="1"/>
          </p:cNvSpPr>
          <p:nvPr/>
        </p:nvSpPr>
        <p:spPr bwMode="auto">
          <a:xfrm>
            <a:off x="0" y="3100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300" name="Rectangle 15"/>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2301" name="Object 16"/>
          <p:cNvGraphicFramePr>
            <a:graphicFrameLocks noChangeAspect="1"/>
          </p:cNvGraphicFramePr>
          <p:nvPr>
            <p:extLst>
              <p:ext uri="{D42A27DB-BD31-4B8C-83A1-F6EECF244321}">
                <p14:modId xmlns:p14="http://schemas.microsoft.com/office/powerpoint/2010/main" val="2064562168"/>
              </p:ext>
            </p:extLst>
          </p:nvPr>
        </p:nvGraphicFramePr>
        <p:xfrm>
          <a:off x="1913732" y="2471926"/>
          <a:ext cx="5611389" cy="553996"/>
        </p:xfrm>
        <a:graphic>
          <a:graphicData uri="http://schemas.openxmlformats.org/presentationml/2006/ole">
            <mc:AlternateContent xmlns:mc="http://schemas.openxmlformats.org/markup-compatibility/2006">
              <mc:Choice xmlns:v="urn:schemas-microsoft-com:vml" Requires="v">
                <p:oleObj name="Equation" r:id="rId2" imgW="2387520" imgH="228600" progId="Equation.DSMT4">
                  <p:embed/>
                </p:oleObj>
              </mc:Choice>
              <mc:Fallback>
                <p:oleObj name="Equation" r:id="rId2" imgW="2387520" imgH="228600" progId="Equation.DSMT4">
                  <p:embed/>
                  <p:pic>
                    <p:nvPicPr>
                      <p:cNvPr id="0" name="Picture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3732" y="2471926"/>
                        <a:ext cx="5611389" cy="5539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2" name="AutoShape 17"/>
          <p:cNvSpPr>
            <a:spLocks noChangeArrowheads="1"/>
          </p:cNvSpPr>
          <p:nvPr/>
        </p:nvSpPr>
        <p:spPr bwMode="auto">
          <a:xfrm>
            <a:off x="972343" y="2554475"/>
            <a:ext cx="647700" cy="360363"/>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303" name="Rectangle 1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2304" name="Object 19"/>
          <p:cNvGraphicFramePr>
            <a:graphicFrameLocks noChangeAspect="1"/>
          </p:cNvGraphicFramePr>
          <p:nvPr>
            <p:extLst>
              <p:ext uri="{D42A27DB-BD31-4B8C-83A1-F6EECF244321}">
                <p14:modId xmlns:p14="http://schemas.microsoft.com/office/powerpoint/2010/main" val="2932428501"/>
              </p:ext>
            </p:extLst>
          </p:nvPr>
        </p:nvGraphicFramePr>
        <p:xfrm>
          <a:off x="1975643" y="3119626"/>
          <a:ext cx="1805062" cy="989036"/>
        </p:xfrm>
        <a:graphic>
          <a:graphicData uri="http://schemas.openxmlformats.org/presentationml/2006/ole">
            <mc:AlternateContent xmlns:mc="http://schemas.openxmlformats.org/markup-compatibility/2006">
              <mc:Choice xmlns:v="urn:schemas-microsoft-com:vml" Requires="v">
                <p:oleObj name="Equation" r:id="rId4" imgW="774360" imgH="419040" progId="Equation.DSMT4">
                  <p:embed/>
                </p:oleObj>
              </mc:Choice>
              <mc:Fallback>
                <p:oleObj name="Equation" r:id="rId4" imgW="774360" imgH="419040" progId="Equation.DSMT4">
                  <p:embed/>
                  <p:pic>
                    <p:nvPicPr>
                      <p:cNvPr id="0" name="Picture 1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5643" y="3119626"/>
                        <a:ext cx="1805062" cy="9890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5" name="Rectangle 20"/>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2306" name="Object 21"/>
          <p:cNvGraphicFramePr>
            <a:graphicFrameLocks noChangeAspect="1"/>
          </p:cNvGraphicFramePr>
          <p:nvPr>
            <p:extLst>
              <p:ext uri="{D42A27DB-BD31-4B8C-83A1-F6EECF244321}">
                <p14:modId xmlns:p14="http://schemas.microsoft.com/office/powerpoint/2010/main" val="3189791762"/>
              </p:ext>
            </p:extLst>
          </p:nvPr>
        </p:nvGraphicFramePr>
        <p:xfrm>
          <a:off x="4404518" y="3119625"/>
          <a:ext cx="3696667" cy="990021"/>
        </p:xfrm>
        <a:graphic>
          <a:graphicData uri="http://schemas.openxmlformats.org/presentationml/2006/ole">
            <mc:AlternateContent xmlns:mc="http://schemas.openxmlformats.org/markup-compatibility/2006">
              <mc:Choice xmlns:v="urn:schemas-microsoft-com:vml" Requires="v">
                <p:oleObj name="方程式" r:id="rId6" imgW="1726920" imgH="457200" progId="Equation.3">
                  <p:embed/>
                </p:oleObj>
              </mc:Choice>
              <mc:Fallback>
                <p:oleObj name="方程式" r:id="rId6" imgW="1726920" imgH="457200" progId="Equation.3">
                  <p:embed/>
                  <p:pic>
                    <p:nvPicPr>
                      <p:cNvPr id="0" name="Picture 1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4518" y="3119625"/>
                        <a:ext cx="3696667" cy="9900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7" name="AutoShape 22"/>
          <p:cNvSpPr>
            <a:spLocks noChangeArrowheads="1"/>
          </p:cNvSpPr>
          <p:nvPr/>
        </p:nvSpPr>
        <p:spPr bwMode="auto">
          <a:xfrm>
            <a:off x="972343" y="3489513"/>
            <a:ext cx="647700" cy="360362"/>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2308" name="Rectangle 23"/>
          <p:cNvSpPr>
            <a:spLocks noChangeArrowheads="1"/>
          </p:cNvSpPr>
          <p:nvPr/>
        </p:nvSpPr>
        <p:spPr bwMode="auto">
          <a:xfrm>
            <a:off x="377031" y="4210238"/>
            <a:ext cx="838993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accent1"/>
              </a:buClr>
              <a:buFont typeface="Arial" charset="0"/>
              <a:buChar char="•"/>
              <a:defRPr sz="2200">
                <a:solidFill>
                  <a:schemeClr val="tx1"/>
                </a:solidFill>
                <a:latin typeface="Calibri" pitchFamily="34" charset="0"/>
              </a:defRPr>
            </a:lvl1pPr>
            <a:lvl2pPr marL="1693863" indent="-533400">
              <a:spcBef>
                <a:spcPct val="20000"/>
              </a:spcBef>
              <a:buClr>
                <a:schemeClr val="accent2"/>
              </a:buClr>
              <a:buFont typeface="Arial" charset="0"/>
              <a:buChar char="•"/>
              <a:defRPr sz="2000">
                <a:solidFill>
                  <a:schemeClr val="tx1"/>
                </a:solidFill>
                <a:latin typeface="Calibri" pitchFamily="34" charset="0"/>
              </a:defRPr>
            </a:lvl2pPr>
            <a:lvl3pPr marL="2082800" indent="-457200">
              <a:spcBef>
                <a:spcPct val="20000"/>
              </a:spcBef>
              <a:buClr>
                <a:srgbClr val="D2CB6C"/>
              </a:buClr>
              <a:buFont typeface="Arial" charset="0"/>
              <a:buChar char="•"/>
              <a:defRPr>
                <a:solidFill>
                  <a:schemeClr val="tx1"/>
                </a:solidFill>
                <a:latin typeface="Calibri" pitchFamily="34" charset="0"/>
              </a:defRPr>
            </a:lvl3pPr>
            <a:lvl4pPr marL="2414588" indent="-381000">
              <a:spcBef>
                <a:spcPct val="20000"/>
              </a:spcBef>
              <a:buClr>
                <a:srgbClr val="95A39D"/>
              </a:buClr>
              <a:buFont typeface="Arial" charset="0"/>
              <a:buChar char="•"/>
              <a:defRPr sz="1600">
                <a:solidFill>
                  <a:schemeClr val="tx1"/>
                </a:solidFill>
                <a:latin typeface="Calibri" pitchFamily="34" charset="0"/>
              </a:defRPr>
            </a:lvl4pPr>
            <a:lvl5pPr marL="2822575" indent="-381000">
              <a:spcBef>
                <a:spcPct val="20000"/>
              </a:spcBef>
              <a:buClr>
                <a:srgbClr val="C89F5D"/>
              </a:buClr>
              <a:buFont typeface="Arial" charset="0"/>
              <a:buChar char="•"/>
              <a:defRPr sz="1400">
                <a:solidFill>
                  <a:schemeClr val="tx1"/>
                </a:solidFill>
                <a:latin typeface="Calibri" pitchFamily="34" charset="0"/>
              </a:defRPr>
            </a:lvl5pPr>
            <a:lvl6pPr marL="3279775" indent="-381000" fontAlgn="base">
              <a:spcBef>
                <a:spcPct val="20000"/>
              </a:spcBef>
              <a:spcAft>
                <a:spcPct val="0"/>
              </a:spcAft>
              <a:buClr>
                <a:srgbClr val="C89F5D"/>
              </a:buClr>
              <a:buFont typeface="Arial" charset="0"/>
              <a:buChar char="•"/>
              <a:defRPr sz="1400">
                <a:solidFill>
                  <a:schemeClr val="tx1"/>
                </a:solidFill>
                <a:latin typeface="Calibri" pitchFamily="34" charset="0"/>
              </a:defRPr>
            </a:lvl6pPr>
            <a:lvl7pPr marL="3736975" indent="-381000" fontAlgn="base">
              <a:spcBef>
                <a:spcPct val="20000"/>
              </a:spcBef>
              <a:spcAft>
                <a:spcPct val="0"/>
              </a:spcAft>
              <a:buClr>
                <a:srgbClr val="C89F5D"/>
              </a:buClr>
              <a:buFont typeface="Arial" charset="0"/>
              <a:buChar char="•"/>
              <a:defRPr sz="1400">
                <a:solidFill>
                  <a:schemeClr val="tx1"/>
                </a:solidFill>
                <a:latin typeface="Calibri" pitchFamily="34" charset="0"/>
              </a:defRPr>
            </a:lvl7pPr>
            <a:lvl8pPr marL="4194175" indent="-381000" fontAlgn="base">
              <a:spcBef>
                <a:spcPct val="20000"/>
              </a:spcBef>
              <a:spcAft>
                <a:spcPct val="0"/>
              </a:spcAft>
              <a:buClr>
                <a:srgbClr val="C89F5D"/>
              </a:buClr>
              <a:buFont typeface="Arial" charset="0"/>
              <a:buChar char="•"/>
              <a:defRPr sz="1400">
                <a:solidFill>
                  <a:schemeClr val="tx1"/>
                </a:solidFill>
                <a:latin typeface="Calibri" pitchFamily="34" charset="0"/>
              </a:defRPr>
            </a:lvl8pPr>
            <a:lvl9pPr marL="4651375" indent="-381000" fontAlgn="base">
              <a:spcBef>
                <a:spcPct val="20000"/>
              </a:spcBef>
              <a:spcAft>
                <a:spcPct val="0"/>
              </a:spcAft>
              <a:buClr>
                <a:srgbClr val="C89F5D"/>
              </a:buClr>
              <a:buFont typeface="Arial" charset="0"/>
              <a:buChar char="•"/>
              <a:defRPr sz="1400">
                <a:solidFill>
                  <a:schemeClr val="tx1"/>
                </a:solidFill>
                <a:latin typeface="Calibri" pitchFamily="34" charset="0"/>
              </a:defRPr>
            </a:lvl9pPr>
          </a:lstStyle>
          <a:p>
            <a:pPr>
              <a:lnSpc>
                <a:spcPct val="110000"/>
              </a:lnSpc>
              <a:buClrTx/>
              <a:buFont typeface="Arial" panose="020B0604020202020204" pitchFamily="34" charset="0"/>
              <a:buChar char="•"/>
            </a:pPr>
            <a:r>
              <a:rPr lang="en-US" altLang="zh-TW" sz="2400" dirty="0">
                <a:latin typeface="Times New Roman" pitchFamily="18" charset="0"/>
                <a:ea typeface="標楷體" pitchFamily="65" charset="-120"/>
              </a:rPr>
              <a:t>90%</a:t>
            </a:r>
            <a:r>
              <a:rPr lang="zh-TW" altLang="en-US" sz="2400" dirty="0">
                <a:latin typeface="標楷體" pitchFamily="65" charset="-120"/>
                <a:ea typeface="標楷體" pitchFamily="65" charset="-120"/>
              </a:rPr>
              <a:t>信賴區間：</a:t>
            </a:r>
            <a:endParaRPr lang="zh-TW" altLang="en-US" sz="2400" dirty="0">
              <a:latin typeface="Times New Roman" pitchFamily="18" charset="0"/>
              <a:ea typeface="標楷體" pitchFamily="65" charset="-120"/>
            </a:endParaRPr>
          </a:p>
        </p:txBody>
      </p:sp>
      <p:graphicFrame>
        <p:nvGraphicFramePr>
          <p:cNvPr id="12309" name="Object 24"/>
          <p:cNvGraphicFramePr>
            <a:graphicFrameLocks noChangeAspect="1"/>
          </p:cNvGraphicFramePr>
          <p:nvPr>
            <p:extLst>
              <p:ext uri="{D42A27DB-BD31-4B8C-83A1-F6EECF244321}">
                <p14:modId xmlns:p14="http://schemas.microsoft.com/office/powerpoint/2010/main" val="1607896865"/>
              </p:ext>
            </p:extLst>
          </p:nvPr>
        </p:nvGraphicFramePr>
        <p:xfrm>
          <a:off x="1772444" y="5003988"/>
          <a:ext cx="6040710" cy="570020"/>
        </p:xfrm>
        <a:graphic>
          <a:graphicData uri="http://schemas.openxmlformats.org/presentationml/2006/ole">
            <mc:AlternateContent xmlns:mc="http://schemas.openxmlformats.org/markup-compatibility/2006">
              <mc:Choice xmlns:v="urn:schemas-microsoft-com:vml" Requires="v">
                <p:oleObj name="方程式" r:id="rId8" imgW="2501640" imgH="228600" progId="Equation.3">
                  <p:embed/>
                </p:oleObj>
              </mc:Choice>
              <mc:Fallback>
                <p:oleObj name="方程式" r:id="rId8" imgW="2501640" imgH="228600" progId="Equation.3">
                  <p:embed/>
                  <p:pic>
                    <p:nvPicPr>
                      <p:cNvPr id="0" name="Picture 1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72444" y="5003988"/>
                        <a:ext cx="6040710" cy="5700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0" name="AutoShape 25"/>
          <p:cNvSpPr>
            <a:spLocks noChangeArrowheads="1"/>
          </p:cNvSpPr>
          <p:nvPr/>
        </p:nvSpPr>
        <p:spPr bwMode="auto">
          <a:xfrm>
            <a:off x="972343" y="5086538"/>
            <a:ext cx="647700" cy="360362"/>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2311" name="Object 26"/>
          <p:cNvGraphicFramePr>
            <a:graphicFrameLocks noChangeAspect="1"/>
          </p:cNvGraphicFramePr>
          <p:nvPr>
            <p:extLst>
              <p:ext uri="{D42A27DB-BD31-4B8C-83A1-F6EECF244321}">
                <p14:modId xmlns:p14="http://schemas.microsoft.com/office/powerpoint/2010/main" val="1568338532"/>
              </p:ext>
            </p:extLst>
          </p:nvPr>
        </p:nvGraphicFramePr>
        <p:xfrm>
          <a:off x="1889918" y="5651688"/>
          <a:ext cx="1962795" cy="990057"/>
        </p:xfrm>
        <a:graphic>
          <a:graphicData uri="http://schemas.openxmlformats.org/presentationml/2006/ole">
            <mc:AlternateContent xmlns:mc="http://schemas.openxmlformats.org/markup-compatibility/2006">
              <mc:Choice xmlns:v="urn:schemas-microsoft-com:vml" Requires="v">
                <p:oleObj name="方程式" r:id="rId10" imgW="838080" imgH="419040" progId="Equation.3">
                  <p:embed/>
                </p:oleObj>
              </mc:Choice>
              <mc:Fallback>
                <p:oleObj name="方程式" r:id="rId10" imgW="838080" imgH="419040" progId="Equation.3">
                  <p:embed/>
                  <p:pic>
                    <p:nvPicPr>
                      <p:cNvPr id="0" name="Picture 1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89918" y="5651688"/>
                        <a:ext cx="1962795" cy="9900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12" name="Object 27"/>
          <p:cNvGraphicFramePr>
            <a:graphicFrameLocks noChangeAspect="1"/>
          </p:cNvGraphicFramePr>
          <p:nvPr>
            <p:extLst>
              <p:ext uri="{D42A27DB-BD31-4B8C-83A1-F6EECF244321}">
                <p14:modId xmlns:p14="http://schemas.microsoft.com/office/powerpoint/2010/main" val="73127864"/>
              </p:ext>
            </p:extLst>
          </p:nvPr>
        </p:nvGraphicFramePr>
        <p:xfrm>
          <a:off x="4333081" y="5640575"/>
          <a:ext cx="3912119" cy="983173"/>
        </p:xfrm>
        <a:graphic>
          <a:graphicData uri="http://schemas.openxmlformats.org/presentationml/2006/ole">
            <mc:AlternateContent xmlns:mc="http://schemas.openxmlformats.org/markup-compatibility/2006">
              <mc:Choice xmlns:v="urn:schemas-microsoft-com:vml" Requires="v">
                <p:oleObj name="方程式" r:id="rId12" imgW="1841400" imgH="457200" progId="Equation.3">
                  <p:embed/>
                </p:oleObj>
              </mc:Choice>
              <mc:Fallback>
                <p:oleObj name="方程式" r:id="rId12" imgW="1841400" imgH="457200" progId="Equation.3">
                  <p:embed/>
                  <p:pic>
                    <p:nvPicPr>
                      <p:cNvPr id="0" name="Picture 1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33081" y="5640575"/>
                        <a:ext cx="3912119" cy="983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3" name="AutoShape 28"/>
          <p:cNvSpPr>
            <a:spLocks noChangeArrowheads="1"/>
          </p:cNvSpPr>
          <p:nvPr/>
        </p:nvSpPr>
        <p:spPr bwMode="auto">
          <a:xfrm>
            <a:off x="972343" y="6021575"/>
            <a:ext cx="647700" cy="360363"/>
          </a:xfrm>
          <a:prstGeom prst="rightArrow">
            <a:avLst>
              <a:gd name="adj1" fmla="val 50000"/>
              <a:gd name="adj2" fmla="val 44934"/>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26" name="文字方塊 25"/>
          <p:cNvSpPr txBox="1"/>
          <p:nvPr/>
        </p:nvSpPr>
        <p:spPr>
          <a:xfrm>
            <a:off x="3881836" y="5954028"/>
            <a:ext cx="492443" cy="461665"/>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或</a:t>
            </a:r>
          </a:p>
        </p:txBody>
      </p:sp>
      <p:sp>
        <p:nvSpPr>
          <p:cNvPr id="27" name="文字方塊 26"/>
          <p:cNvSpPr txBox="1"/>
          <p:nvPr/>
        </p:nvSpPr>
        <p:spPr>
          <a:xfrm>
            <a:off x="3881837" y="3370258"/>
            <a:ext cx="492443" cy="461665"/>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1355734" y="44859"/>
            <a:ext cx="6529387" cy="701675"/>
          </a:xfrm>
        </p:spPr>
        <p:txBody>
          <a:bodyPr/>
          <a:lstStyle/>
          <a:p>
            <a:pPr fontAlgn="auto">
              <a:spcAft>
                <a:spcPts val="0"/>
              </a:spcAft>
              <a:defRPr/>
            </a:pPr>
            <a:r>
              <a:rPr lang="zh-TW" altLang="en-US" sz="4000" dirty="0">
                <a:solidFill>
                  <a:srgbClr val="2F2B20"/>
                </a:solidFill>
                <a:latin typeface="標楷體" pitchFamily="65" charset="-120"/>
                <a:ea typeface="標楷體" panose="03000509000000000000" pitchFamily="65" charset="-120"/>
              </a:rPr>
              <a:t>母體平均值之信賴區間估計</a:t>
            </a:r>
            <a:endParaRPr lang="en-US" altLang="zh-TW" sz="2800" i="1" dirty="0">
              <a:latin typeface="Times New Roman" pitchFamily="18" charset="0"/>
            </a:endParaRPr>
          </a:p>
        </p:txBody>
      </p:sp>
      <p:sp>
        <p:nvSpPr>
          <p:cNvPr id="27" name="投影片編號版面配置區 26"/>
          <p:cNvSpPr>
            <a:spLocks noGrp="1"/>
          </p:cNvSpPr>
          <p:nvPr>
            <p:ph type="sldNum" sz="quarter" idx="12"/>
          </p:nvPr>
        </p:nvSpPr>
        <p:spPr/>
        <p:txBody>
          <a:bodyPr/>
          <a:lstStyle/>
          <a:p>
            <a:pPr>
              <a:defRPr/>
            </a:pPr>
            <a:r>
              <a:rPr lang="en-US" altLang="zh-TW" dirty="0"/>
              <a:t>12</a:t>
            </a:r>
          </a:p>
        </p:txBody>
      </p:sp>
      <p:sp>
        <p:nvSpPr>
          <p:cNvPr id="13315" name="Rectangle 5"/>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16" name="Rectangle 6"/>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17" name="Rectangle 7"/>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18" name="Rectangle 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19"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0" name="Rectangle 10"/>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1" name="Rectangle 11"/>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2" name="Rectangle 12"/>
          <p:cNvSpPr>
            <a:spLocks noChangeArrowheads="1"/>
          </p:cNvSpPr>
          <p:nvPr/>
        </p:nvSpPr>
        <p:spPr bwMode="auto">
          <a:xfrm>
            <a:off x="0" y="3100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3" name="Rectangle 13"/>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4" name="Rectangle 16"/>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5" name="Rectangle 18"/>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6" name="Text Box 27"/>
          <p:cNvSpPr txBox="1">
            <a:spLocks noChangeArrowheads="1"/>
          </p:cNvSpPr>
          <p:nvPr/>
        </p:nvSpPr>
        <p:spPr bwMode="auto">
          <a:xfrm>
            <a:off x="546800" y="978535"/>
            <a:ext cx="8147253" cy="1200329"/>
          </a:xfrm>
          <a:prstGeom prst="rect">
            <a:avLst/>
          </a:prstGeom>
          <a:noFill/>
          <a:ln w="38100">
            <a:solidFill>
              <a:srgbClr val="FFCC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dirty="0">
                <a:ea typeface="標楷體" pitchFamily="65" charset="-120"/>
              </a:rPr>
              <a:t>設今隨機抽樣</a:t>
            </a:r>
            <a:r>
              <a:rPr lang="en-US" altLang="zh-TW" dirty="0">
                <a:ea typeface="標楷體" pitchFamily="65" charset="-120"/>
              </a:rPr>
              <a:t>40</a:t>
            </a:r>
            <a:r>
              <a:rPr lang="zh-TW" altLang="en-US" dirty="0">
                <a:ea typeface="標楷體" pitchFamily="65" charset="-120"/>
              </a:rPr>
              <a:t>位攝取乳清蛋白的國小運動員並觀察跳高高度，平均跳高高度為</a:t>
            </a:r>
            <a:r>
              <a:rPr lang="en-US" altLang="zh-TW" dirty="0">
                <a:ea typeface="標楷體" pitchFamily="65" charset="-120"/>
              </a:rPr>
              <a:t>90.2</a:t>
            </a:r>
            <a:r>
              <a:rPr lang="zh-TW" altLang="en-US" dirty="0">
                <a:ea typeface="標楷體" pitchFamily="65" charset="-120"/>
              </a:rPr>
              <a:t>公分，而根據過去資料顯示，其標準差</a:t>
            </a:r>
            <a:r>
              <a:rPr lang="el-GR" altLang="zh-TW" dirty="0">
                <a:ea typeface="標楷體" pitchFamily="65" charset="-120"/>
              </a:rPr>
              <a:t>σ</a:t>
            </a:r>
            <a:r>
              <a:rPr lang="en-US" altLang="zh-TW" dirty="0">
                <a:ea typeface="標楷體" pitchFamily="65" charset="-120"/>
              </a:rPr>
              <a:t>=2.6</a:t>
            </a:r>
            <a:r>
              <a:rPr lang="zh-TW" altLang="en-US" dirty="0">
                <a:ea typeface="標楷體" pitchFamily="65" charset="-120"/>
              </a:rPr>
              <a:t> 公分，試求母體平均均值 </a:t>
            </a:r>
            <a:r>
              <a:rPr lang="el-GR" altLang="zh-TW" dirty="0">
                <a:ea typeface="標楷體" pitchFamily="65" charset="-120"/>
              </a:rPr>
              <a:t>μ</a:t>
            </a:r>
            <a:r>
              <a:rPr lang="zh-TW" altLang="en-US" dirty="0">
                <a:ea typeface="標楷體" pitchFamily="65" charset="-120"/>
              </a:rPr>
              <a:t> 之</a:t>
            </a:r>
            <a:r>
              <a:rPr lang="en-US" altLang="zh-TW" dirty="0">
                <a:ea typeface="標楷體" pitchFamily="65" charset="-120"/>
              </a:rPr>
              <a:t>95%</a:t>
            </a:r>
            <a:r>
              <a:rPr lang="zh-TW" altLang="en-US" dirty="0">
                <a:ea typeface="標楷體" pitchFamily="65" charset="-120"/>
              </a:rPr>
              <a:t>信賴區間。</a:t>
            </a:r>
          </a:p>
        </p:txBody>
      </p:sp>
      <p:sp>
        <p:nvSpPr>
          <p:cNvPr id="13327" name="AutoShape 30"/>
          <p:cNvSpPr>
            <a:spLocks noChangeArrowheads="1"/>
          </p:cNvSpPr>
          <p:nvPr/>
        </p:nvSpPr>
        <p:spPr bwMode="auto">
          <a:xfrm>
            <a:off x="381139" y="2934494"/>
            <a:ext cx="576262" cy="503238"/>
          </a:xfrm>
          <a:prstGeom prst="rightArrow">
            <a:avLst>
              <a:gd name="adj1" fmla="val 50000"/>
              <a:gd name="adj2" fmla="val 28628"/>
            </a:avLst>
          </a:prstGeom>
          <a:solidFill>
            <a:srgbClr val="FFCC00"/>
          </a:solidFill>
          <a:ln w="9525">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13328" name="Rectangle 32"/>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3331" name="Object 38"/>
          <p:cNvGraphicFramePr>
            <a:graphicFrameLocks noChangeAspect="1"/>
          </p:cNvGraphicFramePr>
          <p:nvPr>
            <p:extLst>
              <p:ext uri="{D42A27DB-BD31-4B8C-83A1-F6EECF244321}">
                <p14:modId xmlns:p14="http://schemas.microsoft.com/office/powerpoint/2010/main" val="2107005392"/>
              </p:ext>
            </p:extLst>
          </p:nvPr>
        </p:nvGraphicFramePr>
        <p:xfrm>
          <a:off x="1126331" y="2805906"/>
          <a:ext cx="1645469" cy="896887"/>
        </p:xfrm>
        <a:graphic>
          <a:graphicData uri="http://schemas.openxmlformats.org/presentationml/2006/ole">
            <mc:AlternateContent xmlns:mc="http://schemas.openxmlformats.org/markup-compatibility/2006">
              <mc:Choice xmlns:v="urn:schemas-microsoft-com:vml" Requires="v">
                <p:oleObj name="方程式" r:id="rId2" imgW="774360" imgH="419040" progId="Equation.3">
                  <p:embed/>
                </p:oleObj>
              </mc:Choice>
              <mc:Fallback>
                <p:oleObj name="方程式" r:id="rId2" imgW="774360" imgH="419040" progId="Equation.3">
                  <p:embed/>
                  <p:pic>
                    <p:nvPicPr>
                      <p:cNvPr id="0" name="Picture 1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331" y="2805906"/>
                        <a:ext cx="1645469" cy="8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2" name="Rectangle 40"/>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3333" name="Object 39"/>
          <p:cNvGraphicFramePr>
            <a:graphicFrameLocks noChangeAspect="1"/>
          </p:cNvGraphicFramePr>
          <p:nvPr>
            <p:extLst>
              <p:ext uri="{D42A27DB-BD31-4B8C-83A1-F6EECF244321}">
                <p14:modId xmlns:p14="http://schemas.microsoft.com/office/powerpoint/2010/main" val="4001007144"/>
              </p:ext>
            </p:extLst>
          </p:nvPr>
        </p:nvGraphicFramePr>
        <p:xfrm>
          <a:off x="2081273" y="3645024"/>
          <a:ext cx="5078313" cy="906381"/>
        </p:xfrm>
        <a:graphic>
          <a:graphicData uri="http://schemas.openxmlformats.org/presentationml/2006/ole">
            <mc:AlternateContent xmlns:mc="http://schemas.openxmlformats.org/markup-compatibility/2006">
              <mc:Choice xmlns:v="urn:schemas-microsoft-com:vml" Requires="v">
                <p:oleObj name="方程式" r:id="rId4" imgW="2387520" imgH="419040" progId="Equation.3">
                  <p:embed/>
                </p:oleObj>
              </mc:Choice>
              <mc:Fallback>
                <p:oleObj name="方程式" r:id="rId4" imgW="2387520" imgH="419040" progId="Equation.3">
                  <p:embed/>
                  <p:pic>
                    <p:nvPicPr>
                      <p:cNvPr id="0" name="Picture 1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1273" y="3645024"/>
                        <a:ext cx="5078313" cy="906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34" name="Object 43"/>
          <p:cNvGraphicFramePr>
            <a:graphicFrameLocks noChangeAspect="1"/>
          </p:cNvGraphicFramePr>
          <p:nvPr>
            <p:extLst>
              <p:ext uri="{D42A27DB-BD31-4B8C-83A1-F6EECF244321}">
                <p14:modId xmlns:p14="http://schemas.microsoft.com/office/powerpoint/2010/main" val="487984375"/>
              </p:ext>
            </p:extLst>
          </p:nvPr>
        </p:nvGraphicFramePr>
        <p:xfrm>
          <a:off x="2125216" y="4581128"/>
          <a:ext cx="4967064" cy="892170"/>
        </p:xfrm>
        <a:graphic>
          <a:graphicData uri="http://schemas.openxmlformats.org/presentationml/2006/ole">
            <mc:AlternateContent xmlns:mc="http://schemas.openxmlformats.org/markup-compatibility/2006">
              <mc:Choice xmlns:v="urn:schemas-microsoft-com:vml" Requires="v">
                <p:oleObj name="方程式" r:id="rId6" imgW="2374560" imgH="419040" progId="Equation.3">
                  <p:embed/>
                </p:oleObj>
              </mc:Choice>
              <mc:Fallback>
                <p:oleObj name="方程式" r:id="rId6" imgW="2374560" imgH="419040" progId="Equation.3">
                  <p:embed/>
                  <p:pic>
                    <p:nvPicPr>
                      <p:cNvPr id="0" name="Picture 1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5216" y="4581128"/>
                        <a:ext cx="4967064" cy="8921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5" name="Text Box 44"/>
          <p:cNvSpPr txBox="1">
            <a:spLocks noChangeArrowheads="1"/>
          </p:cNvSpPr>
          <p:nvPr/>
        </p:nvSpPr>
        <p:spPr bwMode="auto">
          <a:xfrm>
            <a:off x="1042988" y="3789040"/>
            <a:ext cx="10080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dirty="0">
                <a:ea typeface="標楷體" pitchFamily="65" charset="-120"/>
              </a:rPr>
              <a:t>下限</a:t>
            </a:r>
          </a:p>
        </p:txBody>
      </p:sp>
      <p:sp>
        <p:nvSpPr>
          <p:cNvPr id="13336" name="Text Box 45"/>
          <p:cNvSpPr txBox="1">
            <a:spLocks noChangeArrowheads="1"/>
          </p:cNvSpPr>
          <p:nvPr/>
        </p:nvSpPr>
        <p:spPr bwMode="auto">
          <a:xfrm>
            <a:off x="1042988" y="4725144"/>
            <a:ext cx="10080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dirty="0">
                <a:ea typeface="標楷體" pitchFamily="65" charset="-120"/>
              </a:rPr>
              <a:t>上限</a:t>
            </a:r>
          </a:p>
        </p:txBody>
      </p:sp>
      <p:sp>
        <p:nvSpPr>
          <p:cNvPr id="13337" name="Text Box 46"/>
          <p:cNvSpPr txBox="1">
            <a:spLocks noChangeArrowheads="1"/>
          </p:cNvSpPr>
          <p:nvPr/>
        </p:nvSpPr>
        <p:spPr bwMode="auto">
          <a:xfrm>
            <a:off x="1042988" y="5661025"/>
            <a:ext cx="35290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spcBef>
                <a:spcPct val="50000"/>
              </a:spcBef>
            </a:pPr>
            <a:r>
              <a:rPr lang="zh-TW" altLang="en-US" dirty="0">
                <a:latin typeface="標楷體" pitchFamily="65" charset="-120"/>
                <a:ea typeface="標楷體" pitchFamily="65" charset="-120"/>
              </a:rPr>
              <a:t>故</a:t>
            </a:r>
            <a:r>
              <a:rPr lang="el-GR" altLang="zh-TW" dirty="0">
                <a:ea typeface="標楷體" pitchFamily="65" charset="-120"/>
                <a:cs typeface="Times New Roman" panose="02020603050405020304" pitchFamily="18" charset="0"/>
              </a:rPr>
              <a:t>μ</a:t>
            </a:r>
            <a:r>
              <a:rPr lang="zh-TW" altLang="en-US" dirty="0">
                <a:ea typeface="標楷體" pitchFamily="65" charset="-120"/>
                <a:cs typeface="Times New Roman" panose="02020603050405020304" pitchFamily="18" charset="0"/>
              </a:rPr>
              <a:t> </a:t>
            </a:r>
            <a:r>
              <a:rPr lang="zh-TW" altLang="en-US" dirty="0">
                <a:latin typeface="標楷體" pitchFamily="65" charset="-120"/>
                <a:ea typeface="標楷體" pitchFamily="65" charset="-120"/>
              </a:rPr>
              <a:t>之</a:t>
            </a:r>
            <a:r>
              <a:rPr lang="en-US" altLang="zh-TW" dirty="0">
                <a:ea typeface="標楷體" pitchFamily="65" charset="-120"/>
              </a:rPr>
              <a:t>95%</a:t>
            </a:r>
            <a:r>
              <a:rPr lang="zh-TW" altLang="en-US" dirty="0">
                <a:ea typeface="標楷體" pitchFamily="65" charset="-120"/>
              </a:rPr>
              <a:t> 信賴區間</a:t>
            </a:r>
            <a:r>
              <a:rPr lang="zh-TW" altLang="en-US" dirty="0">
                <a:latin typeface="標楷體" pitchFamily="65" charset="-120"/>
                <a:ea typeface="標楷體" pitchFamily="65" charset="-120"/>
              </a:rPr>
              <a:t>為</a:t>
            </a:r>
          </a:p>
        </p:txBody>
      </p:sp>
      <p:sp>
        <p:nvSpPr>
          <p:cNvPr id="13339" name="Rectangle 51"/>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graphicFrame>
        <p:nvGraphicFramePr>
          <p:cNvPr id="13340" name="Object 50"/>
          <p:cNvGraphicFramePr>
            <a:graphicFrameLocks noChangeAspect="1"/>
          </p:cNvGraphicFramePr>
          <p:nvPr>
            <p:extLst>
              <p:ext uri="{D42A27DB-BD31-4B8C-83A1-F6EECF244321}">
                <p14:modId xmlns:p14="http://schemas.microsoft.com/office/powerpoint/2010/main" val="1701657600"/>
              </p:ext>
            </p:extLst>
          </p:nvPr>
        </p:nvGraphicFramePr>
        <p:xfrm>
          <a:off x="4283968" y="5758827"/>
          <a:ext cx="2232248" cy="406477"/>
        </p:xfrm>
        <a:graphic>
          <a:graphicData uri="http://schemas.openxmlformats.org/presentationml/2006/ole">
            <mc:AlternateContent xmlns:mc="http://schemas.openxmlformats.org/markup-compatibility/2006">
              <mc:Choice xmlns:v="urn:schemas-microsoft-com:vml" Requires="v">
                <p:oleObj name="方程式" r:id="rId8" imgW="1117440" imgH="203040" progId="Equation.3">
                  <p:embed/>
                </p:oleObj>
              </mc:Choice>
              <mc:Fallback>
                <p:oleObj name="方程式" r:id="rId8" imgW="1117440" imgH="203040" progId="Equation.3">
                  <p:embed/>
                  <p:pic>
                    <p:nvPicPr>
                      <p:cNvPr id="0" name="Picture 1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3968" y="5758827"/>
                        <a:ext cx="2232248" cy="4064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41" name="Object 52"/>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10" imgW="435285" imgH="677109" progId="Equation.DSMT4">
                  <p:embed/>
                </p:oleObj>
              </mc:Choice>
              <mc:Fallback>
                <p:oleObj name="Equation" r:id="rId10" imgW="435285" imgH="677109" progId="Equation.DSMT4">
                  <p:embed/>
                  <p:pic>
                    <p:nvPicPr>
                      <p:cNvPr id="0" name="Picture 1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827584" y="576006"/>
            <a:ext cx="7010400" cy="701675"/>
          </a:xfrm>
        </p:spPr>
        <p:txBody>
          <a:bodyPr/>
          <a:lstStyle/>
          <a:p>
            <a:pPr fontAlgn="auto">
              <a:spcAft>
                <a:spcPts val="0"/>
              </a:spcAft>
              <a:defRPr/>
            </a:pPr>
            <a:r>
              <a:rPr lang="zh-TW" altLang="en-US" sz="4000" dirty="0">
                <a:solidFill>
                  <a:schemeClr val="tx1"/>
                </a:solidFill>
                <a:latin typeface="標楷體" pitchFamily="65" charset="-120"/>
                <a:ea typeface="標楷體" panose="03000509000000000000" pitchFamily="65" charset="-120"/>
              </a:rPr>
              <a:t>信賴區間的意義</a:t>
            </a:r>
            <a:endParaRPr lang="en-US" altLang="zh-TW" sz="4000" i="1" dirty="0">
              <a:solidFill>
                <a:schemeClr val="tx1"/>
              </a:solidFill>
              <a:latin typeface="標楷體" panose="03000509000000000000" pitchFamily="65" charset="-120"/>
              <a:ea typeface="標楷體" panose="03000509000000000000" pitchFamily="65" charset="-120"/>
            </a:endParaRPr>
          </a:p>
        </p:txBody>
      </p:sp>
      <p:sp>
        <p:nvSpPr>
          <p:cNvPr id="143363" name="Rectangle 3"/>
          <p:cNvSpPr>
            <a:spLocks noGrp="1" noChangeArrowheads="1"/>
          </p:cNvSpPr>
          <p:nvPr>
            <p:ph idx="1"/>
          </p:nvPr>
        </p:nvSpPr>
        <p:spPr>
          <a:xfrm>
            <a:off x="734637" y="1941512"/>
            <a:ext cx="8271034" cy="4916488"/>
          </a:xfrm>
        </p:spPr>
        <p:txBody>
          <a:bodyPr>
            <a:normAutofit/>
          </a:bodyPr>
          <a:lstStyle/>
          <a:p>
            <a:pPr>
              <a:lnSpc>
                <a:spcPct val="110000"/>
              </a:lnSpc>
              <a:buFont typeface="Wingdings" panose="05000000000000000000" pitchFamily="2" charset="2"/>
              <a:buChar char="l"/>
            </a:pPr>
            <a:r>
              <a:rPr lang="zh-TW" altLang="en-US" sz="2400" dirty="0">
                <a:latin typeface="標楷體" pitchFamily="65" charset="-120"/>
                <a:ea typeface="標楷體" pitchFamily="65" charset="-120"/>
              </a:rPr>
              <a:t>信賴區間如同點估計量一樣皆是隨機變數，而非固定值。</a:t>
            </a:r>
            <a:endParaRPr lang="en-US" altLang="zh-TW" sz="2400" dirty="0">
              <a:latin typeface="標楷體" pitchFamily="65" charset="-120"/>
              <a:ea typeface="標楷體" pitchFamily="65" charset="-120"/>
            </a:endParaRPr>
          </a:p>
          <a:p>
            <a:pPr>
              <a:lnSpc>
                <a:spcPct val="110000"/>
              </a:lnSpc>
              <a:buFont typeface="Wingdings" panose="05000000000000000000" pitchFamily="2" charset="2"/>
              <a:buChar char="l"/>
            </a:pPr>
            <a:r>
              <a:rPr lang="en-US" altLang="zh-TW" sz="2400" dirty="0">
                <a:latin typeface="標楷體" pitchFamily="65" charset="-120"/>
                <a:ea typeface="標楷體" pitchFamily="65" charset="-120"/>
              </a:rPr>
              <a:t>95%</a:t>
            </a:r>
            <a:r>
              <a:rPr lang="zh-TW" altLang="en-US" sz="2400" dirty="0">
                <a:latin typeface="標楷體" pitchFamily="65" charset="-120"/>
                <a:ea typeface="標楷體" pitchFamily="65" charset="-120"/>
              </a:rPr>
              <a:t>信賴區間</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母群體中重複抽取</a:t>
            </a:r>
            <a:r>
              <a:rPr lang="en-US" altLang="zh-TW" sz="2400" dirty="0">
                <a:latin typeface="標楷體" pitchFamily="65" charset="-120"/>
                <a:ea typeface="標楷體" pitchFamily="65" charset="-120"/>
              </a:rPr>
              <a:t>100</a:t>
            </a:r>
            <a:r>
              <a:rPr lang="zh-TW" altLang="en-US" sz="2400" dirty="0">
                <a:latin typeface="標楷體" pitchFamily="65" charset="-120"/>
                <a:ea typeface="標楷體" pitchFamily="65" charset="-120"/>
              </a:rPr>
              <a:t>次相同樣本數之樣本資料，計算</a:t>
            </a:r>
            <a:r>
              <a:rPr lang="en-US" altLang="zh-TW" sz="2400" dirty="0">
                <a:latin typeface="標楷體" pitchFamily="65" charset="-120"/>
                <a:ea typeface="標楷體" pitchFamily="65" charset="-120"/>
              </a:rPr>
              <a:t>100</a:t>
            </a:r>
            <a:r>
              <a:rPr lang="zh-TW" altLang="en-US" sz="2400" dirty="0">
                <a:latin typeface="標楷體" pitchFamily="65" charset="-120"/>
                <a:ea typeface="標楷體" pitchFamily="65" charset="-120"/>
              </a:rPr>
              <a:t>個信賴區間，則大約會有</a:t>
            </a:r>
            <a:r>
              <a:rPr lang="en-US" altLang="zh-TW" sz="2400" dirty="0">
                <a:latin typeface="標楷體" pitchFamily="65" charset="-120"/>
                <a:ea typeface="標楷體" pitchFamily="65" charset="-120"/>
              </a:rPr>
              <a:t>95</a:t>
            </a:r>
            <a:r>
              <a:rPr lang="zh-TW" altLang="en-US" sz="2400" dirty="0">
                <a:latin typeface="標楷體" pitchFamily="65" charset="-120"/>
                <a:ea typeface="標楷體" pitchFamily="65" charset="-120"/>
              </a:rPr>
              <a:t>個信賴區間會包含</a:t>
            </a:r>
            <a:r>
              <a:rPr lang="en-US" altLang="zh-TW" sz="2400" dirty="0">
                <a:latin typeface="Times New Roman" panose="02020603050405020304" pitchFamily="18" charset="0"/>
                <a:ea typeface="標楷體" pitchFamily="65" charset="-120"/>
                <a:cs typeface="Times New Roman" panose="02020603050405020304" pitchFamily="18" charset="0"/>
              </a:rPr>
              <a:t>μ</a:t>
            </a:r>
            <a:r>
              <a:rPr lang="zh-TW" altLang="en-US" sz="2400" dirty="0">
                <a:latin typeface="標楷體" pitchFamily="65" charset="-120"/>
                <a:ea typeface="標楷體" pitchFamily="65" charset="-120"/>
              </a:rPr>
              <a:t>，而大約有</a:t>
            </a:r>
            <a:r>
              <a:rPr lang="en-US" altLang="zh-TW" sz="2400" dirty="0">
                <a:latin typeface="標楷體" pitchFamily="65" charset="-120"/>
                <a:ea typeface="標楷體" pitchFamily="65" charset="-120"/>
              </a:rPr>
              <a:t>5</a:t>
            </a:r>
            <a:r>
              <a:rPr lang="zh-TW" altLang="en-US" sz="2400" dirty="0">
                <a:latin typeface="標楷體" pitchFamily="65" charset="-120"/>
                <a:ea typeface="標楷體" pitchFamily="65" charset="-120"/>
              </a:rPr>
              <a:t>個信賴區間不包含</a:t>
            </a:r>
            <a:r>
              <a:rPr lang="en-US" altLang="zh-TW" sz="2400" dirty="0">
                <a:latin typeface="Times New Roman" panose="02020603050405020304" pitchFamily="18" charset="0"/>
                <a:ea typeface="標楷體" pitchFamily="65" charset="-120"/>
                <a:cs typeface="Times New Roman" panose="02020603050405020304" pitchFamily="18" charset="0"/>
              </a:rPr>
              <a:t>μ</a:t>
            </a:r>
            <a:r>
              <a:rPr lang="zh-TW" altLang="en-US" sz="2400" dirty="0">
                <a:latin typeface="標楷體" pitchFamily="65" charset="-120"/>
                <a:ea typeface="標楷體" pitchFamily="65" charset="-120"/>
              </a:rPr>
              <a:t>。</a:t>
            </a:r>
            <a:endParaRPr lang="en-US" altLang="zh-TW" sz="2400" dirty="0">
              <a:latin typeface="標楷體" pitchFamily="65" charset="-120"/>
              <a:ea typeface="標楷體" pitchFamily="65" charset="-120"/>
            </a:endParaRPr>
          </a:p>
          <a:p>
            <a:pPr>
              <a:lnSpc>
                <a:spcPct val="110000"/>
              </a:lnSpc>
              <a:buFont typeface="Wingdings" panose="05000000000000000000" pitchFamily="2" charset="2"/>
              <a:buChar char="l"/>
            </a:pPr>
            <a:r>
              <a:rPr lang="zh-TW" altLang="en-US" sz="2400" dirty="0">
                <a:latin typeface="標楷體" pitchFamily="65" charset="-120"/>
                <a:ea typeface="標楷體" pitchFamily="65" charset="-120"/>
              </a:rPr>
              <a:t>信賴區間長度</a:t>
            </a:r>
            <a:r>
              <a:rPr lang="en-US" altLang="zh-TW" sz="2400" dirty="0">
                <a:latin typeface="標楷體" pitchFamily="65" charset="-120"/>
                <a:ea typeface="標楷體" pitchFamily="65" charset="-120"/>
              </a:rPr>
              <a:t>(b-a):</a:t>
            </a:r>
            <a:r>
              <a:rPr lang="zh-TW" altLang="en-US" sz="2400" dirty="0">
                <a:latin typeface="標楷體" pitchFamily="65" charset="-120"/>
                <a:ea typeface="標楷體" pitchFamily="65" charset="-120"/>
              </a:rPr>
              <a:t>精密度</a:t>
            </a:r>
            <a:r>
              <a:rPr lang="en-US" altLang="zh-TW" sz="2400" dirty="0">
                <a:latin typeface="標楷體" pitchFamily="65" charset="-120"/>
                <a:ea typeface="標楷體" pitchFamily="65" charset="-120"/>
              </a:rPr>
              <a:t>(</a:t>
            </a:r>
            <a:r>
              <a:rPr lang="en-US" altLang="zh-TW" sz="2400" dirty="0">
                <a:latin typeface="Times New Roman" panose="02020603050405020304" pitchFamily="18" charset="0"/>
                <a:ea typeface="標楷體" pitchFamily="65" charset="-120"/>
                <a:cs typeface="Times New Roman" panose="02020603050405020304" pitchFamily="18" charset="0"/>
              </a:rPr>
              <a:t>precision</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指標，</a:t>
            </a:r>
            <a:endParaRPr lang="en-US" altLang="zh-TW" sz="2400" dirty="0">
              <a:latin typeface="標楷體" pitchFamily="65" charset="-120"/>
              <a:ea typeface="標楷體" pitchFamily="65" charset="-120"/>
            </a:endParaRPr>
          </a:p>
          <a:p>
            <a:pPr>
              <a:lnSpc>
                <a:spcPct val="110000"/>
              </a:lnSpc>
              <a:buFont typeface="Wingdings" panose="05000000000000000000" pitchFamily="2" charset="2"/>
              <a:buChar char="l"/>
            </a:pPr>
            <a:r>
              <a:rPr lang="zh-TW" altLang="en-US" sz="2400" dirty="0">
                <a:latin typeface="標楷體" pitchFamily="65" charset="-120"/>
                <a:ea typeface="標楷體" pitchFamily="65" charset="-120"/>
              </a:rPr>
              <a:t>信心水準</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準確性</a:t>
            </a:r>
            <a:r>
              <a:rPr lang="en-US" altLang="zh-TW" sz="2400" dirty="0">
                <a:latin typeface="標楷體" pitchFamily="65" charset="-120"/>
                <a:ea typeface="標楷體" pitchFamily="65" charset="-120"/>
              </a:rPr>
              <a:t>(</a:t>
            </a:r>
            <a:r>
              <a:rPr lang="en-US" altLang="zh-TW" sz="2400" dirty="0">
                <a:latin typeface="Times New Roman" panose="02020603050405020304" pitchFamily="18" charset="0"/>
                <a:ea typeface="標楷體" pitchFamily="65" charset="-120"/>
                <a:cs typeface="Times New Roman" panose="02020603050405020304" pitchFamily="18" charset="0"/>
              </a:rPr>
              <a:t>accuracy</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指標。 </a:t>
            </a:r>
            <a:endParaRPr lang="en-US" altLang="zh-TW" sz="2400" dirty="0">
              <a:latin typeface="標楷體" pitchFamily="65" charset="-120"/>
              <a:ea typeface="標楷體" pitchFamily="65" charset="-120"/>
            </a:endParaRPr>
          </a:p>
          <a:p>
            <a:pPr>
              <a:lnSpc>
                <a:spcPct val="110000"/>
              </a:lnSpc>
              <a:buFont typeface="Wingdings" panose="05000000000000000000" pitchFamily="2" charset="2"/>
              <a:buChar char="l"/>
            </a:pPr>
            <a:r>
              <a:rPr lang="zh-TW" altLang="en-US" sz="2400" dirty="0">
                <a:latin typeface="Times New Roman" pitchFamily="18" charset="0"/>
                <a:ea typeface="標楷體" pitchFamily="65" charset="-120"/>
              </a:rPr>
              <a:t>信賴區間長度僅跟點估計量的標準誤和信心水準有關，標準誤愈小或者信心水準愈小則信賴區間愈短。</a:t>
            </a:r>
            <a:endParaRPr lang="en-US" altLang="zh-TW" sz="2400" dirty="0">
              <a:latin typeface="Times New Roman" pitchFamily="18" charset="0"/>
              <a:ea typeface="標楷體" pitchFamily="65" charset="-120"/>
            </a:endParaRPr>
          </a:p>
        </p:txBody>
      </p:sp>
      <p:sp>
        <p:nvSpPr>
          <p:cNvPr id="6" name="投影片編號版面配置區 5"/>
          <p:cNvSpPr>
            <a:spLocks noGrp="1"/>
          </p:cNvSpPr>
          <p:nvPr>
            <p:ph type="sldNum" sz="quarter" idx="12"/>
          </p:nvPr>
        </p:nvSpPr>
        <p:spPr/>
        <p:txBody>
          <a:bodyPr/>
          <a:lstStyle/>
          <a:p>
            <a:pPr>
              <a:defRPr/>
            </a:pPr>
            <a:r>
              <a:rPr lang="en-US" altLang="zh-TW" dirty="0"/>
              <a:t>13</a:t>
            </a:r>
          </a:p>
        </p:txBody>
      </p:sp>
      <p:sp>
        <p:nvSpPr>
          <p:cNvPr id="9221" name="Rectangle 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9223" name="Rectangle 11"/>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Tree>
    <p:extLst>
      <p:ext uri="{BB962C8B-B14F-4D97-AF65-F5344CB8AC3E}">
        <p14:creationId xmlns:p14="http://schemas.microsoft.com/office/powerpoint/2010/main" val="2275067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1066800" y="476250"/>
            <a:ext cx="7010400" cy="701675"/>
          </a:xfrm>
        </p:spPr>
        <p:txBody>
          <a:bodyPr>
            <a:normAutofit/>
          </a:bodyPr>
          <a:lstStyle/>
          <a:p>
            <a:pPr fontAlgn="auto">
              <a:spcAft>
                <a:spcPts val="0"/>
              </a:spcAft>
              <a:defRPr/>
            </a:pPr>
            <a:r>
              <a:rPr lang="zh-TW" altLang="en-US" sz="4000" dirty="0">
                <a:solidFill>
                  <a:schemeClr val="tx1"/>
                </a:solidFill>
                <a:latin typeface="標楷體" pitchFamily="65" charset="-120"/>
                <a:ea typeface="標楷體" panose="03000509000000000000" pitchFamily="65" charset="-120"/>
              </a:rPr>
              <a:t>假設檢定</a:t>
            </a:r>
            <a:r>
              <a:rPr lang="en-US" altLang="zh-TW" sz="4000" dirty="0">
                <a:solidFill>
                  <a:schemeClr val="tx1"/>
                </a:solidFill>
                <a:latin typeface="標楷體" pitchFamily="65" charset="-120"/>
                <a:ea typeface="標楷體" panose="03000509000000000000" pitchFamily="65" charset="-120"/>
              </a:rPr>
              <a:t>(</a:t>
            </a:r>
            <a:r>
              <a:rPr lang="en-GB" altLang="zh-TW" sz="4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Hypothesis Testing</a:t>
            </a:r>
            <a:r>
              <a:rPr lang="en-GB" altLang="zh-TW" sz="4000" dirty="0">
                <a:solidFill>
                  <a:schemeClr val="tx1"/>
                </a:solidFill>
                <a:latin typeface="標楷體" pitchFamily="65" charset="-120"/>
                <a:ea typeface="標楷體" panose="03000509000000000000" pitchFamily="65" charset="-120"/>
              </a:rPr>
              <a:t>)</a:t>
            </a:r>
            <a:endParaRPr lang="en-US" altLang="zh-TW" sz="4000" i="1" dirty="0">
              <a:solidFill>
                <a:schemeClr val="tx1"/>
              </a:solidFill>
              <a:latin typeface="標楷體" panose="03000509000000000000" pitchFamily="65" charset="-120"/>
              <a:ea typeface="標楷體" panose="03000509000000000000" pitchFamily="65" charset="-120"/>
            </a:endParaRPr>
          </a:p>
        </p:txBody>
      </p:sp>
      <p:sp>
        <p:nvSpPr>
          <p:cNvPr id="143363" name="Rectangle 3"/>
          <p:cNvSpPr>
            <a:spLocks noGrp="1" noChangeArrowheads="1"/>
          </p:cNvSpPr>
          <p:nvPr>
            <p:ph idx="1"/>
          </p:nvPr>
        </p:nvSpPr>
        <p:spPr>
          <a:xfrm>
            <a:off x="323528" y="1819403"/>
            <a:ext cx="8012112" cy="4968577"/>
          </a:xfrm>
        </p:spPr>
        <p:txBody>
          <a:bodyPr>
            <a:normAutofit lnSpcReduction="10000"/>
          </a:bodyPr>
          <a:lstStyle/>
          <a:p>
            <a:pPr marL="609600" indent="-609600">
              <a:lnSpc>
                <a:spcPct val="110000"/>
              </a:lnSpc>
            </a:pPr>
            <a:r>
              <a:rPr lang="zh-TW" altLang="en-US" sz="2400" dirty="0">
                <a:latin typeface="標楷體" pitchFamily="65" charset="-120"/>
                <a:ea typeface="標楷體" pitchFamily="65" charset="-120"/>
              </a:rPr>
              <a:t>以數據的經驗證據</a:t>
            </a:r>
            <a:r>
              <a:rPr lang="en-US" altLang="zh-TW" sz="2400" dirty="0">
                <a:latin typeface="標楷體" pitchFamily="65" charset="-120"/>
                <a:ea typeface="標楷體" pitchFamily="65" charset="-120"/>
              </a:rPr>
              <a:t>(</a:t>
            </a:r>
            <a:r>
              <a:rPr lang="en-GB" altLang="zh-TW" sz="2400" dirty="0">
                <a:latin typeface="Times New Roman" panose="02020603050405020304" pitchFamily="18" charset="0"/>
                <a:ea typeface="標楷體" pitchFamily="65" charset="-120"/>
                <a:cs typeface="Times New Roman" panose="02020603050405020304" pitchFamily="18" charset="0"/>
              </a:rPr>
              <a:t>Empirical evidence</a:t>
            </a:r>
            <a:r>
              <a:rPr lang="en-GB"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做出資訊決策</a:t>
            </a:r>
            <a:r>
              <a:rPr lang="en-US" altLang="zh-TW" sz="2400" dirty="0">
                <a:latin typeface="標楷體" pitchFamily="65" charset="-120"/>
                <a:ea typeface="標楷體" pitchFamily="65" charset="-120"/>
              </a:rPr>
              <a:t>(</a:t>
            </a:r>
            <a:r>
              <a:rPr lang="en-GB" altLang="zh-TW" sz="2400" dirty="0">
                <a:latin typeface="Times New Roman" panose="02020603050405020304" pitchFamily="18" charset="0"/>
                <a:ea typeface="標楷體" pitchFamily="65" charset="-120"/>
                <a:cs typeface="Times New Roman" panose="02020603050405020304" pitchFamily="18" charset="0"/>
              </a:rPr>
              <a:t>Informed Decision</a:t>
            </a:r>
            <a:r>
              <a:rPr lang="en-GB" altLang="zh-TW" sz="2400" dirty="0">
                <a:latin typeface="標楷體" pitchFamily="65" charset="-120"/>
                <a:ea typeface="標楷體" pitchFamily="65" charset="-120"/>
              </a:rPr>
              <a:t>)</a:t>
            </a:r>
            <a:r>
              <a:rPr lang="zh-TW" altLang="en-GB" sz="2400" dirty="0">
                <a:latin typeface="標楷體" pitchFamily="65" charset="-120"/>
                <a:ea typeface="標楷體" pitchFamily="65" charset="-120"/>
              </a:rPr>
              <a:t>。</a:t>
            </a:r>
          </a:p>
          <a:p>
            <a:pPr marL="609600" indent="-609600">
              <a:lnSpc>
                <a:spcPct val="110000"/>
              </a:lnSpc>
            </a:pPr>
            <a:r>
              <a:rPr lang="zh-TW" altLang="en-US" sz="2400" dirty="0">
                <a:latin typeface="標楷體" pitchFamily="65" charset="-120"/>
                <a:ea typeface="標楷體" pitchFamily="65" charset="-120"/>
              </a:rPr>
              <a:t>決策的方式只有兩種</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是或否</a:t>
            </a:r>
            <a:r>
              <a:rPr lang="en-US" altLang="zh-TW" sz="2400" dirty="0">
                <a:latin typeface="標楷體" pitchFamily="65" charset="-120"/>
                <a:ea typeface="標楷體" pitchFamily="65" charset="-120"/>
              </a:rPr>
              <a:t>(</a:t>
            </a:r>
            <a:r>
              <a:rPr lang="en-GB" altLang="zh-TW" sz="2400" dirty="0">
                <a:latin typeface="Times New Roman" panose="02020603050405020304" pitchFamily="18" charset="0"/>
                <a:ea typeface="標楷體" pitchFamily="65" charset="-120"/>
                <a:cs typeface="Times New Roman" panose="02020603050405020304" pitchFamily="18" charset="0"/>
              </a:rPr>
              <a:t>Yes or No</a:t>
            </a:r>
            <a:r>
              <a:rPr lang="en-GB" altLang="zh-TW" sz="2400" dirty="0">
                <a:latin typeface="標楷體" pitchFamily="65" charset="-120"/>
                <a:ea typeface="標楷體" pitchFamily="65" charset="-120"/>
              </a:rPr>
              <a:t>?)</a:t>
            </a:r>
            <a:r>
              <a:rPr lang="zh-TW" altLang="en-GB" sz="2400" dirty="0">
                <a:latin typeface="標楷體" pitchFamily="65" charset="-120"/>
                <a:ea typeface="標楷體" pitchFamily="65" charset="-120"/>
              </a:rPr>
              <a:t>。</a:t>
            </a:r>
          </a:p>
          <a:p>
            <a:pPr marL="609600" indent="-609600">
              <a:lnSpc>
                <a:spcPct val="110000"/>
              </a:lnSpc>
            </a:pPr>
            <a:r>
              <a:rPr lang="zh-TW" altLang="en-US" sz="2400" dirty="0">
                <a:latin typeface="標楷體" pitchFamily="65" charset="-120"/>
                <a:ea typeface="標楷體" pitchFamily="65" charset="-120"/>
              </a:rPr>
              <a:t>數據的經驗證據來自樣本資料。</a:t>
            </a:r>
          </a:p>
          <a:p>
            <a:pPr marL="609600" indent="-609600">
              <a:lnSpc>
                <a:spcPct val="110000"/>
              </a:lnSpc>
            </a:pPr>
            <a:r>
              <a:rPr lang="zh-TW" altLang="en-US" sz="2400" dirty="0">
                <a:latin typeface="標楷體" pitchFamily="65" charset="-120"/>
                <a:ea typeface="標楷體" pitchFamily="65" charset="-120"/>
              </a:rPr>
              <a:t>決策是推論至整個母體。</a:t>
            </a:r>
            <a:endParaRPr lang="en-US" altLang="zh-TW" sz="2400" dirty="0">
              <a:latin typeface="標楷體" pitchFamily="65" charset="-120"/>
              <a:ea typeface="標楷體" pitchFamily="65" charset="-120"/>
            </a:endParaRPr>
          </a:p>
          <a:p>
            <a:pPr marL="609600" indent="-609600">
              <a:lnSpc>
                <a:spcPct val="110000"/>
              </a:lnSpc>
            </a:pPr>
            <a:r>
              <a:rPr lang="zh-TW" altLang="en-US" sz="2400" dirty="0">
                <a:latin typeface="標楷體" pitchFamily="65" charset="-120"/>
                <a:ea typeface="標楷體" pitchFamily="65" charset="-120"/>
              </a:rPr>
              <a:t>問題</a:t>
            </a:r>
            <a:r>
              <a:rPr lang="en-US" altLang="zh-TW" sz="2400" dirty="0">
                <a:latin typeface="標楷體" pitchFamily="65" charset="-120"/>
                <a:ea typeface="標楷體" pitchFamily="65" charset="-120"/>
              </a:rPr>
              <a:t>:</a:t>
            </a:r>
          </a:p>
          <a:p>
            <a:pPr marL="906463" lvl="1" indent="-609600">
              <a:lnSpc>
                <a:spcPct val="110000"/>
              </a:lnSpc>
              <a:buFont typeface="Wingdings" panose="05000000000000000000" pitchFamily="2" charset="2"/>
              <a:buChar char="ü"/>
            </a:pPr>
            <a:r>
              <a:rPr lang="zh-TW" altLang="en-US" dirty="0">
                <a:latin typeface="標楷體" pitchFamily="65" charset="-120"/>
                <a:ea typeface="標楷體" pitchFamily="65" charset="-120"/>
              </a:rPr>
              <a:t>經過政府大力宣導與嚴格執法，今年酒駕車禍是否較去年減少</a:t>
            </a:r>
            <a:r>
              <a:rPr lang="en-US" altLang="zh-TW" dirty="0">
                <a:latin typeface="標楷體" pitchFamily="65" charset="-120"/>
                <a:ea typeface="標楷體" pitchFamily="65" charset="-120"/>
              </a:rPr>
              <a:t>? (Yes or No?)</a:t>
            </a:r>
          </a:p>
          <a:p>
            <a:pPr marL="906463" lvl="1" indent="-609600">
              <a:lnSpc>
                <a:spcPct val="110000"/>
              </a:lnSpc>
              <a:buFont typeface="Wingdings" panose="05000000000000000000" pitchFamily="2" charset="2"/>
              <a:buChar char="ü"/>
            </a:pPr>
            <a:r>
              <a:rPr lang="zh-TW" altLang="en-US" dirty="0">
                <a:latin typeface="標楷體" pitchFamily="65" charset="-120"/>
                <a:ea typeface="標楷體" pitchFamily="65" charset="-120"/>
              </a:rPr>
              <a:t>進口牛肉產品</a:t>
            </a:r>
            <a:r>
              <a:rPr lang="en-US" altLang="zh-TW" dirty="0">
                <a:latin typeface="標楷體" pitchFamily="65" charset="-120"/>
                <a:ea typeface="標楷體" pitchFamily="65" charset="-120"/>
              </a:rPr>
              <a:t>(</a:t>
            </a:r>
            <a:r>
              <a:rPr lang="zh-TW" altLang="en-US" dirty="0">
                <a:latin typeface="標楷體" pitchFamily="65" charset="-120"/>
                <a:ea typeface="標楷體" pitchFamily="65" charset="-120"/>
              </a:rPr>
              <a:t>農產品</a:t>
            </a:r>
            <a:r>
              <a:rPr lang="en-US" altLang="zh-TW" dirty="0">
                <a:latin typeface="標楷體" pitchFamily="65" charset="-120"/>
                <a:ea typeface="標楷體" pitchFamily="65" charset="-120"/>
              </a:rPr>
              <a:t>)</a:t>
            </a:r>
            <a:r>
              <a:rPr lang="zh-TW" altLang="en-US" dirty="0">
                <a:latin typeface="標楷體" pitchFamily="65" charset="-120"/>
                <a:ea typeface="標楷體" pitchFamily="65" charset="-120"/>
              </a:rPr>
              <a:t>內瘦肉精是否過高</a:t>
            </a:r>
            <a:r>
              <a:rPr lang="en-US" altLang="zh-TW" dirty="0">
                <a:latin typeface="標楷體" pitchFamily="65" charset="-120"/>
                <a:ea typeface="標楷體" pitchFamily="65" charset="-120"/>
              </a:rPr>
              <a:t>(</a:t>
            </a:r>
            <a:r>
              <a:rPr lang="zh-TW" altLang="en-US" dirty="0">
                <a:latin typeface="標楷體" pitchFamily="65" charset="-120"/>
                <a:ea typeface="標楷體" pitchFamily="65" charset="-120"/>
              </a:rPr>
              <a:t>超出政府所訂的標準</a:t>
            </a:r>
            <a:r>
              <a:rPr lang="en-US" altLang="zh-TW" dirty="0">
                <a:latin typeface="標楷體" pitchFamily="65" charset="-120"/>
                <a:ea typeface="標楷體" pitchFamily="65" charset="-120"/>
              </a:rPr>
              <a:t>)? (Yes or No?)</a:t>
            </a:r>
          </a:p>
          <a:p>
            <a:pPr marL="906463" lvl="1" indent="-609600">
              <a:lnSpc>
                <a:spcPct val="110000"/>
              </a:lnSpc>
              <a:buFont typeface="Wingdings" panose="05000000000000000000" pitchFamily="2" charset="2"/>
              <a:buChar char="ü"/>
            </a:pPr>
            <a:r>
              <a:rPr lang="zh-TW" altLang="en-US" dirty="0">
                <a:latin typeface="標楷體" pitchFamily="65" charset="-120"/>
                <a:ea typeface="標楷體" pitchFamily="65" charset="-120"/>
              </a:rPr>
              <a:t>孕婦補充魚油，是否能提高幼兒手眼協調能力</a:t>
            </a:r>
            <a:r>
              <a:rPr lang="en-US" altLang="zh-TW" dirty="0">
                <a:latin typeface="標楷體" pitchFamily="65" charset="-120"/>
                <a:ea typeface="標楷體" pitchFamily="65" charset="-120"/>
              </a:rPr>
              <a:t>? (Yes or No?)</a:t>
            </a:r>
          </a:p>
          <a:p>
            <a:pPr marL="906463" lvl="1" indent="-609600">
              <a:lnSpc>
                <a:spcPct val="110000"/>
              </a:lnSpc>
              <a:buFont typeface="Wingdings" panose="05000000000000000000" pitchFamily="2" charset="2"/>
              <a:buChar char="ü"/>
            </a:pPr>
            <a:endParaRPr lang="en-US" altLang="zh-TW" dirty="0">
              <a:latin typeface="標楷體" pitchFamily="65" charset="-120"/>
              <a:ea typeface="標楷體" pitchFamily="65" charset="-120"/>
            </a:endParaRPr>
          </a:p>
          <a:p>
            <a:pPr marL="609600" indent="-609600">
              <a:lnSpc>
                <a:spcPct val="110000"/>
              </a:lnSpc>
            </a:pPr>
            <a:endParaRPr lang="zh-TW" altLang="en-US" sz="2400" dirty="0">
              <a:latin typeface="標楷體" pitchFamily="65" charset="-120"/>
              <a:ea typeface="標楷體" pitchFamily="65" charset="-120"/>
            </a:endParaRPr>
          </a:p>
        </p:txBody>
      </p:sp>
      <p:sp>
        <p:nvSpPr>
          <p:cNvPr id="6" name="投影片編號版面配置區 5"/>
          <p:cNvSpPr>
            <a:spLocks noGrp="1"/>
          </p:cNvSpPr>
          <p:nvPr>
            <p:ph type="sldNum" sz="quarter" idx="12"/>
          </p:nvPr>
        </p:nvSpPr>
        <p:spPr/>
        <p:txBody>
          <a:bodyPr/>
          <a:lstStyle/>
          <a:p>
            <a:pPr>
              <a:defRPr/>
            </a:pPr>
            <a:r>
              <a:rPr lang="en-US" altLang="zh-TW" dirty="0"/>
              <a:t>14</a:t>
            </a:r>
          </a:p>
        </p:txBody>
      </p:sp>
      <p:sp>
        <p:nvSpPr>
          <p:cNvPr id="9221" name="Rectangle 6"/>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
        <p:nvSpPr>
          <p:cNvPr id="9223" name="Rectangle 11"/>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endParaRPr lang="zh-TW" altLang="en-US"/>
          </a:p>
        </p:txBody>
      </p:sp>
    </p:spTree>
    <p:extLst>
      <p:ext uri="{BB962C8B-B14F-4D97-AF65-F5344CB8AC3E}">
        <p14:creationId xmlns:p14="http://schemas.microsoft.com/office/powerpoint/2010/main" val="3950249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p:txBody>
          <a:bodyPr/>
          <a:lstStyle/>
          <a:p>
            <a:r>
              <a:rPr lang="zh-TW" altLang="en-US" sz="3000" dirty="0">
                <a:solidFill>
                  <a:schemeClr val="tx1"/>
                </a:solidFill>
                <a:latin typeface="Times New Roman" pitchFamily="18" charset="0"/>
                <a:ea typeface="標楷體" pitchFamily="65" charset="-120"/>
                <a:cs typeface="Times New Roman" pitchFamily="18" charset="0"/>
              </a:rPr>
              <a:t>統計假</a:t>
            </a:r>
            <a:r>
              <a:rPr lang="zh-TW" altLang="en-US" sz="3200" dirty="0">
                <a:solidFill>
                  <a:schemeClr val="tx1"/>
                </a:solidFill>
                <a:latin typeface="Times New Roman" pitchFamily="18" charset="0"/>
                <a:ea typeface="標楷體" pitchFamily="65" charset="-120"/>
                <a:cs typeface="Times New Roman" pitchFamily="18" charset="0"/>
              </a:rPr>
              <a:t>設</a:t>
            </a:r>
            <a:r>
              <a:rPr lang="zh-TW" altLang="en-US" sz="3000" dirty="0">
                <a:solidFill>
                  <a:schemeClr val="tx1"/>
                </a:solidFill>
                <a:latin typeface="Times New Roman" pitchFamily="18" charset="0"/>
                <a:ea typeface="標楷體" pitchFamily="65" charset="-120"/>
                <a:cs typeface="Times New Roman" pitchFamily="18" charset="0"/>
              </a:rPr>
              <a:t>檢定</a:t>
            </a:r>
            <a:r>
              <a:rPr lang="en-US" altLang="zh-TW" sz="3000" dirty="0">
                <a:solidFill>
                  <a:schemeClr val="tx1"/>
                </a:solidFill>
                <a:latin typeface="Times New Roman" pitchFamily="18" charset="0"/>
                <a:ea typeface="標楷體" pitchFamily="65" charset="-120"/>
                <a:cs typeface="Times New Roman" pitchFamily="18" charset="0"/>
              </a:rPr>
              <a:t>(Statistical Hypothesis Testing)</a:t>
            </a:r>
          </a:p>
        </p:txBody>
      </p:sp>
      <p:sp>
        <p:nvSpPr>
          <p:cNvPr id="32771" name="Rectangle 3"/>
          <p:cNvSpPr>
            <a:spLocks noGrp="1" noChangeArrowheads="1"/>
          </p:cNvSpPr>
          <p:nvPr>
            <p:ph idx="1"/>
          </p:nvPr>
        </p:nvSpPr>
        <p:spPr/>
        <p:txBody>
          <a:bodyPr/>
          <a:lstStyle/>
          <a:p>
            <a:r>
              <a:rPr lang="zh-TW" altLang="en-US" dirty="0">
                <a:latin typeface="Times New Roman" pitchFamily="18" charset="0"/>
                <a:ea typeface="標楷體" pitchFamily="65" charset="-120"/>
                <a:cs typeface="Times New Roman" pitchFamily="18" charset="0"/>
              </a:rPr>
              <a:t>統計方法進行決策的過程</a:t>
            </a:r>
            <a:r>
              <a:rPr lang="en-US" altLang="zh-TW" dirty="0">
                <a:latin typeface="Times New Roman" pitchFamily="18" charset="0"/>
                <a:ea typeface="標楷體" pitchFamily="65" charset="-120"/>
                <a:cs typeface="Times New Roman" pitchFamily="18" charset="0"/>
              </a:rPr>
              <a:t>(Decision-Making Process)</a:t>
            </a:r>
            <a:r>
              <a:rPr lang="zh-TW" altLang="en-US" dirty="0">
                <a:latin typeface="Times New Roman" pitchFamily="18" charset="0"/>
                <a:ea typeface="標楷體" pitchFamily="65" charset="-120"/>
                <a:cs typeface="Times New Roman" pitchFamily="18" charset="0"/>
              </a:rPr>
              <a:t>，將探討的問題二分為兩種假說：</a:t>
            </a:r>
          </a:p>
          <a:p>
            <a:pPr>
              <a:buFont typeface="Wingdings" pitchFamily="2" charset="2"/>
              <a:buNone/>
            </a:pPr>
            <a:endParaRPr lang="zh-TW" altLang="en-US" dirty="0">
              <a:latin typeface="Times New Roman" pitchFamily="18" charset="0"/>
              <a:ea typeface="標楷體" pitchFamily="65" charset="-120"/>
              <a:cs typeface="Times New Roman" pitchFamily="18" charset="0"/>
            </a:endParaRPr>
          </a:p>
          <a:p>
            <a:pPr>
              <a:buFont typeface="Wingdings" pitchFamily="2" charset="2"/>
              <a:buNone/>
            </a:pPr>
            <a:r>
              <a:rPr lang="en-US" altLang="zh-TW" dirty="0">
                <a:latin typeface="Times New Roman" pitchFamily="18" charset="0"/>
                <a:ea typeface="標楷體" pitchFamily="65" charset="-120"/>
                <a:cs typeface="Times New Roman" pitchFamily="18" charset="0"/>
              </a:rPr>
              <a:t>		</a:t>
            </a:r>
            <a:r>
              <a:rPr lang="zh-TW" altLang="en-US" dirty="0">
                <a:latin typeface="Times New Roman" pitchFamily="18" charset="0"/>
                <a:ea typeface="標楷體" pitchFamily="65" charset="-120"/>
                <a:cs typeface="Times New Roman" pitchFamily="18" charset="0"/>
              </a:rPr>
              <a:t>虛無假設</a:t>
            </a:r>
            <a:r>
              <a:rPr lang="en-US" altLang="zh-TW" dirty="0">
                <a:latin typeface="Times New Roman" pitchFamily="18" charset="0"/>
                <a:ea typeface="標楷體" pitchFamily="65" charset="-120"/>
                <a:cs typeface="Times New Roman" pitchFamily="18" charset="0"/>
              </a:rPr>
              <a:t>(Null Hypothesis</a:t>
            </a:r>
            <a:r>
              <a:rPr lang="zh-TW" altLang="en-US" dirty="0">
                <a:latin typeface="Times New Roman" pitchFamily="18" charset="0"/>
                <a:ea typeface="標楷體" pitchFamily="65" charset="-120"/>
                <a:cs typeface="Times New Roman" pitchFamily="18" charset="0"/>
              </a:rPr>
              <a:t>，</a:t>
            </a:r>
            <a:r>
              <a:rPr lang="en-US" altLang="zh-TW" dirty="0">
                <a:latin typeface="Times New Roman" pitchFamily="18" charset="0"/>
                <a:ea typeface="標楷體" pitchFamily="65" charset="-120"/>
                <a:cs typeface="Times New Roman" pitchFamily="18" charset="0"/>
              </a:rPr>
              <a:t>H</a:t>
            </a:r>
            <a:r>
              <a:rPr lang="en-US" altLang="zh-TW" sz="1800" dirty="0">
                <a:latin typeface="Times New Roman" pitchFamily="18" charset="0"/>
                <a:ea typeface="標楷體" pitchFamily="65" charset="-120"/>
                <a:cs typeface="Times New Roman" pitchFamily="18" charset="0"/>
              </a:rPr>
              <a:t>o</a:t>
            </a:r>
            <a:r>
              <a:rPr lang="en-US" altLang="zh-TW" dirty="0">
                <a:latin typeface="Times New Roman" pitchFamily="18" charset="0"/>
                <a:ea typeface="標楷體" pitchFamily="65" charset="-120"/>
                <a:cs typeface="Times New Roman" pitchFamily="18" charset="0"/>
              </a:rPr>
              <a:t>)</a:t>
            </a:r>
          </a:p>
          <a:p>
            <a:pPr>
              <a:buFont typeface="Wingdings" pitchFamily="2" charset="2"/>
              <a:buNone/>
            </a:pPr>
            <a:r>
              <a:rPr lang="en-US" altLang="zh-TW" dirty="0">
                <a:latin typeface="Times New Roman" pitchFamily="18" charset="0"/>
                <a:ea typeface="標楷體" pitchFamily="65" charset="-120"/>
                <a:cs typeface="Times New Roman" pitchFamily="18" charset="0"/>
              </a:rPr>
              <a:t>		</a:t>
            </a:r>
            <a:r>
              <a:rPr lang="zh-TW" altLang="en-US" dirty="0">
                <a:latin typeface="Times New Roman" pitchFamily="18" charset="0"/>
                <a:ea typeface="標楷體" pitchFamily="65" charset="-120"/>
                <a:cs typeface="Times New Roman" pitchFamily="18" charset="0"/>
              </a:rPr>
              <a:t>對立假設</a:t>
            </a:r>
            <a:r>
              <a:rPr lang="en-US" altLang="zh-TW" dirty="0">
                <a:latin typeface="Times New Roman" pitchFamily="18" charset="0"/>
                <a:ea typeface="標楷體" pitchFamily="65" charset="-120"/>
                <a:cs typeface="Times New Roman" pitchFamily="18" charset="0"/>
              </a:rPr>
              <a:t>(Alternative Hypothesis</a:t>
            </a:r>
            <a:r>
              <a:rPr lang="zh-TW" altLang="en-US" dirty="0">
                <a:latin typeface="Times New Roman" pitchFamily="18" charset="0"/>
                <a:ea typeface="標楷體" pitchFamily="65" charset="-120"/>
                <a:cs typeface="Times New Roman" pitchFamily="18" charset="0"/>
              </a:rPr>
              <a:t>，</a:t>
            </a:r>
            <a:r>
              <a:rPr lang="en-US" altLang="zh-TW" dirty="0">
                <a:latin typeface="Times New Roman" pitchFamily="18" charset="0"/>
                <a:ea typeface="標楷體" pitchFamily="65" charset="-120"/>
                <a:cs typeface="Times New Roman" pitchFamily="18" charset="0"/>
              </a:rPr>
              <a:t>H</a:t>
            </a:r>
            <a:r>
              <a:rPr lang="en-US" altLang="zh-TW" sz="1800" dirty="0">
                <a:latin typeface="Times New Roman" pitchFamily="18" charset="0"/>
                <a:ea typeface="標楷體" pitchFamily="65" charset="-120"/>
                <a:cs typeface="Times New Roman" pitchFamily="18" charset="0"/>
              </a:rPr>
              <a:t>a</a:t>
            </a:r>
            <a:r>
              <a:rPr lang="en-US" altLang="zh-TW" dirty="0">
                <a:latin typeface="Times New Roman" pitchFamily="18" charset="0"/>
                <a:ea typeface="標楷體" pitchFamily="65" charset="-120"/>
                <a:cs typeface="Times New Roman" pitchFamily="18" charset="0"/>
              </a:rPr>
              <a:t>)</a:t>
            </a:r>
          </a:p>
          <a:p>
            <a:pPr>
              <a:buFont typeface="Wingdings" pitchFamily="2" charset="2"/>
              <a:buNone/>
            </a:pPr>
            <a:endParaRPr lang="en-US" altLang="zh-TW" dirty="0">
              <a:latin typeface="Times New Roman" pitchFamily="18" charset="0"/>
              <a:ea typeface="標楷體" pitchFamily="65" charset="-120"/>
              <a:cs typeface="Times New Roman" pitchFamily="18" charset="0"/>
            </a:endParaRPr>
          </a:p>
          <a:p>
            <a:pPr>
              <a:buFont typeface="Wingdings" pitchFamily="2" charset="2"/>
              <a:buNone/>
            </a:pPr>
            <a:r>
              <a:rPr lang="zh-TW" altLang="en-US" dirty="0">
                <a:latin typeface="Times New Roman" pitchFamily="18" charset="0"/>
                <a:ea typeface="標楷體" pitchFamily="65" charset="-120"/>
                <a:cs typeface="Times New Roman" pitchFamily="18" charset="0"/>
              </a:rPr>
              <a:t>對立假設：通常對立假設陳述是研究者想探究問題，例如兩族群平均有差異或兩者相關</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所感興趣</a:t>
            </a:r>
            <a:r>
              <a:rPr lang="en-US" altLang="zh-TW" dirty="0">
                <a:latin typeface="Times New Roman" pitchFamily="18" charset="0"/>
                <a:ea typeface="標楷體" pitchFamily="65" charset="-120"/>
                <a:cs typeface="Times New Roman" pitchFamily="18" charset="0"/>
              </a:rPr>
              <a:t>)</a:t>
            </a:r>
          </a:p>
          <a:p>
            <a:pPr>
              <a:buFont typeface="Wingdings" pitchFamily="2" charset="2"/>
              <a:buNone/>
            </a:pPr>
            <a:r>
              <a:rPr lang="zh-TW" altLang="en-US" dirty="0">
                <a:latin typeface="Times New Roman" pitchFamily="18" charset="0"/>
                <a:ea typeface="標楷體" pitchFamily="65" charset="-120"/>
                <a:cs typeface="Times New Roman" pitchFamily="18" charset="0"/>
              </a:rPr>
              <a:t>虛無假設：通常虛無假設陳述是兩者無關、維持原狀或具有一致性</a:t>
            </a:r>
            <a:r>
              <a:rPr lang="en-US" altLang="zh-TW" dirty="0">
                <a:latin typeface="Times New Roman" pitchFamily="18" charset="0"/>
                <a:ea typeface="標楷體" pitchFamily="65" charset="-120"/>
                <a:cs typeface="Times New Roman" pitchFamily="18" charset="0"/>
              </a:rPr>
              <a:t>(</a:t>
            </a:r>
            <a:r>
              <a:rPr lang="zh-TW" altLang="en-US" dirty="0">
                <a:latin typeface="Times New Roman" pitchFamily="18" charset="0"/>
                <a:ea typeface="標楷體" pitchFamily="65" charset="-120"/>
                <a:cs typeface="Times New Roman" pitchFamily="18" charset="0"/>
              </a:rPr>
              <a:t>不感興趣</a:t>
            </a:r>
            <a:r>
              <a:rPr lang="en-US" altLang="zh-TW" dirty="0">
                <a:latin typeface="Times New Roman" pitchFamily="18" charset="0"/>
                <a:ea typeface="標楷體" pitchFamily="65" charset="-120"/>
                <a:cs typeface="Times New Roman" pitchFamily="18" charset="0"/>
              </a:rPr>
              <a:t>)</a:t>
            </a:r>
          </a:p>
        </p:txBody>
      </p:sp>
      <p:sp>
        <p:nvSpPr>
          <p:cNvPr id="4" name="投影片編號版面配置區 3"/>
          <p:cNvSpPr>
            <a:spLocks noGrp="1"/>
          </p:cNvSpPr>
          <p:nvPr>
            <p:ph type="sldNum" sz="quarter" idx="12"/>
          </p:nvPr>
        </p:nvSpPr>
        <p:spPr/>
        <p:txBody>
          <a:bodyPr/>
          <a:lstStyle/>
          <a:p>
            <a:pPr>
              <a:defRPr/>
            </a:pPr>
            <a:r>
              <a:rPr lang="en-US" altLang="zh-TW" dirty="0"/>
              <a:t>15</a:t>
            </a:r>
          </a:p>
        </p:txBody>
      </p:sp>
    </p:spTree>
    <p:extLst>
      <p:ext uri="{BB962C8B-B14F-4D97-AF65-F5344CB8AC3E}">
        <p14:creationId xmlns:p14="http://schemas.microsoft.com/office/powerpoint/2010/main" val="95961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712561" y="1988840"/>
            <a:ext cx="8323745" cy="5832648"/>
          </a:xfrm>
        </p:spPr>
        <p:txBody>
          <a:bodyPr>
            <a:normAutofit/>
          </a:bodyPr>
          <a:lstStyle/>
          <a:p>
            <a:r>
              <a:rPr lang="zh-TW" altLang="en-US" sz="2400" dirty="0">
                <a:latin typeface="Times New Roman" pitchFamily="18" charset="0"/>
                <a:ea typeface="標楷體" pitchFamily="65" charset="-120"/>
                <a:cs typeface="Times New Roman" pitchFamily="18" charset="0"/>
              </a:rPr>
              <a:t>例：證明補充乳清蛋白能提高跳高能力，假設分別為</a:t>
            </a:r>
            <a:r>
              <a:rPr lang="en-US" altLang="zh-TW" sz="2400" dirty="0">
                <a:latin typeface="Times New Roman" pitchFamily="18" charset="0"/>
                <a:ea typeface="標楷體" pitchFamily="65" charset="-120"/>
                <a:cs typeface="Times New Roman" pitchFamily="18" charset="0"/>
              </a:rPr>
              <a:t>:</a:t>
            </a:r>
          </a:p>
          <a:p>
            <a:pPr>
              <a:buFont typeface="Wingdings" pitchFamily="2" charset="2"/>
              <a:buNone/>
            </a:pPr>
            <a:r>
              <a:rPr lang="en-US" altLang="zh-TW" sz="2200" dirty="0">
                <a:latin typeface="Times New Roman" pitchFamily="18" charset="0"/>
                <a:ea typeface="標楷體" pitchFamily="65" charset="-120"/>
                <a:cs typeface="Times New Roman" pitchFamily="18" charset="0"/>
              </a:rPr>
              <a:t>H</a:t>
            </a:r>
            <a:r>
              <a:rPr lang="en-US" altLang="zh-TW" sz="2200" baseline="-25000" dirty="0">
                <a:latin typeface="Times New Roman" pitchFamily="18" charset="0"/>
                <a:ea typeface="標楷體" pitchFamily="65" charset="-120"/>
                <a:cs typeface="Times New Roman" pitchFamily="18" charset="0"/>
              </a:rPr>
              <a:t>0</a:t>
            </a:r>
            <a:r>
              <a:rPr lang="zh-TW" altLang="en-US" sz="2200" dirty="0">
                <a:latin typeface="Times New Roman" pitchFamily="18" charset="0"/>
                <a:ea typeface="標楷體" pitchFamily="65" charset="-120"/>
                <a:cs typeface="Times New Roman" pitchFamily="18" charset="0"/>
              </a:rPr>
              <a:t>：攝取乳清蛋白與未攝取乳清蛋白小孩跳高能力相同；</a:t>
            </a:r>
            <a:endParaRPr lang="en-US" altLang="zh-TW" sz="2200" dirty="0">
              <a:latin typeface="Times New Roman" pitchFamily="18" charset="0"/>
              <a:ea typeface="標楷體" pitchFamily="65" charset="-120"/>
              <a:cs typeface="Times New Roman" pitchFamily="18" charset="0"/>
            </a:endParaRPr>
          </a:p>
          <a:p>
            <a:pPr>
              <a:buFont typeface="Wingdings" pitchFamily="2" charset="2"/>
              <a:buNone/>
            </a:pPr>
            <a:r>
              <a:rPr lang="en-US" altLang="zh-TW" sz="2200" dirty="0">
                <a:latin typeface="Times New Roman" pitchFamily="18" charset="0"/>
                <a:ea typeface="標楷體" pitchFamily="65" charset="-120"/>
                <a:cs typeface="Times New Roman" pitchFamily="18" charset="0"/>
              </a:rPr>
              <a:t>H</a:t>
            </a:r>
            <a:r>
              <a:rPr lang="en-US" altLang="zh-TW" sz="2200" baseline="-25000" dirty="0">
                <a:latin typeface="Times New Roman" pitchFamily="18" charset="0"/>
                <a:ea typeface="標楷體" pitchFamily="65" charset="-120"/>
                <a:cs typeface="Times New Roman" pitchFamily="18" charset="0"/>
              </a:rPr>
              <a:t>a</a:t>
            </a:r>
            <a:r>
              <a:rPr lang="zh-TW" altLang="en-US" sz="2200" dirty="0">
                <a:latin typeface="Times New Roman" pitchFamily="18" charset="0"/>
                <a:ea typeface="標楷體" pitchFamily="65" charset="-120"/>
                <a:cs typeface="Times New Roman" pitchFamily="18" charset="0"/>
              </a:rPr>
              <a:t>：攝取乳清蛋白與未攝取乳清蛋白小孩跳高能力不同；</a:t>
            </a:r>
          </a:p>
          <a:p>
            <a:pPr>
              <a:buFont typeface="Wingdings" pitchFamily="2" charset="2"/>
              <a:buNone/>
            </a:pPr>
            <a:endParaRPr lang="en-US" altLang="zh-TW" sz="2200" dirty="0">
              <a:latin typeface="Times New Roman" pitchFamily="18" charset="0"/>
              <a:ea typeface="標楷體" pitchFamily="65" charset="-120"/>
              <a:cs typeface="Times New Roman" pitchFamily="18" charset="0"/>
            </a:endParaRPr>
          </a:p>
          <a:p>
            <a:pPr>
              <a:buFont typeface="Wingdings" pitchFamily="2" charset="2"/>
              <a:buNone/>
            </a:pPr>
            <a:endParaRPr lang="zh-TW" altLang="en-US" sz="2200" dirty="0">
              <a:latin typeface="Times New Roman" pitchFamily="18" charset="0"/>
              <a:ea typeface="標楷體" pitchFamily="65" charset="-120"/>
              <a:cs typeface="Times New Roman" pitchFamily="18" charset="0"/>
            </a:endParaRPr>
          </a:p>
          <a:p>
            <a:r>
              <a:rPr lang="zh-TW" altLang="en-US" sz="2400" dirty="0">
                <a:latin typeface="Times New Roman" pitchFamily="18" charset="0"/>
                <a:ea typeface="標楷體" pitchFamily="65" charset="-120"/>
                <a:cs typeface="Times New Roman" pitchFamily="18" charset="0"/>
              </a:rPr>
              <a:t>例：若藥廠要證明所研發的酸痛貼布有療效</a:t>
            </a:r>
            <a:endParaRPr lang="en-US" altLang="zh-TW" sz="2400" dirty="0">
              <a:latin typeface="Times New Roman" pitchFamily="18" charset="0"/>
              <a:ea typeface="標楷體" pitchFamily="65" charset="-120"/>
              <a:cs typeface="Times New Roman" pitchFamily="18" charset="0"/>
            </a:endParaRPr>
          </a:p>
          <a:p>
            <a:pPr>
              <a:buFont typeface="Wingdings" pitchFamily="2" charset="2"/>
              <a:buNone/>
            </a:pPr>
            <a:r>
              <a:rPr lang="en-US" altLang="zh-TW" sz="2200" dirty="0">
                <a:latin typeface="Times New Roman" pitchFamily="18" charset="0"/>
                <a:ea typeface="標楷體" pitchFamily="65" charset="-120"/>
                <a:cs typeface="Times New Roman" pitchFamily="18" charset="0"/>
              </a:rPr>
              <a:t>H</a:t>
            </a:r>
            <a:r>
              <a:rPr lang="en-US" altLang="zh-TW" sz="2200" baseline="-25000" dirty="0">
                <a:latin typeface="Times New Roman" pitchFamily="18" charset="0"/>
                <a:ea typeface="標楷體" pitchFamily="65" charset="-120"/>
                <a:cs typeface="Times New Roman" pitchFamily="18" charset="0"/>
              </a:rPr>
              <a:t>0</a:t>
            </a:r>
            <a:r>
              <a:rPr lang="zh-TW" altLang="en-US" sz="2200" dirty="0">
                <a:latin typeface="Times New Roman" pitchFamily="18" charset="0"/>
                <a:ea typeface="標楷體" pitchFamily="65" charset="-120"/>
                <a:cs typeface="Times New Roman" pitchFamily="18" charset="0"/>
              </a:rPr>
              <a:t>：無療效</a:t>
            </a:r>
          </a:p>
          <a:p>
            <a:pPr>
              <a:buFont typeface="Wingdings" pitchFamily="2" charset="2"/>
              <a:buNone/>
            </a:pPr>
            <a:r>
              <a:rPr lang="en-US" altLang="zh-TW" sz="2200" dirty="0">
                <a:latin typeface="Times New Roman" pitchFamily="18" charset="0"/>
                <a:ea typeface="標楷體" pitchFamily="65" charset="-120"/>
                <a:cs typeface="Times New Roman" pitchFamily="18" charset="0"/>
              </a:rPr>
              <a:t>H</a:t>
            </a:r>
            <a:r>
              <a:rPr lang="en-US" altLang="zh-TW" sz="2200" baseline="-25000" dirty="0">
                <a:latin typeface="Times New Roman" pitchFamily="18" charset="0"/>
                <a:ea typeface="標楷體" pitchFamily="65" charset="-120"/>
                <a:cs typeface="Times New Roman" pitchFamily="18" charset="0"/>
              </a:rPr>
              <a:t>a</a:t>
            </a:r>
            <a:r>
              <a:rPr lang="zh-TW" altLang="en-US" sz="2200" dirty="0">
                <a:latin typeface="Times New Roman" pitchFamily="18" charset="0"/>
                <a:ea typeface="標楷體" pitchFamily="65" charset="-120"/>
                <a:cs typeface="Times New Roman" pitchFamily="18" charset="0"/>
              </a:rPr>
              <a:t>：有療效</a:t>
            </a:r>
          </a:p>
        </p:txBody>
      </p:sp>
      <p:sp>
        <p:nvSpPr>
          <p:cNvPr id="5" name="投影片編號版面配置區 4"/>
          <p:cNvSpPr>
            <a:spLocks noGrp="1"/>
          </p:cNvSpPr>
          <p:nvPr>
            <p:ph type="sldNum" sz="quarter" idx="12"/>
          </p:nvPr>
        </p:nvSpPr>
        <p:spPr/>
        <p:txBody>
          <a:bodyPr/>
          <a:lstStyle/>
          <a:p>
            <a:pPr>
              <a:defRPr/>
            </a:pPr>
            <a:r>
              <a:rPr lang="en-US" altLang="zh-TW" dirty="0"/>
              <a:t>16</a:t>
            </a:r>
          </a:p>
        </p:txBody>
      </p:sp>
    </p:spTree>
    <p:extLst>
      <p:ext uri="{BB962C8B-B14F-4D97-AF65-F5344CB8AC3E}">
        <p14:creationId xmlns:p14="http://schemas.microsoft.com/office/powerpoint/2010/main" val="1999742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3200" dirty="0">
                <a:latin typeface="標楷體" panose="03000509000000000000" pitchFamily="65" charset="-120"/>
                <a:ea typeface="標楷體" panose="03000509000000000000" pitchFamily="65" charset="-120"/>
              </a:rPr>
              <a:t>兩類型錯誤</a:t>
            </a:r>
            <a:r>
              <a:rPr lang="en-US" altLang="zh-TW" sz="3200" dirty="0">
                <a:latin typeface="Times New Roman" panose="02020603050405020304" pitchFamily="18" charset="0"/>
                <a:cs typeface="Times New Roman" panose="02020603050405020304" pitchFamily="18" charset="0"/>
              </a:rPr>
              <a:t>(</a:t>
            </a:r>
            <a:r>
              <a:rPr lang="en-GB" altLang="zh-TW" sz="3200" dirty="0">
                <a:latin typeface="Times New Roman" panose="02020603050405020304" pitchFamily="18" charset="0"/>
                <a:cs typeface="Times New Roman" panose="02020603050405020304" pitchFamily="18" charset="0"/>
              </a:rPr>
              <a:t>two types of error)</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lstStyle/>
          <a:p>
            <a:pPr marL="357188" indent="-357188" eaLnBrk="1" hangingPunct="1">
              <a:lnSpc>
                <a:spcPct val="110000"/>
              </a:lnSpc>
              <a:spcAft>
                <a:spcPct val="10000"/>
              </a:spcAft>
              <a:defRPr/>
            </a:pPr>
            <a:r>
              <a:rPr lang="zh-TW" altLang="en-US" sz="2400" dirty="0">
                <a:latin typeface="Times New Roman" pitchFamily="18" charset="0"/>
                <a:ea typeface="標楷體" pitchFamily="65" charset="-120"/>
              </a:rPr>
              <a:t>根據假設檢定程序，以推論某樣品是否抽自母體平均值為  </a:t>
            </a:r>
            <a:r>
              <a:rPr lang="el-GR" altLang="zh-TW" sz="2400" dirty="0">
                <a:latin typeface="Times New Roman" pitchFamily="18" charset="0"/>
                <a:ea typeface="標楷體" pitchFamily="65" charset="-120"/>
              </a:rPr>
              <a:t>μ</a:t>
            </a:r>
            <a:r>
              <a:rPr lang="en-US" altLang="zh-TW" sz="2400" baseline="-25000" dirty="0">
                <a:latin typeface="Times New Roman" pitchFamily="18" charset="0"/>
                <a:ea typeface="標楷體" pitchFamily="65" charset="-120"/>
              </a:rPr>
              <a:t>0</a:t>
            </a:r>
            <a:r>
              <a:rPr lang="zh-TW" altLang="en-US" sz="2400" dirty="0">
                <a:latin typeface="Times New Roman" pitchFamily="18" charset="0"/>
                <a:ea typeface="標楷體" pitchFamily="65" charset="-120"/>
              </a:rPr>
              <a:t> 的族群，但此推論結果並非百分之百正確，而可能有四種情形產生。</a:t>
            </a:r>
            <a:endParaRPr lang="en-US" altLang="zh-TW" sz="2400" dirty="0">
              <a:latin typeface="Times New Roman" pitchFamily="18" charset="0"/>
              <a:ea typeface="標楷體" pitchFamily="65" charset="-120"/>
            </a:endParaRPr>
          </a:p>
          <a:p>
            <a:pPr marL="357188" indent="-357188" eaLnBrk="1" hangingPunct="1">
              <a:lnSpc>
                <a:spcPct val="110000"/>
              </a:lnSpc>
              <a:spcAft>
                <a:spcPct val="10000"/>
              </a:spcAft>
              <a:defRPr/>
            </a:pPr>
            <a:r>
              <a:rPr lang="zh-TW" altLang="en-US" sz="2400" dirty="0">
                <a:ea typeface="標楷體" pitchFamily="65" charset="-120"/>
              </a:rPr>
              <a:t>這四種情形中，包含了兩類型的錯誤，而且兩種錯誤並不會同時發生。</a:t>
            </a:r>
          </a:p>
          <a:p>
            <a:endParaRPr lang="zh-TW" altLang="en-US" dirty="0"/>
          </a:p>
        </p:txBody>
      </p:sp>
      <p:sp>
        <p:nvSpPr>
          <p:cNvPr id="4" name="投影片編號版面配置區 3"/>
          <p:cNvSpPr>
            <a:spLocks noGrp="1"/>
          </p:cNvSpPr>
          <p:nvPr>
            <p:ph type="sldNum" sz="quarter" idx="12"/>
          </p:nvPr>
        </p:nvSpPr>
        <p:spPr/>
        <p:txBody>
          <a:bodyPr/>
          <a:lstStyle/>
          <a:p>
            <a:pPr>
              <a:defRPr/>
            </a:pPr>
            <a:r>
              <a:rPr lang="en-US" altLang="zh-TW" dirty="0"/>
              <a:t>17</a:t>
            </a:r>
          </a:p>
        </p:txBody>
      </p:sp>
    </p:spTree>
    <p:extLst>
      <p:ext uri="{BB962C8B-B14F-4D97-AF65-F5344CB8AC3E}">
        <p14:creationId xmlns:p14="http://schemas.microsoft.com/office/powerpoint/2010/main" val="1967117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Grp="1" noChangeArrowheads="1"/>
          </p:cNvSpPr>
          <p:nvPr>
            <p:ph type="title"/>
          </p:nvPr>
        </p:nvSpPr>
        <p:spPr>
          <a:xfrm>
            <a:off x="972701" y="260648"/>
            <a:ext cx="7772400" cy="658995"/>
          </a:xfrm>
        </p:spPr>
        <p:txBody>
          <a:bodyPr/>
          <a:lstStyle/>
          <a:p>
            <a:r>
              <a:rPr lang="zh-TW" altLang="en-US" sz="3200" dirty="0">
                <a:solidFill>
                  <a:schemeClr val="tx1"/>
                </a:solidFill>
                <a:latin typeface="Times New Roman" pitchFamily="18" charset="0"/>
                <a:ea typeface="標楷體" pitchFamily="65" charset="-120"/>
                <a:cs typeface="Times New Roman" pitchFamily="18" charset="0"/>
              </a:rPr>
              <a:t>型一與型二錯誤</a:t>
            </a:r>
            <a:r>
              <a:rPr lang="en-US" altLang="zh-TW" sz="3200" dirty="0">
                <a:solidFill>
                  <a:schemeClr val="tx1"/>
                </a:solidFill>
                <a:latin typeface="Times New Roman" pitchFamily="18" charset="0"/>
                <a:ea typeface="標楷體" pitchFamily="65" charset="-120"/>
                <a:cs typeface="Times New Roman" pitchFamily="18" charset="0"/>
              </a:rPr>
              <a:t>(Type</a:t>
            </a:r>
            <a:r>
              <a:rPr lang="zh-TW" altLang="en-US" sz="3200" dirty="0">
                <a:solidFill>
                  <a:schemeClr val="tx1"/>
                </a:solidFill>
                <a:latin typeface="Times New Roman" pitchFamily="18" charset="0"/>
                <a:ea typeface="標楷體" pitchFamily="65" charset="-120"/>
                <a:cs typeface="Times New Roman" pitchFamily="18" charset="0"/>
              </a:rPr>
              <a:t> </a:t>
            </a:r>
            <a:r>
              <a:rPr lang="en-US" altLang="zh-TW" sz="3200" dirty="0">
                <a:solidFill>
                  <a:schemeClr val="tx1"/>
                </a:solidFill>
                <a:latin typeface="Times New Roman" pitchFamily="18" charset="0"/>
                <a:ea typeface="標楷體" pitchFamily="65" charset="-120"/>
                <a:cs typeface="Times New Roman" pitchFamily="18" charset="0"/>
              </a:rPr>
              <a:t>Ⅰ</a:t>
            </a:r>
            <a:r>
              <a:rPr lang="zh-TW" altLang="en-US" sz="3200" dirty="0">
                <a:solidFill>
                  <a:schemeClr val="tx1"/>
                </a:solidFill>
                <a:latin typeface="Times New Roman" pitchFamily="18" charset="0"/>
                <a:ea typeface="標楷體" pitchFamily="65" charset="-120"/>
                <a:cs typeface="Times New Roman" pitchFamily="18" charset="0"/>
              </a:rPr>
              <a:t> </a:t>
            </a:r>
            <a:r>
              <a:rPr lang="en-US" altLang="zh-TW" sz="3200" dirty="0">
                <a:solidFill>
                  <a:schemeClr val="tx1"/>
                </a:solidFill>
                <a:latin typeface="Times New Roman" pitchFamily="18" charset="0"/>
                <a:ea typeface="標楷體" pitchFamily="65" charset="-120"/>
                <a:cs typeface="Times New Roman" pitchFamily="18" charset="0"/>
              </a:rPr>
              <a:t>&amp;</a:t>
            </a:r>
            <a:r>
              <a:rPr lang="zh-TW" altLang="en-US" sz="3200" dirty="0">
                <a:solidFill>
                  <a:schemeClr val="tx1"/>
                </a:solidFill>
                <a:latin typeface="Times New Roman" pitchFamily="18" charset="0"/>
                <a:ea typeface="標楷體" pitchFamily="65" charset="-120"/>
                <a:cs typeface="Times New Roman" pitchFamily="18" charset="0"/>
              </a:rPr>
              <a:t> </a:t>
            </a:r>
            <a:r>
              <a:rPr lang="en-US" altLang="zh-TW" sz="3200" dirty="0">
                <a:solidFill>
                  <a:schemeClr val="tx1"/>
                </a:solidFill>
                <a:latin typeface="Times New Roman" pitchFamily="18" charset="0"/>
                <a:ea typeface="標楷體" pitchFamily="65" charset="-120"/>
                <a:cs typeface="Times New Roman" pitchFamily="18" charset="0"/>
              </a:rPr>
              <a:t>Type</a:t>
            </a:r>
            <a:r>
              <a:rPr lang="zh-TW" altLang="en-US" sz="3200" dirty="0">
                <a:solidFill>
                  <a:schemeClr val="tx1"/>
                </a:solidFill>
                <a:latin typeface="Times New Roman" pitchFamily="18" charset="0"/>
                <a:ea typeface="標楷體" pitchFamily="65" charset="-120"/>
                <a:cs typeface="Times New Roman" pitchFamily="18" charset="0"/>
              </a:rPr>
              <a:t> </a:t>
            </a:r>
            <a:r>
              <a:rPr lang="en-US" altLang="zh-TW" sz="3200" dirty="0">
                <a:solidFill>
                  <a:schemeClr val="tx1"/>
                </a:solidFill>
                <a:latin typeface="Times New Roman" pitchFamily="18" charset="0"/>
                <a:ea typeface="標楷體" pitchFamily="65" charset="-120"/>
                <a:cs typeface="Times New Roman" pitchFamily="18" charset="0"/>
              </a:rPr>
              <a:t>Ⅱ</a:t>
            </a:r>
            <a:r>
              <a:rPr lang="zh-TW" altLang="en-US" sz="3200" dirty="0">
                <a:solidFill>
                  <a:schemeClr val="tx1"/>
                </a:solidFill>
                <a:latin typeface="Times New Roman" pitchFamily="18" charset="0"/>
                <a:ea typeface="標楷體" pitchFamily="65" charset="-120"/>
                <a:cs typeface="Times New Roman" pitchFamily="18" charset="0"/>
              </a:rPr>
              <a:t> </a:t>
            </a:r>
            <a:r>
              <a:rPr lang="en-US" altLang="zh-TW" sz="3200" dirty="0">
                <a:solidFill>
                  <a:schemeClr val="tx1"/>
                </a:solidFill>
                <a:latin typeface="Times New Roman" pitchFamily="18" charset="0"/>
                <a:ea typeface="標楷體" pitchFamily="65" charset="-120"/>
                <a:cs typeface="Times New Roman" pitchFamily="18" charset="0"/>
              </a:rPr>
              <a:t>Error)</a:t>
            </a:r>
          </a:p>
        </p:txBody>
      </p:sp>
      <p:sp>
        <p:nvSpPr>
          <p:cNvPr id="3" name="內容版面配置區 2"/>
          <p:cNvSpPr>
            <a:spLocks noGrp="1"/>
          </p:cNvSpPr>
          <p:nvPr>
            <p:ph idx="1"/>
          </p:nvPr>
        </p:nvSpPr>
        <p:spPr>
          <a:xfrm>
            <a:off x="789363" y="1336679"/>
            <a:ext cx="7620000" cy="964704"/>
          </a:xfrm>
        </p:spPr>
        <p:txBody>
          <a:bodyPr/>
          <a:lstStyle/>
          <a:p>
            <a:pPr>
              <a:buFont typeface="Wingdings" pitchFamily="2" charset="2"/>
              <a:buNone/>
            </a:pPr>
            <a:r>
              <a:rPr lang="en-US" altLang="zh-TW" sz="2000" dirty="0">
                <a:latin typeface="Times New Roman" pitchFamily="18" charset="0"/>
                <a:ea typeface="標楷體" pitchFamily="65" charset="-120"/>
                <a:cs typeface="Times New Roman" pitchFamily="18" charset="0"/>
              </a:rPr>
              <a:t>H</a:t>
            </a:r>
            <a:r>
              <a:rPr lang="en-US" altLang="zh-TW" sz="2000" baseline="-25000" dirty="0">
                <a:latin typeface="Times New Roman" pitchFamily="18" charset="0"/>
                <a:ea typeface="標楷體" pitchFamily="65" charset="-120"/>
                <a:cs typeface="Times New Roman" pitchFamily="18" charset="0"/>
              </a:rPr>
              <a:t>0</a:t>
            </a:r>
            <a:r>
              <a:rPr lang="zh-TW" altLang="en-US" sz="2000" dirty="0">
                <a:latin typeface="Times New Roman" pitchFamily="18" charset="0"/>
                <a:ea typeface="標楷體" pitchFamily="65" charset="-120"/>
                <a:cs typeface="Times New Roman" pitchFamily="18" charset="0"/>
              </a:rPr>
              <a:t>：攝取乳清蛋白與未攝取乳清蛋白小孩跳高能力相同；</a:t>
            </a:r>
            <a:endParaRPr lang="en-US" altLang="zh-TW" sz="2000" dirty="0">
              <a:latin typeface="Times New Roman" pitchFamily="18" charset="0"/>
              <a:ea typeface="標楷體" pitchFamily="65" charset="-120"/>
              <a:cs typeface="Times New Roman" pitchFamily="18" charset="0"/>
            </a:endParaRPr>
          </a:p>
          <a:p>
            <a:pPr>
              <a:buFont typeface="Wingdings" pitchFamily="2" charset="2"/>
              <a:buNone/>
            </a:pPr>
            <a:r>
              <a:rPr lang="en-US" altLang="zh-TW" sz="2000" dirty="0">
                <a:latin typeface="Times New Roman" pitchFamily="18" charset="0"/>
                <a:ea typeface="標楷體" pitchFamily="65" charset="-120"/>
                <a:cs typeface="Times New Roman" pitchFamily="18" charset="0"/>
              </a:rPr>
              <a:t>H</a:t>
            </a:r>
            <a:r>
              <a:rPr lang="en-US" altLang="zh-TW" sz="2000" baseline="-25000" dirty="0">
                <a:latin typeface="Times New Roman" pitchFamily="18" charset="0"/>
                <a:ea typeface="標楷體" pitchFamily="65" charset="-120"/>
                <a:cs typeface="Times New Roman" pitchFamily="18" charset="0"/>
              </a:rPr>
              <a:t>a</a:t>
            </a:r>
            <a:r>
              <a:rPr lang="zh-TW" altLang="en-US" sz="2000" dirty="0">
                <a:latin typeface="Times New Roman" pitchFamily="18" charset="0"/>
                <a:ea typeface="標楷體" pitchFamily="65" charset="-120"/>
                <a:cs typeface="Times New Roman" pitchFamily="18" charset="0"/>
              </a:rPr>
              <a:t>：攝取乳清蛋白與未攝取乳清蛋白小孩跳高能力不同；</a:t>
            </a:r>
          </a:p>
        </p:txBody>
      </p:sp>
      <p:sp>
        <p:nvSpPr>
          <p:cNvPr id="6" name="投影片編號版面配置區 5"/>
          <p:cNvSpPr>
            <a:spLocks noGrp="1"/>
          </p:cNvSpPr>
          <p:nvPr>
            <p:ph type="sldNum" sz="quarter" idx="12"/>
          </p:nvPr>
        </p:nvSpPr>
        <p:spPr/>
        <p:txBody>
          <a:bodyPr/>
          <a:lstStyle/>
          <a:p>
            <a:pPr>
              <a:defRPr/>
            </a:pPr>
            <a:r>
              <a:rPr lang="en-US" altLang="zh-TW" dirty="0"/>
              <a:t>18</a:t>
            </a:r>
          </a:p>
        </p:txBody>
      </p:sp>
      <p:graphicFrame>
        <p:nvGraphicFramePr>
          <p:cNvPr id="5" name="Group 70"/>
          <p:cNvGraphicFramePr>
            <a:graphicFrameLocks noGrp="1"/>
          </p:cNvGraphicFramePr>
          <p:nvPr>
            <p:extLst>
              <p:ext uri="{D42A27DB-BD31-4B8C-83A1-F6EECF244321}">
                <p14:modId xmlns:p14="http://schemas.microsoft.com/office/powerpoint/2010/main" val="348429650"/>
              </p:ext>
            </p:extLst>
          </p:nvPr>
        </p:nvGraphicFramePr>
        <p:xfrm>
          <a:off x="862177" y="2348880"/>
          <a:ext cx="7848872" cy="4015912"/>
        </p:xfrm>
        <a:graphic>
          <a:graphicData uri="http://schemas.openxmlformats.org/drawingml/2006/table">
            <a:tbl>
              <a:tblPr/>
              <a:tblGrid>
                <a:gridCol w="2615270">
                  <a:extLst>
                    <a:ext uri="{9D8B030D-6E8A-4147-A177-3AD203B41FA5}">
                      <a16:colId xmlns:a16="http://schemas.microsoft.com/office/drawing/2014/main" val="20000"/>
                    </a:ext>
                  </a:extLst>
                </a:gridCol>
                <a:gridCol w="2618332">
                  <a:extLst>
                    <a:ext uri="{9D8B030D-6E8A-4147-A177-3AD203B41FA5}">
                      <a16:colId xmlns:a16="http://schemas.microsoft.com/office/drawing/2014/main" val="20001"/>
                    </a:ext>
                  </a:extLst>
                </a:gridCol>
                <a:gridCol w="2615270">
                  <a:extLst>
                    <a:ext uri="{9D8B030D-6E8A-4147-A177-3AD203B41FA5}">
                      <a16:colId xmlns:a16="http://schemas.microsoft.com/office/drawing/2014/main" val="20002"/>
                    </a:ext>
                  </a:extLst>
                </a:gridCol>
              </a:tblGrid>
              <a:tr h="609330">
                <a:tc gridSpan="3">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                            事實</a:t>
                      </a:r>
                      <a:r>
                        <a:rPr kumimoji="1" lang="en-US" altLang="zh-TW" sz="2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(Truth)</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807868">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決策</a:t>
                      </a:r>
                      <a:r>
                        <a:rPr kumimoji="1" lang="en-US" altLang="zh-TW" sz="2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(Decision)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H</a:t>
                      </a:r>
                      <a:r>
                        <a:rPr kumimoji="1" lang="en-US" altLang="zh-TW" sz="1800" b="0" i="0" u="none" strike="noStrike" cap="none" normalizeH="0" baseline="-25000" dirty="0">
                          <a:ln>
                            <a:noFill/>
                          </a:ln>
                          <a:solidFill>
                            <a:schemeClr val="tx1"/>
                          </a:solidFill>
                          <a:effectLst/>
                          <a:latin typeface="Times New Roman" pitchFamily="18" charset="0"/>
                          <a:ea typeface="標楷體" pitchFamily="65" charset="-120"/>
                          <a:cs typeface="Times New Roman" pitchFamily="18" charset="0"/>
                        </a:rPr>
                        <a:t>0 </a:t>
                      </a:r>
                      <a:r>
                        <a:rPr kumimoji="1" lang="en-US" altLang="zh-TW"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is true:</a:t>
                      </a: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攝取</a:t>
                      </a:r>
                      <a:r>
                        <a:rPr lang="zh-TW" altLang="en-US" sz="1800" dirty="0">
                          <a:latin typeface="Times New Roman" pitchFamily="18" charset="0"/>
                          <a:ea typeface="標楷體" pitchFamily="65" charset="-120"/>
                          <a:cs typeface="Times New Roman" pitchFamily="18" charset="0"/>
                        </a:rPr>
                        <a:t>乳清蛋白</a:t>
                      </a: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與否與</a:t>
                      </a:r>
                      <a:r>
                        <a:rPr lang="zh-TW" altLang="en-US" sz="1800" dirty="0">
                          <a:latin typeface="Times New Roman" pitchFamily="18" charset="0"/>
                          <a:ea typeface="標楷體" pitchFamily="65" charset="-120"/>
                          <a:cs typeface="Times New Roman" pitchFamily="18" charset="0"/>
                        </a:rPr>
                        <a:t>跳高能力</a:t>
                      </a: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無關</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1800" b="0" i="0" u="none" strike="noStrike" cap="none" normalizeH="0" baseline="0" dirty="0" err="1">
                          <a:ln>
                            <a:noFill/>
                          </a:ln>
                          <a:solidFill>
                            <a:schemeClr val="tx1"/>
                          </a:solidFill>
                          <a:effectLst/>
                          <a:latin typeface="Times New Roman" pitchFamily="18" charset="0"/>
                          <a:ea typeface="標楷體" pitchFamily="65" charset="-120"/>
                          <a:cs typeface="Times New Roman" pitchFamily="18" charset="0"/>
                        </a:rPr>
                        <a:t>H</a:t>
                      </a:r>
                      <a:r>
                        <a:rPr kumimoji="1" lang="en-US" altLang="zh-TW" sz="1800" b="0" i="0" u="none" strike="noStrike" cap="none" normalizeH="0" baseline="-25000" dirty="0" err="1">
                          <a:ln>
                            <a:noFill/>
                          </a:ln>
                          <a:solidFill>
                            <a:schemeClr val="tx1"/>
                          </a:solidFill>
                          <a:effectLst/>
                          <a:latin typeface="Times New Roman" pitchFamily="18" charset="0"/>
                          <a:ea typeface="標楷體" pitchFamily="65" charset="-120"/>
                          <a:cs typeface="Times New Roman" pitchFamily="18" charset="0"/>
                        </a:rPr>
                        <a:t>a</a:t>
                      </a:r>
                      <a:r>
                        <a:rPr kumimoji="1" lang="en-US" altLang="zh-TW" sz="1800" b="0" i="0" u="none" strike="noStrike" cap="none" normalizeH="0" baseline="0" dirty="0" err="1">
                          <a:ln>
                            <a:noFill/>
                          </a:ln>
                          <a:solidFill>
                            <a:schemeClr val="tx1"/>
                          </a:solidFill>
                          <a:effectLst/>
                          <a:latin typeface="Times New Roman" pitchFamily="18" charset="0"/>
                          <a:ea typeface="標楷體" pitchFamily="65" charset="-120"/>
                          <a:cs typeface="Times New Roman" pitchFamily="18" charset="0"/>
                        </a:rPr>
                        <a:t>is</a:t>
                      </a:r>
                      <a:r>
                        <a:rPr kumimoji="1" lang="en-US" altLang="zh-TW"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 true:</a:t>
                      </a: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 攝取</a:t>
                      </a:r>
                      <a:r>
                        <a:rPr lang="zh-TW" altLang="en-US" sz="1800" dirty="0">
                          <a:latin typeface="Times New Roman" pitchFamily="18" charset="0"/>
                          <a:ea typeface="標楷體" pitchFamily="65" charset="-120"/>
                          <a:cs typeface="Times New Roman" pitchFamily="18" charset="0"/>
                        </a:rPr>
                        <a:t>乳清蛋白</a:t>
                      </a: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與否與</a:t>
                      </a:r>
                      <a:r>
                        <a:rPr lang="zh-TW" altLang="en-US" sz="1800" dirty="0">
                          <a:latin typeface="Times New Roman" pitchFamily="18" charset="0"/>
                          <a:ea typeface="標楷體" pitchFamily="65" charset="-120"/>
                          <a:cs typeface="Times New Roman" pitchFamily="18" charset="0"/>
                        </a:rPr>
                        <a:t>跳高能力</a:t>
                      </a:r>
                      <a:r>
                        <a:rPr kumimoji="1" lang="zh-TW" altLang="en-US" sz="18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有關</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18659">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無法拒絕</a:t>
                      </a: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H</a:t>
                      </a:r>
                      <a:r>
                        <a:rPr kumimoji="1" lang="en-US" altLang="zh-TW" sz="2400" b="0" i="0" u="none" strike="noStrike" cap="none" normalizeH="0" baseline="-25000" dirty="0">
                          <a:ln>
                            <a:noFill/>
                          </a:ln>
                          <a:solidFill>
                            <a:schemeClr val="tx1"/>
                          </a:solidFill>
                          <a:effectLst/>
                          <a:latin typeface="Times New Roman" pitchFamily="18" charset="0"/>
                          <a:ea typeface="標楷體" pitchFamily="65" charset="-120"/>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Not reject H</a:t>
                      </a:r>
                      <a:r>
                        <a:rPr kumimoji="1" lang="en-US" altLang="zh-TW" sz="2400" b="0" i="0" u="none" strike="noStrike" cap="none" normalizeH="0" baseline="-25000" dirty="0">
                          <a:ln>
                            <a:noFill/>
                          </a:ln>
                          <a:solidFill>
                            <a:schemeClr val="tx1"/>
                          </a:solidFill>
                          <a:effectLst/>
                          <a:latin typeface="Times New Roman" pitchFamily="18" charset="0"/>
                          <a:ea typeface="標楷體" pitchFamily="65" charset="-120"/>
                          <a:cs typeface="Times New Roman" pitchFamily="18" charset="0"/>
                        </a:rPr>
                        <a:t>0</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決策正確</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1-</a:t>
                      </a:r>
                      <a:r>
                        <a:rPr kumimoji="1" lang="el-GR"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α</a:t>
                      </a:r>
                      <a:endPar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型二錯誤</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β</a:t>
                      </a:r>
                      <a:endPar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18659">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拒絕</a:t>
                      </a: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H</a:t>
                      </a:r>
                      <a:r>
                        <a:rPr kumimoji="1" lang="en-US" altLang="zh-TW" sz="2400" b="0" i="0" u="none" strike="noStrike" cap="none" normalizeH="0" baseline="-25000" dirty="0">
                          <a:ln>
                            <a:noFill/>
                          </a:ln>
                          <a:solidFill>
                            <a:schemeClr val="tx1"/>
                          </a:solidFill>
                          <a:effectLst/>
                          <a:latin typeface="Times New Roman" pitchFamily="18" charset="0"/>
                          <a:ea typeface="標楷體" pitchFamily="65" charset="-120"/>
                          <a:cs typeface="Times New Roman" pitchFamily="18" charset="0"/>
                        </a:rPr>
                        <a:t>0</a:t>
                      </a: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Reject H</a:t>
                      </a:r>
                      <a:r>
                        <a:rPr kumimoji="1" lang="en-US" altLang="zh-TW" sz="2400" b="0" i="0" u="none" strike="noStrike" cap="none" normalizeH="0" baseline="-25000" dirty="0">
                          <a:ln>
                            <a:noFill/>
                          </a:ln>
                          <a:solidFill>
                            <a:schemeClr val="tx1"/>
                          </a:solidFill>
                          <a:effectLst/>
                          <a:latin typeface="Times New Roman" pitchFamily="18" charset="0"/>
                          <a:ea typeface="標楷體" pitchFamily="65" charset="-120"/>
                          <a:cs typeface="Times New Roman" pitchFamily="18" charset="0"/>
                        </a:rPr>
                        <a:t>0</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型一錯誤</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α</a:t>
                      </a:r>
                      <a:endPar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buSzPct val="75000"/>
                        <a:buFont typeface="Wingdings" pitchFamily="2" charset="2"/>
                        <a:defRPr kumimoji="1" sz="2400">
                          <a:solidFill>
                            <a:schemeClr val="tx1"/>
                          </a:solidFill>
                          <a:latin typeface="Arial" charset="0"/>
                          <a:ea typeface="新細明體" pitchFamily="18" charset="-120"/>
                        </a:defRPr>
                      </a:lvl1pPr>
                      <a:lvl2pPr algn="l">
                        <a:spcBef>
                          <a:spcPct val="20000"/>
                        </a:spcBef>
                        <a:buClr>
                          <a:schemeClr val="tx1"/>
                        </a:buClr>
                        <a:buSzPct val="75000"/>
                        <a:defRPr kumimoji="1" sz="2000">
                          <a:solidFill>
                            <a:schemeClr val="tx1"/>
                          </a:solidFill>
                          <a:latin typeface="Arial" charset="0"/>
                          <a:ea typeface="新細明體" pitchFamily="18" charset="-120"/>
                        </a:defRPr>
                      </a:lvl2pPr>
                      <a:lvl3pPr algn="l">
                        <a:spcBef>
                          <a:spcPct val="20000"/>
                        </a:spcBef>
                        <a:buClr>
                          <a:schemeClr val="tx1"/>
                        </a:buClr>
                        <a:buSzPct val="75000"/>
                        <a:buFont typeface="Wingdings" pitchFamily="2" charset="2"/>
                        <a:defRPr kumimoji="1">
                          <a:solidFill>
                            <a:schemeClr val="tx1"/>
                          </a:solidFill>
                          <a:latin typeface="Arial" charset="0"/>
                          <a:ea typeface="新細明體" pitchFamily="18" charset="-120"/>
                        </a:defRPr>
                      </a:lvl3pPr>
                      <a:lvl4pPr algn="l">
                        <a:spcBef>
                          <a:spcPct val="20000"/>
                        </a:spcBef>
                        <a:buClr>
                          <a:schemeClr val="tx1"/>
                        </a:buClr>
                        <a:buSzPct val="80000"/>
                        <a:defRPr kumimoji="1" sz="1600">
                          <a:solidFill>
                            <a:schemeClr val="tx1"/>
                          </a:solidFill>
                          <a:latin typeface="Arial" charset="0"/>
                          <a:ea typeface="新細明體" pitchFamily="18" charset="-120"/>
                        </a:defRPr>
                      </a:lvl4pPr>
                      <a:lvl5pPr algn="l">
                        <a:spcBef>
                          <a:spcPct val="20000"/>
                        </a:spcBef>
                        <a:buClr>
                          <a:schemeClr val="tx1"/>
                        </a:buClr>
                        <a:buSzPct val="65000"/>
                        <a:buFont typeface="Wingdings" pitchFamily="2" charset="2"/>
                        <a:defRPr kumimoji="1" sz="1600">
                          <a:solidFill>
                            <a:schemeClr val="tx1"/>
                          </a:solidFill>
                          <a:latin typeface="Arial" charset="0"/>
                          <a:ea typeface="新細明體" pitchFamily="18" charset="-120"/>
                        </a:defRPr>
                      </a:lvl5pPr>
                      <a:lvl6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6pPr>
                      <a:lvl7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7pPr>
                      <a:lvl8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8pPr>
                      <a:lvl9pPr fontAlgn="base">
                        <a:spcBef>
                          <a:spcPct val="20000"/>
                        </a:spcBef>
                        <a:spcAft>
                          <a:spcPct val="0"/>
                        </a:spcAft>
                        <a:buClr>
                          <a:schemeClr val="tx1"/>
                        </a:buClr>
                        <a:buSzPct val="65000"/>
                        <a:buFont typeface="Wingdings" pitchFamily="2" charset="2"/>
                        <a:defRPr kumimoji="1" sz="1600">
                          <a:solidFill>
                            <a:schemeClr val="tx1"/>
                          </a:solidFill>
                          <a:latin typeface="Arial" charset="0"/>
                          <a:ea typeface="新細明體" pitchFamily="18" charset="-120"/>
                        </a:defRPr>
                      </a:lvl9p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決策正確</a:t>
                      </a:r>
                      <a:endPar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1" lang="en-US"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1-</a:t>
                      </a:r>
                      <a:r>
                        <a:rPr kumimoji="1" lang="el-GR" altLang="zh-TW"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rPr>
                        <a:t>β</a:t>
                      </a:r>
                      <a:endParaRPr kumimoji="1" lang="zh-TW" altLang="en-US" sz="2400" b="0" i="0" u="none" strike="noStrike" cap="none" normalizeH="0" baseline="0" dirty="0">
                        <a:ln>
                          <a:noFill/>
                        </a:ln>
                        <a:solidFill>
                          <a:schemeClr val="tx1"/>
                        </a:solidFill>
                        <a:effectLst/>
                        <a:latin typeface="Times New Roman" pitchFamily="18" charset="0"/>
                        <a:ea typeface="標楷體" pitchFamily="65" charset="-120"/>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9083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22830" y="404664"/>
            <a:ext cx="8229600" cy="1143000"/>
          </a:xfrm>
        </p:spPr>
        <p:txBody>
          <a:bodyPr/>
          <a:lstStyle/>
          <a:p>
            <a:r>
              <a:rPr lang="zh-TW" altLang="zh-TW" sz="3200" kern="0" dirty="0">
                <a:latin typeface="Times New Roman"/>
                <a:ea typeface="標楷體"/>
                <a:cs typeface="Times New Roman"/>
              </a:rPr>
              <a:t>兩種型式錯誤</a:t>
            </a:r>
            <a:endParaRPr lang="zh-TW" altLang="en-US" sz="3200" dirty="0"/>
          </a:p>
        </p:txBody>
      </p:sp>
      <p:sp>
        <p:nvSpPr>
          <p:cNvPr id="3" name="內容版面配置區 2"/>
          <p:cNvSpPr>
            <a:spLocks noGrp="1"/>
          </p:cNvSpPr>
          <p:nvPr>
            <p:ph idx="1"/>
          </p:nvPr>
        </p:nvSpPr>
        <p:spPr>
          <a:xfrm>
            <a:off x="457200" y="1772816"/>
            <a:ext cx="8229600" cy="5472608"/>
          </a:xfrm>
        </p:spPr>
        <p:txBody>
          <a:bodyPr>
            <a:normAutofit/>
          </a:bodyPr>
          <a:lstStyle/>
          <a:p>
            <a:pPr>
              <a:lnSpc>
                <a:spcPct val="120000"/>
              </a:lnSpc>
              <a:buFont typeface="Wingdings" panose="05000000000000000000" pitchFamily="2" charset="2"/>
              <a:buChar char="l"/>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若樣本確實抽自母體平均值為 </a:t>
            </a:r>
            <a:r>
              <a:rPr lang="el-GR" altLang="zh-TW" dirty="0">
                <a:latin typeface="Times New Roman" pitchFamily="18" charset="0"/>
                <a:ea typeface="標楷體" pitchFamily="65" charset="-120"/>
                <a:cs typeface="Times New Roman" panose="02020603050405020304" pitchFamily="18" charset="0"/>
              </a:rPr>
              <a:t>μ</a:t>
            </a:r>
            <a:r>
              <a:rPr lang="en-US" altLang="zh-TW" baseline="-25000" dirty="0">
                <a:latin typeface="Times New Roman" pitchFamily="18" charset="0"/>
                <a:ea typeface="標楷體"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的族群，而且檢定的結果為接受</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，我們便做出了正確的推論，而此推論正確的機率為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1-</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α</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20000"/>
              </a:lnSpc>
              <a:buFont typeface="Wingdings" panose="05000000000000000000" pitchFamily="2" charset="2"/>
              <a:buChar char="l"/>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若樣本確實抽自母體平均值為 </a:t>
            </a:r>
            <a:r>
              <a:rPr lang="el-GR" altLang="zh-TW" dirty="0">
                <a:latin typeface="Times New Roman" pitchFamily="18" charset="0"/>
                <a:ea typeface="標楷體" pitchFamily="65" charset="-120"/>
                <a:cs typeface="Times New Roman" panose="02020603050405020304" pitchFamily="18" charset="0"/>
              </a:rPr>
              <a:t>μ</a:t>
            </a:r>
            <a:r>
              <a:rPr lang="en-US" altLang="zh-TW" baseline="-25000" dirty="0">
                <a:latin typeface="Times New Roman" pitchFamily="18" charset="0"/>
                <a:ea typeface="標楷體"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的族群，而且檢定的結果為拒絕</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，也就是接受</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a</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的假說，我們便做出了錯誤的推論，這種錯誤在統計學上稱為型一錯誤</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typeⅠerror</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，其錯誤率為</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α</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p>
            <a:pPr>
              <a:lnSpc>
                <a:spcPct val="120000"/>
              </a:lnSpc>
              <a:buFont typeface="Wingdings" panose="05000000000000000000" pitchFamily="2" charset="2"/>
              <a:buChar char="l"/>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若樣品確實不是抽自母體平均值為 </a:t>
            </a:r>
            <a:r>
              <a:rPr lang="el-GR" altLang="zh-TW" dirty="0">
                <a:latin typeface="Times New Roman" pitchFamily="18" charset="0"/>
                <a:ea typeface="標楷體" pitchFamily="65" charset="-120"/>
                <a:cs typeface="Times New Roman" panose="02020603050405020304" pitchFamily="18" charset="0"/>
              </a:rPr>
              <a:t>μ</a:t>
            </a:r>
            <a:r>
              <a:rPr lang="en-US" altLang="zh-TW" baseline="-25000" dirty="0">
                <a:latin typeface="Times New Roman" pitchFamily="18" charset="0"/>
                <a:ea typeface="標楷體"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的族群，而檢定的結果卻為接受</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，我們即是做出了錯誤的推論，這種錯誤在統計學上稱為型二錯誤</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err="1">
                <a:latin typeface="Times New Roman" panose="02020603050405020304" pitchFamily="18" charset="0"/>
                <a:ea typeface="標楷體" panose="03000509000000000000" pitchFamily="65" charset="-120"/>
                <a:cs typeface="Times New Roman" panose="02020603050405020304" pitchFamily="18" charset="0"/>
              </a:rPr>
              <a:t>typeⅡerror</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，其錯誤率為</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β</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p>
            <a:pPr>
              <a:lnSpc>
                <a:spcPct val="120000"/>
              </a:lnSpc>
              <a:buFont typeface="Wingdings" panose="05000000000000000000" pitchFamily="2" charset="2"/>
              <a:buChar char="l"/>
            </a:pPr>
            <a:r>
              <a:rPr lang="zh-TW" altLang="en-US" dirty="0">
                <a:latin typeface="Times New Roman" panose="02020603050405020304" pitchFamily="18" charset="0"/>
                <a:ea typeface="標楷體" panose="03000509000000000000" pitchFamily="65" charset="-120"/>
                <a:cs typeface="Times New Roman" panose="02020603050405020304" pitchFamily="18" charset="0"/>
              </a:rPr>
              <a:t>若樣品確實不是抽自母體平均值為 </a:t>
            </a:r>
            <a:r>
              <a:rPr lang="el-GR" altLang="zh-TW" dirty="0">
                <a:latin typeface="Times New Roman" pitchFamily="18" charset="0"/>
                <a:ea typeface="標楷體" pitchFamily="65" charset="-120"/>
                <a:cs typeface="Times New Roman" panose="02020603050405020304" pitchFamily="18" charset="0"/>
              </a:rPr>
              <a:t>μ</a:t>
            </a:r>
            <a:r>
              <a:rPr lang="en-US" altLang="zh-TW" baseline="-25000" dirty="0">
                <a:latin typeface="Times New Roman" pitchFamily="18" charset="0"/>
                <a:ea typeface="標楷體"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的族群，而檢定的結果為拒絕</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0</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，也就是接受</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H</a:t>
            </a:r>
            <a:r>
              <a:rPr lang="en-US" altLang="zh-TW" baseline="-25000" dirty="0">
                <a:latin typeface="Times New Roman" panose="02020603050405020304" pitchFamily="18" charset="0"/>
                <a:ea typeface="標楷體" panose="03000509000000000000" pitchFamily="65" charset="-120"/>
                <a:cs typeface="Times New Roman" panose="02020603050405020304" pitchFamily="18" charset="0"/>
              </a:rPr>
              <a:t>a</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的假說，我們便做出了正確的推論，而此推論正確的機率為</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1-</a:t>
            </a:r>
            <a:r>
              <a:rPr lang="el-GR" altLang="zh-TW" dirty="0">
                <a:latin typeface="Times New Roman" panose="02020603050405020304" pitchFamily="18" charset="0"/>
                <a:ea typeface="標楷體" panose="03000509000000000000" pitchFamily="65" charset="-120"/>
                <a:cs typeface="Times New Roman" panose="02020603050405020304" pitchFamily="18" charset="0"/>
              </a:rPr>
              <a:t>β</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，在統計學上稱為檢定力</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(test of power)</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a:t>
            </a:r>
          </a:p>
          <a:p>
            <a:endParaRPr lang="zh-TW" altLang="en-US" sz="1800"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2"/>
          </p:nvPr>
        </p:nvSpPr>
        <p:spPr/>
        <p:txBody>
          <a:bodyPr/>
          <a:lstStyle/>
          <a:p>
            <a:pPr>
              <a:defRPr/>
            </a:pPr>
            <a:r>
              <a:rPr lang="en-US" altLang="zh-TW" dirty="0"/>
              <a:t>19</a:t>
            </a:r>
          </a:p>
        </p:txBody>
      </p:sp>
    </p:spTree>
    <p:extLst>
      <p:ext uri="{BB962C8B-B14F-4D97-AF65-F5344CB8AC3E}">
        <p14:creationId xmlns:p14="http://schemas.microsoft.com/office/powerpoint/2010/main" val="561877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89363" y="764704"/>
            <a:ext cx="7620000" cy="778098"/>
          </a:xfrm>
        </p:spPr>
        <p:txBody>
          <a:bodyPr/>
          <a:lstStyle/>
          <a:p>
            <a:r>
              <a:rPr lang="zh-TW" altLang="zh-TW" sz="3200" kern="0" dirty="0">
                <a:solidFill>
                  <a:srgbClr val="675E47"/>
                </a:solidFill>
                <a:latin typeface="Times New Roman"/>
                <a:ea typeface="標楷體"/>
                <a:cs typeface="Times New Roman"/>
              </a:rPr>
              <a:t>兩種型式錯誤</a:t>
            </a:r>
            <a:r>
              <a:rPr lang="zh-TW" altLang="en-US" sz="3200" kern="0" dirty="0">
                <a:solidFill>
                  <a:srgbClr val="675E47"/>
                </a:solidFill>
                <a:latin typeface="Times New Roman"/>
                <a:ea typeface="標楷體"/>
                <a:cs typeface="Times New Roman"/>
              </a:rPr>
              <a:t>的關係</a:t>
            </a:r>
            <a:endParaRPr lang="zh-TW" altLang="en-US" dirty="0"/>
          </a:p>
        </p:txBody>
      </p:sp>
      <p:sp>
        <p:nvSpPr>
          <p:cNvPr id="3" name="內容版面配置區 2"/>
          <p:cNvSpPr>
            <a:spLocks noGrp="1"/>
          </p:cNvSpPr>
          <p:nvPr>
            <p:ph idx="1"/>
          </p:nvPr>
        </p:nvSpPr>
        <p:spPr>
          <a:xfrm>
            <a:off x="457200" y="1916832"/>
            <a:ext cx="7620000" cy="3960440"/>
          </a:xfrm>
        </p:spPr>
        <p:txBody>
          <a:bodyPr>
            <a:normAutofit fontScale="92500" lnSpcReduction="20000"/>
          </a:bodyPr>
          <a:lstStyle/>
          <a:p>
            <a:pPr>
              <a:buFont typeface="Wingdings" panose="05000000000000000000" pitchFamily="2" charset="2"/>
              <a:buChar char="l"/>
            </a:pPr>
            <a:r>
              <a:rPr lang="zh-TW" altLang="zh-TW" sz="2600" dirty="0">
                <a:latin typeface="Times New Roman" panose="02020603050405020304" pitchFamily="18" charset="0"/>
                <a:ea typeface="標楷體"/>
                <a:cs typeface="Times New Roman" panose="02020603050405020304" pitchFamily="18" charset="0"/>
              </a:rPr>
              <a:t>臨床上對於糖尿病初期診斷最常使用的是空腹血糖值測定</a:t>
            </a:r>
            <a:r>
              <a:rPr lang="zh-TW" altLang="en-US" sz="35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3500" dirty="0">
              <a:latin typeface="Times New Roman" panose="02020603050405020304" pitchFamily="18" charset="0"/>
              <a:ea typeface="標楷體" panose="03000509000000000000" pitchFamily="65" charset="-120"/>
              <a:cs typeface="Times New Roman" panose="02020603050405020304" pitchFamily="18" charset="0"/>
            </a:endParaRPr>
          </a:p>
          <a:p>
            <a:pPr>
              <a:buFont typeface="Wingdings" panose="05000000000000000000" pitchFamily="2" charset="2"/>
              <a:buChar char="l"/>
            </a:pPr>
            <a:endParaRPr lang="en-US" altLang="zh-TW" sz="3500" dirty="0">
              <a:latin typeface="Times New Roman" panose="02020603050405020304" pitchFamily="18" charset="0"/>
              <a:ea typeface="標楷體" panose="03000509000000000000" pitchFamily="65" charset="-120"/>
              <a:cs typeface="Times New Roman" panose="02020603050405020304" pitchFamily="18" charset="0"/>
            </a:endParaRPr>
          </a:p>
          <a:p>
            <a:pPr>
              <a:buFont typeface="Wingdings" panose="05000000000000000000" pitchFamily="2" charset="2"/>
              <a:buChar char="l"/>
            </a:pPr>
            <a:r>
              <a:rPr lang="zh-TW" altLang="zh-TW" sz="2600" dirty="0">
                <a:latin typeface="Times New Roman" panose="02020603050405020304" pitchFamily="18" charset="0"/>
                <a:ea typeface="標楷體"/>
                <a:cs typeface="Times New Roman" panose="02020603050405020304" pitchFamily="18" charset="0"/>
              </a:rPr>
              <a:t>正常人空腹血糖值平均是</a:t>
            </a:r>
            <a:r>
              <a:rPr lang="en-US" altLang="zh-TW" sz="2600" dirty="0">
                <a:solidFill>
                  <a:srgbClr val="FF0000"/>
                </a:solidFill>
                <a:latin typeface="Times New Roman" panose="02020603050405020304" pitchFamily="18" charset="0"/>
                <a:ea typeface="標楷體"/>
                <a:cs typeface="Times New Roman" panose="02020603050405020304" pitchFamily="18" charset="0"/>
              </a:rPr>
              <a:t>100</a:t>
            </a:r>
            <a:r>
              <a:rPr lang="en-US" altLang="zh-TW" sz="2600" dirty="0">
                <a:latin typeface="Times New Roman" panose="02020603050405020304" pitchFamily="18" charset="0"/>
                <a:ea typeface="標楷體"/>
                <a:cs typeface="Times New Roman" panose="02020603050405020304" pitchFamily="18" charset="0"/>
              </a:rPr>
              <a:t> mg/dl</a:t>
            </a:r>
            <a:r>
              <a:rPr lang="zh-TW" altLang="zh-TW" sz="2600" dirty="0">
                <a:latin typeface="Times New Roman" panose="02020603050405020304" pitchFamily="18" charset="0"/>
                <a:ea typeface="標楷體"/>
                <a:cs typeface="Times New Roman" panose="02020603050405020304" pitchFamily="18" charset="0"/>
              </a:rPr>
              <a:t>，而糖尿病患者空腹血糖值平均為 </a:t>
            </a:r>
            <a:r>
              <a:rPr lang="en-US" altLang="zh-TW" sz="2600" dirty="0">
                <a:solidFill>
                  <a:srgbClr val="FF0000"/>
                </a:solidFill>
                <a:latin typeface="Times New Roman" panose="02020603050405020304" pitchFamily="18" charset="0"/>
                <a:ea typeface="標楷體"/>
                <a:cs typeface="Times New Roman" panose="02020603050405020304" pitchFamily="18" charset="0"/>
              </a:rPr>
              <a:t>126</a:t>
            </a:r>
            <a:r>
              <a:rPr lang="en-US" altLang="zh-TW" sz="2600" dirty="0">
                <a:latin typeface="Times New Roman" panose="02020603050405020304" pitchFamily="18" charset="0"/>
                <a:ea typeface="標楷體"/>
                <a:cs typeface="Times New Roman" panose="02020603050405020304" pitchFamily="18" charset="0"/>
              </a:rPr>
              <a:t> mg/dl</a:t>
            </a:r>
            <a:r>
              <a:rPr lang="zh-TW" altLang="en-US" sz="35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600" dirty="0">
                <a:latin typeface="Times New Roman" panose="02020603050405020304" pitchFamily="18" charset="0"/>
                <a:ea typeface="標楷體"/>
                <a:cs typeface="Times New Roman" panose="02020603050405020304" pitchFamily="18" charset="0"/>
              </a:rPr>
              <a:t>假設兩族群的空腹血糖值皆為常態分佈。</a:t>
            </a:r>
            <a:endParaRPr lang="en-US" altLang="zh-TW" sz="2600" dirty="0">
              <a:latin typeface="Times New Roman" panose="02020603050405020304" pitchFamily="18" charset="0"/>
              <a:ea typeface="標楷體"/>
              <a:cs typeface="Times New Roman" panose="02020603050405020304" pitchFamily="18" charset="0"/>
            </a:endParaRPr>
          </a:p>
          <a:p>
            <a:pPr>
              <a:buFont typeface="Wingdings" panose="05000000000000000000" pitchFamily="2" charset="2"/>
              <a:buChar char="l"/>
            </a:pPr>
            <a:endParaRPr lang="en-US" altLang="zh-TW" sz="2600" dirty="0">
              <a:latin typeface="Times New Roman" panose="02020603050405020304" pitchFamily="18" charset="0"/>
              <a:ea typeface="標楷體"/>
              <a:cs typeface="Times New Roman" panose="02020603050405020304" pitchFamily="18" charset="0"/>
            </a:endParaRPr>
          </a:p>
          <a:p>
            <a:pPr>
              <a:buFont typeface="Wingdings" panose="05000000000000000000" pitchFamily="2" charset="2"/>
              <a:buChar char="l"/>
            </a:pPr>
            <a:r>
              <a:rPr lang="zh-TW" altLang="en-US" sz="2600" dirty="0">
                <a:latin typeface="Times New Roman" panose="02020603050405020304" pitchFamily="18" charset="0"/>
                <a:ea typeface="標楷體"/>
                <a:cs typeface="Times New Roman" panose="02020603050405020304" pitchFamily="18" charset="0"/>
              </a:rPr>
              <a:t>可</a:t>
            </a:r>
            <a:r>
              <a:rPr lang="zh-TW" altLang="zh-TW" sz="2600" dirty="0">
                <a:latin typeface="Times New Roman" panose="02020603050405020304" pitchFamily="18" charset="0"/>
                <a:ea typeface="標楷體"/>
                <a:cs typeface="Times New Roman" panose="02020603050405020304" pitchFamily="18" charset="0"/>
              </a:rPr>
              <a:t>利用空腹血糖值來建立一個簡單的診斷是否有糖尿病的診斷工具，假如空腹血糖值大於切點Ｃ則判定有糖尿病，反之，小於切點Ｃ則無糖尿病</a:t>
            </a:r>
            <a:endParaRPr lang="en-US" altLang="zh-TW" sz="2600" dirty="0">
              <a:latin typeface="Times New Roman" panose="02020603050405020304" pitchFamily="18" charset="0"/>
              <a:ea typeface="標楷體"/>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12"/>
          </p:nvPr>
        </p:nvSpPr>
        <p:spPr/>
        <p:txBody>
          <a:bodyPr/>
          <a:lstStyle/>
          <a:p>
            <a:pPr>
              <a:defRPr/>
            </a:pPr>
            <a:r>
              <a:rPr lang="en-US" altLang="zh-TW" dirty="0"/>
              <a:t>20</a:t>
            </a:r>
          </a:p>
        </p:txBody>
      </p:sp>
    </p:spTree>
    <p:extLst>
      <p:ext uri="{BB962C8B-B14F-4D97-AF65-F5344CB8AC3E}">
        <p14:creationId xmlns:p14="http://schemas.microsoft.com/office/powerpoint/2010/main" val="3138578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p:cNvPicPr>
          <p:nvPr>
            <p:ph idx="1"/>
          </p:nvPr>
        </p:nvPicPr>
        <p:blipFill>
          <a:blip r:embed="rId2" cstate="print">
            <a:duotone>
              <a:prstClr val="black"/>
              <a:schemeClr val="tx2">
                <a:tint val="45000"/>
                <a:satMod val="400000"/>
              </a:schemeClr>
            </a:duotone>
          </a:blip>
          <a:stretch>
            <a:fillRect/>
          </a:stretch>
        </p:blipFill>
        <p:spPr bwMode="auto">
          <a:xfrm>
            <a:off x="899592" y="1846263"/>
            <a:ext cx="7200800" cy="4247033"/>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pPr>
              <a:defRPr/>
            </a:pPr>
            <a:r>
              <a:rPr lang="en-US" altLang="zh-TW" dirty="0"/>
              <a:t>21</a:t>
            </a:r>
          </a:p>
        </p:txBody>
      </p:sp>
      <p:sp>
        <p:nvSpPr>
          <p:cNvPr id="6" name="文字方塊 5"/>
          <p:cNvSpPr txBox="1"/>
          <p:nvPr/>
        </p:nvSpPr>
        <p:spPr>
          <a:xfrm>
            <a:off x="755576" y="548680"/>
            <a:ext cx="7272808" cy="1569660"/>
          </a:xfrm>
          <a:prstGeom prst="rect">
            <a:avLst/>
          </a:prstGeom>
          <a:noFill/>
        </p:spPr>
        <p:txBody>
          <a:bodyPr wrap="square" rtlCol="0">
            <a:spAutoFit/>
          </a:bodyPr>
          <a:lstStyle/>
          <a:p>
            <a:r>
              <a:rPr lang="zh-TW" altLang="zh-TW" sz="2400" dirty="0">
                <a:latin typeface="Times New Roman" panose="02020603050405020304" pitchFamily="18" charset="0"/>
                <a:ea typeface="標楷體"/>
                <a:cs typeface="Times New Roman" panose="02020603050405020304" pitchFamily="18" charset="0"/>
              </a:rPr>
              <a:t>下圖是以</a:t>
            </a:r>
            <a:r>
              <a:rPr lang="en-US" altLang="zh-TW" sz="2400" dirty="0">
                <a:latin typeface="Times New Roman" panose="02020603050405020304" pitchFamily="18" charset="0"/>
                <a:ea typeface="標楷體"/>
                <a:cs typeface="Times New Roman" panose="02020603050405020304" pitchFamily="18" charset="0"/>
              </a:rPr>
              <a:t>C=115</a:t>
            </a:r>
            <a:r>
              <a:rPr lang="zh-TW" altLang="zh-TW" sz="2400" dirty="0">
                <a:latin typeface="Times New Roman" panose="02020603050405020304" pitchFamily="18" charset="0"/>
                <a:ea typeface="標楷體"/>
                <a:cs typeface="Times New Roman" panose="02020603050405020304" pitchFamily="18" charset="0"/>
              </a:rPr>
              <a:t>為切點下，</a:t>
            </a:r>
            <a:r>
              <a:rPr lang="zh-TW" altLang="zh-TW" sz="2400" kern="0" dirty="0">
                <a:latin typeface="Times New Roman" panose="02020603050405020304" pitchFamily="18" charset="0"/>
                <a:ea typeface="標楷體"/>
                <a:cs typeface="Times New Roman" panose="02020603050405020304" pitchFamily="18" charset="0"/>
              </a:rPr>
              <a:t>型一錯誤</a:t>
            </a:r>
            <a:r>
              <a:rPr lang="zh-TW" altLang="zh-TW" sz="2400" dirty="0">
                <a:latin typeface="Times New Roman" panose="02020603050405020304" pitchFamily="18" charset="0"/>
                <a:ea typeface="標楷體"/>
                <a:cs typeface="Times New Roman" panose="02020603050405020304" pitchFamily="18" charset="0"/>
              </a:rPr>
              <a:t>及</a:t>
            </a:r>
            <a:r>
              <a:rPr lang="zh-TW" altLang="zh-TW" sz="2400" kern="0" dirty="0">
                <a:latin typeface="Times New Roman" panose="02020603050405020304" pitchFamily="18" charset="0"/>
                <a:ea typeface="標楷體"/>
                <a:cs typeface="Times New Roman" panose="02020603050405020304" pitchFamily="18" charset="0"/>
              </a:rPr>
              <a:t>型二錯誤</a:t>
            </a:r>
            <a:r>
              <a:rPr lang="zh-TW" altLang="zh-TW" sz="2400" dirty="0">
                <a:latin typeface="Times New Roman" panose="02020603050405020304" pitchFamily="18" charset="0"/>
                <a:ea typeface="標楷體"/>
                <a:cs typeface="Times New Roman" panose="02020603050405020304" pitchFamily="18" charset="0"/>
              </a:rPr>
              <a:t>的關係</a:t>
            </a:r>
            <a:r>
              <a:rPr lang="zh-TW" altLang="en-US" dirty="0">
                <a:ea typeface="標楷體"/>
                <a:cs typeface="Times New Roman"/>
              </a:rPr>
              <a:t>由圖示中可看出當我們把切點提高時，型一錯誤機率降低，但同時卻升高了型二錯誤的機率。</a:t>
            </a:r>
            <a:br>
              <a:rPr lang="en-US" altLang="zh-TW" dirty="0">
                <a:ea typeface="標楷體"/>
                <a:cs typeface="Times New Roman"/>
              </a:rPr>
            </a:br>
            <a:endParaRPr lang="zh-TW" altLang="en-US" dirty="0"/>
          </a:p>
        </p:txBody>
      </p:sp>
    </p:spTree>
    <p:extLst>
      <p:ext uri="{BB962C8B-B14F-4D97-AF65-F5344CB8AC3E}">
        <p14:creationId xmlns:p14="http://schemas.microsoft.com/office/powerpoint/2010/main" val="547604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32405"/>
            <a:ext cx="8229600" cy="1143000"/>
          </a:xfrm>
        </p:spPr>
        <p:txBody>
          <a:bodyPr/>
          <a:lstStyle/>
          <a:p>
            <a:r>
              <a:rPr lang="en-US" altLang="zh-TW" sz="3200" dirty="0">
                <a:solidFill>
                  <a:schemeClr val="tx1"/>
                </a:solidFill>
                <a:latin typeface="Times New Roman" panose="02020603050405020304" pitchFamily="18" charset="0"/>
                <a:cs typeface="Times New Roman" panose="02020603050405020304" pitchFamily="18" charset="0"/>
              </a:rPr>
              <a:t>P</a:t>
            </a:r>
            <a:r>
              <a:rPr lang="zh-TW" altLang="zh-TW" sz="3200" dirty="0">
                <a:solidFill>
                  <a:schemeClr val="tx1"/>
                </a:solidFill>
                <a:latin typeface="Times New Roman" panose="02020603050405020304" pitchFamily="18" charset="0"/>
                <a:ea typeface="標楷體"/>
                <a:cs typeface="Times New Roman" panose="02020603050405020304" pitchFamily="18" charset="0"/>
              </a:rPr>
              <a:t>值</a:t>
            </a:r>
            <a:r>
              <a:rPr lang="en-US" altLang="zh-TW" sz="3200" dirty="0">
                <a:solidFill>
                  <a:schemeClr val="tx1"/>
                </a:solidFill>
                <a:latin typeface="Times New Roman" panose="02020603050405020304" pitchFamily="18" charset="0"/>
                <a:ea typeface="標楷體"/>
                <a:cs typeface="Times New Roman" panose="02020603050405020304" pitchFamily="18" charset="0"/>
              </a:rPr>
              <a:t>(P-values</a:t>
            </a:r>
            <a:r>
              <a:rPr lang="en-US" altLang="zh-TW" sz="3200" dirty="0">
                <a:solidFill>
                  <a:schemeClr val="tx1"/>
                </a:solidFill>
                <a:latin typeface="Times New Roman" panose="02020603050405020304" pitchFamily="18" charset="0"/>
                <a:cs typeface="Times New Roman" panose="02020603050405020304" pitchFamily="18" charset="0"/>
              </a:rPr>
              <a:t>)</a:t>
            </a:r>
            <a:r>
              <a:rPr lang="zh-TW" altLang="zh-TW" sz="3200" dirty="0">
                <a:solidFill>
                  <a:schemeClr val="tx1"/>
                </a:solidFill>
                <a:latin typeface="Times New Roman" panose="02020603050405020304" pitchFamily="18" charset="0"/>
                <a:ea typeface="標楷體"/>
                <a:cs typeface="Times New Roman" panose="02020603050405020304" pitchFamily="18" charset="0"/>
              </a:rPr>
              <a:t>計算</a:t>
            </a:r>
            <a:endParaRPr lang="zh-TW" altLang="en-US" sz="3200" dirty="0">
              <a:solidFill>
                <a:schemeClr val="tx1"/>
              </a:solidFill>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486151" y="1819600"/>
            <a:ext cx="8229600" cy="4525963"/>
          </a:xfrm>
        </p:spPr>
        <p:txBody>
          <a:bodyPr>
            <a:normAutofit/>
          </a:bodyPr>
          <a:lstStyle/>
          <a:p>
            <a:r>
              <a:rPr lang="en-US" altLang="zh-TW" dirty="0">
                <a:latin typeface="Times New Roman" panose="02020603050405020304" pitchFamily="18" charset="0"/>
                <a:cs typeface="Times New Roman" panose="02020603050405020304" pitchFamily="18" charset="0"/>
              </a:rPr>
              <a:t>P</a:t>
            </a:r>
            <a:r>
              <a:rPr lang="zh-TW" altLang="zh-TW" dirty="0">
                <a:latin typeface="Times New Roman" panose="02020603050405020304" pitchFamily="18" charset="0"/>
                <a:ea typeface="標楷體"/>
                <a:cs typeface="Times New Roman" panose="02020603050405020304" pitchFamily="18" charset="0"/>
              </a:rPr>
              <a:t>值是計算在虛無假設成立時，比觀測的檢定統計值更極端</a:t>
            </a:r>
            <a:r>
              <a:rPr lang="en-US" altLang="zh-TW" dirty="0">
                <a:latin typeface="Times New Roman" panose="02020603050405020304" pitchFamily="18" charset="0"/>
                <a:ea typeface="標楷體"/>
                <a:cs typeface="Times New Roman" panose="02020603050405020304" pitchFamily="18" charset="0"/>
              </a:rPr>
              <a:t>(</a:t>
            </a:r>
            <a:r>
              <a:rPr lang="zh-TW" altLang="zh-TW" dirty="0">
                <a:latin typeface="Times New Roman" panose="02020603050405020304" pitchFamily="18" charset="0"/>
                <a:ea typeface="標楷體"/>
                <a:cs typeface="Times New Roman" panose="02020603050405020304" pitchFamily="18" charset="0"/>
              </a:rPr>
              <a:t>與虛無假設不一致</a:t>
            </a:r>
            <a:r>
              <a:rPr lang="en-US" altLang="zh-TW" dirty="0">
                <a:latin typeface="Times New Roman" panose="02020603050405020304" pitchFamily="18" charset="0"/>
                <a:ea typeface="標楷體"/>
                <a:cs typeface="Times New Roman" panose="02020603050405020304" pitchFamily="18" charset="0"/>
              </a:rPr>
              <a:t>)</a:t>
            </a:r>
            <a:r>
              <a:rPr lang="zh-TW" altLang="zh-TW" dirty="0">
                <a:latin typeface="Times New Roman" panose="02020603050405020304" pitchFamily="18" charset="0"/>
                <a:ea typeface="標楷體"/>
                <a:cs typeface="Times New Roman" panose="02020603050405020304" pitchFamily="18" charset="0"/>
              </a:rPr>
              <a:t>的機率。</a:t>
            </a:r>
            <a:endParaRPr lang="en-US" altLang="zh-TW" dirty="0">
              <a:latin typeface="Times New Roman" panose="02020603050405020304" pitchFamily="18" charset="0"/>
              <a:ea typeface="標楷體"/>
              <a:cs typeface="Times New Roman" panose="02020603050405020304" pitchFamily="18" charset="0"/>
            </a:endParaRPr>
          </a:p>
          <a:p>
            <a:r>
              <a:rPr lang="zh-TW" altLang="en-US" dirty="0">
                <a:latin typeface="Times New Roman" panose="02020603050405020304" pitchFamily="18" charset="0"/>
                <a:ea typeface="標楷體"/>
                <a:cs typeface="Times New Roman" panose="02020603050405020304" pitchFamily="18" charset="0"/>
              </a:rPr>
              <a:t>單尾檢定 </a:t>
            </a:r>
            <a:r>
              <a:rPr lang="en-US" altLang="zh-TW" dirty="0">
                <a:latin typeface="Times New Roman" panose="02020603050405020304" pitchFamily="18" charset="0"/>
                <a:ea typeface="標楷體"/>
                <a:cs typeface="Times New Roman" panose="02020603050405020304" pitchFamily="18" charset="0"/>
              </a:rPr>
              <a:t>:</a:t>
            </a:r>
          </a:p>
        </p:txBody>
      </p:sp>
      <p:sp>
        <p:nvSpPr>
          <p:cNvPr id="4" name="投影片編號版面配置區 3"/>
          <p:cNvSpPr>
            <a:spLocks noGrp="1"/>
          </p:cNvSpPr>
          <p:nvPr>
            <p:ph type="sldNum" sz="quarter" idx="12"/>
          </p:nvPr>
        </p:nvSpPr>
        <p:spPr/>
        <p:txBody>
          <a:bodyPr/>
          <a:lstStyle/>
          <a:p>
            <a:pPr>
              <a:defRPr/>
            </a:pPr>
            <a:r>
              <a:rPr lang="en-US" altLang="zh-TW" dirty="0"/>
              <a:t>22</a:t>
            </a:r>
          </a:p>
        </p:txBody>
      </p:sp>
      <p:pic>
        <p:nvPicPr>
          <p:cNvPr id="5" name="Picture 1"/>
          <p:cNvPicPr>
            <a:picLocks noChangeAspect="1" noChangeArrowheads="1"/>
          </p:cNvPicPr>
          <p:nvPr/>
        </p:nvPicPr>
        <p:blipFill>
          <a:blip r:embed="rId2" cstate="print"/>
          <a:stretch>
            <a:fillRect/>
          </a:stretch>
        </p:blipFill>
        <p:spPr bwMode="auto">
          <a:xfrm>
            <a:off x="680040" y="2539868"/>
            <a:ext cx="8150112" cy="3456383"/>
          </a:xfrm>
          <a:prstGeom prst="rect">
            <a:avLst/>
          </a:prstGeom>
          <a:noFill/>
          <a:ln w="9525">
            <a:noFill/>
            <a:miter lim="800000"/>
            <a:headEnd/>
            <a:tailEnd/>
          </a:ln>
        </p:spPr>
      </p:pic>
      <p:cxnSp>
        <p:nvCxnSpPr>
          <p:cNvPr id="9" name="直線單箭頭接點 8"/>
          <p:cNvCxnSpPr/>
          <p:nvPr/>
        </p:nvCxnSpPr>
        <p:spPr>
          <a:xfrm flipH="1">
            <a:off x="5796136" y="5805264"/>
            <a:ext cx="792088" cy="60268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11" name="直線單箭頭接點 10"/>
          <p:cNvCxnSpPr/>
          <p:nvPr/>
        </p:nvCxnSpPr>
        <p:spPr>
          <a:xfrm>
            <a:off x="7236296" y="5805264"/>
            <a:ext cx="288032" cy="432048"/>
          </a:xfrm>
          <a:prstGeom prst="straightConnector1">
            <a:avLst/>
          </a:prstGeom>
          <a:ln w="57150">
            <a:tailEnd type="triangle"/>
          </a:ln>
        </p:spPr>
        <p:style>
          <a:lnRef idx="2">
            <a:schemeClr val="accent2"/>
          </a:lnRef>
          <a:fillRef idx="0">
            <a:schemeClr val="accent2"/>
          </a:fillRef>
          <a:effectRef idx="1">
            <a:schemeClr val="accent2"/>
          </a:effectRef>
          <a:fontRef idx="minor">
            <a:schemeClr val="tx1"/>
          </a:fontRef>
        </p:style>
      </p:cxnSp>
      <p:sp>
        <p:nvSpPr>
          <p:cNvPr id="13" name="文字方塊 12"/>
          <p:cNvSpPr txBox="1"/>
          <p:nvPr/>
        </p:nvSpPr>
        <p:spPr>
          <a:xfrm>
            <a:off x="4755096" y="6177111"/>
            <a:ext cx="1368152" cy="461665"/>
          </a:xfrm>
          <a:prstGeom prst="rect">
            <a:avLst/>
          </a:prstGeom>
          <a:noFill/>
        </p:spPr>
        <p:txBody>
          <a:bodyPr wrap="square" rtlCol="0">
            <a:spAutoFit/>
          </a:bodyPr>
          <a:lstStyle/>
          <a:p>
            <a:r>
              <a:rPr lang="zh-TW" altLang="en-US" dirty="0">
                <a:ln>
                  <a:solidFill>
                    <a:sysClr val="windowText" lastClr="000000"/>
                  </a:solidFill>
                </a:ln>
              </a:rPr>
              <a:t>臨界值</a:t>
            </a:r>
          </a:p>
        </p:txBody>
      </p:sp>
      <p:sp>
        <p:nvSpPr>
          <p:cNvPr id="14" name="文字方塊 13"/>
          <p:cNvSpPr txBox="1"/>
          <p:nvPr/>
        </p:nvSpPr>
        <p:spPr>
          <a:xfrm>
            <a:off x="7448736" y="6166375"/>
            <a:ext cx="1368152" cy="461665"/>
          </a:xfrm>
          <a:prstGeom prst="rect">
            <a:avLst/>
          </a:prstGeom>
          <a:noFill/>
        </p:spPr>
        <p:txBody>
          <a:bodyPr wrap="square" rtlCol="0">
            <a:spAutoFit/>
          </a:bodyPr>
          <a:lstStyle/>
          <a:p>
            <a:r>
              <a:rPr lang="zh-TW" altLang="en-US" dirty="0">
                <a:ln>
                  <a:solidFill>
                    <a:srgbClr val="FF0000"/>
                  </a:solidFill>
                </a:ln>
              </a:rPr>
              <a:t>統計值</a:t>
            </a:r>
          </a:p>
        </p:txBody>
      </p:sp>
    </p:spTree>
    <p:extLst>
      <p:ext uri="{BB962C8B-B14F-4D97-AF65-F5344CB8AC3E}">
        <p14:creationId xmlns:p14="http://schemas.microsoft.com/office/powerpoint/2010/main" val="4281027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en-US" altLang="zh-TW" sz="3200" dirty="0">
                <a:solidFill>
                  <a:schemeClr val="tx1"/>
                </a:solidFill>
                <a:latin typeface="Times New Roman" panose="02020603050405020304" pitchFamily="18" charset="0"/>
                <a:cs typeface="Times New Roman" panose="02020603050405020304" pitchFamily="18" charset="0"/>
              </a:rPr>
              <a:t>P</a:t>
            </a:r>
            <a:r>
              <a:rPr lang="zh-TW" altLang="zh-TW" sz="3200" dirty="0">
                <a:solidFill>
                  <a:schemeClr val="tx1"/>
                </a:solidFill>
                <a:latin typeface="Times New Roman" panose="02020603050405020304" pitchFamily="18" charset="0"/>
                <a:ea typeface="標楷體"/>
                <a:cs typeface="Times New Roman" panose="02020603050405020304" pitchFamily="18" charset="0"/>
              </a:rPr>
              <a:t>值</a:t>
            </a:r>
            <a:r>
              <a:rPr lang="en-US" altLang="zh-TW" sz="3200" dirty="0">
                <a:solidFill>
                  <a:schemeClr val="tx1"/>
                </a:solidFill>
                <a:latin typeface="Times New Roman" panose="02020603050405020304" pitchFamily="18" charset="0"/>
                <a:ea typeface="標楷體"/>
                <a:cs typeface="Times New Roman" panose="02020603050405020304" pitchFamily="18" charset="0"/>
              </a:rPr>
              <a:t>(P-values</a:t>
            </a:r>
            <a:r>
              <a:rPr lang="en-US" altLang="zh-TW" sz="3200" dirty="0">
                <a:solidFill>
                  <a:schemeClr val="tx1"/>
                </a:solidFill>
                <a:latin typeface="Times New Roman" panose="02020603050405020304" pitchFamily="18" charset="0"/>
                <a:cs typeface="Times New Roman" panose="02020603050405020304" pitchFamily="18" charset="0"/>
              </a:rPr>
              <a:t>)</a:t>
            </a:r>
            <a:r>
              <a:rPr lang="zh-TW" altLang="zh-TW" sz="3200" dirty="0">
                <a:solidFill>
                  <a:schemeClr val="tx1"/>
                </a:solidFill>
                <a:latin typeface="Times New Roman" panose="02020603050405020304" pitchFamily="18" charset="0"/>
                <a:ea typeface="標楷體"/>
                <a:cs typeface="Times New Roman" panose="02020603050405020304" pitchFamily="18" charset="0"/>
              </a:rPr>
              <a:t>計算</a:t>
            </a:r>
            <a:endParaRPr lang="zh-TW" altLang="en-US" sz="3200" dirty="0"/>
          </a:p>
        </p:txBody>
      </p:sp>
      <p:sp>
        <p:nvSpPr>
          <p:cNvPr id="2" name="內容版面配置區 1"/>
          <p:cNvSpPr>
            <a:spLocks noGrp="1"/>
          </p:cNvSpPr>
          <p:nvPr>
            <p:ph idx="1"/>
          </p:nvPr>
        </p:nvSpPr>
        <p:spPr/>
        <p:txBody>
          <a:bodyPr/>
          <a:lstStyle/>
          <a:p>
            <a:r>
              <a:rPr lang="zh-TW" altLang="en-US" dirty="0"/>
              <a:t>雙尾檢定</a:t>
            </a:r>
            <a:r>
              <a:rPr lang="en-US" altLang="zh-TW" dirty="0"/>
              <a:t>:</a:t>
            </a:r>
            <a:r>
              <a:rPr lang="zh-TW" altLang="en-US" dirty="0"/>
              <a:t>對立假設沒有特定方向時</a:t>
            </a:r>
            <a:endParaRPr lang="en-US" altLang="zh-TW" dirty="0"/>
          </a:p>
          <a:p>
            <a:endParaRPr lang="zh-TW" altLang="en-US" dirty="0"/>
          </a:p>
        </p:txBody>
      </p:sp>
      <p:sp>
        <p:nvSpPr>
          <p:cNvPr id="3" name="投影片編號版面配置區 2"/>
          <p:cNvSpPr>
            <a:spLocks noGrp="1"/>
          </p:cNvSpPr>
          <p:nvPr>
            <p:ph type="sldNum" sz="quarter" idx="12"/>
          </p:nvPr>
        </p:nvSpPr>
        <p:spPr/>
        <p:txBody>
          <a:bodyPr/>
          <a:lstStyle/>
          <a:p>
            <a:pPr>
              <a:defRPr/>
            </a:pPr>
            <a:endParaRPr lang="en-US" altLang="zh-TW"/>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2606419"/>
            <a:ext cx="6048672" cy="3456384"/>
          </a:xfrm>
          <a:prstGeom prst="rect">
            <a:avLst/>
          </a:prstGeom>
        </p:spPr>
      </p:pic>
      <p:sp>
        <p:nvSpPr>
          <p:cNvPr id="6" name="文字方塊 5"/>
          <p:cNvSpPr txBox="1"/>
          <p:nvPr/>
        </p:nvSpPr>
        <p:spPr>
          <a:xfrm>
            <a:off x="2627784" y="6070981"/>
            <a:ext cx="6912768" cy="461665"/>
          </a:xfrm>
          <a:prstGeom prst="rect">
            <a:avLst/>
          </a:prstGeom>
          <a:noFill/>
        </p:spPr>
        <p:txBody>
          <a:bodyPr wrap="square" rtlCol="0">
            <a:spAutoFit/>
          </a:bodyPr>
          <a:lstStyle/>
          <a:p>
            <a:r>
              <a:rPr lang="en-US" altLang="zh-TW" sz="1400" dirty="0"/>
              <a:t>http://onlinemathhomeworkhelp.jimdo.com/statistics/one-tailed-vs-two-tailed-t-test</a:t>
            </a:r>
            <a:r>
              <a:rPr lang="en-US" altLang="zh-TW" dirty="0"/>
              <a:t>/</a:t>
            </a:r>
            <a:endParaRPr lang="zh-TW" altLang="en-US" dirty="0"/>
          </a:p>
        </p:txBody>
      </p:sp>
    </p:spTree>
    <p:extLst>
      <p:ext uri="{BB962C8B-B14F-4D97-AF65-F5344CB8AC3E}">
        <p14:creationId xmlns:p14="http://schemas.microsoft.com/office/powerpoint/2010/main" val="2227840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sp>
        <p:nvSpPr>
          <p:cNvPr id="2" name="內容版面配置區 1"/>
          <p:cNvSpPr>
            <a:spLocks noGrp="1"/>
          </p:cNvSpPr>
          <p:nvPr>
            <p:ph idx="1"/>
          </p:nvPr>
        </p:nvSpPr>
        <p:spPr/>
        <p:txBody>
          <a:bodyPr>
            <a:normAutofit fontScale="92500"/>
          </a:bodyPr>
          <a:lstStyle/>
          <a:p>
            <a:r>
              <a:rPr lang="zh-TW" altLang="zh-TW" sz="2800" dirty="0">
                <a:latin typeface="Times New Roman" panose="02020603050405020304" pitchFamily="18" charset="0"/>
                <a:ea typeface="標楷體"/>
                <a:cs typeface="Times New Roman" panose="02020603050405020304" pitchFamily="18" charset="0"/>
              </a:rPr>
              <a:t>當</a:t>
            </a:r>
            <a:r>
              <a:rPr lang="en-US" altLang="zh-TW" sz="2800" dirty="0">
                <a:latin typeface="Times New Roman" panose="02020603050405020304" pitchFamily="18" charset="0"/>
                <a:ea typeface="標楷體"/>
                <a:cs typeface="Times New Roman" panose="02020603050405020304" pitchFamily="18" charset="0"/>
              </a:rPr>
              <a:t>P</a:t>
            </a:r>
            <a:r>
              <a:rPr lang="zh-TW" altLang="zh-TW" sz="2800" dirty="0">
                <a:latin typeface="Times New Roman" panose="02020603050405020304" pitchFamily="18" charset="0"/>
                <a:ea typeface="標楷體"/>
                <a:cs typeface="Times New Roman" panose="02020603050405020304" pitchFamily="18" charset="0"/>
              </a:rPr>
              <a:t>值很小時，有二種可能，</a:t>
            </a:r>
            <a:endParaRPr lang="en-US" altLang="zh-TW" sz="2800" dirty="0">
              <a:latin typeface="Times New Roman" panose="02020603050405020304" pitchFamily="18" charset="0"/>
              <a:ea typeface="標楷體"/>
              <a:cs typeface="Times New Roman" panose="02020603050405020304" pitchFamily="18" charset="0"/>
            </a:endParaRPr>
          </a:p>
          <a:p>
            <a:pPr lvl="1"/>
            <a:r>
              <a:rPr lang="zh-TW" altLang="zh-TW" sz="2600" dirty="0">
                <a:latin typeface="Times New Roman" panose="02020603050405020304" pitchFamily="18" charset="0"/>
                <a:ea typeface="標楷體"/>
                <a:cs typeface="Times New Roman" panose="02020603050405020304" pitchFamily="18" charset="0"/>
              </a:rPr>
              <a:t>一種是虛無假設是正確的，但我們觀測到一筆發生機率很低的資料</a:t>
            </a:r>
            <a:r>
              <a:rPr lang="en-US" altLang="zh-TW" sz="2600" dirty="0">
                <a:latin typeface="Times New Roman" panose="02020603050405020304" pitchFamily="18" charset="0"/>
                <a:ea typeface="標楷體"/>
                <a:cs typeface="Times New Roman" panose="02020603050405020304" pitchFamily="18" charset="0"/>
              </a:rPr>
              <a:t>(</a:t>
            </a:r>
            <a:r>
              <a:rPr lang="zh-TW" altLang="zh-TW" sz="2600" dirty="0">
                <a:latin typeface="Times New Roman" panose="02020603050405020304" pitchFamily="18" charset="0"/>
                <a:ea typeface="標楷體"/>
                <a:cs typeface="Times New Roman" panose="02020603050405020304" pitchFamily="18" charset="0"/>
              </a:rPr>
              <a:t>這顯然不太可能發生</a:t>
            </a:r>
            <a:r>
              <a:rPr lang="en-US" altLang="zh-TW" sz="2600" dirty="0">
                <a:latin typeface="Times New Roman" panose="02020603050405020304" pitchFamily="18" charset="0"/>
                <a:ea typeface="標楷體"/>
                <a:cs typeface="Times New Roman" panose="02020603050405020304" pitchFamily="18" charset="0"/>
              </a:rPr>
              <a:t>)</a:t>
            </a:r>
            <a:r>
              <a:rPr lang="zh-TW" altLang="zh-TW" sz="2600" dirty="0">
                <a:latin typeface="Times New Roman" panose="02020603050405020304" pitchFamily="18" charset="0"/>
                <a:ea typeface="標楷體"/>
                <a:cs typeface="Times New Roman" panose="02020603050405020304" pitchFamily="18" charset="0"/>
              </a:rPr>
              <a:t>，</a:t>
            </a:r>
            <a:endParaRPr lang="en-US" altLang="zh-TW" sz="2600" dirty="0">
              <a:latin typeface="Times New Roman" panose="02020603050405020304" pitchFamily="18" charset="0"/>
              <a:ea typeface="標楷體"/>
              <a:cs typeface="Times New Roman" panose="02020603050405020304" pitchFamily="18" charset="0"/>
            </a:endParaRPr>
          </a:p>
          <a:p>
            <a:pPr lvl="1"/>
            <a:r>
              <a:rPr lang="zh-TW" altLang="zh-TW" sz="2600" dirty="0">
                <a:latin typeface="Times New Roman" panose="02020603050405020304" pitchFamily="18" charset="0"/>
                <a:ea typeface="標楷體"/>
                <a:cs typeface="Times New Roman" panose="02020603050405020304" pitchFamily="18" charset="0"/>
              </a:rPr>
              <a:t>另一種情形是虛無假設是錯的，資料不是來自虛無假設，這個可能性比較大，所以有充分證據拒絕虛無假設。</a:t>
            </a:r>
            <a:endParaRPr lang="en-US" altLang="zh-TW" sz="2600" dirty="0">
              <a:latin typeface="Times New Roman" panose="02020603050405020304" pitchFamily="18" charset="0"/>
              <a:ea typeface="標楷體"/>
              <a:cs typeface="Times New Roman" panose="02020603050405020304" pitchFamily="18" charset="0"/>
            </a:endParaRPr>
          </a:p>
          <a:p>
            <a:r>
              <a:rPr lang="en-US" altLang="zh-TW" sz="2800" dirty="0">
                <a:latin typeface="Times New Roman" panose="02020603050405020304" pitchFamily="18" charset="0"/>
                <a:ea typeface="標楷體"/>
                <a:cs typeface="Times New Roman" panose="02020603050405020304" pitchFamily="18" charset="0"/>
              </a:rPr>
              <a:t>P</a:t>
            </a:r>
            <a:r>
              <a:rPr lang="zh-TW" altLang="zh-TW" sz="2800" dirty="0">
                <a:latin typeface="Times New Roman" panose="02020603050405020304" pitchFamily="18" charset="0"/>
                <a:ea typeface="標楷體"/>
                <a:cs typeface="Times New Roman" panose="02020603050405020304" pitchFamily="18" charset="0"/>
              </a:rPr>
              <a:t>值可視為當虛無假設成立時，依據資料會</a:t>
            </a:r>
            <a:r>
              <a:rPr lang="zh-TW" altLang="en-US" sz="2800" dirty="0">
                <a:latin typeface="Times New Roman" panose="02020603050405020304" pitchFamily="18" charset="0"/>
                <a:ea typeface="標楷體"/>
                <a:cs typeface="Times New Roman" panose="02020603050405020304" pitchFamily="18" charset="0"/>
              </a:rPr>
              <a:t>錯誤</a:t>
            </a:r>
            <a:r>
              <a:rPr lang="zh-TW" altLang="zh-TW" sz="2800" dirty="0">
                <a:latin typeface="Times New Roman" panose="02020603050405020304" pitchFamily="18" charset="0"/>
                <a:ea typeface="標楷體"/>
                <a:cs typeface="Times New Roman" panose="02020603050405020304" pitchFamily="18" charset="0"/>
              </a:rPr>
              <a:t>拒絕虛無假設的</a:t>
            </a:r>
            <a:r>
              <a:rPr lang="en-US" altLang="zh-TW" sz="2800" dirty="0">
                <a:latin typeface="Times New Roman" panose="02020603050405020304" pitchFamily="18" charset="0"/>
                <a:ea typeface="標楷體"/>
                <a:cs typeface="Times New Roman" panose="02020603050405020304" pitchFamily="18" charset="0"/>
              </a:rPr>
              <a:t>”</a:t>
            </a:r>
            <a:r>
              <a:rPr lang="zh-TW" altLang="zh-TW" sz="2800" dirty="0">
                <a:latin typeface="Times New Roman" panose="02020603050405020304" pitchFamily="18" charset="0"/>
                <a:ea typeface="標楷體"/>
                <a:cs typeface="Times New Roman" panose="02020603050405020304" pitchFamily="18" charset="0"/>
              </a:rPr>
              <a:t>風險</a:t>
            </a:r>
            <a:r>
              <a:rPr lang="en-US" altLang="zh-TW" sz="2800" dirty="0">
                <a:latin typeface="Times New Roman" panose="02020603050405020304" pitchFamily="18" charset="0"/>
                <a:ea typeface="標楷體"/>
                <a:cs typeface="Times New Roman" panose="02020603050405020304" pitchFamily="18" charset="0"/>
              </a:rPr>
              <a:t>”(risk</a:t>
            </a:r>
            <a:r>
              <a:rPr lang="en-US" altLang="zh-TW" sz="2800" dirty="0">
                <a:latin typeface="Times New Roman" panose="02020603050405020304" pitchFamily="18" charset="0"/>
                <a:cs typeface="Times New Roman" panose="02020603050405020304" pitchFamily="18" charset="0"/>
              </a:rPr>
              <a:t>)</a:t>
            </a:r>
            <a:r>
              <a:rPr lang="zh-TW" altLang="zh-TW" sz="2800" dirty="0">
                <a:latin typeface="Times New Roman" panose="02020603050405020304" pitchFamily="18" charset="0"/>
                <a:ea typeface="標楷體"/>
                <a:cs typeface="Times New Roman" panose="02020603050405020304" pitchFamily="18" charset="0"/>
              </a:rPr>
              <a:t>，當風險很小時，我們當然傾向拒絕虛無假設，所以當這風險小於我們設定的顯著水準</a:t>
            </a:r>
            <a:r>
              <a:rPr lang="en-US" altLang="zh-TW" sz="2800" dirty="0">
                <a:latin typeface="Times New Roman" panose="02020603050405020304" pitchFamily="18" charset="0"/>
                <a:ea typeface="標楷體"/>
                <a:cs typeface="Times New Roman" panose="02020603050405020304" pitchFamily="18" charset="0"/>
              </a:rPr>
              <a:t>α</a:t>
            </a:r>
            <a:r>
              <a:rPr lang="zh-TW" altLang="zh-TW" sz="2800" dirty="0">
                <a:latin typeface="Times New Roman" panose="02020603050405020304" pitchFamily="18" charset="0"/>
                <a:ea typeface="標楷體"/>
                <a:cs typeface="Times New Roman" panose="02020603050405020304" pitchFamily="18" charset="0"/>
              </a:rPr>
              <a:t>時，我們就有充分證據來拒絕虛無假設。</a:t>
            </a:r>
            <a:endParaRPr lang="zh-TW" altLang="en-US" sz="2800" dirty="0">
              <a:latin typeface="Times New Roman" panose="02020603050405020304" pitchFamily="18" charset="0"/>
              <a:cs typeface="Times New Roman" panose="02020603050405020304" pitchFamily="18" charset="0"/>
            </a:endParaRPr>
          </a:p>
          <a:p>
            <a:endParaRPr lang="zh-TW" altLang="en-US" dirty="0"/>
          </a:p>
        </p:txBody>
      </p:sp>
      <p:sp>
        <p:nvSpPr>
          <p:cNvPr id="3" name="投影片編號版面配置區 2"/>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2924990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sz="3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檢定方法的建立步驟</a:t>
            </a:r>
            <a:endParaRPr lang="zh-TW" altLang="en-US" sz="32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內容版面配置區 2"/>
          <p:cNvSpPr>
            <a:spLocks noGrp="1"/>
          </p:cNvSpPr>
          <p:nvPr>
            <p:ph idx="1"/>
          </p:nvPr>
        </p:nvSpPr>
        <p:spPr>
          <a:xfrm>
            <a:off x="539552" y="1967699"/>
            <a:ext cx="7620000" cy="4800600"/>
          </a:xfrm>
        </p:spPr>
        <p:txBody>
          <a:bodyPr/>
          <a:lstStyle/>
          <a:p>
            <a:pPr lvl="0" indent="-342900">
              <a:lnSpc>
                <a:spcPct val="150000"/>
              </a:lnSpc>
              <a:spcAft>
                <a:spcPts val="0"/>
              </a:spcAft>
              <a:buClrTx/>
              <a:buFont typeface="+mj-lt"/>
              <a:buAutoNum type="arabicPeriod"/>
            </a:pPr>
            <a:r>
              <a:rPr lang="zh-TW" altLang="zh-TW" sz="2000" kern="100" dirty="0">
                <a:latin typeface="Times New Roman" panose="02020603050405020304" pitchFamily="18" charset="0"/>
                <a:ea typeface="標楷體"/>
                <a:cs typeface="Times New Roman" panose="02020603050405020304" pitchFamily="18" charset="0"/>
              </a:rPr>
              <a:t>依據研究目的設立虛無</a:t>
            </a:r>
            <a:r>
              <a:rPr lang="en-US" altLang="zh-TW" sz="2000" kern="0" dirty="0">
                <a:latin typeface="Times New Roman" panose="02020603050405020304" pitchFamily="18" charset="0"/>
                <a:ea typeface="標楷體"/>
                <a:cs typeface="Times New Roman" panose="02020603050405020304" pitchFamily="18" charset="0"/>
              </a:rPr>
              <a:t>H</a:t>
            </a:r>
            <a:r>
              <a:rPr lang="en-US" altLang="zh-TW" sz="2000" kern="0" baseline="-25000" dirty="0">
                <a:latin typeface="Times New Roman" panose="02020603050405020304" pitchFamily="18" charset="0"/>
                <a:ea typeface="標楷體"/>
                <a:cs typeface="Times New Roman" panose="02020603050405020304" pitchFamily="18" charset="0"/>
              </a:rPr>
              <a:t>0</a:t>
            </a:r>
            <a:r>
              <a:rPr lang="zh-TW" altLang="zh-TW" sz="2000" kern="100" dirty="0">
                <a:latin typeface="Times New Roman" panose="02020603050405020304" pitchFamily="18" charset="0"/>
                <a:ea typeface="標楷體"/>
                <a:cs typeface="Times New Roman" panose="02020603050405020304" pitchFamily="18" charset="0"/>
              </a:rPr>
              <a:t>及對立假設</a:t>
            </a:r>
            <a:r>
              <a:rPr lang="en-US" altLang="zh-TW" sz="2000" kern="0" dirty="0">
                <a:latin typeface="Times New Roman" panose="02020603050405020304" pitchFamily="18" charset="0"/>
                <a:ea typeface="標楷體"/>
                <a:cs typeface="Times New Roman" panose="02020603050405020304" pitchFamily="18" charset="0"/>
              </a:rPr>
              <a:t>H</a:t>
            </a:r>
            <a:r>
              <a:rPr lang="en-US" altLang="zh-TW" sz="2000" kern="0" baseline="-25000" dirty="0">
                <a:latin typeface="Times New Roman" panose="02020603050405020304" pitchFamily="18" charset="0"/>
                <a:ea typeface="標楷體"/>
                <a:cs typeface="Times New Roman" panose="02020603050405020304" pitchFamily="18" charset="0"/>
              </a:rPr>
              <a:t>a</a:t>
            </a:r>
            <a:r>
              <a:rPr lang="zh-TW" altLang="zh-TW" sz="2000" kern="0" dirty="0">
                <a:latin typeface="Times New Roman" panose="02020603050405020304" pitchFamily="18" charset="0"/>
                <a:ea typeface="標楷體"/>
                <a:cs typeface="Times New Roman" panose="02020603050405020304" pitchFamily="18" charset="0"/>
              </a:rPr>
              <a:t>，並設定顯著水準</a:t>
            </a:r>
            <a:r>
              <a:rPr lang="en-US" altLang="zh-TW" sz="2000" kern="100" dirty="0">
                <a:latin typeface="Times New Roman" panose="02020603050405020304" pitchFamily="18" charset="0"/>
                <a:ea typeface="標楷體"/>
                <a:cs typeface="Times New Roman" panose="02020603050405020304" pitchFamily="18" charset="0"/>
              </a:rPr>
              <a:t>α</a:t>
            </a:r>
            <a:r>
              <a:rPr lang="zh-TW" altLang="zh-TW" sz="2000" kern="100" dirty="0">
                <a:latin typeface="Times New Roman" panose="02020603050405020304" pitchFamily="18" charset="0"/>
                <a:ea typeface="標楷體"/>
                <a:cs typeface="Times New Roman" panose="02020603050405020304" pitchFamily="18" charset="0"/>
              </a:rPr>
              <a:t>；</a:t>
            </a:r>
            <a:endParaRPr lang="zh-TW" altLang="zh-TW" sz="2000" kern="100" dirty="0">
              <a:latin typeface="Times New Roman" panose="02020603050405020304" pitchFamily="18" charset="0"/>
              <a:cs typeface="Times New Roman" panose="02020603050405020304" pitchFamily="18" charset="0"/>
            </a:endParaRPr>
          </a:p>
          <a:p>
            <a:pPr lvl="0" indent="-342900">
              <a:lnSpc>
                <a:spcPct val="150000"/>
              </a:lnSpc>
              <a:spcAft>
                <a:spcPts val="0"/>
              </a:spcAft>
              <a:buClrTx/>
              <a:buFont typeface="+mj-lt"/>
              <a:buAutoNum type="arabicPeriod"/>
            </a:pPr>
            <a:r>
              <a:rPr lang="zh-TW" altLang="zh-TW" sz="2000" kern="100" dirty="0">
                <a:latin typeface="Times New Roman" panose="02020603050405020304" pitchFamily="18" charset="0"/>
                <a:ea typeface="標楷體"/>
                <a:cs typeface="Times New Roman" panose="02020603050405020304" pitchFamily="18" charset="0"/>
              </a:rPr>
              <a:t>找出適當的檢定統計量</a:t>
            </a:r>
            <a:r>
              <a:rPr lang="en-US" altLang="zh-TW" sz="2000" kern="100" dirty="0">
                <a:latin typeface="Times New Roman" panose="02020603050405020304" pitchFamily="18" charset="0"/>
                <a:ea typeface="標楷體"/>
                <a:cs typeface="Times New Roman" panose="02020603050405020304" pitchFamily="18" charset="0"/>
              </a:rPr>
              <a:t>T</a:t>
            </a:r>
            <a:r>
              <a:rPr lang="zh-TW" altLang="zh-TW" sz="2000" kern="100" dirty="0">
                <a:latin typeface="Times New Roman" panose="02020603050405020304" pitchFamily="18" charset="0"/>
                <a:ea typeface="標楷體"/>
                <a:cs typeface="Times New Roman" panose="02020603050405020304" pitchFamily="18" charset="0"/>
              </a:rPr>
              <a:t>及其在虛無假設下的抽樣分佈；</a:t>
            </a:r>
            <a:endParaRPr lang="zh-TW" altLang="zh-TW" sz="2000" kern="100" dirty="0">
              <a:latin typeface="Times New Roman" panose="02020603050405020304" pitchFamily="18" charset="0"/>
              <a:cs typeface="Times New Roman" panose="02020603050405020304" pitchFamily="18" charset="0"/>
            </a:endParaRPr>
          </a:p>
          <a:p>
            <a:pPr lvl="0" indent="-342900">
              <a:lnSpc>
                <a:spcPct val="150000"/>
              </a:lnSpc>
              <a:spcAft>
                <a:spcPts val="0"/>
              </a:spcAft>
              <a:buClrTx/>
              <a:buFont typeface="+mj-lt"/>
              <a:buAutoNum type="arabicPeriod"/>
            </a:pPr>
            <a:r>
              <a:rPr lang="zh-TW" altLang="zh-TW" sz="2000" kern="100" dirty="0">
                <a:latin typeface="Times New Roman" panose="02020603050405020304" pitchFamily="18" charset="0"/>
                <a:ea typeface="標楷體"/>
                <a:cs typeface="Times New Roman" panose="02020603050405020304" pitchFamily="18" charset="0"/>
              </a:rPr>
              <a:t>利用設定的顯著水準及檢定統計量在虛無假設下的抽樣分佈，計算出拒絕虛無假設的區域作為檢定結果的判斷準則；</a:t>
            </a:r>
            <a:endParaRPr lang="en-US" altLang="zh-TW" sz="2000" kern="100" dirty="0">
              <a:latin typeface="Times New Roman" panose="02020603050405020304" pitchFamily="18" charset="0"/>
              <a:ea typeface="標楷體"/>
              <a:cs typeface="Times New Roman" panose="02020603050405020304" pitchFamily="18" charset="0"/>
            </a:endParaRPr>
          </a:p>
          <a:p>
            <a:pPr lvl="0" indent="-342900">
              <a:lnSpc>
                <a:spcPct val="150000"/>
              </a:lnSpc>
              <a:spcAft>
                <a:spcPts val="0"/>
              </a:spcAft>
              <a:buClrTx/>
              <a:buFont typeface="+mj-lt"/>
              <a:buAutoNum type="arabicPeriod"/>
            </a:pPr>
            <a:r>
              <a:rPr lang="zh-TW" altLang="zh-TW" sz="2000" dirty="0">
                <a:latin typeface="Times New Roman" panose="02020603050405020304" pitchFamily="18" charset="0"/>
                <a:ea typeface="標楷體"/>
                <a:cs typeface="Times New Roman" panose="02020603050405020304" pitchFamily="18" charset="0"/>
              </a:rPr>
              <a:t>將蒐集的資料帶入計算檢定統計值，計算</a:t>
            </a:r>
            <a:r>
              <a:rPr lang="en-US" altLang="zh-TW" sz="2000" dirty="0">
                <a:latin typeface="Times New Roman" panose="02020603050405020304" pitchFamily="18" charset="0"/>
                <a:ea typeface="標楷體"/>
                <a:cs typeface="Times New Roman" panose="02020603050405020304" pitchFamily="18" charset="0"/>
              </a:rPr>
              <a:t>P</a:t>
            </a:r>
            <a:r>
              <a:rPr lang="zh-TW" altLang="zh-TW" sz="2000" dirty="0">
                <a:latin typeface="Times New Roman" panose="02020603050405020304" pitchFamily="18" charset="0"/>
                <a:ea typeface="標楷體"/>
                <a:cs typeface="Times New Roman" panose="02020603050405020304" pitchFamily="18" charset="0"/>
              </a:rPr>
              <a:t>值或是否落於拒絕域中，做出結論及解釋。</a:t>
            </a:r>
            <a:r>
              <a:rPr lang="en-US" altLang="zh-TW" sz="2000" dirty="0">
                <a:latin typeface="Times New Roman" panose="02020603050405020304" pitchFamily="18" charset="0"/>
                <a:ea typeface="標楷體"/>
                <a:cs typeface="Times New Roman" panose="02020603050405020304" pitchFamily="18" charset="0"/>
              </a:rPr>
              <a:t>P</a:t>
            </a:r>
            <a:r>
              <a:rPr lang="zh-TW" altLang="zh-TW" sz="2000" dirty="0">
                <a:latin typeface="Times New Roman" panose="02020603050405020304" pitchFamily="18" charset="0"/>
                <a:ea typeface="標楷體"/>
                <a:cs typeface="Times New Roman" panose="02020603050405020304" pitchFamily="18" charset="0"/>
              </a:rPr>
              <a:t>值若小於顯著</a:t>
            </a:r>
            <a:r>
              <a:rPr lang="zh-TW" altLang="zh-TW" sz="2000" kern="0" dirty="0">
                <a:latin typeface="Times New Roman" panose="02020603050405020304" pitchFamily="18" charset="0"/>
                <a:ea typeface="標楷體"/>
                <a:cs typeface="Times New Roman" panose="02020603050405020304" pitchFamily="18" charset="0"/>
              </a:rPr>
              <a:t>水準</a:t>
            </a:r>
            <a:r>
              <a:rPr lang="en-US" altLang="zh-TW" sz="2000" dirty="0">
                <a:latin typeface="Times New Roman" panose="02020603050405020304" pitchFamily="18" charset="0"/>
                <a:ea typeface="標楷體"/>
                <a:cs typeface="Times New Roman" panose="02020603050405020304" pitchFamily="18" charset="0"/>
              </a:rPr>
              <a:t>α</a:t>
            </a:r>
            <a:r>
              <a:rPr lang="zh-TW" altLang="zh-TW" sz="2000" dirty="0">
                <a:latin typeface="Times New Roman" panose="02020603050405020304" pitchFamily="18" charset="0"/>
                <a:ea typeface="標楷體"/>
                <a:cs typeface="Times New Roman" panose="02020603050405020304" pitchFamily="18" charset="0"/>
              </a:rPr>
              <a:t>，則拒絕虛無假設；反之，則無法拒絕虛無假設。</a:t>
            </a:r>
            <a:endParaRPr lang="zh-TW" altLang="en-US" sz="2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pPr>
              <a:defRPr/>
            </a:pPr>
            <a:r>
              <a:rPr lang="en-US" altLang="zh-TW" dirty="0"/>
              <a:t>25</a:t>
            </a:r>
          </a:p>
        </p:txBody>
      </p:sp>
    </p:spTree>
    <p:extLst>
      <p:ext uri="{BB962C8B-B14F-4D97-AF65-F5344CB8AC3E}">
        <p14:creationId xmlns:p14="http://schemas.microsoft.com/office/powerpoint/2010/main" val="1535266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p:txBody>
              <a:bodyPr/>
              <a:lstStyle/>
              <a:p>
                <a:r>
                  <a:rPr lang="zh-TW" altLang="zh-TW" sz="2400" kern="100" dirty="0">
                    <a:latin typeface="Times New Roman" panose="02020603050405020304" pitchFamily="18" charset="0"/>
                    <a:ea typeface="標楷體"/>
                    <a:cs typeface="Times New Roman" panose="02020603050405020304" pitchFamily="18" charset="0"/>
                  </a:rPr>
                  <a:t>今收集</a:t>
                </a:r>
                <a:r>
                  <a:rPr lang="en-US" altLang="zh-TW" sz="2400" kern="100" dirty="0">
                    <a:latin typeface="Times New Roman" panose="02020603050405020304" pitchFamily="18" charset="0"/>
                    <a:ea typeface="標楷體"/>
                    <a:cs typeface="Times New Roman" panose="02020603050405020304" pitchFamily="18" charset="0"/>
                  </a:rPr>
                  <a:t>30</a:t>
                </a:r>
                <a:r>
                  <a:rPr lang="zh-TW" altLang="zh-TW" sz="2400" kern="100" dirty="0">
                    <a:latin typeface="Times New Roman" panose="02020603050405020304" pitchFamily="18" charset="0"/>
                    <a:ea typeface="標楷體"/>
                    <a:cs typeface="Times New Roman" panose="02020603050405020304" pitchFamily="18" charset="0"/>
                  </a:rPr>
                  <a:t>位糖尿病患的收縮壓資料，欲檢定糖尿病患的平均收縮壓是否大於正常平均值的</a:t>
                </a:r>
                <a:r>
                  <a:rPr lang="en-US" altLang="zh-TW" sz="2400" kern="100" dirty="0">
                    <a:latin typeface="Times New Roman" panose="02020603050405020304" pitchFamily="18" charset="0"/>
                    <a:ea typeface="標楷體"/>
                    <a:cs typeface="Times New Roman" panose="02020603050405020304" pitchFamily="18" charset="0"/>
                  </a:rPr>
                  <a:t>130mmHg</a:t>
                </a:r>
                <a:r>
                  <a:rPr lang="zh-TW" altLang="zh-TW" sz="2400" kern="100" dirty="0">
                    <a:latin typeface="Times New Roman" panose="02020603050405020304" pitchFamily="18" charset="0"/>
                    <a:ea typeface="標楷體"/>
                    <a:cs typeface="Times New Roman" panose="02020603050405020304" pitchFamily="18" charset="0"/>
                  </a:rPr>
                  <a:t>，</a:t>
                </a:r>
                <a:r>
                  <a:rPr lang="zh-TW" altLang="en-US" sz="2400" kern="100" dirty="0">
                    <a:latin typeface="Times New Roman" panose="02020603050405020304" pitchFamily="18" charset="0"/>
                    <a:ea typeface="標楷體"/>
                    <a:cs typeface="Times New Roman" panose="02020603050405020304" pitchFamily="18" charset="0"/>
                  </a:rPr>
                  <a:t>此</a:t>
                </a:r>
                <a:r>
                  <a:rPr lang="en-US" altLang="zh-TW" sz="2400" kern="100" dirty="0">
                    <a:latin typeface="Times New Roman" panose="02020603050405020304" pitchFamily="18" charset="0"/>
                    <a:ea typeface="標楷體"/>
                    <a:cs typeface="Times New Roman" panose="02020603050405020304" pitchFamily="18" charset="0"/>
                  </a:rPr>
                  <a:t>30</a:t>
                </a:r>
                <a:r>
                  <a:rPr lang="zh-TW" altLang="en-US" sz="2400" kern="100" dirty="0">
                    <a:latin typeface="Times New Roman" panose="02020603050405020304" pitchFamily="18" charset="0"/>
                    <a:ea typeface="標楷體"/>
                    <a:cs typeface="Times New Roman" panose="02020603050405020304" pitchFamily="18" charset="0"/>
                  </a:rPr>
                  <a:t>為糖尿病患者的收縮壓平均為</a:t>
                </a:r>
                <a:r>
                  <a:rPr lang="en-US" altLang="zh-TW" sz="2400" kern="100" dirty="0">
                    <a:latin typeface="Times New Roman" panose="02020603050405020304" pitchFamily="18" charset="0"/>
                    <a:ea typeface="標楷體"/>
                    <a:cs typeface="Times New Roman" panose="02020603050405020304" pitchFamily="18" charset="0"/>
                  </a:rPr>
                  <a:t>138.5</a:t>
                </a:r>
                <a:r>
                  <a:rPr lang="zh-TW" altLang="zh-TW" sz="2400" kern="100" dirty="0">
                    <a:latin typeface="Times New Roman" panose="02020603050405020304" pitchFamily="18" charset="0"/>
                    <a:ea typeface="標楷體"/>
                    <a:cs typeface="Times New Roman" panose="02020603050405020304" pitchFamily="18" charset="0"/>
                  </a:rPr>
                  <a:t> ，</a:t>
                </a:r>
                <a:r>
                  <a:rPr lang="zh-TW" altLang="en-US" sz="2400" kern="100" dirty="0">
                    <a:latin typeface="Times New Roman" panose="02020603050405020304" pitchFamily="18" charset="0"/>
                    <a:ea typeface="標楷體"/>
                    <a:cs typeface="Times New Roman" panose="02020603050405020304" pitchFamily="18" charset="0"/>
                  </a:rPr>
                  <a:t>母體標準差為</a:t>
                </a:r>
                <a:r>
                  <a:rPr lang="en-US" altLang="zh-TW" sz="2400" kern="100" dirty="0">
                    <a:latin typeface="Times New Roman" panose="02020603050405020304" pitchFamily="18" charset="0"/>
                    <a:ea typeface="標楷體"/>
                    <a:cs typeface="Times New Roman" panose="02020603050405020304" pitchFamily="18" charset="0"/>
                  </a:rPr>
                  <a:t>20</a:t>
                </a:r>
                <a:r>
                  <a:rPr lang="zh-TW" altLang="en-US" sz="2400" kern="100" dirty="0">
                    <a:latin typeface="Times New Roman" panose="02020603050405020304" pitchFamily="18" charset="0"/>
                    <a:ea typeface="標楷體"/>
                    <a:cs typeface="Times New Roman" panose="02020603050405020304" pitchFamily="18" charset="0"/>
                  </a:rPr>
                  <a:t>。</a:t>
                </a:r>
                <a:endParaRPr lang="en-US" altLang="zh-TW" sz="2400" kern="100" dirty="0">
                  <a:latin typeface="Times New Roman" panose="02020603050405020304" pitchFamily="18" charset="0"/>
                  <a:ea typeface="標楷體"/>
                  <a:cs typeface="Times New Roman" panose="02020603050405020304" pitchFamily="18" charset="0"/>
                </a:endParaRPr>
              </a:p>
              <a:p>
                <a:endParaRPr lang="en-US" altLang="zh-TW" sz="2400" kern="100" dirty="0">
                  <a:latin typeface="Times New Roman" panose="02020603050405020304" pitchFamily="18" charset="0"/>
                  <a:ea typeface="標楷體"/>
                  <a:cs typeface="Times New Roman" panose="02020603050405020304" pitchFamily="18" charset="0"/>
                </a:endParaRPr>
              </a:p>
              <a:p>
                <a:r>
                  <a:rPr lang="zh-TW" altLang="en-US" sz="2400" kern="100" dirty="0">
                    <a:latin typeface="Times New Roman" panose="02020603050405020304" pitchFamily="18" charset="0"/>
                    <a:ea typeface="標楷體"/>
                    <a:cs typeface="Times New Roman" panose="02020603050405020304" pitchFamily="18" charset="0"/>
                  </a:rPr>
                  <a:t>步驟</a:t>
                </a:r>
                <a:r>
                  <a:rPr lang="en-US" altLang="zh-TW" sz="2400" kern="100" dirty="0">
                    <a:latin typeface="Times New Roman" panose="02020603050405020304" pitchFamily="18" charset="0"/>
                    <a:ea typeface="標楷體"/>
                    <a:cs typeface="Times New Roman" panose="02020603050405020304" pitchFamily="18" charset="0"/>
                  </a:rPr>
                  <a:t>1:</a:t>
                </a:r>
                <a:r>
                  <a:rPr lang="zh-TW" altLang="zh-TW" sz="2400" kern="100" dirty="0">
                    <a:latin typeface="Times New Roman" panose="02020603050405020304" pitchFamily="18" charset="0"/>
                    <a:ea typeface="標楷體"/>
                    <a:cs typeface="Times New Roman" panose="02020603050405020304" pitchFamily="18" charset="0"/>
                  </a:rPr>
                  <a:t>依據研究目的設立虛無</a:t>
                </a:r>
                <a:r>
                  <a:rPr lang="en-US" altLang="zh-TW" sz="2400" kern="0" dirty="0">
                    <a:latin typeface="Times New Roman" panose="02020603050405020304" pitchFamily="18" charset="0"/>
                    <a:ea typeface="標楷體"/>
                    <a:cs typeface="Times New Roman" panose="02020603050405020304" pitchFamily="18" charset="0"/>
                  </a:rPr>
                  <a:t>H</a:t>
                </a:r>
                <a:r>
                  <a:rPr lang="en-US" altLang="zh-TW" sz="2400" kern="0" baseline="-25000" dirty="0">
                    <a:latin typeface="Times New Roman" panose="02020603050405020304" pitchFamily="18" charset="0"/>
                    <a:ea typeface="標楷體"/>
                    <a:cs typeface="Times New Roman" panose="02020603050405020304" pitchFamily="18" charset="0"/>
                  </a:rPr>
                  <a:t>0</a:t>
                </a:r>
                <a:r>
                  <a:rPr lang="zh-TW" altLang="zh-TW" sz="2400" kern="100" dirty="0">
                    <a:latin typeface="Times New Roman" panose="02020603050405020304" pitchFamily="18" charset="0"/>
                    <a:ea typeface="標楷體"/>
                    <a:cs typeface="Times New Roman" panose="02020603050405020304" pitchFamily="18" charset="0"/>
                  </a:rPr>
                  <a:t>及對立假設</a:t>
                </a:r>
                <a:r>
                  <a:rPr lang="en-US" altLang="zh-TW" sz="2400" kern="0" dirty="0">
                    <a:latin typeface="Times New Roman" panose="02020603050405020304" pitchFamily="18" charset="0"/>
                    <a:ea typeface="標楷體"/>
                    <a:cs typeface="Times New Roman" panose="02020603050405020304" pitchFamily="18" charset="0"/>
                  </a:rPr>
                  <a:t>H</a:t>
                </a:r>
                <a:r>
                  <a:rPr lang="en-US" altLang="zh-TW" sz="2400" kern="0" baseline="-25000" dirty="0">
                    <a:latin typeface="Times New Roman" panose="02020603050405020304" pitchFamily="18" charset="0"/>
                    <a:ea typeface="標楷體"/>
                    <a:cs typeface="Times New Roman" panose="02020603050405020304" pitchFamily="18" charset="0"/>
                  </a:rPr>
                  <a:t>a</a:t>
                </a:r>
                <a:r>
                  <a:rPr lang="zh-TW" altLang="zh-TW" sz="2400" kern="0" dirty="0">
                    <a:latin typeface="Times New Roman" panose="02020603050405020304" pitchFamily="18" charset="0"/>
                    <a:ea typeface="標楷體"/>
                    <a:cs typeface="Times New Roman" panose="02020603050405020304" pitchFamily="18" charset="0"/>
                  </a:rPr>
                  <a:t>，並設定顯著水準</a:t>
                </a:r>
                <a:r>
                  <a:rPr lang="en-US" altLang="zh-TW" sz="2400" kern="100" dirty="0">
                    <a:latin typeface="Times New Roman" panose="02020603050405020304" pitchFamily="18" charset="0"/>
                    <a:ea typeface="標楷體"/>
                    <a:cs typeface="Times New Roman" panose="02020603050405020304" pitchFamily="18" charset="0"/>
                  </a:rPr>
                  <a:t>α</a:t>
                </a:r>
                <a:r>
                  <a:rPr lang="zh-TW" altLang="zh-TW" sz="2400" kern="100" dirty="0">
                    <a:latin typeface="Times New Roman" panose="02020603050405020304" pitchFamily="18" charset="0"/>
                    <a:ea typeface="標楷體"/>
                    <a:cs typeface="Times New Roman" panose="02020603050405020304" pitchFamily="18" charset="0"/>
                  </a:rPr>
                  <a:t>；</a:t>
                </a:r>
                <a:endParaRPr lang="en-US" altLang="zh-TW" sz="2400" i="1" kern="100" dirty="0">
                  <a:latin typeface="Cambria Math" panose="02040503050406030204" pitchFamily="18" charset="0"/>
                  <a:ea typeface="Cambria Math"/>
                  <a:cs typeface="Times New Roman"/>
                </a:endParaRPr>
              </a:p>
              <a:p>
                <a:pPr marL="393192" lvl="1" indent="0">
                  <a:buNone/>
                </a:pPr>
                <a14:m>
                  <m:oMath xmlns:m="http://schemas.openxmlformats.org/officeDocument/2006/math">
                    <m:sSub>
                      <m:sSubPr>
                        <m:ctrlPr>
                          <a:rPr lang="zh-TW" altLang="zh-TW" sz="2000" i="1" kern="100">
                            <a:latin typeface="Cambria Math" panose="02040503050406030204" pitchFamily="18" charset="0"/>
                            <a:ea typeface="Cambria Math"/>
                            <a:cs typeface="Times New Roman"/>
                          </a:rPr>
                        </m:ctrlPr>
                      </m:sSubPr>
                      <m:e>
                        <m:r>
                          <a:rPr lang="en-US" altLang="zh-TW" sz="2000" b="0" i="1" kern="100" smtClean="0">
                            <a:latin typeface="Cambria Math"/>
                            <a:ea typeface="Cambria Math"/>
                            <a:cs typeface="Times New Roman"/>
                          </a:rPr>
                          <m:t>                     </m:t>
                        </m:r>
                        <m:r>
                          <a:rPr lang="en-US" altLang="zh-TW" sz="2000" i="1" kern="100">
                            <a:latin typeface="Cambria Math"/>
                            <a:ea typeface="標楷體"/>
                            <a:cs typeface="Times New Roman"/>
                          </a:rPr>
                          <m:t>𝐻</m:t>
                        </m:r>
                      </m:e>
                      <m:sub>
                        <m:r>
                          <a:rPr lang="en-US" altLang="zh-TW" sz="2000" i="1" kern="100">
                            <a:latin typeface="Cambria Math"/>
                            <a:ea typeface="標楷體"/>
                            <a:cs typeface="Times New Roman"/>
                          </a:rPr>
                          <m:t>0</m:t>
                        </m:r>
                      </m:sub>
                    </m:sSub>
                    <m:r>
                      <a:rPr lang="en-US" altLang="zh-TW" sz="2000" i="1" kern="100">
                        <a:latin typeface="Cambria Math"/>
                        <a:ea typeface="標楷體"/>
                        <a:cs typeface="Times New Roman"/>
                      </a:rPr>
                      <m:t>:</m:t>
                    </m:r>
                    <m:r>
                      <a:rPr lang="en-US" altLang="zh-TW" sz="2000" i="1" kern="100">
                        <a:latin typeface="Cambria Math"/>
                        <a:ea typeface="標楷體"/>
                        <a:cs typeface="Times New Roman"/>
                      </a:rPr>
                      <m:t>𝜇</m:t>
                    </m:r>
                    <m:r>
                      <a:rPr lang="en-US" altLang="zh-TW" sz="2000" i="1" kern="100">
                        <a:latin typeface="Cambria Math"/>
                        <a:ea typeface="標楷體"/>
                        <a:cs typeface="Times New Roman"/>
                      </a:rPr>
                      <m:t>=130   </m:t>
                    </m:r>
                    <m:r>
                      <a:rPr lang="en-US" altLang="zh-TW" sz="2000" i="1" kern="100">
                        <a:latin typeface="Cambria Math"/>
                        <a:ea typeface="標楷體"/>
                        <a:cs typeface="Times New Roman"/>
                      </a:rPr>
                      <m:t>𝑣𝑒𝑟𝑠𝑢𝑠</m:t>
                    </m:r>
                    <m:r>
                      <a:rPr lang="en-US" altLang="zh-TW" sz="2000" i="1" kern="100">
                        <a:latin typeface="Cambria Math"/>
                        <a:ea typeface="標楷體"/>
                        <a:cs typeface="Times New Roman"/>
                      </a:rPr>
                      <m:t>  </m:t>
                    </m:r>
                    <m:sSub>
                      <m:sSubPr>
                        <m:ctrlPr>
                          <a:rPr lang="zh-TW" altLang="zh-TW" sz="2000" i="1" kern="100">
                            <a:latin typeface="Cambria Math" panose="02040503050406030204" pitchFamily="18" charset="0"/>
                            <a:ea typeface="Cambria Math"/>
                            <a:cs typeface="Times New Roman"/>
                          </a:rPr>
                        </m:ctrlPr>
                      </m:sSubPr>
                      <m:e>
                        <m:r>
                          <a:rPr lang="en-US" altLang="zh-TW" sz="2000" i="1" kern="100">
                            <a:latin typeface="Cambria Math"/>
                            <a:ea typeface="標楷體"/>
                            <a:cs typeface="Times New Roman"/>
                          </a:rPr>
                          <m:t>𝐻</m:t>
                        </m:r>
                      </m:e>
                      <m:sub>
                        <m:r>
                          <a:rPr lang="en-US" altLang="zh-TW" sz="2000" i="1" kern="100">
                            <a:latin typeface="Cambria Math"/>
                            <a:ea typeface="標楷體"/>
                            <a:cs typeface="Times New Roman"/>
                          </a:rPr>
                          <m:t>𝑎</m:t>
                        </m:r>
                      </m:sub>
                    </m:sSub>
                    <m:r>
                      <a:rPr lang="en-US" altLang="zh-TW" sz="2000" i="1" kern="100">
                        <a:latin typeface="Cambria Math"/>
                        <a:ea typeface="標楷體"/>
                        <a:cs typeface="Times New Roman"/>
                      </a:rPr>
                      <m:t>:</m:t>
                    </m:r>
                    <m:r>
                      <a:rPr lang="en-US" altLang="zh-TW" sz="2000" i="1" kern="100">
                        <a:latin typeface="Cambria Math"/>
                        <a:ea typeface="標楷體"/>
                        <a:cs typeface="Times New Roman"/>
                      </a:rPr>
                      <m:t>𝜇</m:t>
                    </m:r>
                    <m:r>
                      <a:rPr lang="en-US" altLang="zh-TW" sz="2000" i="1" kern="100">
                        <a:latin typeface="Cambria Math"/>
                        <a:ea typeface="標楷體"/>
                        <a:cs typeface="Times New Roman"/>
                      </a:rPr>
                      <m:t>&gt;130 </m:t>
                    </m:r>
                  </m:oMath>
                </a14:m>
                <a:r>
                  <a:rPr lang="en-US" altLang="zh-TW" sz="2000" kern="1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000" b="0" i="0" smtClean="0">
                        <a:solidFill>
                          <a:srgbClr val="2F2B20"/>
                        </a:solidFill>
                        <a:latin typeface="Cambria Math"/>
                        <a:ea typeface="標楷體" pitchFamily="65" charset="-120"/>
                      </a:rPr>
                      <m:t>   </m:t>
                    </m:r>
                    <m:r>
                      <a:rPr lang="zh-TW" altLang="en-US" sz="2000" i="1">
                        <a:solidFill>
                          <a:srgbClr val="2F2B20"/>
                        </a:solidFill>
                        <a:latin typeface="Cambria Math"/>
                        <a:ea typeface="標楷體" pitchFamily="65" charset="-120"/>
                      </a:rPr>
                      <m:t>𝛼</m:t>
                    </m:r>
                    <m:r>
                      <a:rPr lang="en-US" altLang="zh-TW" sz="2000" i="1">
                        <a:solidFill>
                          <a:srgbClr val="2F2B20"/>
                        </a:solidFill>
                        <a:latin typeface="Cambria Math"/>
                        <a:ea typeface="標楷體" pitchFamily="65" charset="-120"/>
                      </a:rPr>
                      <m:t>=0.05</m:t>
                    </m:r>
                  </m:oMath>
                </a14:m>
                <a:endParaRPr lang="en-US" altLang="zh-TW" sz="2000" kern="100" dirty="0">
                  <a:latin typeface="Times New Roman" panose="02020603050405020304" pitchFamily="18" charset="0"/>
                  <a:cs typeface="Times New Roman" panose="02020603050405020304" pitchFamily="18" charset="0"/>
                </a:endParaRPr>
              </a:p>
              <a:p>
                <a:pPr marL="393192" lvl="1" indent="0">
                  <a:buNone/>
                </a:pPr>
                <a:endParaRPr lang="zh-TW" altLang="zh-TW" sz="2000" kern="100" dirty="0">
                  <a:latin typeface="Times New Roman" panose="02020603050405020304" pitchFamily="18" charset="0"/>
                  <a:cs typeface="Times New Roman" panose="02020603050405020304" pitchFamily="18" charset="0"/>
                </a:endParaRPr>
              </a:p>
              <a:p>
                <a:r>
                  <a:rPr lang="zh-TW" altLang="en-US" sz="2400" kern="100" dirty="0">
                    <a:latin typeface="Times New Roman" panose="02020603050405020304" pitchFamily="18" charset="0"/>
                    <a:cs typeface="Times New Roman" panose="02020603050405020304" pitchFamily="18" charset="0"/>
                  </a:rPr>
                  <a:t>步驟</a:t>
                </a:r>
                <a:r>
                  <a:rPr lang="en-US" altLang="zh-TW" sz="2400" kern="100" dirty="0">
                    <a:latin typeface="Times New Roman" panose="02020603050405020304" pitchFamily="18" charset="0"/>
                    <a:cs typeface="Times New Roman" panose="02020603050405020304" pitchFamily="18" charset="0"/>
                  </a:rPr>
                  <a:t>2:</a:t>
                </a:r>
                <a:r>
                  <a:rPr lang="zh-TW" altLang="zh-TW" sz="2400" kern="100" dirty="0">
                    <a:latin typeface="Times New Roman" panose="02020603050405020304" pitchFamily="18" charset="0"/>
                    <a:ea typeface="標楷體"/>
                    <a:cs typeface="Times New Roman" panose="02020603050405020304" pitchFamily="18" charset="0"/>
                  </a:rPr>
                  <a:t>找出適當的檢定統計量</a:t>
                </a:r>
                <a:r>
                  <a:rPr lang="en-US" altLang="zh-TW" sz="2400" kern="100" dirty="0">
                    <a:latin typeface="Times New Roman" panose="02020603050405020304" pitchFamily="18" charset="0"/>
                    <a:ea typeface="標楷體"/>
                    <a:cs typeface="Times New Roman" panose="02020603050405020304" pitchFamily="18" charset="0"/>
                  </a:rPr>
                  <a:t>T</a:t>
                </a:r>
                <a:r>
                  <a:rPr lang="zh-TW" altLang="zh-TW" sz="2400" kern="100" dirty="0">
                    <a:latin typeface="Times New Roman" panose="02020603050405020304" pitchFamily="18" charset="0"/>
                    <a:ea typeface="標楷體"/>
                    <a:cs typeface="Times New Roman" panose="02020603050405020304" pitchFamily="18" charset="0"/>
                  </a:rPr>
                  <a:t>及其在虛無假設下的抽樣分佈；</a:t>
                </a:r>
                <a:endParaRPr lang="zh-TW" altLang="zh-TW" sz="2400" kern="100" dirty="0">
                  <a:latin typeface="Times New Roman" panose="02020603050405020304" pitchFamily="18" charset="0"/>
                  <a:cs typeface="Times New Roman" panose="02020603050405020304" pitchFamily="18" charset="0"/>
                </a:endParaRPr>
              </a:p>
              <a:p>
                <a:pPr lvl="0"/>
                <a:endParaRPr lang="zh-TW" altLang="zh-TW" sz="2400" kern="100" dirty="0">
                  <a:latin typeface="Times New Roman" panose="02020603050405020304" pitchFamily="18" charset="0"/>
                  <a:cs typeface="Times New Roman" panose="02020603050405020304" pitchFamily="18" charset="0"/>
                </a:endParaRPr>
              </a:p>
              <a:p>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blipFill rotWithShape="1">
                <a:blip r:embed="rId3"/>
                <a:stretch>
                  <a:fillRect t="-1078" r="-370"/>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endParaRPr lang="en-US" altLang="zh-TW"/>
          </a:p>
        </p:txBody>
      </p:sp>
      <p:graphicFrame>
        <p:nvGraphicFramePr>
          <p:cNvPr id="5" name="Object 17"/>
          <p:cNvGraphicFramePr>
            <a:graphicFrameLocks noChangeAspect="1"/>
          </p:cNvGraphicFramePr>
          <p:nvPr>
            <p:extLst>
              <p:ext uri="{D42A27DB-BD31-4B8C-83A1-F6EECF244321}">
                <p14:modId xmlns:p14="http://schemas.microsoft.com/office/powerpoint/2010/main" val="3472848141"/>
              </p:ext>
            </p:extLst>
          </p:nvPr>
        </p:nvGraphicFramePr>
        <p:xfrm>
          <a:off x="2411760" y="5540904"/>
          <a:ext cx="4005263" cy="873125"/>
        </p:xfrm>
        <a:graphic>
          <a:graphicData uri="http://schemas.openxmlformats.org/presentationml/2006/ole">
            <mc:AlternateContent xmlns:mc="http://schemas.openxmlformats.org/markup-compatibility/2006">
              <mc:Choice xmlns:v="urn:schemas-microsoft-com:vml" Requires="v">
                <p:oleObj name="方程式" r:id="rId4" imgW="1955520" imgH="431640" progId="Equation.3">
                  <p:embed/>
                </p:oleObj>
              </mc:Choice>
              <mc:Fallback>
                <p:oleObj name="方程式" r:id="rId4" imgW="1955520" imgH="431640" progId="Equation.3">
                  <p:embed/>
                  <p:pic>
                    <p:nvPicPr>
                      <p:cNvPr id="0" name=""/>
                      <p:cNvPicPr>
                        <a:picLocks noChangeAspect="1" noChangeArrowheads="1"/>
                      </p:cNvPicPr>
                      <p:nvPr/>
                    </p:nvPicPr>
                    <p:blipFill>
                      <a:blip r:embed="rId5"/>
                      <a:srcRect/>
                      <a:stretch>
                        <a:fillRect/>
                      </a:stretch>
                    </p:blipFill>
                    <p:spPr bwMode="auto">
                      <a:xfrm>
                        <a:off x="2411760" y="5540904"/>
                        <a:ext cx="4005263"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06167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1331317"/>
                <a:ext cx="8229600" cy="5306652"/>
              </a:xfrm>
            </p:spPr>
            <p:txBody>
              <a:bodyPr>
                <a:normAutofit fontScale="77500" lnSpcReduction="20000"/>
              </a:bodyPr>
              <a:lstStyle/>
              <a:p>
                <a:pPr marL="0" lvl="0" indent="0">
                  <a:lnSpc>
                    <a:spcPct val="150000"/>
                  </a:lnSpc>
                  <a:buClrTx/>
                  <a:buNone/>
                </a:pPr>
                <a:r>
                  <a:rPr lang="zh-TW" altLang="en-US" sz="2400" dirty="0">
                    <a:latin typeface="標楷體" panose="03000509000000000000" pitchFamily="65" charset="-120"/>
                    <a:ea typeface="標楷體" panose="03000509000000000000" pitchFamily="65" charset="-120"/>
                  </a:rPr>
                  <a:t>步驟</a:t>
                </a:r>
                <a:r>
                  <a:rPr lang="en-US" altLang="zh-TW" sz="2400" dirty="0">
                    <a:latin typeface="標楷體" panose="03000509000000000000" pitchFamily="65" charset="-120"/>
                    <a:ea typeface="標楷體" panose="03000509000000000000" pitchFamily="65" charset="-120"/>
                  </a:rPr>
                  <a:t>3:</a:t>
                </a:r>
                <a:r>
                  <a:rPr lang="zh-TW" altLang="zh-TW" sz="2400" kern="100" dirty="0">
                    <a:latin typeface="標楷體" panose="03000509000000000000" pitchFamily="65" charset="-120"/>
                    <a:ea typeface="標楷體" panose="03000509000000000000" pitchFamily="65" charset="-120"/>
                    <a:cs typeface="Times New Roman" panose="02020603050405020304" pitchFamily="18" charset="0"/>
                  </a:rPr>
                  <a:t>利用設定的顯著水準及檢定統計量在虛無假設下的抽樣分佈，計算出拒絕虛無假設的區域作為檢定結果的判斷準則；</a:t>
                </a:r>
                <a:endParaRPr lang="en-US" altLang="zh-TW" sz="2400" kern="100" dirty="0">
                  <a:latin typeface="標楷體" panose="03000509000000000000" pitchFamily="65" charset="-120"/>
                  <a:ea typeface="標楷體" panose="03000509000000000000" pitchFamily="65" charset="-120"/>
                  <a:cs typeface="Times New Roman" panose="02020603050405020304" pitchFamily="18" charset="0"/>
                </a:endParaRPr>
              </a:p>
              <a:p>
                <a:pPr marL="22860" lvl="0" indent="0">
                  <a:lnSpc>
                    <a:spcPct val="150000"/>
                  </a:lnSpc>
                  <a:buClrTx/>
                  <a:buNone/>
                </a:pPr>
                <a14:m>
                  <m:oMath xmlns:m="http://schemas.openxmlformats.org/officeDocument/2006/math">
                    <m:sSub>
                      <m:sSubPr>
                        <m:ctrlPr>
                          <a:rPr lang="en-US" altLang="zh-TW" sz="2400" i="1" smtClean="0">
                            <a:solidFill>
                              <a:schemeClr val="tx1"/>
                            </a:solidFill>
                            <a:latin typeface="Cambria Math" panose="02040503050406030204" pitchFamily="18" charset="0"/>
                            <a:ea typeface="標楷體" pitchFamily="65" charset="-120"/>
                          </a:rPr>
                        </m:ctrlPr>
                      </m:sSubPr>
                      <m:e>
                        <m:r>
                          <a:rPr lang="zh-TW" altLang="en-US" sz="2400" i="1">
                            <a:solidFill>
                              <a:schemeClr val="tx1"/>
                            </a:solidFill>
                            <a:latin typeface="Cambria Math"/>
                            <a:ea typeface="標楷體" pitchFamily="65" charset="-120"/>
                          </a:rPr>
                          <m:t>𝛼</m:t>
                        </m:r>
                        <m:r>
                          <a:rPr lang="en-US" altLang="zh-TW" sz="2400" b="0" i="1" smtClean="0">
                            <a:solidFill>
                              <a:schemeClr val="tx1"/>
                            </a:solidFill>
                            <a:latin typeface="Cambria Math"/>
                            <a:ea typeface="標楷體" pitchFamily="65" charset="-120"/>
                          </a:rPr>
                          <m:t>=0.05, </m:t>
                        </m:r>
                        <m:r>
                          <a:rPr lang="en-US" altLang="zh-TW" sz="2400" i="1">
                            <a:solidFill>
                              <a:schemeClr val="tx1"/>
                            </a:solidFill>
                            <a:latin typeface="Cambria Math"/>
                            <a:ea typeface="標楷體" pitchFamily="65" charset="-120"/>
                          </a:rPr>
                          <m:t>𝑍</m:t>
                        </m:r>
                      </m:e>
                      <m:sub>
                        <m:r>
                          <a:rPr lang="en-US" altLang="zh-TW" sz="2400" i="1">
                            <a:solidFill>
                              <a:schemeClr val="tx1"/>
                            </a:solidFill>
                            <a:latin typeface="Cambria Math" panose="02040503050406030204" pitchFamily="18" charset="0"/>
                            <a:ea typeface="標楷體" pitchFamily="65" charset="-120"/>
                          </a:rPr>
                          <m:t>1−</m:t>
                        </m:r>
                        <m:r>
                          <a:rPr lang="zh-TW" altLang="en-US" sz="2400" i="1">
                            <a:solidFill>
                              <a:schemeClr val="tx1"/>
                            </a:solidFill>
                            <a:latin typeface="Cambria Math"/>
                            <a:ea typeface="標楷體" pitchFamily="65" charset="-120"/>
                          </a:rPr>
                          <m:t>𝛼</m:t>
                        </m:r>
                      </m:sub>
                    </m:sSub>
                    <m:r>
                      <a:rPr lang="en-US" altLang="zh-TW" sz="2400" b="0" i="1" smtClean="0">
                        <a:solidFill>
                          <a:schemeClr val="tx1"/>
                        </a:solidFill>
                        <a:latin typeface="Cambria Math"/>
                        <a:ea typeface="標楷體" pitchFamily="65" charset="-120"/>
                      </a:rPr>
                      <m:t>=</m:t>
                    </m:r>
                    <m:r>
                      <a:rPr lang="en-US" altLang="zh-TW" sz="2400" b="0" i="1" smtClean="0">
                        <a:solidFill>
                          <a:schemeClr val="tx1"/>
                        </a:solidFill>
                        <a:latin typeface="Cambria Math"/>
                        <a:ea typeface="標楷體" pitchFamily="65" charset="-120"/>
                      </a:rPr>
                      <m:t>𝑍</m:t>
                    </m:r>
                    <m:r>
                      <a:rPr lang="en-US" altLang="zh-TW" sz="2400" b="0" i="1" baseline="-25000" smtClean="0">
                        <a:solidFill>
                          <a:schemeClr val="tx1"/>
                        </a:solidFill>
                        <a:latin typeface="Cambria Math"/>
                        <a:ea typeface="標楷體" pitchFamily="65" charset="-120"/>
                      </a:rPr>
                      <m:t>0.95</m:t>
                    </m:r>
                    <m:r>
                      <a:rPr lang="en-US" altLang="zh-TW" sz="2400" b="0" i="1" smtClean="0">
                        <a:solidFill>
                          <a:schemeClr val="tx1"/>
                        </a:solidFill>
                        <a:latin typeface="Cambria Math"/>
                        <a:ea typeface="標楷體" pitchFamily="65" charset="-120"/>
                      </a:rPr>
                      <m:t>=1.64</m:t>
                    </m:r>
                  </m:oMath>
                </a14:m>
                <a:r>
                  <a:rPr lang="zh-TW" altLang="en-US" sz="2400" kern="100" dirty="0">
                    <a:solidFill>
                      <a:schemeClr val="tx1"/>
                    </a:solidFill>
                    <a:latin typeface="Times New Roman" panose="02020603050405020304" pitchFamily="18" charset="0"/>
                    <a:ea typeface="標楷體"/>
                    <a:cs typeface="Times New Roman" panose="02020603050405020304" pitchFamily="18" charset="0"/>
                  </a:rPr>
                  <a:t> 。</a:t>
                </a:r>
                <a:r>
                  <a:rPr lang="zh-TW" altLang="en-US" sz="2400" kern="100" dirty="0">
                    <a:latin typeface="Times New Roman" panose="02020603050405020304" pitchFamily="18" charset="0"/>
                    <a:ea typeface="標楷體"/>
                    <a:cs typeface="Times New Roman" panose="02020603050405020304" pitchFamily="18" charset="0"/>
                  </a:rPr>
                  <a:t>若統計值大於</a:t>
                </a:r>
                <a:r>
                  <a:rPr lang="en-US" altLang="zh-TW" sz="2400" kern="100" dirty="0">
                    <a:latin typeface="Times New Roman" panose="02020603050405020304" pitchFamily="18" charset="0"/>
                    <a:ea typeface="標楷體"/>
                    <a:cs typeface="Times New Roman" panose="02020603050405020304" pitchFamily="18" charset="0"/>
                  </a:rPr>
                  <a:t>1.64</a:t>
                </a:r>
                <a:r>
                  <a:rPr lang="zh-TW" altLang="zh-TW" sz="2400" kern="100" dirty="0">
                    <a:latin typeface="Times New Roman" panose="02020603050405020304" pitchFamily="18" charset="0"/>
                    <a:ea typeface="標楷體"/>
                    <a:cs typeface="Times New Roman" panose="02020603050405020304" pitchFamily="18" charset="0"/>
                  </a:rPr>
                  <a:t>，</a:t>
                </a:r>
                <a:r>
                  <a:rPr lang="zh-TW" altLang="en-US" sz="2400" kern="100" dirty="0">
                    <a:latin typeface="Times New Roman" panose="02020603050405020304" pitchFamily="18" charset="0"/>
                    <a:ea typeface="標楷體"/>
                    <a:cs typeface="Times New Roman" panose="02020603050405020304" pitchFamily="18" charset="0"/>
                  </a:rPr>
                  <a:t>則落入拒絕域。</a:t>
                </a:r>
                <a:endParaRPr lang="en-US" altLang="zh-TW" sz="2400" kern="100" dirty="0">
                  <a:latin typeface="標楷體" panose="03000509000000000000" pitchFamily="65" charset="-120"/>
                  <a:ea typeface="標楷體" panose="03000509000000000000" pitchFamily="65" charset="-120"/>
                  <a:cs typeface="Times New Roman" panose="02020603050405020304" pitchFamily="18" charset="0"/>
                </a:endParaRPr>
              </a:p>
              <a:p>
                <a:pPr lvl="0" indent="-342900">
                  <a:lnSpc>
                    <a:spcPct val="150000"/>
                  </a:lnSpc>
                  <a:buClrTx/>
                  <a:buFont typeface="+mj-lt"/>
                  <a:buAutoNum type="arabicPeriod"/>
                </a:pP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0" lvl="0" indent="0">
                  <a:lnSpc>
                    <a:spcPct val="150000"/>
                  </a:lnSpc>
                  <a:buClrTx/>
                  <a:buNone/>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步驟</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4:</a:t>
                </a:r>
                <a:r>
                  <a:rPr lang="zh-TW" altLang="zh-TW" sz="2400" dirty="0">
                    <a:latin typeface="標楷體" panose="03000509000000000000" pitchFamily="65" charset="-120"/>
                    <a:ea typeface="標楷體" panose="03000509000000000000" pitchFamily="65" charset="-120"/>
                    <a:cs typeface="Times New Roman" panose="02020603050405020304" pitchFamily="18" charset="0"/>
                  </a:rPr>
                  <a:t>將蒐集的資料帶入計算檢定統計值，計算</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P</a:t>
                </a:r>
                <a:r>
                  <a:rPr lang="zh-TW" altLang="zh-TW" sz="2400" dirty="0">
                    <a:latin typeface="標楷體" panose="03000509000000000000" pitchFamily="65" charset="-120"/>
                    <a:ea typeface="標楷體" panose="03000509000000000000" pitchFamily="65" charset="-120"/>
                    <a:cs typeface="Times New Roman" panose="02020603050405020304" pitchFamily="18" charset="0"/>
                  </a:rPr>
                  <a:t>值或是否落於拒絕域中，做出結論及解釋。</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P</a:t>
                </a:r>
                <a:r>
                  <a:rPr lang="zh-TW" altLang="zh-TW" sz="2400" dirty="0">
                    <a:latin typeface="標楷體" panose="03000509000000000000" pitchFamily="65" charset="-120"/>
                    <a:ea typeface="標楷體" panose="03000509000000000000" pitchFamily="65" charset="-120"/>
                    <a:cs typeface="Times New Roman" panose="02020603050405020304" pitchFamily="18" charset="0"/>
                  </a:rPr>
                  <a:t>值若小於顯著</a:t>
                </a:r>
                <a:r>
                  <a:rPr lang="zh-TW" altLang="zh-TW" sz="2400" kern="0" dirty="0">
                    <a:latin typeface="標楷體" panose="03000509000000000000" pitchFamily="65" charset="-120"/>
                    <a:ea typeface="標楷體" panose="03000509000000000000" pitchFamily="65" charset="-120"/>
                    <a:cs typeface="Times New Roman" panose="02020603050405020304" pitchFamily="18" charset="0"/>
                  </a:rPr>
                  <a:t>水準</a:t>
                </a:r>
                <a:r>
                  <a:rPr lang="en-US" altLang="zh-TW" sz="2400" dirty="0">
                    <a:latin typeface="標楷體" panose="03000509000000000000" pitchFamily="65" charset="-120"/>
                    <a:ea typeface="標楷體" panose="03000509000000000000" pitchFamily="65" charset="-120"/>
                    <a:cs typeface="Times New Roman" panose="02020603050405020304" pitchFamily="18" charset="0"/>
                  </a:rPr>
                  <a:t>α</a:t>
                </a:r>
                <a:r>
                  <a:rPr lang="zh-TW" altLang="zh-TW" sz="2400" dirty="0">
                    <a:latin typeface="標楷體" panose="03000509000000000000" pitchFamily="65" charset="-120"/>
                    <a:ea typeface="標楷體" panose="03000509000000000000" pitchFamily="65" charset="-120"/>
                    <a:cs typeface="Times New Roman" panose="02020603050405020304" pitchFamily="18" charset="0"/>
                  </a:rPr>
                  <a:t>，則拒絕虛無假設；反之，則無法拒絕虛無假設。</a:t>
                </a:r>
                <a:endParaRPr lang="en-US" altLang="zh-TW" sz="2400" dirty="0">
                  <a:latin typeface="標楷體" panose="03000509000000000000" pitchFamily="65" charset="-120"/>
                  <a:ea typeface="標楷體" panose="03000509000000000000" pitchFamily="65" charset="-120"/>
                  <a:cs typeface="Times New Roman" panose="02020603050405020304" pitchFamily="18" charset="0"/>
                </a:endParaRPr>
              </a:p>
              <a:p>
                <a:pPr marL="22860" lvl="0" indent="0">
                  <a:lnSpc>
                    <a:spcPct val="150000"/>
                  </a:lnSpc>
                  <a:buClrTx/>
                  <a:buNone/>
                </a:pPr>
                <a:r>
                  <a:rPr lang="zh-TW" altLang="en-US" sz="2400" dirty="0">
                    <a:latin typeface="標楷體" panose="03000509000000000000" pitchFamily="65" charset="-120"/>
                    <a:ea typeface="標楷體" panose="03000509000000000000" pitchFamily="65" charset="-120"/>
                    <a:cs typeface="Times New Roman" panose="02020603050405020304" pitchFamily="18" charset="0"/>
                  </a:rPr>
                  <a:t>        統計值                                     </a:t>
                </a:r>
                <a:r>
                  <a:rPr lang="en-US" altLang="zh-TW" sz="2400" dirty="0">
                    <a:latin typeface="Cambria Math" panose="02040503050406030204" pitchFamily="18" charset="0"/>
                    <a:ea typeface="Cambria Math" panose="02040503050406030204" pitchFamily="18" charset="0"/>
                    <a:cs typeface="Times New Roman" panose="02020603050405020304" pitchFamily="18" charset="0"/>
                  </a:rPr>
                  <a:t>&gt;1.64</a:t>
                </a:r>
              </a:p>
              <a:p>
                <a:pPr marL="22860" lvl="0" indent="0">
                  <a:lnSpc>
                    <a:spcPct val="150000"/>
                  </a:lnSpc>
                  <a:buClrTx/>
                  <a:buNone/>
                </a:pPr>
                <a:endParaRPr lang="en-US" altLang="zh-TW" sz="2400" dirty="0">
                  <a:latin typeface="Cambria Math" panose="02040503050406030204" pitchFamily="18" charset="0"/>
                  <a:ea typeface="Cambria Math" panose="02040503050406030204" pitchFamily="18" charset="0"/>
                  <a:cs typeface="Times New Roman" panose="02020603050405020304" pitchFamily="18" charset="0"/>
                </a:endParaRPr>
              </a:p>
              <a:p>
                <a:pPr marL="22860" lvl="0" indent="0">
                  <a:lnSpc>
                    <a:spcPct val="150000"/>
                  </a:lnSpc>
                  <a:buClrTx/>
                  <a:buNone/>
                </a:pPr>
                <a:r>
                  <a:rPr lang="en-US" altLang="zh-TW" sz="2400" dirty="0">
                    <a:latin typeface="Cambria Math" panose="02040503050406030204" pitchFamily="18" charset="0"/>
                    <a:ea typeface="Cambria Math" panose="02040503050406030204" pitchFamily="18" charset="0"/>
                    <a:cs typeface="Times New Roman" panose="02020603050405020304" pitchFamily="18" charset="0"/>
                  </a:rPr>
                  <a:t>          Or     p(Z&gt;5.06)=0.00001&lt;0.05</a:t>
                </a:r>
                <a:endParaRPr lang="zh-TW" altLang="en-US" sz="2400" dirty="0">
                  <a:latin typeface="Cambria Math" panose="02040503050406030204" pitchFamily="18" charset="0"/>
                  <a:ea typeface="標楷體" panose="03000509000000000000" pitchFamily="65" charset="-120"/>
                  <a:cs typeface="Times New Roman" panose="02020603050405020304" pitchFamily="18" charset="0"/>
                </a:endParaRPr>
              </a:p>
              <a:p>
                <a:endParaRPr lang="en-US" altLang="zh-TW" dirty="0"/>
              </a:p>
              <a:p>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1331317"/>
                <a:ext cx="8229600" cy="5306652"/>
              </a:xfrm>
              <a:blipFill>
                <a:blip r:embed="rId3"/>
                <a:stretch>
                  <a:fillRect l="-1778" r="-1481"/>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pPr>
              <a:defRPr/>
            </a:pPr>
            <a:endParaRPr lang="en-US" altLang="zh-TW"/>
          </a:p>
        </p:txBody>
      </p:sp>
      <p:graphicFrame>
        <p:nvGraphicFramePr>
          <p:cNvPr id="5" name="物件 4"/>
          <p:cNvGraphicFramePr>
            <a:graphicFrameLocks noChangeAspect="1"/>
          </p:cNvGraphicFramePr>
          <p:nvPr>
            <p:extLst>
              <p:ext uri="{D42A27DB-BD31-4B8C-83A1-F6EECF244321}">
                <p14:modId xmlns:p14="http://schemas.microsoft.com/office/powerpoint/2010/main" val="618787597"/>
              </p:ext>
            </p:extLst>
          </p:nvPr>
        </p:nvGraphicFramePr>
        <p:xfrm>
          <a:off x="2555776" y="4653136"/>
          <a:ext cx="3852862" cy="1080120"/>
        </p:xfrm>
        <a:graphic>
          <a:graphicData uri="http://schemas.openxmlformats.org/presentationml/2006/ole">
            <mc:AlternateContent xmlns:mc="http://schemas.openxmlformats.org/markup-compatibility/2006">
              <mc:Choice xmlns:v="urn:schemas-microsoft-com:vml" Requires="v">
                <p:oleObj name="方程式" r:id="rId4" imgW="1879560" imgH="812520" progId="Equation.3">
                  <p:embed/>
                </p:oleObj>
              </mc:Choice>
              <mc:Fallback>
                <p:oleObj name="方程式" r:id="rId4" imgW="1879560" imgH="812520" progId="Equation.3">
                  <p:embed/>
                  <p:pic>
                    <p:nvPicPr>
                      <p:cNvPr id="0" name="Object 17"/>
                      <p:cNvPicPr>
                        <a:picLocks noChangeAspect="1" noChangeArrowheads="1"/>
                      </p:cNvPicPr>
                      <p:nvPr/>
                    </p:nvPicPr>
                    <p:blipFill>
                      <a:blip r:embed="rId5"/>
                      <a:srcRect/>
                      <a:stretch>
                        <a:fillRect/>
                      </a:stretch>
                    </p:blipFill>
                    <p:spPr bwMode="auto">
                      <a:xfrm>
                        <a:off x="2555776" y="4653136"/>
                        <a:ext cx="3852862" cy="1080120"/>
                      </a:xfrm>
                      <a:prstGeom prst="rect">
                        <a:avLst/>
                      </a:prstGeom>
                      <a:solidFill>
                        <a:schemeClr val="bg1"/>
                      </a:solidFill>
                      <a:ln>
                        <a:noFill/>
                      </a:ln>
                    </p:spPr>
                  </p:pic>
                </p:oleObj>
              </mc:Fallback>
            </mc:AlternateContent>
          </a:graphicData>
        </a:graphic>
      </p:graphicFrame>
    </p:spTree>
    <p:extLst>
      <p:ext uri="{BB962C8B-B14F-4D97-AF65-F5344CB8AC3E}">
        <p14:creationId xmlns:p14="http://schemas.microsoft.com/office/powerpoint/2010/main" val="904260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120DF33-120E-826C-0315-0F297251CAEA}"/>
              </a:ext>
            </a:extLst>
          </p:cNvPr>
          <p:cNvSpPr>
            <a:spLocks noGrp="1"/>
          </p:cNvSpPr>
          <p:nvPr>
            <p:ph type="sldNum" sz="quarter" idx="12"/>
          </p:nvPr>
        </p:nvSpPr>
        <p:spPr/>
        <p:txBody>
          <a:bodyPr/>
          <a:lstStyle/>
          <a:p>
            <a:pPr>
              <a:defRPr/>
            </a:pPr>
            <a:endParaRPr lang="en-US" altLang="zh-TW"/>
          </a:p>
        </p:txBody>
      </p:sp>
      <p:sp>
        <p:nvSpPr>
          <p:cNvPr id="3" name="標題 3">
            <a:extLst>
              <a:ext uri="{FF2B5EF4-FFF2-40B4-BE49-F238E27FC236}">
                <a16:creationId xmlns:a16="http://schemas.microsoft.com/office/drawing/2014/main" id="{72D38C30-09F8-5724-9E91-296CDACB1EB1}"/>
              </a:ext>
            </a:extLst>
          </p:cNvPr>
          <p:cNvSpPr txBox="1">
            <a:spLocks/>
          </p:cNvSpPr>
          <p:nvPr/>
        </p:nvSpPr>
        <p:spPr>
          <a:xfrm>
            <a:off x="179763" y="69093"/>
            <a:ext cx="8229600" cy="936104"/>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fontAlgn="auto">
              <a:spcAft>
                <a:spcPts val="0"/>
              </a:spcAft>
            </a:pPr>
            <a:r>
              <a:rPr lang="zh-TW" altLang="zh-TW" dirty="0">
                <a:latin typeface="+mn-ea"/>
                <a:ea typeface="+mn-ea"/>
              </a:rPr>
              <a:t>作業</a:t>
            </a:r>
            <a:r>
              <a:rPr lang="en-US" altLang="zh-TW" dirty="0"/>
              <a:t>(1~2)</a:t>
            </a:r>
            <a:endParaRPr lang="zh-TW" altLang="en-US" dirty="0"/>
          </a:p>
        </p:txBody>
      </p:sp>
      <p:sp>
        <p:nvSpPr>
          <p:cNvPr id="4" name="內容版面配置區 1">
            <a:extLst>
              <a:ext uri="{FF2B5EF4-FFF2-40B4-BE49-F238E27FC236}">
                <a16:creationId xmlns:a16="http://schemas.microsoft.com/office/drawing/2014/main" id="{F6CED5C7-0720-DF43-4BB2-818A20D71655}"/>
              </a:ext>
            </a:extLst>
          </p:cNvPr>
          <p:cNvSpPr txBox="1">
            <a:spLocks/>
          </p:cNvSpPr>
          <p:nvPr/>
        </p:nvSpPr>
        <p:spPr>
          <a:xfrm>
            <a:off x="179512" y="836712"/>
            <a:ext cx="8568952" cy="5688632"/>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09728" indent="0" fontAlgn="auto">
              <a:buFont typeface="Calibri" panose="020F0502020204030204" pitchFamily="34" charset="0"/>
              <a:buNone/>
            </a:pPr>
            <a:r>
              <a:rPr lang="en-US" altLang="zh-TW" sz="1600" dirty="0"/>
              <a:t>1.</a:t>
            </a:r>
            <a:r>
              <a:rPr lang="zh-TW" altLang="en-US" sz="1600" dirty="0"/>
              <a:t> </a:t>
            </a:r>
            <a:r>
              <a:rPr lang="zh-TW" altLang="zh-TW" sz="1800" dirty="0"/>
              <a:t>當樣本數增加時，請解釋下列敘述何者為真或錯誤</a:t>
            </a:r>
            <a:r>
              <a:rPr lang="en-US" altLang="zh-TW" sz="1800" dirty="0"/>
              <a:t>:</a:t>
            </a:r>
            <a:endParaRPr lang="zh-TW" altLang="zh-TW" sz="1800" dirty="0"/>
          </a:p>
          <a:p>
            <a:pPr marL="109728" indent="0" fontAlgn="auto">
              <a:buFont typeface="Calibri" panose="020F0502020204030204" pitchFamily="34" charset="0"/>
              <a:buNone/>
            </a:pPr>
            <a:r>
              <a:rPr lang="en-US" altLang="zh-TW" sz="1800" dirty="0"/>
              <a:t>   (1)</a:t>
            </a:r>
            <a:r>
              <a:rPr lang="zh-TW" altLang="en-US" sz="1800" dirty="0"/>
              <a:t> </a:t>
            </a:r>
            <a:r>
              <a:rPr lang="zh-TW" altLang="zh-TW" sz="1800" dirty="0"/>
              <a:t>樣本標準差變小；</a:t>
            </a:r>
          </a:p>
          <a:p>
            <a:pPr marL="109728" indent="0" fontAlgn="auto">
              <a:buFont typeface="Calibri" panose="020F0502020204030204" pitchFamily="34" charset="0"/>
              <a:buNone/>
            </a:pPr>
            <a:r>
              <a:rPr lang="en-US" altLang="zh-TW" sz="1800" dirty="0"/>
              <a:t>   (2)</a:t>
            </a:r>
            <a:r>
              <a:rPr lang="zh-TW" altLang="en-US" sz="1800" dirty="0"/>
              <a:t> </a:t>
            </a:r>
            <a:r>
              <a:rPr lang="zh-TW" altLang="zh-TW" sz="1800" dirty="0"/>
              <a:t>樣本平均值的標準誤變小；</a:t>
            </a:r>
          </a:p>
          <a:p>
            <a:pPr marL="109728" indent="0" fontAlgn="auto">
              <a:buFont typeface="Calibri" panose="020F0502020204030204" pitchFamily="34" charset="0"/>
              <a:buNone/>
            </a:pPr>
            <a:r>
              <a:rPr lang="en-US" altLang="zh-TW" sz="1800" dirty="0"/>
              <a:t>   (3)</a:t>
            </a:r>
            <a:r>
              <a:rPr lang="zh-TW" altLang="en-US" sz="1800" dirty="0"/>
              <a:t> </a:t>
            </a:r>
            <a:r>
              <a:rPr lang="zh-TW" altLang="zh-TW" sz="1800" dirty="0"/>
              <a:t>樣本平均值變小；</a:t>
            </a:r>
          </a:p>
          <a:p>
            <a:pPr marL="109728" indent="0" fontAlgn="auto">
              <a:buFont typeface="Calibri" panose="020F0502020204030204" pitchFamily="34" charset="0"/>
              <a:buNone/>
            </a:pPr>
            <a:r>
              <a:rPr lang="en-US" altLang="zh-TW" sz="1800" dirty="0"/>
              <a:t>   (4)</a:t>
            </a:r>
            <a:r>
              <a:rPr lang="zh-TW" altLang="en-US" sz="1800" dirty="0"/>
              <a:t> </a:t>
            </a:r>
            <a:r>
              <a:rPr lang="zh-TW" altLang="zh-TW" sz="1800" dirty="0"/>
              <a:t>全距變大。</a:t>
            </a:r>
            <a:endParaRPr lang="en-US" altLang="zh-TW" sz="1800" dirty="0"/>
          </a:p>
          <a:p>
            <a:pPr marL="109728" indent="0" fontAlgn="auto">
              <a:buFont typeface="Calibri" panose="020F0502020204030204" pitchFamily="34" charset="0"/>
              <a:buNone/>
            </a:pPr>
            <a:endParaRPr lang="en-US" altLang="zh-TW" sz="1800" dirty="0"/>
          </a:p>
          <a:p>
            <a:pPr marL="109728" indent="0" fontAlgn="auto">
              <a:buFont typeface="Calibri" panose="020F0502020204030204" pitchFamily="34" charset="0"/>
              <a:buNone/>
            </a:pPr>
            <a:r>
              <a:rPr lang="en-US" altLang="zh-TW" sz="1800" dirty="0"/>
              <a:t>2. </a:t>
            </a:r>
            <a:r>
              <a:rPr lang="zh-TW" altLang="zh-TW" sz="1800" dirty="0"/>
              <a:t>關於母體平均值的</a:t>
            </a:r>
            <a:r>
              <a:rPr lang="en-US" altLang="zh-TW" sz="1800" dirty="0"/>
              <a:t>95%</a:t>
            </a:r>
            <a:r>
              <a:rPr lang="zh-TW" altLang="zh-TW" sz="1800" dirty="0"/>
              <a:t>信賴區間，請解釋下列敘述何者為真或錯誤</a:t>
            </a:r>
            <a:r>
              <a:rPr lang="en-US" altLang="zh-TW" sz="1800" dirty="0"/>
              <a:t>:</a:t>
            </a:r>
          </a:p>
          <a:p>
            <a:pPr marL="109728" indent="0" fontAlgn="auto">
              <a:buFont typeface="Calibri" panose="020F0502020204030204" pitchFamily="34" charset="0"/>
              <a:buNone/>
            </a:pPr>
            <a:r>
              <a:rPr lang="en-US" altLang="zh-TW" sz="1800" dirty="0"/>
              <a:t>   (1) </a:t>
            </a:r>
            <a:r>
              <a:rPr lang="zh-TW" altLang="zh-TW" sz="1800" dirty="0"/>
              <a:t>此信賴區間會包含</a:t>
            </a:r>
            <a:r>
              <a:rPr lang="en-US" altLang="zh-TW" sz="1800" dirty="0"/>
              <a:t>95%</a:t>
            </a:r>
            <a:r>
              <a:rPr lang="zh-TW" altLang="zh-TW" sz="1800" dirty="0"/>
              <a:t>的觀測資料；</a:t>
            </a:r>
          </a:p>
          <a:p>
            <a:pPr marL="109728" indent="0" fontAlgn="auto">
              <a:buFont typeface="Calibri" panose="020F0502020204030204" pitchFamily="34" charset="0"/>
              <a:buNone/>
            </a:pPr>
            <a:r>
              <a:rPr lang="en-US" altLang="zh-TW" sz="1800" dirty="0"/>
              <a:t>   (2) 95%</a:t>
            </a:r>
            <a:r>
              <a:rPr lang="zh-TW" altLang="zh-TW" sz="1800" dirty="0"/>
              <a:t>信賴區間會比</a:t>
            </a:r>
            <a:r>
              <a:rPr lang="en-US" altLang="zh-TW" sz="1800" dirty="0"/>
              <a:t>99%</a:t>
            </a:r>
            <a:r>
              <a:rPr lang="zh-TW" altLang="zh-TW" sz="1800" dirty="0"/>
              <a:t>信賴區間寬；</a:t>
            </a:r>
          </a:p>
          <a:p>
            <a:pPr marL="109728" indent="0" fontAlgn="auto">
              <a:buFont typeface="Calibri" panose="020F0502020204030204" pitchFamily="34" charset="0"/>
              <a:buNone/>
            </a:pPr>
            <a:r>
              <a:rPr lang="en-US" altLang="zh-TW" sz="1800" dirty="0"/>
              <a:t>   (3) </a:t>
            </a:r>
            <a:r>
              <a:rPr lang="zh-TW" altLang="zh-TW" sz="1800" dirty="0"/>
              <a:t>此區間包含樣本平均值的機率為</a:t>
            </a:r>
            <a:r>
              <a:rPr lang="en-US" altLang="zh-TW" sz="1800" dirty="0"/>
              <a:t>1</a:t>
            </a:r>
            <a:r>
              <a:rPr lang="zh-TW" altLang="zh-TW" sz="1800" dirty="0"/>
              <a:t>；</a:t>
            </a:r>
          </a:p>
          <a:p>
            <a:pPr marL="109728" indent="0" fontAlgn="auto">
              <a:buFont typeface="Calibri" panose="020F0502020204030204" pitchFamily="34" charset="0"/>
              <a:buNone/>
            </a:pPr>
            <a:r>
              <a:rPr lang="en-US" altLang="zh-TW" sz="1800" dirty="0"/>
              <a:t>   (4) </a:t>
            </a:r>
            <a:r>
              <a:rPr lang="zh-TW" altLang="zh-TW" sz="1800" dirty="0"/>
              <a:t>重複抽樣計算此信賴區間，大概有</a:t>
            </a:r>
            <a:r>
              <a:rPr lang="en-US" altLang="zh-TW" sz="1800" dirty="0"/>
              <a:t>95%</a:t>
            </a:r>
            <a:r>
              <a:rPr lang="zh-TW" altLang="zh-TW" sz="1800" dirty="0"/>
              <a:t>的區間會</a:t>
            </a:r>
            <a:endParaRPr lang="en-US" altLang="zh-TW" sz="1800" dirty="0"/>
          </a:p>
          <a:p>
            <a:pPr marL="109728" indent="0" fontAlgn="auto">
              <a:buFont typeface="Calibri" panose="020F0502020204030204" pitchFamily="34" charset="0"/>
              <a:buNone/>
            </a:pPr>
            <a:r>
              <a:rPr lang="en-US" altLang="zh-TW" sz="1800" dirty="0"/>
              <a:t>        </a:t>
            </a:r>
            <a:r>
              <a:rPr lang="zh-TW" altLang="zh-TW" sz="1800" dirty="0"/>
              <a:t>包含母體平均值；</a:t>
            </a:r>
          </a:p>
          <a:p>
            <a:pPr marL="109728" indent="0" fontAlgn="auto">
              <a:buFont typeface="Calibri" panose="020F0502020204030204" pitchFamily="34" charset="0"/>
              <a:buNone/>
            </a:pPr>
            <a:r>
              <a:rPr lang="en-US" altLang="zh-TW" sz="1800" dirty="0"/>
              <a:t>   (5)</a:t>
            </a:r>
            <a:r>
              <a:rPr lang="zh-TW" altLang="zh-TW" sz="1800" dirty="0"/>
              <a:t>信賴區間可當成評估估計值精密度的指標。</a:t>
            </a:r>
          </a:p>
        </p:txBody>
      </p:sp>
    </p:spTree>
    <p:extLst>
      <p:ext uri="{BB962C8B-B14F-4D97-AF65-F5344CB8AC3E}">
        <p14:creationId xmlns:p14="http://schemas.microsoft.com/office/powerpoint/2010/main" val="5216975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53752"/>
            <a:ext cx="8229600" cy="1143000"/>
          </a:xfrm>
        </p:spPr>
        <p:txBody>
          <a:bodyPr/>
          <a:lstStyle/>
          <a:p>
            <a:r>
              <a:rPr lang="zh-TW" altLang="zh-TW" dirty="0">
                <a:effectLst/>
              </a:rPr>
              <a:t>作業</a:t>
            </a:r>
            <a:r>
              <a:rPr lang="en-US" altLang="zh-TW" dirty="0">
                <a:effectLst/>
              </a:rPr>
              <a:t>(3~5)</a:t>
            </a:r>
            <a:endParaRPr lang="zh-TW" altLang="en-US" dirty="0"/>
          </a:p>
        </p:txBody>
      </p:sp>
      <p:sp>
        <p:nvSpPr>
          <p:cNvPr id="2" name="內容版面配置區 1"/>
          <p:cNvSpPr>
            <a:spLocks noGrp="1"/>
          </p:cNvSpPr>
          <p:nvPr>
            <p:ph idx="1"/>
          </p:nvPr>
        </p:nvSpPr>
        <p:spPr>
          <a:xfrm>
            <a:off x="240060" y="1884255"/>
            <a:ext cx="8663880" cy="4744463"/>
          </a:xfrm>
        </p:spPr>
        <p:txBody>
          <a:bodyPr>
            <a:noAutofit/>
          </a:bodyPr>
          <a:lstStyle/>
          <a:p>
            <a:pPr marL="109728" lvl="0" indent="0">
              <a:lnSpc>
                <a:spcPct val="110000"/>
              </a:lnSpc>
              <a:spcBef>
                <a:spcPts val="1200"/>
              </a:spcBef>
              <a:buNone/>
            </a:pPr>
            <a:r>
              <a:rPr lang="en-US" altLang="zh-TW" dirty="0"/>
              <a:t>3. </a:t>
            </a:r>
            <a:r>
              <a:rPr lang="zh-TW" altLang="zh-TW" dirty="0"/>
              <a:t>請解釋何謂信心水準及信賴區間</a:t>
            </a:r>
            <a:r>
              <a:rPr lang="en-US" altLang="zh-TW" dirty="0"/>
              <a:t>?</a:t>
            </a:r>
          </a:p>
          <a:p>
            <a:pPr marL="109728" lvl="0" indent="0">
              <a:lnSpc>
                <a:spcPct val="110000"/>
              </a:lnSpc>
              <a:spcBef>
                <a:spcPts val="1200"/>
              </a:spcBef>
              <a:buNone/>
            </a:pPr>
            <a:endParaRPr lang="zh-TW" altLang="zh-TW" dirty="0"/>
          </a:p>
          <a:p>
            <a:pPr marL="109728" lvl="0" indent="0">
              <a:lnSpc>
                <a:spcPct val="110000"/>
              </a:lnSpc>
              <a:spcBef>
                <a:spcPts val="1200"/>
              </a:spcBef>
              <a:buNone/>
            </a:pPr>
            <a:r>
              <a:rPr lang="en-US" altLang="zh-TW" dirty="0"/>
              <a:t>4. </a:t>
            </a:r>
            <a:r>
              <a:rPr lang="zh-TW" altLang="zh-TW" dirty="0"/>
              <a:t>請敘述統計學上型一及型二錯誤之意義。</a:t>
            </a:r>
            <a:endParaRPr lang="en-US" altLang="zh-TW" dirty="0"/>
          </a:p>
          <a:p>
            <a:pPr marL="109728" lvl="0" indent="0">
              <a:lnSpc>
                <a:spcPct val="110000"/>
              </a:lnSpc>
              <a:spcBef>
                <a:spcPts val="1200"/>
              </a:spcBef>
              <a:buNone/>
            </a:pPr>
            <a:endParaRPr lang="en-US" altLang="zh-TW" dirty="0"/>
          </a:p>
          <a:p>
            <a:pPr marL="109728" indent="0">
              <a:lnSpc>
                <a:spcPct val="110000"/>
              </a:lnSpc>
              <a:spcBef>
                <a:spcPts val="1200"/>
              </a:spcBef>
              <a:buNone/>
            </a:pPr>
            <a:r>
              <a:rPr lang="en-US" altLang="zh-TW" dirty="0"/>
              <a:t>5. </a:t>
            </a:r>
            <a:r>
              <a:rPr lang="zh-TW" altLang="zh-TW" dirty="0"/>
              <a:t>請解釋何謂顯著水準</a:t>
            </a:r>
            <a:r>
              <a:rPr lang="en-US" altLang="zh-TW" dirty="0"/>
              <a:t>α</a:t>
            </a:r>
            <a:r>
              <a:rPr lang="zh-TW" altLang="zh-TW" dirty="0"/>
              <a:t>及</a:t>
            </a:r>
            <a:r>
              <a:rPr lang="en-US" altLang="zh-TW" dirty="0"/>
              <a:t>P</a:t>
            </a:r>
            <a:r>
              <a:rPr lang="zh-TW" altLang="zh-TW" dirty="0"/>
              <a:t>值</a:t>
            </a:r>
            <a:r>
              <a:rPr lang="en-US" altLang="zh-TW" dirty="0"/>
              <a:t>?</a:t>
            </a:r>
            <a:r>
              <a:rPr lang="zh-TW" altLang="zh-TW" dirty="0"/>
              <a:t>當</a:t>
            </a:r>
            <a:r>
              <a:rPr lang="en-US" altLang="zh-TW" dirty="0"/>
              <a:t>P</a:t>
            </a:r>
            <a:r>
              <a:rPr lang="zh-TW" altLang="zh-TW" dirty="0"/>
              <a:t>值小於顯著水準</a:t>
            </a:r>
            <a:r>
              <a:rPr lang="en-US" altLang="zh-TW" dirty="0"/>
              <a:t>α</a:t>
            </a:r>
            <a:r>
              <a:rPr lang="zh-TW" altLang="zh-TW" dirty="0"/>
              <a:t>時，我們的決策應該是接受虛無假設或對立假設</a:t>
            </a:r>
            <a:r>
              <a:rPr lang="en-US" altLang="zh-TW" dirty="0"/>
              <a:t>?</a:t>
            </a:r>
            <a:endParaRPr lang="zh-TW" altLang="zh-TW" dirty="0"/>
          </a:p>
          <a:p>
            <a:pPr marL="109728" lvl="0" indent="0">
              <a:buNone/>
            </a:pPr>
            <a:endParaRPr lang="zh-TW" altLang="zh-TW" dirty="0"/>
          </a:p>
          <a:p>
            <a:pPr marL="109728" indent="0">
              <a:buNone/>
            </a:pPr>
            <a:endParaRPr lang="zh-TW" altLang="en-US" dirty="0"/>
          </a:p>
        </p:txBody>
      </p:sp>
      <p:sp>
        <p:nvSpPr>
          <p:cNvPr id="3" name="投影片編號版面配置區 2"/>
          <p:cNvSpPr>
            <a:spLocks noGrp="1"/>
          </p:cNvSpPr>
          <p:nvPr>
            <p:ph type="sldNum" sz="quarter" idx="12"/>
          </p:nvPr>
        </p:nvSpPr>
        <p:spPr/>
        <p:txBody>
          <a:bodyPr/>
          <a:lstStyle/>
          <a:p>
            <a:pPr>
              <a:defRPr/>
            </a:pPr>
            <a:endParaRPr lang="en-US" altLang="zh-TW"/>
          </a:p>
        </p:txBody>
      </p:sp>
    </p:spTree>
    <p:extLst>
      <p:ext uri="{BB962C8B-B14F-4D97-AF65-F5344CB8AC3E}">
        <p14:creationId xmlns:p14="http://schemas.microsoft.com/office/powerpoint/2010/main" val="491114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11">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7" name="Rectangle 13">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28" name="Straight Connector 15">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17">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字方塊 1"/>
          <p:cNvSpPr txBox="1"/>
          <p:nvPr/>
        </p:nvSpPr>
        <p:spPr>
          <a:xfrm>
            <a:off x="6105832" y="639097"/>
            <a:ext cx="2551471" cy="3686015"/>
          </a:xfrm>
          <a:prstGeom prst="rect">
            <a:avLst/>
          </a:prstGeom>
        </p:spPr>
        <p:txBody>
          <a:bodyPr vert="horz" lIns="91440" tIns="45720" rIns="91440" bIns="45720" rtlCol="0" anchor="b">
            <a:normAutofit/>
          </a:bodyPr>
          <a:lstStyle/>
          <a:p>
            <a:pPr>
              <a:lnSpc>
                <a:spcPct val="85000"/>
              </a:lnSpc>
              <a:spcAft>
                <a:spcPts val="600"/>
              </a:spcAft>
            </a:pPr>
            <a:r>
              <a:rPr lang="en-US" altLang="zh-TW" sz="5700" spc="-50">
                <a:solidFill>
                  <a:schemeClr val="tx1">
                    <a:lumMod val="85000"/>
                    <a:lumOff val="15000"/>
                  </a:schemeClr>
                </a:solidFill>
                <a:latin typeface="+mj-lt"/>
                <a:ea typeface="+mj-ea"/>
                <a:cs typeface="+mj-cs"/>
              </a:rPr>
              <a:t>Thank you</a:t>
            </a:r>
          </a:p>
        </p:txBody>
      </p:sp>
      <p:pic>
        <p:nvPicPr>
          <p:cNvPr id="30" name="Graphic 8" descr="Smiling Face with No Fill">
            <a:extLst>
              <a:ext uri="{FF2B5EF4-FFF2-40B4-BE49-F238E27FC236}">
                <a16:creationId xmlns:a16="http://schemas.microsoft.com/office/drawing/2014/main" id="{9E9940E7-A937-48F7-73F9-7502F9008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0502" y="640081"/>
            <a:ext cx="5054156" cy="5054156"/>
          </a:xfrm>
          <a:prstGeom prst="rect">
            <a:avLst/>
          </a:prstGeom>
        </p:spPr>
      </p:pic>
      <p:cxnSp>
        <p:nvCxnSpPr>
          <p:cNvPr id="31" name="Straight Connector 19">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56978" y="4343400"/>
            <a:ext cx="24003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32" name="Rectangle 21">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33" name="Rectangle 23">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5" name="投影片編號版面配置區 4"/>
          <p:cNvSpPr>
            <a:spLocks noGrp="1"/>
          </p:cNvSpPr>
          <p:nvPr>
            <p:ph type="sldNum" sz="quarter" idx="12"/>
          </p:nvPr>
        </p:nvSpPr>
        <p:spPr>
          <a:xfrm>
            <a:off x="7425343" y="6459785"/>
            <a:ext cx="984019" cy="365125"/>
          </a:xfrm>
        </p:spPr>
        <p:txBody>
          <a:bodyPr vert="horz" lIns="91440" tIns="45720" rIns="91440" bIns="45720" rtlCol="0" anchor="ctr">
            <a:normAutofit/>
          </a:bodyPr>
          <a:lstStyle/>
          <a:p>
            <a:pPr>
              <a:spcAft>
                <a:spcPts val="600"/>
              </a:spcAft>
              <a:defRPr/>
            </a:pPr>
            <a:r>
              <a:rPr lang="en-US" altLang="zh-TW">
                <a:latin typeface="+mn-lt"/>
                <a:ea typeface="+mn-ea"/>
              </a:rPr>
              <a:t>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30"/>
                                        </p:tgtEl>
                                        <p:attrNameLst>
                                          <p:attrName>style.visibility</p:attrName>
                                        </p:attrNameLst>
                                      </p:cBhvr>
                                      <p:to>
                                        <p:strVal val="visible"/>
                                      </p:to>
                                    </p:set>
                                    <p:animEffect transition="in" filter="fade">
                                      <p:cBhvr>
                                        <p:cTn id="7" dur="7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回顧">
  <a:themeElements>
    <a:clrScheme name="回顧">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D1C8DFE-81FD-4438-82CF-C81EE70EEC3F}">
  <we:reference id="wa200003157" version="1.0.0.0" store="zh-TW" storeType="OMEX"/>
  <we:alternateReferences>
    <we:reference id="wa200003157" version="1.0.0.0" store="WA200003157"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6B18D22-0E18-42AC-8B6E-B98E2CFFDCC5}">
  <we:reference id="wa200005566" version="3.0.0.2" store="zh-TW"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0</TotalTime>
  <Words>2393</Words>
  <Application>Microsoft Office PowerPoint</Application>
  <PresentationFormat>如螢幕大小 (4:3)</PresentationFormat>
  <Paragraphs>212</Paragraphs>
  <Slides>29</Slides>
  <Notes>2</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2</vt:i4>
      </vt:variant>
      <vt:variant>
        <vt:lpstr>投影片標題</vt:lpstr>
      </vt:variant>
      <vt:variant>
        <vt:i4>29</vt:i4>
      </vt:variant>
    </vt:vector>
  </HeadingPairs>
  <TitlesOfParts>
    <vt:vector size="39" baseType="lpstr">
      <vt:lpstr>標楷體</vt:lpstr>
      <vt:lpstr>Arial</vt:lpstr>
      <vt:lpstr>Calibri</vt:lpstr>
      <vt:lpstr>Calibri Light</vt:lpstr>
      <vt:lpstr>Cambria Math</vt:lpstr>
      <vt:lpstr>Times New Roman</vt:lpstr>
      <vt:lpstr>Wingdings</vt:lpstr>
      <vt:lpstr>回顧</vt:lpstr>
      <vt:lpstr>方程式</vt:lpstr>
      <vt:lpstr>Equation</vt:lpstr>
      <vt:lpstr>PowerPoint 簡報</vt:lpstr>
      <vt:lpstr>關鍵字</vt:lpstr>
      <vt:lpstr>PowerPoint 簡報</vt:lpstr>
      <vt:lpstr>PowerPoint 簡報</vt:lpstr>
      <vt:lpstr>PowerPoint 簡報</vt:lpstr>
      <vt:lpstr>點估計 (Point Estimates)</vt:lpstr>
      <vt:lpstr>母體參數值之信賴區間估計</vt:lpstr>
      <vt:lpstr>母體平均值之信賴區間估計</vt:lpstr>
      <vt:lpstr>PowerPoint 簡報</vt:lpstr>
      <vt:lpstr>母體平均值之信賴區間估計</vt:lpstr>
      <vt:lpstr>母體平均值之信賴區間估計</vt:lpstr>
      <vt:lpstr>信賴區間的意義</vt:lpstr>
      <vt:lpstr>假設檢定(Hypothesis Testing)</vt:lpstr>
      <vt:lpstr>統計假設檢定(Statistical Hypothesis Testing)</vt:lpstr>
      <vt:lpstr>PowerPoint 簡報</vt:lpstr>
      <vt:lpstr>兩類型錯誤(two types of error)</vt:lpstr>
      <vt:lpstr>型一與型二錯誤(Type Ⅰ &amp; Type Ⅱ Error)</vt:lpstr>
      <vt:lpstr>兩種型式錯誤</vt:lpstr>
      <vt:lpstr>兩種型式錯誤的關係</vt:lpstr>
      <vt:lpstr>PowerPoint 簡報</vt:lpstr>
      <vt:lpstr>P值(P-values)計算</vt:lpstr>
      <vt:lpstr>P值(P-values)計算</vt:lpstr>
      <vt:lpstr>PowerPoint 簡報</vt:lpstr>
      <vt:lpstr>檢定方法的建立步驟</vt:lpstr>
      <vt:lpstr>PowerPoint 簡報</vt:lpstr>
      <vt:lpstr>PowerPoint 簡報</vt:lpstr>
      <vt:lpstr>PowerPoint 簡報</vt:lpstr>
      <vt:lpstr>作業(3~5)</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無投影片標題</dc:title>
  <dc:creator>I-Chen Chang</dc:creator>
  <cp:lastModifiedBy>YK Lin</cp:lastModifiedBy>
  <cp:revision>359</cp:revision>
  <dcterms:created xsi:type="dcterms:W3CDTF">2002-10-31T16:48:07Z</dcterms:created>
  <dcterms:modified xsi:type="dcterms:W3CDTF">2025-03-07T00:47:56Z</dcterms:modified>
</cp:coreProperties>
</file>