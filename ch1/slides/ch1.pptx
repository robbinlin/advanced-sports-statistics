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3.tmp" ContentType="image/png"/>
  <Override PartName="/ppt/media/image14.tmp" ContentType="image/png"/>
  <Override PartName="/ppt/media/image15.tmp" ContentType="image/png"/>
  <Override PartName="/ppt/media/image16.tmp" ContentType="image/png"/>
  <Override PartName="/ppt/media/image17.tmp" ContentType="image/png"/>
  <Override PartName="/ppt/media/image6.tmp" ContentType="image/png"/>
  <Override PartName="/ppt/media/image8.tmp" ContentType="image/png"/>
  <Override PartName="/ppt/media/image9.tmp" ContentType="image/p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40"/>
  </p:notesMasterIdLst>
  <p:sldIdLst>
    <p:sldId id="307" r:id="rId2"/>
    <p:sldId id="256" r:id="rId6"/>
    <p:sldId id="304" r:id="rId7"/>
    <p:sldId id="257" r:id="rId8"/>
    <p:sldId id="266" r:id="rId9"/>
    <p:sldId id="258" r:id="rId10"/>
    <p:sldId id="261" r:id="rId11"/>
    <p:sldId id="262" r:id="rId12"/>
    <p:sldId id="263" r:id="rId13"/>
    <p:sldId id="265" r:id="rId14"/>
    <p:sldId id="283" r:id="rId15"/>
    <p:sldId id="267" r:id="rId16"/>
    <p:sldId id="284" r:id="rId17"/>
    <p:sldId id="270" r:id="rId18"/>
    <p:sldId id="289" r:id="rId19"/>
    <p:sldId id="272" r:id="rId20"/>
    <p:sldId id="294" r:id="rId21"/>
    <p:sldId id="273" r:id="rId22"/>
    <p:sldId id="290" r:id="rId23"/>
    <p:sldId id="274" r:id="rId24"/>
    <p:sldId id="275" r:id="rId25"/>
    <p:sldId id="316" r:id="rId26"/>
    <p:sldId id="277" r:id="rId27"/>
    <p:sldId id="291" r:id="rId28"/>
    <p:sldId id="278" r:id="rId29"/>
    <p:sldId id="296" r:id="rId30"/>
    <p:sldId id="279" r:id="rId31"/>
    <p:sldId id="297" r:id="rId32"/>
    <p:sldId id="281" r:id="rId33"/>
    <p:sldId id="300" r:id="rId34"/>
    <p:sldId id="299" r:id="rId35"/>
    <p:sldId id="311" r:id="rId36"/>
    <p:sldId id="315" r:id="rId37"/>
    <p:sldId id="312" r:id="rId38"/>
    <p:sldId id="303" r:id="rId39"/>
  </p:sldIdLst>
  <p:sldSz cx="9144000" cy="6858000" type="screen4x3"/>
  <p:notesSz cx="6858000" cy="9144000"/>
  <p:custDataLst>
    <p:tags r:id="rId41"/>
  </p:custData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DE1E4276-B4B5-4F2C-91DF-7B828212285F}">
          <p14:sldIdLst>
            <p14:sldId id="307"/>
            <p14:sldId id="320"/>
            <p14:sldId id="308"/>
            <p14:sldId id="309"/>
            <p14:sldId id="256"/>
            <p14:sldId id="304"/>
            <p14:sldId id="257"/>
            <p14:sldId id="266"/>
            <p14:sldId id="258"/>
            <p14:sldId id="261"/>
            <p14:sldId id="262"/>
            <p14:sldId id="263"/>
            <p14:sldId id="265"/>
          </p14:sldIdLst>
        </p14:section>
        <p14:section name="未命名的章節" id="{0FEB707E-86E5-44D0-A70D-0307CAF22B05}">
          <p14:sldIdLst>
            <p14:sldId id="283"/>
            <p14:sldId id="267"/>
            <p14:sldId id="284"/>
            <p14:sldId id="270"/>
            <p14:sldId id="289"/>
            <p14:sldId id="272"/>
            <p14:sldId id="294"/>
            <p14:sldId id="273"/>
            <p14:sldId id="290"/>
            <p14:sldId id="274"/>
            <p14:sldId id="275"/>
            <p14:sldId id="316"/>
            <p14:sldId id="277"/>
            <p14:sldId id="291"/>
            <p14:sldId id="278"/>
            <p14:sldId id="296"/>
            <p14:sldId id="279"/>
            <p14:sldId id="297"/>
            <p14:sldId id="281"/>
            <p14:sldId id="300"/>
            <p14:sldId id="299"/>
            <p14:sldId id="311"/>
            <p14:sldId id="315"/>
            <p14:sldId id="312"/>
            <p14:sldId id="3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862511-F152-4BA5-8873-1225875C6259}" v="21" dt="2025-03-07T00:25:56.8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3" autoAdjust="0"/>
    <p:restoredTop sz="93112" autoAdjust="0"/>
  </p:normalViewPr>
  <p:slideViewPr>
    <p:cSldViewPr>
      <p:cViewPr varScale="1">
        <p:scale>
          <a:sx n="104" d="100"/>
          <a:sy n="104" d="100"/>
        </p:scale>
        <p:origin x="183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60117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tags" Target="tags/tag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D626F1-FBD8-493A-9CA1-DD5D47278114}" type="datetimeFigureOut">
              <a:rPr lang="zh-TW" altLang="en-US" smtClean="0"/>
              <a:pPr/>
              <a:t>2026/3/6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7D1DB4-53FC-4FFB-A815-5EE85BC9630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0312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7D1DB4-53FC-4FFB-A815-5EE85BC9630F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648607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2.wdp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2.wdp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2.wdp"/><Relationship Id="rId4" Type="http://schemas.openxmlformats.org/officeDocument/2006/relationships/image" Target="../media/image2.png"/><Relationship Id="rId5" Type="http://schemas.microsoft.com/office/2007/relationships/hdphoto" Target="../media/hdphoto1.wdp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2.wdp"/><Relationship Id="rId4" Type="http://schemas.openxmlformats.org/officeDocument/2006/relationships/image" Target="../media/image2.png"/><Relationship Id="rId5" Type="http://schemas.microsoft.com/office/2007/relationships/hdphoto" Target="../media/hdphoto1.wdp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35E5-66BE-4E0D-9F21-5253C4F4758A}" type="datetime1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68121D2-9246-4B52-9877-10E6A7AF0C6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9670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+mj-ea"/>
                <a:ea typeface="+mj-ea"/>
              </a:defRPr>
            </a:lvl1pPr>
            <a:lvl2pPr>
              <a:defRPr sz="24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F53D1-0579-48FE-A808-7A4F139E1DBB}" type="datetime1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121D2-9246-4B52-9877-10E6A7AF0C6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227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4E69E94-0F6C-4B62-8BDF-06A0F1FA1CAC}" type="datetime1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zh-TW" alt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68121D2-9246-4B52-9877-10E6A7AF0C6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9778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6F44-5772-4557-94EC-AD985013FED8}" type="datetime1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121D2-9246-4B52-9877-10E6A7AF0C6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173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B3E1C-6746-44B6-AC20-98C94C876A97}" type="datetime1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121D2-9246-4B52-9877-10E6A7AF0C6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2181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8BFFE44E-2251-4F06-9D4F-3279CB874D3A}" type="datetime1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121D2-9246-4B52-9877-10E6A7AF0C6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0764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23E35-4CC9-4DFF-A03D-75E3E043585E}" type="datetime1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121D2-9246-4B52-9877-10E6A7AF0C6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5236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E7D46-59C1-4E61-867F-EF2696701FE3}" type="datetime1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121D2-9246-4B52-9877-10E6A7AF0C6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0308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8FAD2-7441-49B4-BB83-B93CCD6DC674}" type="datetime1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121D2-9246-4B52-9877-10E6A7AF0C6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521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3534B-CAFE-4B34-AD6F-E0CF9F02273A}" type="datetime1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121D2-9246-4B52-9877-10E6A7AF0C6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5934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0E82B-ED45-4E27-AE31-D1E4089550F1}" type="datetime1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121D2-9246-4B52-9877-10E6A7AF0C6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658473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2.png"/><Relationship Id="rId14" Type="http://schemas.microsoft.com/office/2007/relationships/hdphoto" Target="../media/hdphoto1.wdp"/><Relationship Id="rId15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F2A128E-1718-4F04-8697-D7F2A33239AC}" type="datetime1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68121D2-9246-4B52-9877-10E6A7AF0C6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8772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robbinlin@ntsu.edu.tw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tmp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tmp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9.tmp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ibm.com/tw-zh/products/spss-statistics/base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tmp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r-web.com.tw/stat/step1.php?method=summary_stat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tmp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r-web.com.tw/stat/step1.php?method=summary_stat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tmp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r-web.com.tw/stat/step1.php?method=summary_stat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tmp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r-web.com.tw/stat/step1.php?method=summary_stat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tmp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bit.ly/3sBNc9Z" TargetMode="External"/><Relationship Id="rId3" Type="http://schemas.openxmlformats.org/officeDocument/2006/relationships/hyperlink" Target="https://bit.ly/3ZaIFrj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99592" y="1988840"/>
            <a:ext cx="7772400" cy="1829761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>
                <a:latin typeface="+mj-ea"/>
                <a:ea typeface="+mj-ea"/>
              </a:rPr>
              <a:t>高等體育統計學</a:t>
            </a:r>
            <a:br>
              <a:rPr lang="en-US" altLang="zh-TW" dirty="0">
                <a:latin typeface="+mj-ea"/>
                <a:ea typeface="+mj-ea"/>
              </a:rPr>
            </a:br>
            <a:endParaRPr lang="zh-TW" altLang="en-US" dirty="0">
              <a:latin typeface="+mj-ea"/>
              <a:ea typeface="+mj-ea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39552" y="4556541"/>
            <a:ext cx="7772400" cy="1526327"/>
          </a:xfrm>
        </p:spPr>
        <p:txBody>
          <a:bodyPr>
            <a:normAutofit fontScale="32500" lnSpcReduction="20000"/>
          </a:bodyPr>
          <a:lstStyle/>
          <a:p>
            <a:pPr algn="ctr"/>
            <a:endParaRPr lang="en-US" altLang="zh-TW" dirty="0">
              <a:latin typeface="+mj-ea"/>
              <a:ea typeface="+mj-ea"/>
            </a:endParaRPr>
          </a:p>
          <a:p>
            <a:pPr algn="ctr"/>
            <a:r>
              <a:rPr lang="zh-TW" altLang="en-US" sz="7200" dirty="0">
                <a:latin typeface="+mj-ea"/>
                <a:ea typeface="+mj-ea"/>
              </a:rPr>
              <a:t>林彥光 教授</a:t>
            </a:r>
            <a:endParaRPr lang="en-US" altLang="zh-TW" sz="7200" dirty="0">
              <a:latin typeface="+mj-ea"/>
              <a:ea typeface="+mj-ea"/>
            </a:endParaRPr>
          </a:p>
          <a:p>
            <a:pPr algn="ctr"/>
            <a:endParaRPr lang="en-US" altLang="zh-TW" sz="7200" dirty="0">
              <a:latin typeface="+mj-ea"/>
              <a:ea typeface="+mj-ea"/>
            </a:endParaRPr>
          </a:p>
          <a:p>
            <a:pPr algn="ctr"/>
            <a:r>
              <a:rPr lang="en-US" altLang="zh-TW" sz="7200" dirty="0">
                <a:latin typeface="+mj-ea"/>
                <a:ea typeface="+mj-ea"/>
                <a:hlinkClick r:id="rId2"/>
              </a:rPr>
              <a:t>robbinlin@ntsu.edu.tw</a:t>
            </a:r>
            <a:endParaRPr lang="en-US" altLang="zh-TW" sz="7200" dirty="0">
              <a:latin typeface="+mj-ea"/>
              <a:ea typeface="+mj-ea"/>
            </a:endParaRPr>
          </a:p>
          <a:p>
            <a:endParaRPr lang="zh-TW" altLang="en-US" dirty="0">
              <a:latin typeface="+mj-ea"/>
              <a:ea typeface="+mj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1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851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11560" y="2204864"/>
            <a:ext cx="7772400" cy="1470025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b="1" dirty="0">
                <a:latin typeface="+mj-ea"/>
                <a:ea typeface="+mj-ea"/>
              </a:rPr>
              <a:t>第一章</a:t>
            </a:r>
            <a:br>
              <a:rPr lang="en-US" altLang="zh-TW" b="1" dirty="0">
                <a:latin typeface="+mj-ea"/>
                <a:ea typeface="+mj-ea"/>
              </a:rPr>
            </a:br>
            <a:r>
              <a:rPr lang="zh-TW" altLang="zh-TW" b="1" dirty="0">
                <a:latin typeface="+mj-ea"/>
                <a:ea typeface="+mj-ea"/>
              </a:rPr>
              <a:t>描述資料特徵的統計量及圖表</a:t>
            </a:r>
            <a:endParaRPr lang="zh-TW" altLang="en-US" dirty="0">
              <a:latin typeface="+mj-ea"/>
              <a:ea typeface="+mj-ea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5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5626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57200" y="116632"/>
            <a:ext cx="7772400" cy="1609344"/>
          </a:xfrm>
        </p:spPr>
        <p:txBody>
          <a:bodyPr/>
          <a:lstStyle/>
          <a:p>
            <a:r>
              <a:rPr lang="zh-TW" altLang="zh-TW" dirty="0">
                <a:latin typeface="+mj-ea"/>
                <a:ea typeface="+mj-ea"/>
              </a:rPr>
              <a:t>關鍵字</a:t>
            </a:r>
            <a:r>
              <a:rPr lang="en-US" altLang="zh-TW" dirty="0">
                <a:latin typeface="+mj-ea"/>
                <a:ea typeface="+mj-ea"/>
              </a:rPr>
              <a:t>(Key words)</a:t>
            </a:r>
            <a:endParaRPr lang="zh-TW" altLang="en-US" dirty="0">
              <a:latin typeface="+mj-ea"/>
              <a:ea typeface="+mj-ea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1481329"/>
            <a:ext cx="3394720" cy="2811768"/>
          </a:xfrm>
        </p:spPr>
        <p:txBody>
          <a:bodyPr>
            <a:normAutofit/>
          </a:bodyPr>
          <a:lstStyle/>
          <a:p>
            <a:r>
              <a:rPr lang="zh-TW" altLang="zh-TW" dirty="0">
                <a:latin typeface="+mj-ea"/>
                <a:ea typeface="+mj-ea"/>
              </a:rPr>
              <a:t>樣本</a:t>
            </a:r>
            <a:endParaRPr lang="en-US" altLang="zh-TW" dirty="0">
              <a:latin typeface="+mj-ea"/>
              <a:ea typeface="+mj-ea"/>
            </a:endParaRPr>
          </a:p>
          <a:p>
            <a:r>
              <a:rPr lang="zh-TW" altLang="zh-TW" dirty="0">
                <a:latin typeface="+mj-ea"/>
                <a:ea typeface="+mj-ea"/>
              </a:rPr>
              <a:t>平均數</a:t>
            </a:r>
            <a:endParaRPr lang="en-US" altLang="zh-TW" dirty="0">
              <a:latin typeface="+mj-ea"/>
              <a:ea typeface="+mj-ea"/>
            </a:endParaRPr>
          </a:p>
          <a:p>
            <a:r>
              <a:rPr lang="zh-TW" altLang="zh-TW" dirty="0">
                <a:latin typeface="+mj-ea"/>
                <a:ea typeface="+mj-ea"/>
              </a:rPr>
              <a:t>比例</a:t>
            </a:r>
            <a:endParaRPr lang="en-US" altLang="zh-TW" dirty="0">
              <a:latin typeface="+mj-ea"/>
              <a:ea typeface="+mj-ea"/>
            </a:endParaRPr>
          </a:p>
          <a:p>
            <a:r>
              <a:rPr lang="zh-TW" altLang="zh-TW" dirty="0">
                <a:latin typeface="+mj-ea"/>
                <a:ea typeface="+mj-ea"/>
              </a:rPr>
              <a:t>總數</a:t>
            </a:r>
            <a:endParaRPr lang="en-US" altLang="zh-TW" dirty="0">
              <a:latin typeface="+mj-ea"/>
              <a:ea typeface="+mj-ea"/>
            </a:endParaRPr>
          </a:p>
          <a:p>
            <a:r>
              <a:rPr lang="zh-TW" altLang="zh-TW" dirty="0">
                <a:latin typeface="+mj-ea"/>
                <a:ea typeface="+mj-ea"/>
              </a:rPr>
              <a:t>眾數</a:t>
            </a:r>
            <a:endParaRPr lang="en-US" altLang="zh-TW" dirty="0">
              <a:latin typeface="+mj-ea"/>
              <a:ea typeface="+mj-ea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6</a:t>
            </a:r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4427984" y="1484784"/>
            <a:ext cx="3672408" cy="2508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zh-TW" altLang="zh-TW" sz="2800" dirty="0">
                <a:latin typeface="+mj-ea"/>
                <a:ea typeface="+mj-ea"/>
              </a:rPr>
              <a:t>中位數</a:t>
            </a:r>
            <a:endParaRPr lang="en-US" altLang="zh-TW" sz="2700" dirty="0">
              <a:latin typeface="+mj-ea"/>
              <a:ea typeface="+mj-ea"/>
            </a:endParaRPr>
          </a:p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zh-TW" altLang="zh-TW" sz="2700" dirty="0">
                <a:latin typeface="+mj-ea"/>
                <a:ea typeface="+mj-ea"/>
              </a:rPr>
              <a:t>全距</a:t>
            </a:r>
            <a:endParaRPr lang="en-US" altLang="zh-TW" sz="2700" dirty="0">
              <a:latin typeface="+mj-ea"/>
              <a:ea typeface="+mj-ea"/>
            </a:endParaRPr>
          </a:p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zh-TW" altLang="zh-TW" sz="2800" dirty="0">
                <a:latin typeface="+mj-ea"/>
                <a:ea typeface="+mj-ea"/>
              </a:rPr>
              <a:t>四分位距</a:t>
            </a:r>
            <a:endParaRPr lang="en-US" altLang="zh-TW" sz="2800" dirty="0">
              <a:latin typeface="+mj-ea"/>
              <a:ea typeface="+mj-ea"/>
            </a:endParaRPr>
          </a:p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zh-TW" altLang="zh-TW" sz="2800" dirty="0">
                <a:latin typeface="+mj-ea"/>
                <a:ea typeface="+mj-ea"/>
              </a:rPr>
              <a:t>標準差</a:t>
            </a:r>
            <a:r>
              <a:rPr lang="en-US" altLang="zh-TW" sz="2800" dirty="0">
                <a:latin typeface="+mj-ea"/>
                <a:ea typeface="+mj-ea"/>
              </a:rPr>
              <a:t>(</a:t>
            </a:r>
            <a:r>
              <a:rPr lang="zh-TW" altLang="zh-TW" sz="2800" dirty="0">
                <a:latin typeface="+mj-ea"/>
                <a:ea typeface="+mj-ea"/>
              </a:rPr>
              <a:t>變異數</a:t>
            </a:r>
            <a:r>
              <a:rPr lang="en-US" altLang="zh-TW" sz="2800" dirty="0">
                <a:latin typeface="+mj-ea"/>
                <a:ea typeface="+mj-ea"/>
              </a:rPr>
              <a:t>)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5163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/>
          </a:bodyPr>
          <a:lstStyle/>
          <a:p>
            <a:r>
              <a:rPr lang="zh-TW" altLang="en-US" b="1" dirty="0">
                <a:latin typeface="+mj-ea"/>
                <a:ea typeface="+mj-ea"/>
              </a:rPr>
              <a:t>描述性統計</a:t>
            </a:r>
            <a:r>
              <a:rPr lang="en-US" altLang="zh-TW" b="1" dirty="0">
                <a:latin typeface="+mj-ea"/>
                <a:ea typeface="+mj-ea"/>
              </a:rPr>
              <a:t>(descriptive statistics)</a:t>
            </a:r>
            <a:r>
              <a:rPr lang="en-US" altLang="zh-TW" dirty="0">
                <a:latin typeface="+mj-ea"/>
                <a:ea typeface="+mj-ea"/>
              </a:rPr>
              <a:t>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zh-TW" altLang="en-US" dirty="0">
                <a:latin typeface="+mj-ea"/>
                <a:ea typeface="+mj-ea"/>
              </a:rPr>
              <a:t>應用統計量或圖表來呈現資料的基本特徵。</a:t>
            </a:r>
            <a:endParaRPr lang="en-US" altLang="zh-TW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zh-TW" altLang="en-US" dirty="0">
                <a:latin typeface="+mj-ea"/>
                <a:ea typeface="+mj-ea"/>
              </a:rPr>
              <a:t> </a:t>
            </a:r>
            <a:endParaRPr lang="en-US" altLang="zh-TW" dirty="0">
              <a:latin typeface="+mj-ea"/>
              <a:ea typeface="+mj-ea"/>
            </a:endParaRPr>
          </a:p>
          <a:p>
            <a:r>
              <a:rPr lang="zh-TW" altLang="en-US" dirty="0">
                <a:latin typeface="+mj-ea"/>
                <a:ea typeface="+mj-ea"/>
              </a:rPr>
              <a:t>描述性統計有別於</a:t>
            </a:r>
            <a:r>
              <a:rPr lang="zh-TW" altLang="en-US" b="1" dirty="0">
                <a:latin typeface="+mj-ea"/>
                <a:ea typeface="+mj-ea"/>
              </a:rPr>
              <a:t>推論性統計</a:t>
            </a:r>
            <a:r>
              <a:rPr lang="en-US" altLang="zh-TW" b="1" dirty="0">
                <a:latin typeface="+mj-ea"/>
                <a:ea typeface="+mj-ea"/>
              </a:rPr>
              <a:t>(inferential statistics)</a:t>
            </a:r>
            <a:r>
              <a:rPr lang="en-US" altLang="zh-TW" dirty="0">
                <a:latin typeface="+mj-ea"/>
                <a:ea typeface="+mj-ea"/>
              </a:rPr>
              <a:t>,</a:t>
            </a:r>
            <a:r>
              <a:rPr lang="zh-TW" altLang="en-US" b="1" dirty="0">
                <a:solidFill>
                  <a:srgbClr val="FF0000"/>
                </a:solidFill>
                <a:latin typeface="+mj-ea"/>
                <a:ea typeface="+mj-ea"/>
              </a:rPr>
              <a:t>推論性統計</a:t>
            </a:r>
            <a:r>
              <a:rPr lang="zh-TW" altLang="en-US" dirty="0">
                <a:latin typeface="+mj-ea"/>
                <a:ea typeface="+mj-ea"/>
              </a:rPr>
              <a:t>應用有限的</a:t>
            </a:r>
            <a:r>
              <a:rPr lang="zh-TW" altLang="en-US" b="1" dirty="0">
                <a:latin typeface="+mj-ea"/>
                <a:ea typeface="+mj-ea"/>
              </a:rPr>
              <a:t>樣本</a:t>
            </a:r>
            <a:r>
              <a:rPr lang="en-US" altLang="zh-TW" b="1" dirty="0">
                <a:latin typeface="+mj-ea"/>
                <a:ea typeface="+mj-ea"/>
              </a:rPr>
              <a:t>(sample)</a:t>
            </a:r>
            <a:r>
              <a:rPr lang="zh-TW" altLang="en-US" dirty="0">
                <a:latin typeface="+mj-ea"/>
                <a:ea typeface="+mj-ea"/>
              </a:rPr>
              <a:t>資料去作推論。</a:t>
            </a:r>
            <a:endParaRPr lang="en-US" altLang="zh-TW" dirty="0">
              <a:latin typeface="+mj-ea"/>
              <a:ea typeface="+mj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7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3352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/>
          <a:lstStyle/>
          <a:p>
            <a:r>
              <a:rPr lang="zh-TW" altLang="en-US" dirty="0">
                <a:latin typeface="+mj-ea"/>
                <a:ea typeface="+mj-ea"/>
              </a:rPr>
              <a:t>例如，</a:t>
            </a:r>
            <a:r>
              <a:rPr lang="en-US" altLang="zh-TW" dirty="0">
                <a:latin typeface="+mj-ea"/>
                <a:ea typeface="+mj-ea"/>
              </a:rPr>
              <a:t> </a:t>
            </a:r>
            <a:r>
              <a:rPr lang="zh-TW" altLang="en-US" dirty="0">
                <a:latin typeface="+mj-ea"/>
                <a:ea typeface="+mj-ea"/>
              </a:rPr>
              <a:t>由</a:t>
            </a:r>
            <a:r>
              <a:rPr lang="en-US" altLang="zh-TW" dirty="0">
                <a:latin typeface="+mj-ea"/>
                <a:ea typeface="+mj-ea"/>
              </a:rPr>
              <a:t>500</a:t>
            </a:r>
            <a:r>
              <a:rPr lang="zh-TW" altLang="en-US" dirty="0">
                <a:latin typeface="+mj-ea"/>
                <a:ea typeface="+mj-ea"/>
              </a:rPr>
              <a:t>位運動選手使用新舊藥的結果</a:t>
            </a:r>
            <a:r>
              <a:rPr lang="en-US" altLang="zh-TW" dirty="0">
                <a:latin typeface="+mj-ea"/>
                <a:ea typeface="+mj-ea"/>
              </a:rPr>
              <a:t>(</a:t>
            </a:r>
            <a:r>
              <a:rPr lang="zh-TW" altLang="en-US" dirty="0">
                <a:latin typeface="+mj-ea"/>
                <a:ea typeface="+mj-ea"/>
              </a:rPr>
              <a:t>樣本</a:t>
            </a:r>
            <a:r>
              <a:rPr lang="en-US" altLang="zh-TW" dirty="0">
                <a:latin typeface="+mj-ea"/>
                <a:ea typeface="+mj-ea"/>
              </a:rPr>
              <a:t>)</a:t>
            </a:r>
            <a:r>
              <a:rPr lang="zh-TW" altLang="en-US" dirty="0">
                <a:latin typeface="+mj-ea"/>
                <a:ea typeface="+mj-ea"/>
              </a:rPr>
              <a:t>，去推論是否新的藥是否比舊的藥在治療運動傷害</a:t>
            </a:r>
            <a:r>
              <a:rPr lang="en-US" altLang="zh-TW" dirty="0">
                <a:latin typeface="+mj-ea"/>
                <a:ea typeface="+mj-ea"/>
              </a:rPr>
              <a:t>(</a:t>
            </a:r>
            <a:r>
              <a:rPr lang="zh-TW" altLang="en-US" dirty="0">
                <a:latin typeface="+mj-ea"/>
                <a:ea typeface="+mj-ea"/>
              </a:rPr>
              <a:t>是一種</a:t>
            </a:r>
            <a:r>
              <a:rPr lang="zh-TW" altLang="en-US" b="1" dirty="0">
                <a:latin typeface="+mj-ea"/>
                <a:ea typeface="+mj-ea"/>
              </a:rPr>
              <a:t>母群體，</a:t>
            </a:r>
            <a:r>
              <a:rPr lang="en-US" altLang="zh-TW" b="1" dirty="0">
                <a:latin typeface="+mj-ea"/>
                <a:ea typeface="+mj-ea"/>
              </a:rPr>
              <a:t>population</a:t>
            </a:r>
            <a:r>
              <a:rPr lang="en-US" altLang="zh-TW" dirty="0">
                <a:latin typeface="+mj-ea"/>
                <a:ea typeface="+mj-ea"/>
              </a:rPr>
              <a:t>)</a:t>
            </a:r>
            <a:r>
              <a:rPr lang="zh-TW" altLang="en-US" dirty="0">
                <a:latin typeface="+mj-ea"/>
                <a:ea typeface="+mj-ea"/>
              </a:rPr>
              <a:t>方面較有效</a:t>
            </a:r>
            <a:r>
              <a:rPr lang="en-US" altLang="zh-TW" dirty="0">
                <a:latin typeface="+mj-ea"/>
                <a:ea typeface="+mj-ea"/>
              </a:rPr>
              <a:t>? </a:t>
            </a:r>
          </a:p>
          <a:p>
            <a:endParaRPr lang="en-US" altLang="zh-TW" dirty="0">
              <a:latin typeface="+mj-ea"/>
              <a:ea typeface="+mj-ea"/>
            </a:endParaRPr>
          </a:p>
          <a:p>
            <a:r>
              <a:rPr lang="zh-TW" altLang="en-US" b="1" dirty="0">
                <a:solidFill>
                  <a:srgbClr val="FF0000"/>
                </a:solidFill>
                <a:latin typeface="+mj-ea"/>
                <a:ea typeface="+mj-ea"/>
              </a:rPr>
              <a:t>描述性統計</a:t>
            </a:r>
            <a:r>
              <a:rPr lang="zh-TW" altLang="en-US" dirty="0">
                <a:latin typeface="+mj-ea"/>
                <a:ea typeface="+mj-ea"/>
              </a:rPr>
              <a:t>則可應用於樣本資料或母群體資料的統計。</a:t>
            </a:r>
          </a:p>
          <a:p>
            <a:endParaRPr lang="zh-TW" altLang="en-US" dirty="0">
              <a:latin typeface="+mj-ea"/>
              <a:ea typeface="+mj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8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6081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2155" y="260648"/>
            <a:ext cx="8291264" cy="1143000"/>
          </a:xfrm>
        </p:spPr>
        <p:txBody>
          <a:bodyPr>
            <a:normAutofit/>
          </a:bodyPr>
          <a:lstStyle/>
          <a:p>
            <a:r>
              <a:rPr lang="zh-TW" altLang="zh-TW" b="1" dirty="0">
                <a:latin typeface="+mj-ea"/>
                <a:ea typeface="+mj-ea"/>
              </a:rPr>
              <a:t>描述資料集中趨勢</a:t>
            </a:r>
            <a:r>
              <a:rPr lang="en-US" altLang="zh-TW" b="1" dirty="0">
                <a:latin typeface="+mj-ea"/>
                <a:ea typeface="+mj-ea"/>
              </a:rPr>
              <a:t> (central tendency) </a:t>
            </a:r>
            <a:r>
              <a:rPr lang="zh-TW" altLang="zh-TW" b="1" dirty="0">
                <a:latin typeface="+mj-ea"/>
                <a:ea typeface="+mj-ea"/>
              </a:rPr>
              <a:t>的統計量</a:t>
            </a:r>
            <a:endParaRPr lang="zh-TW" altLang="en-US" dirty="0">
              <a:latin typeface="+mj-ea"/>
              <a:ea typeface="+mj-ea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608512"/>
          </a:xfrm>
        </p:spPr>
        <p:txBody>
          <a:bodyPr>
            <a:normAutofit/>
          </a:bodyPr>
          <a:lstStyle/>
          <a:p>
            <a:r>
              <a:rPr lang="zh-TW" altLang="zh-TW" dirty="0">
                <a:latin typeface="+mj-ea"/>
                <a:ea typeface="+mj-ea"/>
              </a:rPr>
              <a:t>資料特徵值的表達相當重要，它可以整合傳遞母群體或樣本資料所帶來的訊息，讓我們可以從這些</a:t>
            </a:r>
            <a:r>
              <a:rPr lang="zh-TW" altLang="zh-TW" dirty="0">
                <a:solidFill>
                  <a:srgbClr val="FF0000"/>
                </a:solidFill>
                <a:latin typeface="+mj-ea"/>
                <a:ea typeface="+mj-ea"/>
              </a:rPr>
              <a:t>特徵值</a:t>
            </a:r>
            <a:r>
              <a:rPr lang="zh-TW" altLang="zh-TW" dirty="0">
                <a:latin typeface="+mj-ea"/>
                <a:ea typeface="+mj-ea"/>
              </a:rPr>
              <a:t>的描述認識所研究族群的特色。</a:t>
            </a:r>
            <a:endParaRPr lang="en-US" altLang="zh-TW" dirty="0">
              <a:latin typeface="+mj-ea"/>
              <a:ea typeface="+mj-ea"/>
            </a:endParaRPr>
          </a:p>
          <a:p>
            <a:endParaRPr lang="en-US" altLang="zh-TW" dirty="0">
              <a:latin typeface="+mj-ea"/>
              <a:ea typeface="+mj-ea"/>
            </a:endParaRPr>
          </a:p>
          <a:p>
            <a:r>
              <a:rPr lang="zh-TW" altLang="zh-TW" sz="2800" b="1" dirty="0">
                <a:latin typeface="+mj-ea"/>
                <a:ea typeface="+mj-ea"/>
              </a:rPr>
              <a:t>下面的例子是</a:t>
            </a:r>
            <a:r>
              <a:rPr lang="zh-TW" altLang="en-US" sz="2800" b="1" dirty="0">
                <a:latin typeface="+mj-ea"/>
                <a:ea typeface="+mj-ea"/>
              </a:rPr>
              <a:t>教育部體育署</a:t>
            </a:r>
            <a:r>
              <a:rPr lang="zh-TW" altLang="zh-TW" sz="2800" b="1" dirty="0">
                <a:latin typeface="+mj-ea"/>
                <a:ea typeface="+mj-ea"/>
              </a:rPr>
              <a:t>針對</a:t>
            </a:r>
            <a:r>
              <a:rPr lang="en-US" altLang="zh-TW" sz="2800" b="1" dirty="0">
                <a:latin typeface="+mj-ea"/>
                <a:ea typeface="+mj-ea"/>
              </a:rPr>
              <a:t>109</a:t>
            </a:r>
            <a:r>
              <a:rPr lang="zh-TW" altLang="zh-TW" sz="2800" b="1" dirty="0">
                <a:latin typeface="+mj-ea"/>
                <a:ea typeface="+mj-ea"/>
              </a:rPr>
              <a:t>年時</a:t>
            </a:r>
            <a:r>
              <a:rPr lang="zh-TW" altLang="en-US" b="1" dirty="0"/>
              <a:t>全國各級學校整理之體育統計數據</a:t>
            </a:r>
            <a:r>
              <a:rPr lang="zh-TW" altLang="en-US" sz="2800" b="1" dirty="0">
                <a:latin typeface="+mj-ea"/>
                <a:ea typeface="+mj-ea"/>
              </a:rPr>
              <a:t>：</a:t>
            </a:r>
            <a:endParaRPr lang="en-US" altLang="zh-TW" sz="2800" b="1" dirty="0">
              <a:latin typeface="+mj-ea"/>
              <a:ea typeface="+mj-ea"/>
            </a:endParaRPr>
          </a:p>
          <a:p>
            <a:pPr marL="109728" indent="0">
              <a:buNone/>
            </a:pPr>
            <a:r>
              <a:rPr lang="en-US" altLang="zh-TW" dirty="0"/>
              <a:t>“109</a:t>
            </a:r>
            <a:r>
              <a:rPr lang="zh-TW" altLang="en-US" dirty="0"/>
              <a:t>學年度大專院校男女合隊運動代表隊的設立項目，以設立「羽球隊」之學校最多，總計</a:t>
            </a:r>
            <a:r>
              <a:rPr lang="en-US" altLang="zh-TW" dirty="0"/>
              <a:t>79</a:t>
            </a:r>
            <a:r>
              <a:rPr lang="zh-TW" altLang="en-US" dirty="0"/>
              <a:t>隊，有</a:t>
            </a:r>
            <a:r>
              <a:rPr lang="en-US" altLang="zh-TW" dirty="0"/>
              <a:t>79</a:t>
            </a:r>
            <a:r>
              <a:rPr lang="zh-TW" altLang="en-US" dirty="0"/>
              <a:t>所學校成立，占全國大專院校學校數的</a:t>
            </a:r>
            <a:r>
              <a:rPr lang="en-US" altLang="zh-TW" dirty="0"/>
              <a:t>53.02%”</a:t>
            </a:r>
            <a:endParaRPr lang="zh-TW" altLang="zh-TW" sz="2800" b="1" dirty="0">
              <a:latin typeface="+mj-ea"/>
              <a:ea typeface="+mj-ea"/>
            </a:endParaRPr>
          </a:p>
          <a:p>
            <a:endParaRPr lang="en-US" altLang="zh-TW" dirty="0">
              <a:latin typeface="+mj-ea"/>
              <a:ea typeface="+mj-ea"/>
            </a:endParaRPr>
          </a:p>
          <a:p>
            <a:endParaRPr lang="en-US" altLang="zh-TW" dirty="0">
              <a:latin typeface="+mj-ea"/>
              <a:ea typeface="+mj-ea"/>
            </a:endParaRPr>
          </a:p>
          <a:p>
            <a:endParaRPr lang="zh-TW" altLang="en-US" dirty="0">
              <a:latin typeface="+mj-ea"/>
              <a:ea typeface="+mj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9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9640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10</a:t>
            </a:r>
            <a:endParaRPr lang="zh-TW" altLang="en-US"/>
          </a:p>
        </p:txBody>
      </p:sp>
      <p:sp>
        <p:nvSpPr>
          <p:cNvPr id="2" name="文字方塊 1"/>
          <p:cNvSpPr txBox="1"/>
          <p:nvPr/>
        </p:nvSpPr>
        <p:spPr>
          <a:xfrm>
            <a:off x="539552" y="188640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表一</a:t>
            </a:r>
          </a:p>
        </p:txBody>
      </p:sp>
      <p:pic>
        <p:nvPicPr>
          <p:cNvPr id="6" name="內容版面配置區 5" descr="畫面剪輯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88640"/>
            <a:ext cx="6840760" cy="6449269"/>
          </a:xfrm>
        </p:spPr>
      </p:pic>
    </p:spTree>
    <p:extLst>
      <p:ext uri="{BB962C8B-B14F-4D97-AF65-F5344CB8AC3E}">
        <p14:creationId xmlns:p14="http://schemas.microsoft.com/office/powerpoint/2010/main" val="113160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23528" y="548680"/>
                <a:ext cx="8363272" cy="604867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zh-TW" altLang="zh-TW" dirty="0">
                    <a:latin typeface="+mj-ea"/>
                    <a:ea typeface="+mj-ea"/>
                  </a:rPr>
                  <a:t>這些統計結果陳述了一些特徵值，包括</a:t>
                </a:r>
                <a:r>
                  <a:rPr lang="en-US" altLang="zh-TW" dirty="0">
                    <a:latin typeface="+mj-ea"/>
                    <a:ea typeface="+mj-ea"/>
                  </a:rPr>
                  <a:t>:</a:t>
                </a:r>
              </a:p>
              <a:p>
                <a:r>
                  <a:rPr lang="zh-TW" altLang="zh-TW" dirty="0">
                    <a:latin typeface="+mj-ea"/>
                    <a:ea typeface="+mj-ea"/>
                  </a:rPr>
                  <a:t>比例</a:t>
                </a:r>
                <a:r>
                  <a:rPr lang="en-US" altLang="zh-TW" dirty="0">
                    <a:latin typeface="+mj-ea"/>
                    <a:ea typeface="+mj-ea"/>
                  </a:rPr>
                  <a:t> (</a:t>
                </a:r>
                <a:r>
                  <a:rPr lang="zh-TW" altLang="zh-TW" dirty="0">
                    <a:latin typeface="+mj-ea"/>
                    <a:ea typeface="+mj-ea"/>
                  </a:rPr>
                  <a:t>例如</a:t>
                </a:r>
                <a:r>
                  <a:rPr lang="zh-TW" altLang="en-US" dirty="0">
                    <a:latin typeface="+mj-ea"/>
                    <a:ea typeface="+mj-ea"/>
                  </a:rPr>
                  <a:t>羽球代表隊個數為</a:t>
                </a:r>
                <a:r>
                  <a:rPr lang="en-US" altLang="zh-TW" dirty="0">
                    <a:latin typeface="+mj-ea"/>
                    <a:ea typeface="+mj-ea"/>
                  </a:rPr>
                  <a:t>79, </a:t>
                </a:r>
                <a:r>
                  <a:rPr lang="zh-TW" altLang="zh-TW" dirty="0">
                    <a:latin typeface="+mj-ea"/>
                    <a:ea typeface="+mj-ea"/>
                  </a:rPr>
                  <a:t>比例為</a:t>
                </a:r>
                <a:r>
                  <a:rPr lang="en-US" altLang="zh-TW" dirty="0">
                    <a:latin typeface="+mj-ea"/>
                    <a:ea typeface="+mj-ea"/>
                  </a:rPr>
                  <a:t>53.02%</a:t>
                </a:r>
                <a:r>
                  <a:rPr lang="zh-TW" altLang="zh-TW" dirty="0">
                    <a:latin typeface="+mj-ea"/>
                    <a:ea typeface="+mj-ea"/>
                  </a:rPr>
                  <a:t>，</a:t>
                </a:r>
                <a:r>
                  <a:rPr lang="zh-TW" altLang="en-US" dirty="0"/>
                  <a:t>拳擊</a:t>
                </a:r>
                <a:r>
                  <a:rPr lang="zh-TW" altLang="en-US" dirty="0">
                    <a:latin typeface="+mj-ea"/>
                    <a:ea typeface="+mj-ea"/>
                  </a:rPr>
                  <a:t>個數為</a:t>
                </a:r>
                <a:r>
                  <a:rPr lang="en-US" altLang="zh-TW" dirty="0">
                    <a:latin typeface="+mj-ea"/>
                    <a:ea typeface="+mj-ea"/>
                  </a:rPr>
                  <a:t>10, </a:t>
                </a:r>
                <a:r>
                  <a:rPr lang="zh-TW" altLang="zh-TW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ea"/>
                    <a:ea typeface="+mj-ea"/>
                  </a:rPr>
                  <a:t>比例</a:t>
                </a:r>
                <a:r>
                  <a:rPr lang="zh-TW" altLang="zh-TW" dirty="0">
                    <a:latin typeface="+mj-ea"/>
                    <a:ea typeface="+mj-ea"/>
                  </a:rPr>
                  <a:t>為</a:t>
                </a:r>
                <a:r>
                  <a:rPr lang="en-US" altLang="zh-TW" dirty="0"/>
                  <a:t>6.71</a:t>
                </a:r>
                <a:r>
                  <a:rPr lang="en-US" altLang="zh-TW" dirty="0">
                    <a:latin typeface="+mj-ea"/>
                    <a:ea typeface="+mj-ea"/>
                  </a:rPr>
                  <a:t>%)</a:t>
                </a:r>
                <a:r>
                  <a:rPr lang="zh-TW" altLang="en-US" dirty="0">
                    <a:latin typeface="+mj-ea"/>
                    <a:ea typeface="+mj-ea"/>
                  </a:rPr>
                  <a:t>。</a:t>
                </a:r>
                <a:endParaRPr lang="en-US" altLang="zh-TW" dirty="0">
                  <a:latin typeface="+mj-ea"/>
                  <a:ea typeface="+mj-ea"/>
                </a:endParaRPr>
              </a:p>
              <a:p>
                <a:r>
                  <a:rPr lang="zh-TW" altLang="zh-TW" dirty="0">
                    <a:solidFill>
                      <a:srgbClr val="FF0000"/>
                    </a:solidFill>
                    <a:latin typeface="+mj-ea"/>
                    <a:ea typeface="+mj-ea"/>
                  </a:rPr>
                  <a:t>平均數</a:t>
                </a:r>
                <a:r>
                  <a:rPr lang="en-US" altLang="zh-TW" dirty="0">
                    <a:latin typeface="+mj-ea"/>
                    <a:ea typeface="+mj-ea"/>
                  </a:rPr>
                  <a:t> (</a:t>
                </a:r>
                <a:r>
                  <a:rPr lang="zh-TW" altLang="zh-TW" dirty="0">
                    <a:latin typeface="+mj-ea"/>
                    <a:ea typeface="+mj-ea"/>
                  </a:rPr>
                  <a:t>例如</a:t>
                </a:r>
                <a:r>
                  <a:rPr lang="zh-TW" altLang="en-US" dirty="0"/>
                  <a:t>羽球平均練習次數為</a:t>
                </a:r>
                <a:r>
                  <a:rPr lang="en-US" altLang="zh-TW" dirty="0"/>
                  <a:t>2.65</a:t>
                </a:r>
                <a:r>
                  <a:rPr lang="en-US" altLang="zh-TW" dirty="0">
                    <a:latin typeface="+mj-ea"/>
                    <a:ea typeface="+mj-ea"/>
                  </a:rPr>
                  <a:t>)</a:t>
                </a:r>
                <a:r>
                  <a:rPr lang="zh-TW" altLang="zh-TW" dirty="0">
                    <a:latin typeface="+mj-ea"/>
                    <a:ea typeface="+mj-ea"/>
                  </a:rPr>
                  <a:t>。</a:t>
                </a:r>
                <a:endParaRPr lang="en-US" altLang="zh-TW" dirty="0">
                  <a:latin typeface="+mj-ea"/>
                  <a:ea typeface="+mj-ea"/>
                </a:endParaRPr>
              </a:p>
              <a:p>
                <a:endParaRPr lang="en-US" altLang="zh-TW" dirty="0">
                  <a:latin typeface="+mj-ea"/>
                  <a:ea typeface="+mj-ea"/>
                </a:endParaRPr>
              </a:p>
              <a:p>
                <a:r>
                  <a:rPr lang="zh-TW" altLang="zh-TW" dirty="0">
                    <a:latin typeface="+mj-ea"/>
                    <a:ea typeface="+mj-ea"/>
                  </a:rPr>
                  <a:t>這些數都是描述性統計方法中經常使用的特徵數。這些統計數除了讓我們很快可以掌握資料的特質外，也可以讓我們比較時使用。例如</a:t>
                </a:r>
                <a:r>
                  <a:rPr lang="zh-TW" altLang="en-US" dirty="0"/>
                  <a:t>羽球隊數與拳擊隊數</a:t>
                </a:r>
                <a:r>
                  <a:rPr lang="zh-TW" altLang="zh-TW" dirty="0">
                    <a:latin typeface="+mj-ea"/>
                    <a:ea typeface="+mj-ea"/>
                  </a:rPr>
                  <a:t>數相比較約為</a:t>
                </a:r>
                <a:r>
                  <a:rPr lang="en-US" altLang="zh-TW" dirty="0"/>
                  <a:t>7.9</a:t>
                </a:r>
                <a:r>
                  <a:rPr lang="en-US" altLang="zh-TW" dirty="0">
                    <a:latin typeface="+mj-ea"/>
                    <a:ea typeface="+mj-ea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TW">
                        <a:latin typeface="Cambria Math" panose="02040503050406030204" pitchFamily="18" charset="0"/>
                        <a:ea typeface="+mj-ea"/>
                      </a:rPr>
                      <m:t>5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  <a:ea typeface="+mj-ea"/>
                      </a:rPr>
                      <m:t>3.02</m:t>
                    </m:r>
                    <m:r>
                      <a:rPr lang="en-US" altLang="zh-TW">
                        <a:latin typeface="Cambria Math" panose="02040503050406030204" pitchFamily="18" charset="0"/>
                        <a:ea typeface="+mj-ea"/>
                      </a:rPr>
                      <m:t>%÷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  <a:ea typeface="+mj-ea"/>
                      </a:rPr>
                      <m:t>6.71</m:t>
                    </m:r>
                    <m:r>
                      <a:rPr lang="en-US" altLang="zh-TW">
                        <a:latin typeface="Cambria Math" panose="02040503050406030204" pitchFamily="18" charset="0"/>
                        <a:ea typeface="+mj-ea"/>
                      </a:rPr>
                      <m:t>%</m:t>
                    </m:r>
                  </m:oMath>
                </a14:m>
                <a:r>
                  <a:rPr lang="en-US" altLang="zh-TW" dirty="0">
                    <a:latin typeface="+mj-ea"/>
                    <a:ea typeface="+mj-ea"/>
                  </a:rPr>
                  <a:t>) </a:t>
                </a:r>
                <a:r>
                  <a:rPr lang="zh-TW" altLang="zh-TW" dirty="0">
                    <a:latin typeface="+mj-ea"/>
                    <a:ea typeface="+mj-ea"/>
                  </a:rPr>
                  <a:t>比</a:t>
                </a:r>
                <a:r>
                  <a:rPr lang="en-US" altLang="zh-TW" dirty="0">
                    <a:latin typeface="+mj-ea"/>
                    <a:ea typeface="+mj-ea"/>
                  </a:rPr>
                  <a:t>1</a:t>
                </a:r>
                <a:r>
                  <a:rPr lang="zh-TW" altLang="en-US" dirty="0">
                    <a:latin typeface="+mj-ea"/>
                    <a:ea typeface="+mj-ea"/>
                  </a:rPr>
                  <a:t>。</a:t>
                </a:r>
                <a:endParaRPr lang="en-US" altLang="zh-TW" dirty="0">
                  <a:latin typeface="+mj-ea"/>
                  <a:ea typeface="+mj-ea"/>
                </a:endParaRPr>
              </a:p>
              <a:p>
                <a:endParaRPr lang="en-US" altLang="zh-TW" sz="2200" dirty="0">
                  <a:latin typeface="+mj-ea"/>
                  <a:ea typeface="+mj-ea"/>
                </a:endParaRPr>
              </a:p>
              <a:p>
                <a:pPr marL="0" indent="0">
                  <a:buNone/>
                </a:pPr>
                <a:endParaRPr lang="zh-TW" altLang="zh-TW" sz="2200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548680"/>
                <a:ext cx="8363272" cy="6048672"/>
              </a:xfrm>
              <a:blipFill>
                <a:blip r:embed="rId2"/>
                <a:stretch>
                  <a:fillRect l="-1458" t="-1613" r="-37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11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8510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469308" y="5777485"/>
            <a:ext cx="3118238" cy="350912"/>
          </a:xfrm>
        </p:spPr>
        <p:txBody>
          <a:bodyPr>
            <a:normAutofit fontScale="90000"/>
          </a:bodyPr>
          <a:lstStyle/>
          <a:p>
            <a:r>
              <a:rPr lang="zh-TW" altLang="zh-TW" dirty="0">
                <a:latin typeface="+mj-ea"/>
                <a:ea typeface="+mj-ea"/>
              </a:rPr>
              <a:t> </a:t>
            </a:r>
            <a:r>
              <a:rPr lang="zh-TW" altLang="zh-TW" sz="2200" dirty="0">
                <a:latin typeface="+mj-ea"/>
                <a:ea typeface="+mj-ea"/>
              </a:rPr>
              <a:t>圖</a:t>
            </a:r>
            <a:r>
              <a:rPr lang="en-US" altLang="zh-TW" sz="2200" dirty="0">
                <a:latin typeface="+mj-ea"/>
                <a:ea typeface="+mj-ea"/>
              </a:rPr>
              <a:t>1: </a:t>
            </a:r>
            <a:r>
              <a:rPr lang="zh-TW" altLang="en-US" sz="2200" dirty="0">
                <a:latin typeface="+mj-ea"/>
              </a:rPr>
              <a:t>高中職受壓力的時間</a:t>
            </a:r>
            <a:endParaRPr lang="zh-TW" altLang="en-US" sz="2200" dirty="0">
              <a:latin typeface="+mj-ea"/>
              <a:ea typeface="+mj-ea"/>
            </a:endParaRPr>
          </a:p>
        </p:txBody>
      </p:sp>
      <p:sp>
        <p:nvSpPr>
          <p:cNvPr id="11" name="投影片編號版面配置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12</a:t>
            </a:r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4230498" y="5038874"/>
            <a:ext cx="458212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x</a:t>
            </a:r>
            <a:r>
              <a:rPr lang="zh-TW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代表資料組的中位數</a:t>
            </a:r>
            <a:endParaRPr lang="en-US" altLang="zh-TW" sz="2200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</a:endParaRPr>
          </a:p>
          <a:p>
            <a:r>
              <a:rPr lang="en-US" altLang="zh-TW" sz="2200" dirty="0">
                <a:latin typeface="+mj-ea"/>
                <a:ea typeface="+mj-ea"/>
              </a:rPr>
              <a:t>f</a:t>
            </a:r>
            <a:r>
              <a:rPr lang="zh-TW" altLang="en-US" sz="2200" dirty="0">
                <a:latin typeface="+mj-ea"/>
                <a:ea typeface="+mj-ea"/>
              </a:rPr>
              <a:t>是此資料發生的次數</a:t>
            </a:r>
            <a:endParaRPr lang="en-US" altLang="zh-TW" sz="2200" dirty="0">
              <a:latin typeface="+mj-ea"/>
              <a:ea typeface="+mj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225488" y="2780928"/>
            <a:ext cx="471357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/>
              <a:t>1.31=(0.5×1525+1.5×527+2.5×242+3.5×109+4.5×196)÷(1525+527+242+109+196);</a:t>
            </a:r>
          </a:p>
          <a:p>
            <a:endParaRPr lang="en-US" altLang="zh-TW" sz="2000" dirty="0"/>
          </a:p>
          <a:p>
            <a:endParaRPr lang="en-US" altLang="zh-TW" sz="2000" dirty="0"/>
          </a:p>
          <a:p>
            <a:endParaRPr lang="en-US" altLang="zh-TW" sz="2000" dirty="0"/>
          </a:p>
          <a:p>
            <a:r>
              <a:rPr lang="zh-TW" altLang="en-US" sz="2000" dirty="0">
                <a:latin typeface="+mj-ea"/>
                <a:ea typeface="+mj-ea"/>
              </a:rPr>
              <a:t>公式</a:t>
            </a:r>
            <a:r>
              <a:rPr lang="en-US" altLang="zh-TW" sz="2000" dirty="0">
                <a:latin typeface="+mj-ea"/>
                <a:ea typeface="+mj-ea"/>
              </a:rPr>
              <a:t>=(∑</a:t>
            </a:r>
            <a:r>
              <a:rPr lang="en-US" altLang="zh-TW" sz="2000" dirty="0" err="1">
                <a:latin typeface="+mj-ea"/>
                <a:ea typeface="+mj-ea"/>
              </a:rPr>
              <a:t>xf</a:t>
            </a:r>
            <a:r>
              <a:rPr lang="en-US" altLang="zh-TW" sz="2000" dirty="0">
                <a:latin typeface="+mj-ea"/>
                <a:ea typeface="+mj-ea"/>
              </a:rPr>
              <a:t>)/(∑f)</a:t>
            </a:r>
          </a:p>
        </p:txBody>
      </p:sp>
      <p:sp>
        <p:nvSpPr>
          <p:cNvPr id="9" name="矩形 8"/>
          <p:cNvSpPr/>
          <p:nvPr/>
        </p:nvSpPr>
        <p:spPr>
          <a:xfrm>
            <a:off x="4240627" y="1556792"/>
            <a:ext cx="4572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sz="2200" dirty="0">
                <a:latin typeface="+mj-ea"/>
                <a:ea typeface="+mj-ea"/>
              </a:rPr>
              <a:t>圖</a:t>
            </a:r>
            <a:r>
              <a:rPr lang="en-US" altLang="zh-TW" sz="2200" dirty="0">
                <a:latin typeface="+mj-ea"/>
                <a:ea typeface="+mj-ea"/>
              </a:rPr>
              <a:t>1</a:t>
            </a:r>
            <a:r>
              <a:rPr lang="zh-TW" altLang="en-US" sz="2200" dirty="0">
                <a:latin typeface="+mj-ea"/>
                <a:ea typeface="+mj-ea"/>
              </a:rPr>
              <a:t>的資料中，假如要使用一個數值來代表感受壓力時間的話，使用平均年數</a:t>
            </a:r>
            <a:r>
              <a:rPr lang="en-US" altLang="zh-TW" sz="2200" dirty="0">
                <a:latin typeface="+mj-ea"/>
                <a:ea typeface="+mj-ea"/>
              </a:rPr>
              <a:t>(</a:t>
            </a:r>
            <a:r>
              <a:rPr lang="zh-TW" altLang="en-US" sz="2200" dirty="0">
                <a:latin typeface="+mj-ea"/>
                <a:ea typeface="+mj-ea"/>
              </a:rPr>
              <a:t>計算方式如下</a:t>
            </a:r>
            <a:r>
              <a:rPr lang="en-US" altLang="zh-TW" sz="2200" dirty="0">
                <a:latin typeface="+mj-ea"/>
                <a:ea typeface="+mj-ea"/>
              </a:rPr>
              <a:t>)</a:t>
            </a:r>
            <a:r>
              <a:rPr lang="zh-TW" altLang="en-US" sz="2200" dirty="0">
                <a:latin typeface="+mj-ea"/>
                <a:ea typeface="+mj-ea"/>
              </a:rPr>
              <a:t>：</a:t>
            </a:r>
            <a:endParaRPr lang="en-US" altLang="zh-TW" sz="2200" dirty="0">
              <a:latin typeface="+mj-ea"/>
              <a:ea typeface="+mj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3528" y="260648"/>
            <a:ext cx="87129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+mj-ea"/>
                <a:ea typeface="+mj-ea"/>
              </a:rPr>
              <a:t>以下是以圖形來表達資料的集中特徵。是種</a:t>
            </a:r>
            <a:r>
              <a:rPr lang="zh-TW" altLang="en-US" sz="2400" b="1" dirty="0">
                <a:latin typeface="+mj-ea"/>
                <a:ea typeface="+mj-ea"/>
              </a:rPr>
              <a:t>長條圖</a:t>
            </a:r>
            <a:r>
              <a:rPr lang="en-US" altLang="zh-TW" sz="2400" b="1" dirty="0">
                <a:latin typeface="+mj-ea"/>
                <a:ea typeface="+mj-ea"/>
              </a:rPr>
              <a:t>(bar chart)</a:t>
            </a:r>
            <a:r>
              <a:rPr lang="zh-TW" altLang="en-US" sz="2400" dirty="0">
                <a:latin typeface="+mj-ea"/>
                <a:ea typeface="+mj-ea"/>
              </a:rPr>
              <a:t>，顯示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全台國高中職生</a:t>
            </a:r>
            <a:r>
              <a:rPr lang="zh-TW" altLang="en-US" sz="2400" dirty="0">
                <a:latin typeface="+mj-ea"/>
                <a:ea typeface="+mj-ea"/>
              </a:rPr>
              <a:t>的每天感到壓力大的時間集中於</a:t>
            </a:r>
            <a:r>
              <a:rPr lang="en-US" altLang="zh-TW" sz="2400" dirty="0">
                <a:latin typeface="+mj-ea"/>
                <a:ea typeface="+mj-ea"/>
              </a:rPr>
              <a:t>&lt;1</a:t>
            </a:r>
            <a:r>
              <a:rPr lang="zh-TW" altLang="en-US" sz="2400" dirty="0">
                <a:latin typeface="+mj-ea"/>
                <a:ea typeface="+mj-ea"/>
              </a:rPr>
              <a:t>小時。</a:t>
            </a:r>
            <a:endParaRPr lang="en-US" altLang="zh-TW" sz="2400" dirty="0">
              <a:latin typeface="+mj-ea"/>
              <a:ea typeface="+mj-ea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FC64F3E6-FFEB-1102-3B2F-74C08FAE0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35" y="1028700"/>
            <a:ext cx="3646985" cy="4800600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33AD9001-4F4B-7875-0C8F-FE1E8E00567F}"/>
              </a:ext>
            </a:extLst>
          </p:cNvPr>
          <p:cNvSpPr txBox="1"/>
          <p:nvPr/>
        </p:nvSpPr>
        <p:spPr>
          <a:xfrm>
            <a:off x="4225488" y="6330133"/>
            <a:ext cx="5976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i="1" dirty="0"/>
              <a:t>資料來源</a:t>
            </a:r>
            <a:r>
              <a:rPr lang="en-US" altLang="zh-TW" sz="1400" i="1" dirty="0"/>
              <a:t>:https://health.setn.com/news/1187747</a:t>
            </a:r>
            <a:endParaRPr lang="zh-TW" altLang="en-US" sz="1400" i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6076A36-25B4-4CFB-95A0-84FC9431DE75}"/>
              </a:ext>
            </a:extLst>
          </p:cNvPr>
          <p:cNvSpPr txBox="1"/>
          <p:nvPr/>
        </p:nvSpPr>
        <p:spPr>
          <a:xfrm>
            <a:off x="755576" y="2410872"/>
            <a:ext cx="5760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50" dirty="0"/>
              <a:t>1525</a:t>
            </a:r>
            <a:endParaRPr lang="zh-TW" altLang="en-US" sz="105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1EC2C1F-FE8D-46A1-BA03-27798C0F7A63}"/>
              </a:ext>
            </a:extLst>
          </p:cNvPr>
          <p:cNvSpPr txBox="1"/>
          <p:nvPr/>
        </p:nvSpPr>
        <p:spPr>
          <a:xfrm>
            <a:off x="1443251" y="4094179"/>
            <a:ext cx="5760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50" dirty="0"/>
              <a:t>527</a:t>
            </a:r>
            <a:endParaRPr lang="zh-TW" altLang="en-US" sz="105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3D8851C-718B-4574-9BE6-3792FFC0C795}"/>
              </a:ext>
            </a:extLst>
          </p:cNvPr>
          <p:cNvSpPr txBox="1"/>
          <p:nvPr/>
        </p:nvSpPr>
        <p:spPr>
          <a:xfrm>
            <a:off x="1979712" y="4581128"/>
            <a:ext cx="5760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50" dirty="0"/>
              <a:t>242</a:t>
            </a:r>
            <a:endParaRPr lang="zh-TW" altLang="en-US" sz="105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70BB79A-C4CE-44C0-82A2-6992E7B98BE1}"/>
              </a:ext>
            </a:extLst>
          </p:cNvPr>
          <p:cNvSpPr txBox="1"/>
          <p:nvPr/>
        </p:nvSpPr>
        <p:spPr>
          <a:xfrm>
            <a:off x="2547503" y="4773781"/>
            <a:ext cx="5760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50" dirty="0"/>
              <a:t>109</a:t>
            </a:r>
            <a:endParaRPr lang="zh-TW" altLang="en-US" sz="105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8D56A68-B9DA-4880-98FE-3C220DA94ADC}"/>
              </a:ext>
            </a:extLst>
          </p:cNvPr>
          <p:cNvSpPr txBox="1"/>
          <p:nvPr/>
        </p:nvSpPr>
        <p:spPr>
          <a:xfrm>
            <a:off x="3107021" y="4618843"/>
            <a:ext cx="5760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50" dirty="0"/>
              <a:t>196</a:t>
            </a:r>
            <a:endParaRPr lang="zh-TW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835476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>
            <a:normAutofit/>
          </a:bodyPr>
          <a:lstStyle/>
          <a:p>
            <a:endParaRPr lang="en-US" altLang="zh-TW" dirty="0">
              <a:latin typeface="+mj-ea"/>
              <a:ea typeface="+mj-ea"/>
            </a:endParaRPr>
          </a:p>
          <a:p>
            <a:r>
              <a:rPr lang="zh-TW" altLang="en-US" dirty="0">
                <a:latin typeface="+mj-ea"/>
                <a:ea typeface="+mj-ea"/>
              </a:rPr>
              <a:t>若資料是像圖</a:t>
            </a:r>
            <a:r>
              <a:rPr lang="en-US" altLang="zh-TW" dirty="0">
                <a:latin typeface="+mj-ea"/>
                <a:ea typeface="+mj-ea"/>
              </a:rPr>
              <a:t>1</a:t>
            </a:r>
            <a:r>
              <a:rPr lang="zh-TW" altLang="en-US" dirty="0">
                <a:latin typeface="+mj-ea"/>
                <a:ea typeface="+mj-ea"/>
              </a:rPr>
              <a:t>的區間資料</a:t>
            </a:r>
            <a:r>
              <a:rPr lang="en-US" altLang="zh-TW" dirty="0">
                <a:latin typeface="+mj-ea"/>
                <a:ea typeface="+mj-ea"/>
              </a:rPr>
              <a:t>,</a:t>
            </a:r>
            <a:r>
              <a:rPr lang="zh-TW" altLang="en-US" dirty="0">
                <a:latin typeface="+mj-ea"/>
                <a:ea typeface="+mj-ea"/>
              </a:rPr>
              <a:t>則</a:t>
            </a:r>
            <a:r>
              <a:rPr lang="en-US" altLang="zh-TW" dirty="0">
                <a:latin typeface="+mj-ea"/>
                <a:ea typeface="+mj-ea"/>
              </a:rPr>
              <a:t>x</a:t>
            </a:r>
            <a:r>
              <a:rPr lang="zh-TW" altLang="en-US" dirty="0">
                <a:latin typeface="+mj-ea"/>
                <a:ea typeface="+mj-ea"/>
              </a:rPr>
              <a:t>是取區間的</a:t>
            </a:r>
            <a:r>
              <a:rPr lang="en-US" altLang="zh-TW" dirty="0">
                <a:latin typeface="+mj-ea"/>
                <a:ea typeface="+mj-ea"/>
              </a:rPr>
              <a:t>"</a:t>
            </a:r>
            <a:r>
              <a:rPr lang="zh-TW" altLang="en-US" dirty="0">
                <a:latin typeface="+mj-ea"/>
                <a:ea typeface="+mj-ea"/>
              </a:rPr>
              <a:t>中間值</a:t>
            </a:r>
            <a:r>
              <a:rPr lang="en-US" altLang="zh-TW" dirty="0">
                <a:latin typeface="+mj-ea"/>
                <a:ea typeface="+mj-ea"/>
              </a:rPr>
              <a:t>"</a:t>
            </a:r>
            <a:r>
              <a:rPr lang="zh-TW" altLang="en-US" dirty="0">
                <a:latin typeface="+mj-ea"/>
                <a:ea typeface="+mj-ea"/>
              </a:rPr>
              <a:t>是一種理想的做法。</a:t>
            </a:r>
            <a:endParaRPr lang="en-US" altLang="zh-TW" dirty="0">
              <a:latin typeface="+mj-ea"/>
              <a:ea typeface="+mj-ea"/>
            </a:endParaRPr>
          </a:p>
          <a:p>
            <a:endParaRPr lang="en-US" altLang="zh-TW" dirty="0">
              <a:latin typeface="+mj-ea"/>
              <a:ea typeface="+mj-ea"/>
            </a:endParaRPr>
          </a:p>
          <a:p>
            <a:r>
              <a:rPr lang="zh-TW" altLang="en-US" dirty="0">
                <a:latin typeface="+mj-ea"/>
                <a:ea typeface="+mj-ea"/>
              </a:rPr>
              <a:t>使用</a:t>
            </a:r>
            <a:r>
              <a:rPr lang="en-US" altLang="zh-TW" dirty="0">
                <a:latin typeface="+mj-ea"/>
                <a:ea typeface="+mj-ea"/>
              </a:rPr>
              <a:t>"</a:t>
            </a:r>
            <a:r>
              <a:rPr lang="zh-TW" altLang="en-US" dirty="0">
                <a:solidFill>
                  <a:srgbClr val="FF0000"/>
                </a:solidFill>
                <a:latin typeface="+mj-ea"/>
                <a:ea typeface="+mj-ea"/>
              </a:rPr>
              <a:t>眾數</a:t>
            </a:r>
            <a:r>
              <a:rPr lang="en-US" altLang="zh-TW" dirty="0">
                <a:solidFill>
                  <a:srgbClr val="FF0000"/>
                </a:solidFill>
                <a:latin typeface="+mj-ea"/>
                <a:ea typeface="+mj-ea"/>
              </a:rPr>
              <a:t>(mode)"</a:t>
            </a:r>
            <a:r>
              <a:rPr lang="zh-TW" altLang="en-US" dirty="0">
                <a:latin typeface="+mj-ea"/>
                <a:ea typeface="+mj-ea"/>
              </a:rPr>
              <a:t>也是另一種做法；眾數是資料中出現最多次的數值。</a:t>
            </a:r>
            <a:endParaRPr lang="en-US" altLang="zh-TW" dirty="0">
              <a:latin typeface="+mj-ea"/>
              <a:ea typeface="+mj-ea"/>
            </a:endParaRPr>
          </a:p>
          <a:p>
            <a:endParaRPr lang="en-US" altLang="zh-TW" dirty="0">
              <a:latin typeface="+mj-ea"/>
              <a:ea typeface="+mj-ea"/>
            </a:endParaRPr>
          </a:p>
          <a:p>
            <a:r>
              <a:rPr lang="zh-TW" altLang="en-US" dirty="0">
                <a:latin typeface="+mj-ea"/>
                <a:ea typeface="+mj-ea"/>
              </a:rPr>
              <a:t>以圖</a:t>
            </a:r>
            <a:r>
              <a:rPr lang="en-US" altLang="zh-TW" dirty="0">
                <a:latin typeface="+mj-ea"/>
                <a:ea typeface="+mj-ea"/>
              </a:rPr>
              <a:t>1</a:t>
            </a:r>
            <a:r>
              <a:rPr lang="zh-TW" altLang="en-US" dirty="0">
                <a:latin typeface="+mj-ea"/>
                <a:ea typeface="+mj-ea"/>
              </a:rPr>
              <a:t>來看，雖然我們看不到原始數據，但我們知道感受壓力時間的長度最多在</a:t>
            </a:r>
            <a:r>
              <a:rPr lang="en-US" altLang="zh-TW" dirty="0">
                <a:latin typeface="+mj-ea"/>
                <a:ea typeface="+mj-ea"/>
              </a:rPr>
              <a:t>&lt;1</a:t>
            </a:r>
            <a:r>
              <a:rPr lang="zh-TW" altLang="en-US" dirty="0">
                <a:latin typeface="+mj-ea"/>
                <a:ea typeface="+mj-ea"/>
              </a:rPr>
              <a:t>小時。因此，我通常取</a:t>
            </a:r>
            <a:r>
              <a:rPr lang="en-US" altLang="zh-TW" dirty="0">
                <a:latin typeface="+mj-ea"/>
                <a:ea typeface="+mj-ea"/>
              </a:rPr>
              <a:t>(</a:t>
            </a:r>
            <a:r>
              <a:rPr lang="en-US" altLang="zh-TW" dirty="0"/>
              <a:t>0-1</a:t>
            </a:r>
            <a:r>
              <a:rPr lang="en-US" altLang="zh-TW" dirty="0">
                <a:latin typeface="+mj-ea"/>
                <a:ea typeface="+mj-ea"/>
              </a:rPr>
              <a:t>)/2=0.5</a:t>
            </a:r>
            <a:r>
              <a:rPr lang="zh-TW" altLang="en-US" dirty="0">
                <a:latin typeface="+mj-ea"/>
                <a:ea typeface="+mj-ea"/>
              </a:rPr>
              <a:t>年為眾數，我們的解釋是</a:t>
            </a:r>
            <a:r>
              <a:rPr lang="en-US" altLang="zh-TW" dirty="0">
                <a:latin typeface="+mj-ea"/>
                <a:ea typeface="+mj-ea"/>
              </a:rPr>
              <a:t>:</a:t>
            </a:r>
            <a:r>
              <a:rPr lang="zh-TW" altLang="en-US" dirty="0">
                <a:latin typeface="+mj-ea"/>
                <a:ea typeface="+mj-ea"/>
              </a:rPr>
              <a:t>最多人受壓力的時間集中於</a:t>
            </a:r>
            <a:r>
              <a:rPr lang="en-US" altLang="zh-TW" dirty="0">
                <a:latin typeface="+mj-ea"/>
                <a:ea typeface="+mj-ea"/>
              </a:rPr>
              <a:t>0-1</a:t>
            </a:r>
            <a:r>
              <a:rPr lang="zh-TW" altLang="en-US" dirty="0">
                <a:latin typeface="+mj-ea"/>
                <a:ea typeface="+mj-ea"/>
              </a:rPr>
              <a:t>小時</a:t>
            </a:r>
            <a:r>
              <a:rPr lang="en-US" altLang="zh-TW" dirty="0">
                <a:latin typeface="+mj-ea"/>
                <a:ea typeface="+mj-ea"/>
              </a:rPr>
              <a:t>(</a:t>
            </a:r>
            <a:r>
              <a:rPr lang="zh-TW" altLang="en-US" dirty="0">
                <a:latin typeface="+mj-ea"/>
                <a:ea typeface="+mj-ea"/>
              </a:rPr>
              <a:t>或</a:t>
            </a:r>
            <a:r>
              <a:rPr lang="en-US" altLang="zh-TW" dirty="0">
                <a:latin typeface="+mj-ea"/>
                <a:ea typeface="+mj-ea"/>
              </a:rPr>
              <a:t>0.5</a:t>
            </a:r>
            <a:r>
              <a:rPr lang="zh-TW" altLang="en-US" dirty="0">
                <a:latin typeface="+mj-ea"/>
                <a:ea typeface="+mj-ea"/>
              </a:rPr>
              <a:t>小時附近</a:t>
            </a:r>
            <a:r>
              <a:rPr lang="en-US" altLang="zh-TW" dirty="0">
                <a:latin typeface="+mj-ea"/>
                <a:ea typeface="+mj-ea"/>
              </a:rPr>
              <a:t>)</a:t>
            </a:r>
            <a:r>
              <a:rPr lang="zh-TW" altLang="en-US" dirty="0">
                <a:latin typeface="+mj-ea"/>
                <a:ea typeface="+mj-ea"/>
              </a:rPr>
              <a:t>。</a:t>
            </a:r>
          </a:p>
          <a:p>
            <a:endParaRPr lang="zh-TW" altLang="en-US" dirty="0">
              <a:latin typeface="+mj-ea"/>
              <a:ea typeface="+mj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13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090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132856"/>
            <a:ext cx="8229600" cy="4536504"/>
          </a:xfrm>
        </p:spPr>
        <p:txBody>
          <a:bodyPr>
            <a:normAutofit/>
          </a:bodyPr>
          <a:lstStyle/>
          <a:p>
            <a:r>
              <a:rPr lang="zh-TW" altLang="zh-TW" dirty="0">
                <a:latin typeface="+mj-ea"/>
                <a:ea typeface="+mj-ea"/>
              </a:rPr>
              <a:t>若是我們將資料依大小排序，資料數值在中間的數即是中位數，因此我們知道有</a:t>
            </a:r>
            <a:r>
              <a:rPr lang="en-US" altLang="zh-TW" dirty="0">
                <a:latin typeface="+mj-ea"/>
                <a:ea typeface="+mj-ea"/>
              </a:rPr>
              <a:t>50%</a:t>
            </a:r>
            <a:r>
              <a:rPr lang="zh-TW" altLang="zh-TW" dirty="0">
                <a:latin typeface="+mj-ea"/>
                <a:ea typeface="+mj-ea"/>
              </a:rPr>
              <a:t>的資料其數值大</a:t>
            </a:r>
            <a:r>
              <a:rPr lang="en-US" altLang="zh-TW" dirty="0">
                <a:latin typeface="+mj-ea"/>
                <a:ea typeface="+mj-ea"/>
              </a:rPr>
              <a:t>(</a:t>
            </a:r>
            <a:r>
              <a:rPr lang="zh-TW" altLang="zh-TW" dirty="0">
                <a:latin typeface="+mj-ea"/>
                <a:ea typeface="+mj-ea"/>
              </a:rPr>
              <a:t>小</a:t>
            </a:r>
            <a:r>
              <a:rPr lang="en-US" altLang="zh-TW" dirty="0">
                <a:latin typeface="+mj-ea"/>
                <a:ea typeface="+mj-ea"/>
              </a:rPr>
              <a:t>)</a:t>
            </a:r>
            <a:r>
              <a:rPr lang="zh-TW" altLang="zh-TW" dirty="0">
                <a:latin typeface="+mj-ea"/>
                <a:ea typeface="+mj-ea"/>
              </a:rPr>
              <a:t>於中位數。</a:t>
            </a:r>
            <a:endParaRPr lang="en-US" altLang="zh-TW" dirty="0">
              <a:latin typeface="+mj-ea"/>
              <a:ea typeface="+mj-ea"/>
            </a:endParaRPr>
          </a:p>
          <a:p>
            <a:r>
              <a:rPr lang="zh-TW" altLang="en-US" dirty="0">
                <a:latin typeface="+mj-ea"/>
                <a:ea typeface="+mj-ea"/>
              </a:rPr>
              <a:t>數列</a:t>
            </a:r>
            <a:r>
              <a:rPr lang="en-US" altLang="zh-TW" dirty="0">
                <a:latin typeface="+mj-ea"/>
                <a:ea typeface="+mj-ea"/>
              </a:rPr>
              <a:t>1,3,9,13,27 </a:t>
            </a:r>
            <a:r>
              <a:rPr lang="zh-TW" altLang="en-US" dirty="0">
                <a:latin typeface="+mj-ea"/>
                <a:ea typeface="+mj-ea"/>
              </a:rPr>
              <a:t>中位數為</a:t>
            </a:r>
            <a:r>
              <a:rPr lang="en-US" altLang="zh-TW" dirty="0">
                <a:latin typeface="+mj-ea"/>
                <a:ea typeface="+mj-ea"/>
              </a:rPr>
              <a:t>9</a:t>
            </a:r>
          </a:p>
          <a:p>
            <a:r>
              <a:rPr lang="zh-TW" altLang="en-US" dirty="0">
                <a:latin typeface="+mj-ea"/>
                <a:ea typeface="+mj-ea"/>
              </a:rPr>
              <a:t>數列</a:t>
            </a:r>
            <a:r>
              <a:rPr lang="en-US" altLang="zh-TW" dirty="0">
                <a:latin typeface="+mj-ea"/>
                <a:ea typeface="+mj-ea"/>
              </a:rPr>
              <a:t>1,3,9,13,27,31 </a:t>
            </a:r>
            <a:r>
              <a:rPr lang="zh-TW" altLang="en-US" dirty="0">
                <a:latin typeface="+mj-ea"/>
                <a:ea typeface="+mj-ea"/>
              </a:rPr>
              <a:t>中位數為</a:t>
            </a:r>
            <a:r>
              <a:rPr lang="en-US" altLang="zh-TW" dirty="0">
                <a:latin typeface="+mj-ea"/>
                <a:ea typeface="+mj-ea"/>
              </a:rPr>
              <a:t>(9+13)/2=11</a:t>
            </a:r>
          </a:p>
          <a:p>
            <a:endParaRPr lang="en-US" altLang="zh-TW" dirty="0">
              <a:latin typeface="+mj-ea"/>
              <a:ea typeface="+mj-ea"/>
            </a:endParaRPr>
          </a:p>
          <a:p>
            <a:r>
              <a:rPr lang="zh-TW" altLang="zh-TW" dirty="0">
                <a:latin typeface="+mj-ea"/>
                <a:ea typeface="+mj-ea"/>
              </a:rPr>
              <a:t>表</a:t>
            </a:r>
            <a:r>
              <a:rPr lang="en-US" altLang="zh-TW" dirty="0">
                <a:latin typeface="+mj-ea"/>
                <a:ea typeface="+mj-ea"/>
              </a:rPr>
              <a:t>2</a:t>
            </a:r>
            <a:r>
              <a:rPr lang="zh-TW" altLang="zh-TW" dirty="0">
                <a:latin typeface="+mj-ea"/>
                <a:ea typeface="+mj-ea"/>
              </a:rPr>
              <a:t>中報告</a:t>
            </a:r>
            <a:r>
              <a:rPr lang="zh-TW" altLang="en-US" dirty="0">
                <a:latin typeface="+mj-ea"/>
                <a:ea typeface="+mj-ea"/>
              </a:rPr>
              <a:t>受雇勞工</a:t>
            </a:r>
            <a:r>
              <a:rPr lang="zh-TW" altLang="zh-TW" dirty="0">
                <a:latin typeface="+mj-ea"/>
                <a:ea typeface="+mj-ea"/>
              </a:rPr>
              <a:t>在於</a:t>
            </a:r>
            <a:r>
              <a:rPr lang="en-US" altLang="zh-TW" dirty="0">
                <a:latin typeface="+mj-ea"/>
                <a:ea typeface="+mj-ea"/>
              </a:rPr>
              <a:t>2009-2016</a:t>
            </a:r>
            <a:r>
              <a:rPr lang="zh-TW" altLang="zh-TW" dirty="0">
                <a:latin typeface="+mj-ea"/>
                <a:ea typeface="+mj-ea"/>
              </a:rPr>
              <a:t>年時</a:t>
            </a:r>
            <a:r>
              <a:rPr lang="zh-TW" altLang="en-US" dirty="0">
                <a:latin typeface="+mj-ea"/>
                <a:ea typeface="+mj-ea"/>
              </a:rPr>
              <a:t>薪資</a:t>
            </a:r>
            <a:r>
              <a:rPr lang="zh-TW" altLang="zh-TW" dirty="0">
                <a:latin typeface="+mj-ea"/>
                <a:ea typeface="+mj-ea"/>
              </a:rPr>
              <a:t>的平均數和中位數。</a:t>
            </a:r>
            <a:endParaRPr lang="en-US" altLang="zh-TW" dirty="0">
              <a:latin typeface="+mj-ea"/>
              <a:ea typeface="+mj-ea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14</a:t>
            </a:r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539552" y="836712"/>
            <a:ext cx="813690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zh-TW" sz="3200" b="1" dirty="0">
                <a:solidFill>
                  <a:srgbClr val="FF0000"/>
                </a:solidFill>
                <a:latin typeface="+mj-ea"/>
                <a:ea typeface="+mj-ea"/>
              </a:rPr>
              <a:t>中位數</a:t>
            </a:r>
            <a:r>
              <a:rPr lang="en-US" altLang="zh-TW" sz="3200" b="1" dirty="0">
                <a:latin typeface="+mj-ea"/>
                <a:ea typeface="+mj-ea"/>
              </a:rPr>
              <a:t>(median)</a:t>
            </a:r>
            <a:r>
              <a:rPr lang="zh-TW" altLang="zh-TW" sz="3200" dirty="0">
                <a:latin typeface="+mj-ea"/>
                <a:ea typeface="+mj-ea"/>
              </a:rPr>
              <a:t>是統計方法中另一種用來描述資料集中趨勢的統計量。</a:t>
            </a:r>
            <a:endParaRPr lang="en-US" altLang="zh-TW" sz="32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97746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E00E7E80-057A-7F6E-67F7-4D53B0EF7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161" y="980949"/>
            <a:ext cx="7353678" cy="4896102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-180528" y="91685"/>
            <a:ext cx="8219897" cy="864096"/>
          </a:xfrm>
        </p:spPr>
        <p:txBody>
          <a:bodyPr>
            <a:normAutofit fontScale="90000"/>
          </a:bodyPr>
          <a:lstStyle/>
          <a:p>
            <a:pPr indent="304800" algn="r" fontAlgn="base">
              <a:spcAft>
                <a:spcPct val="0"/>
              </a:spcAft>
            </a:pPr>
            <a:r>
              <a:rPr lang="zh-TW" altLang="zh-TW" sz="2400" dirty="0">
                <a:effectLst/>
                <a:latin typeface="+mj-ea"/>
                <a:ea typeface="+mj-ea"/>
              </a:rPr>
              <a:t>表</a:t>
            </a:r>
            <a:r>
              <a:rPr lang="en-US" altLang="zh-TW" sz="2400" dirty="0">
                <a:effectLst/>
                <a:latin typeface="+mj-ea"/>
                <a:ea typeface="+mj-ea"/>
              </a:rPr>
              <a:t>2</a:t>
            </a:r>
            <a:r>
              <a:rPr lang="zh-TW" altLang="en-US" sz="2400" dirty="0">
                <a:effectLst/>
                <a:latin typeface="+mj-ea"/>
                <a:ea typeface="+mj-ea"/>
              </a:rPr>
              <a:t>　</a:t>
            </a:r>
            <a:r>
              <a:rPr lang="zh-TW" altLang="en-US" sz="2400" dirty="0">
                <a:latin typeface="+mj-ea"/>
                <a:ea typeface="+mj-ea"/>
              </a:rPr>
              <a:t>受雇勞工</a:t>
            </a:r>
            <a:r>
              <a:rPr lang="zh-TW" altLang="zh-TW" sz="2400" dirty="0">
                <a:latin typeface="+mj-ea"/>
                <a:ea typeface="+mj-ea"/>
              </a:rPr>
              <a:t>在於</a:t>
            </a:r>
            <a:r>
              <a:rPr lang="en-US" altLang="zh-TW" sz="2400" dirty="0">
                <a:latin typeface="+mj-ea"/>
                <a:ea typeface="+mj-ea"/>
              </a:rPr>
              <a:t>2009-2016</a:t>
            </a:r>
            <a:r>
              <a:rPr lang="zh-TW" altLang="zh-TW" sz="2400" dirty="0">
                <a:latin typeface="+mj-ea"/>
                <a:ea typeface="+mj-ea"/>
              </a:rPr>
              <a:t>年時</a:t>
            </a:r>
            <a:r>
              <a:rPr lang="zh-TW" altLang="en-US" sz="2400" dirty="0">
                <a:latin typeface="+mj-ea"/>
                <a:ea typeface="+mj-ea"/>
              </a:rPr>
              <a:t>薪資</a:t>
            </a:r>
            <a:r>
              <a:rPr lang="zh-TW" altLang="zh-TW" sz="2400" dirty="0">
                <a:latin typeface="+mj-ea"/>
                <a:ea typeface="+mj-ea"/>
              </a:rPr>
              <a:t>的平均數和中位數</a:t>
            </a:r>
            <a:r>
              <a:rPr lang="zh-TW" altLang="en-US" sz="2400" dirty="0">
                <a:effectLst/>
                <a:latin typeface="+mj-ea"/>
                <a:ea typeface="+mj-ea"/>
              </a:rPr>
              <a:t>　　</a:t>
            </a:r>
            <a:br>
              <a:rPr lang="en-US" altLang="zh-TW" sz="2400" dirty="0">
                <a:effectLst/>
                <a:latin typeface="+mj-ea"/>
                <a:ea typeface="+mj-ea"/>
              </a:rPr>
            </a:br>
            <a:r>
              <a:rPr lang="zh-TW" altLang="en-US" sz="2400" dirty="0">
                <a:effectLst/>
                <a:latin typeface="+mj-ea"/>
                <a:ea typeface="+mj-ea"/>
              </a:rPr>
              <a:t>單位：元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15</a:t>
            </a:r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6012160" y="6058539"/>
            <a:ext cx="576064" cy="646331"/>
          </a:xfrm>
          <a:prstGeom prst="rect">
            <a:avLst/>
          </a:prstGeom>
          <a:noFill/>
          <a:ln cmpd="dbl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較高</a:t>
            </a:r>
          </a:p>
        </p:txBody>
      </p:sp>
      <p:sp>
        <p:nvSpPr>
          <p:cNvPr id="13" name="矩形 12"/>
          <p:cNvSpPr/>
          <p:nvPr/>
        </p:nvSpPr>
        <p:spPr>
          <a:xfrm>
            <a:off x="5292080" y="1772816"/>
            <a:ext cx="1512168" cy="3743714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1507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764704"/>
            <a:ext cx="8219256" cy="864096"/>
          </a:xfrm>
        </p:spPr>
        <p:txBody>
          <a:bodyPr>
            <a:noAutofit/>
          </a:bodyPr>
          <a:lstStyle/>
          <a:p>
            <a:pPr algn="l"/>
            <a:r>
              <a:rPr lang="zh-TW" altLang="en-US" sz="3200" dirty="0">
                <a:latin typeface="+mj-ea"/>
                <a:ea typeface="+mj-ea"/>
              </a:rPr>
              <a:t>這二種集中趨勢的統計量各有其代表的意義，但我們發現一個有趣的現象：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4209331"/>
          </a:xfrm>
        </p:spPr>
        <p:txBody>
          <a:bodyPr/>
          <a:lstStyle/>
          <a:p>
            <a:r>
              <a:rPr lang="zh-TW" altLang="en-US" dirty="0">
                <a:latin typeface="+mj-ea"/>
                <a:ea typeface="+mj-ea"/>
              </a:rPr>
              <a:t>薪資</a:t>
            </a:r>
            <a:r>
              <a:rPr lang="zh-TW" altLang="zh-TW" dirty="0">
                <a:latin typeface="+mj-ea"/>
                <a:ea typeface="+mj-ea"/>
              </a:rPr>
              <a:t>的</a:t>
            </a:r>
            <a:r>
              <a:rPr lang="zh-TW" altLang="en-US" dirty="0">
                <a:latin typeface="+mj-ea"/>
                <a:ea typeface="+mj-ea"/>
              </a:rPr>
              <a:t>平均數</a:t>
            </a:r>
            <a:r>
              <a:rPr lang="zh-TW" altLang="zh-TW" dirty="0">
                <a:latin typeface="+mj-ea"/>
                <a:ea typeface="+mj-ea"/>
              </a:rPr>
              <a:t>全部</a:t>
            </a:r>
            <a:r>
              <a:rPr lang="zh-TW" altLang="en-US" dirty="0">
                <a:latin typeface="+mj-ea"/>
                <a:ea typeface="+mj-ea"/>
              </a:rPr>
              <a:t>薪資</a:t>
            </a:r>
            <a:r>
              <a:rPr lang="zh-TW" altLang="zh-TW" dirty="0">
                <a:latin typeface="+mj-ea"/>
                <a:ea typeface="+mj-ea"/>
              </a:rPr>
              <a:t>的</a:t>
            </a:r>
            <a:r>
              <a:rPr lang="zh-TW" altLang="en-US" dirty="0">
                <a:latin typeface="+mj-ea"/>
                <a:ea typeface="+mj-ea"/>
              </a:rPr>
              <a:t>中位</a:t>
            </a:r>
            <a:r>
              <a:rPr lang="zh-TW" altLang="zh-TW" dirty="0">
                <a:latin typeface="+mj-ea"/>
                <a:ea typeface="+mj-ea"/>
              </a:rPr>
              <a:t>數。這是因為</a:t>
            </a:r>
            <a:r>
              <a:rPr lang="zh-TW" altLang="en-US" dirty="0">
                <a:latin typeface="+mj-ea"/>
                <a:ea typeface="+mj-ea"/>
              </a:rPr>
              <a:t>受雇勞工</a:t>
            </a:r>
            <a:r>
              <a:rPr lang="zh-TW" altLang="zh-TW" dirty="0">
                <a:latin typeface="+mj-ea"/>
                <a:ea typeface="+mj-ea"/>
              </a:rPr>
              <a:t>在</a:t>
            </a:r>
            <a:r>
              <a:rPr lang="zh-TW" altLang="en-US" dirty="0">
                <a:latin typeface="+mj-ea"/>
                <a:ea typeface="+mj-ea"/>
              </a:rPr>
              <a:t>低薪</a:t>
            </a:r>
            <a:r>
              <a:rPr lang="zh-TW" altLang="zh-TW" dirty="0">
                <a:latin typeface="+mj-ea"/>
                <a:ea typeface="+mj-ea"/>
              </a:rPr>
              <a:t>的人比較多，在</a:t>
            </a:r>
            <a:r>
              <a:rPr lang="zh-TW" altLang="en-US" dirty="0">
                <a:latin typeface="+mj-ea"/>
                <a:ea typeface="+mj-ea"/>
              </a:rPr>
              <a:t>高薪</a:t>
            </a:r>
            <a:r>
              <a:rPr lang="zh-TW" altLang="zh-TW" dirty="0">
                <a:latin typeface="+mj-ea"/>
                <a:ea typeface="+mj-ea"/>
              </a:rPr>
              <a:t>的人較</a:t>
            </a:r>
            <a:r>
              <a:rPr lang="zh-TW" altLang="en-US" dirty="0">
                <a:latin typeface="+mj-ea"/>
                <a:ea typeface="+mj-ea"/>
              </a:rPr>
              <a:t>少</a:t>
            </a:r>
            <a:r>
              <a:rPr lang="zh-TW" altLang="zh-TW" dirty="0">
                <a:latin typeface="+mj-ea"/>
                <a:ea typeface="+mj-ea"/>
              </a:rPr>
              <a:t>，表示我國</a:t>
            </a:r>
            <a:r>
              <a:rPr lang="zh-TW" altLang="en-US" dirty="0">
                <a:latin typeface="+mj-ea"/>
                <a:ea typeface="+mj-ea"/>
              </a:rPr>
              <a:t>薪資</a:t>
            </a:r>
            <a:r>
              <a:rPr lang="zh-TW" altLang="zh-TW" dirty="0">
                <a:latin typeface="+mj-ea"/>
                <a:ea typeface="+mj-ea"/>
              </a:rPr>
              <a:t>水準是</a:t>
            </a:r>
            <a:r>
              <a:rPr lang="zh-TW" altLang="en-US" dirty="0">
                <a:latin typeface="+mj-ea"/>
                <a:ea typeface="+mj-ea"/>
              </a:rPr>
              <a:t>有待加強的</a:t>
            </a:r>
            <a:r>
              <a:rPr lang="zh-TW" altLang="zh-TW" dirty="0">
                <a:latin typeface="+mj-ea"/>
                <a:ea typeface="+mj-ea"/>
              </a:rPr>
              <a:t>。</a:t>
            </a:r>
            <a:endParaRPr lang="en-US" altLang="zh-TW" dirty="0">
              <a:latin typeface="+mj-ea"/>
              <a:ea typeface="+mj-ea"/>
            </a:endParaRPr>
          </a:p>
          <a:p>
            <a:endParaRPr lang="en-US" altLang="zh-TW" dirty="0">
              <a:latin typeface="+mj-ea"/>
              <a:ea typeface="+mj-ea"/>
            </a:endParaRPr>
          </a:p>
          <a:p>
            <a:r>
              <a:rPr lang="zh-TW" altLang="zh-TW" dirty="0">
                <a:latin typeface="+mj-ea"/>
                <a:ea typeface="+mj-ea"/>
              </a:rPr>
              <a:t>若是</a:t>
            </a:r>
            <a:r>
              <a:rPr lang="zh-TW" altLang="en-US" dirty="0">
                <a:latin typeface="+mj-ea"/>
                <a:ea typeface="+mj-ea"/>
              </a:rPr>
              <a:t>薪資</a:t>
            </a:r>
            <a:r>
              <a:rPr lang="zh-TW" altLang="zh-TW" dirty="0">
                <a:latin typeface="+mj-ea"/>
                <a:ea typeface="+mj-ea"/>
              </a:rPr>
              <a:t>中位數</a:t>
            </a:r>
            <a:r>
              <a:rPr lang="zh-TW" altLang="en-US" dirty="0">
                <a:latin typeface="+mj-ea"/>
                <a:ea typeface="+mj-ea"/>
              </a:rPr>
              <a:t>高</a:t>
            </a:r>
            <a:r>
              <a:rPr lang="zh-TW" altLang="zh-TW" dirty="0">
                <a:latin typeface="+mj-ea"/>
                <a:ea typeface="+mj-ea"/>
              </a:rPr>
              <a:t>於平均數，則表示得</a:t>
            </a:r>
            <a:r>
              <a:rPr lang="zh-TW" altLang="en-US" dirty="0">
                <a:latin typeface="+mj-ea"/>
                <a:ea typeface="+mj-ea"/>
              </a:rPr>
              <a:t>高薪</a:t>
            </a:r>
            <a:r>
              <a:rPr lang="zh-TW" altLang="zh-TW" dirty="0">
                <a:latin typeface="+mj-ea"/>
                <a:ea typeface="+mj-ea"/>
              </a:rPr>
              <a:t>的比例相對較高，</a:t>
            </a:r>
            <a:r>
              <a:rPr lang="zh-TW" altLang="en-US" dirty="0">
                <a:latin typeface="+mj-ea"/>
                <a:ea typeface="+mj-ea"/>
              </a:rPr>
              <a:t>整體待遇優良</a:t>
            </a:r>
            <a:r>
              <a:rPr lang="zh-TW" altLang="zh-TW" dirty="0">
                <a:latin typeface="+mj-ea"/>
                <a:ea typeface="+mj-ea"/>
              </a:rPr>
              <a:t>。</a:t>
            </a:r>
            <a:endParaRPr lang="zh-TW" altLang="en-US" dirty="0">
              <a:latin typeface="+mj-ea"/>
              <a:ea typeface="+mj-ea"/>
            </a:endParaRPr>
          </a:p>
          <a:p>
            <a:endParaRPr lang="en-US" altLang="zh-TW" dirty="0">
              <a:latin typeface="+mj-ea"/>
              <a:ea typeface="+mj-ea"/>
            </a:endParaRPr>
          </a:p>
          <a:p>
            <a:endParaRPr lang="zh-TW" altLang="en-US" dirty="0">
              <a:latin typeface="+mj-ea"/>
              <a:ea typeface="+mj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16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9964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6264696"/>
          </a:xfrm>
        </p:spPr>
        <p:txBody>
          <a:bodyPr>
            <a:normAutofit/>
          </a:bodyPr>
          <a:lstStyle/>
          <a:p>
            <a:r>
              <a:rPr lang="zh-TW" altLang="zh-TW" dirty="0">
                <a:latin typeface="+mj-ea"/>
                <a:ea typeface="+mj-ea"/>
              </a:rPr>
              <a:t>若是所有的資料值都是相同時，則分散程度應為零</a:t>
            </a:r>
            <a:r>
              <a:rPr lang="zh-TW" altLang="en-US" dirty="0">
                <a:latin typeface="+mj-ea"/>
                <a:ea typeface="+mj-ea"/>
              </a:rPr>
              <a:t>；</a:t>
            </a:r>
            <a:r>
              <a:rPr lang="zh-TW" altLang="zh-TW" dirty="0">
                <a:latin typeface="+mj-ea"/>
                <a:ea typeface="+mj-ea"/>
              </a:rPr>
              <a:t>若是資料間差異程度越大，則我們分散度應該越大。統計分析上我們用不同的方式來表達資料間的分散程度。</a:t>
            </a:r>
            <a:endParaRPr lang="en-US" altLang="zh-TW" dirty="0">
              <a:latin typeface="+mj-ea"/>
              <a:ea typeface="+mj-ea"/>
            </a:endParaRPr>
          </a:p>
          <a:p>
            <a:r>
              <a:rPr lang="zh-TW" altLang="zh-TW" dirty="0">
                <a:latin typeface="+mj-ea"/>
                <a:ea typeface="+mj-ea"/>
              </a:rPr>
              <a:t>全距</a:t>
            </a:r>
            <a:r>
              <a:rPr lang="en-US" altLang="zh-TW" dirty="0">
                <a:latin typeface="+mj-ea"/>
                <a:ea typeface="+mj-ea"/>
              </a:rPr>
              <a:t>(range)</a:t>
            </a:r>
            <a:r>
              <a:rPr lang="zh-TW" altLang="zh-TW" dirty="0">
                <a:latin typeface="+mj-ea"/>
                <a:ea typeface="+mj-ea"/>
              </a:rPr>
              <a:t> </a:t>
            </a:r>
            <a:r>
              <a:rPr lang="en-US" altLang="zh-TW" dirty="0">
                <a:latin typeface="+mj-ea"/>
                <a:ea typeface="+mj-ea"/>
              </a:rPr>
              <a:t>:</a:t>
            </a:r>
            <a:r>
              <a:rPr lang="zh-TW" altLang="en-US" dirty="0">
                <a:latin typeface="+mj-ea"/>
                <a:ea typeface="+mj-ea"/>
              </a:rPr>
              <a:t> </a:t>
            </a:r>
            <a:r>
              <a:rPr lang="zh-TW" altLang="zh-TW" dirty="0">
                <a:latin typeface="+mj-ea"/>
                <a:ea typeface="+mj-ea"/>
              </a:rPr>
              <a:t>資料中最大值和最小值的差異量。</a:t>
            </a:r>
            <a:endParaRPr lang="en-US" altLang="zh-TW" dirty="0">
              <a:latin typeface="+mj-ea"/>
              <a:ea typeface="+mj-ea"/>
            </a:endParaRPr>
          </a:p>
          <a:p>
            <a:endParaRPr lang="en-US" altLang="zh-TW" dirty="0">
              <a:latin typeface="+mj-ea"/>
              <a:ea typeface="+mj-ea"/>
            </a:endParaRPr>
          </a:p>
          <a:p>
            <a:r>
              <a:rPr lang="zh-TW" altLang="zh-TW" b="1" dirty="0">
                <a:latin typeface="+mj-ea"/>
                <a:ea typeface="+mj-ea"/>
              </a:rPr>
              <a:t>四分位距</a:t>
            </a:r>
            <a:r>
              <a:rPr lang="en-US" altLang="zh-TW" b="1" dirty="0">
                <a:latin typeface="+mj-ea"/>
                <a:ea typeface="+mj-ea"/>
              </a:rPr>
              <a:t>( interquartile rang</a:t>
            </a:r>
            <a:r>
              <a:rPr lang="zh-TW" altLang="en-US" b="1" dirty="0">
                <a:latin typeface="+mj-ea"/>
                <a:ea typeface="+mj-ea"/>
              </a:rPr>
              <a:t>，</a:t>
            </a:r>
            <a:r>
              <a:rPr lang="en-US" altLang="zh-TW" b="1" dirty="0">
                <a:latin typeface="+mj-ea"/>
                <a:ea typeface="+mj-ea"/>
              </a:rPr>
              <a:t>IQR)</a:t>
            </a:r>
            <a:r>
              <a:rPr lang="en-US" altLang="zh-TW" dirty="0">
                <a:latin typeface="+mj-ea"/>
                <a:ea typeface="+mj-ea"/>
              </a:rPr>
              <a:t> :</a:t>
            </a:r>
            <a:r>
              <a:rPr lang="zh-TW" altLang="en-US" dirty="0">
                <a:latin typeface="+mj-ea"/>
                <a:ea typeface="+mj-ea"/>
              </a:rPr>
              <a:t> </a:t>
            </a:r>
            <a:r>
              <a:rPr lang="zh-TW" altLang="zh-TW" dirty="0">
                <a:latin typeface="+mj-ea"/>
                <a:ea typeface="+mj-ea"/>
              </a:rPr>
              <a:t>四分位距是第三個四分位數</a:t>
            </a:r>
            <a:r>
              <a:rPr lang="en-US" altLang="zh-TW" dirty="0">
                <a:latin typeface="+mj-ea"/>
                <a:ea typeface="+mj-ea"/>
              </a:rPr>
              <a:t>(Q</a:t>
            </a:r>
            <a:r>
              <a:rPr lang="en-US" altLang="zh-TW" baseline="-25000" dirty="0">
                <a:latin typeface="+mj-ea"/>
                <a:ea typeface="+mj-ea"/>
              </a:rPr>
              <a:t>3</a:t>
            </a:r>
            <a:r>
              <a:rPr lang="en-US" altLang="zh-TW" dirty="0">
                <a:latin typeface="+mj-ea"/>
                <a:ea typeface="+mj-ea"/>
              </a:rPr>
              <a:t>)</a:t>
            </a:r>
            <a:r>
              <a:rPr lang="zh-TW" altLang="zh-TW" dirty="0">
                <a:latin typeface="+mj-ea"/>
                <a:ea typeface="+mj-ea"/>
              </a:rPr>
              <a:t>和第一個四分位數</a:t>
            </a:r>
            <a:r>
              <a:rPr lang="en-US" altLang="zh-TW" dirty="0">
                <a:latin typeface="+mj-ea"/>
                <a:ea typeface="+mj-ea"/>
              </a:rPr>
              <a:t>(Q</a:t>
            </a:r>
            <a:r>
              <a:rPr lang="en-US" altLang="zh-TW" baseline="-25000" dirty="0">
                <a:latin typeface="+mj-ea"/>
                <a:ea typeface="+mj-ea"/>
              </a:rPr>
              <a:t>1</a:t>
            </a:r>
            <a:r>
              <a:rPr lang="en-US" altLang="zh-TW" dirty="0">
                <a:latin typeface="+mj-ea"/>
                <a:ea typeface="+mj-ea"/>
              </a:rPr>
              <a:t>)</a:t>
            </a:r>
            <a:r>
              <a:rPr lang="zh-TW" altLang="zh-TW" dirty="0">
                <a:latin typeface="+mj-ea"/>
                <a:ea typeface="+mj-ea"/>
              </a:rPr>
              <a:t>的差異量</a:t>
            </a:r>
            <a:r>
              <a:rPr lang="en-US" altLang="zh-TW" dirty="0">
                <a:latin typeface="+mj-ea"/>
                <a:ea typeface="+mj-ea"/>
              </a:rPr>
              <a:t>(Q</a:t>
            </a:r>
            <a:r>
              <a:rPr lang="en-US" altLang="zh-TW" baseline="-25000" dirty="0">
                <a:latin typeface="+mj-ea"/>
                <a:ea typeface="+mj-ea"/>
              </a:rPr>
              <a:t>3</a:t>
            </a:r>
            <a:r>
              <a:rPr lang="en-US" altLang="zh-TW" dirty="0">
                <a:latin typeface="+mj-ea"/>
                <a:ea typeface="+mj-ea"/>
              </a:rPr>
              <a:t>- Q</a:t>
            </a:r>
            <a:r>
              <a:rPr lang="en-US" altLang="zh-TW" baseline="-25000" dirty="0">
                <a:latin typeface="+mj-ea"/>
                <a:ea typeface="+mj-ea"/>
              </a:rPr>
              <a:t>1</a:t>
            </a:r>
            <a:r>
              <a:rPr lang="en-US" altLang="zh-TW" dirty="0">
                <a:latin typeface="+mj-ea"/>
                <a:ea typeface="+mj-ea"/>
              </a:rPr>
              <a:t>)</a:t>
            </a:r>
            <a:r>
              <a:rPr lang="zh-TW" altLang="zh-TW" dirty="0">
                <a:latin typeface="+mj-ea"/>
                <a:ea typeface="+mj-ea"/>
              </a:rPr>
              <a:t>，而第一</a:t>
            </a:r>
            <a:r>
              <a:rPr lang="en-US" altLang="zh-TW" dirty="0">
                <a:latin typeface="+mj-ea"/>
                <a:ea typeface="+mj-ea"/>
              </a:rPr>
              <a:t>(</a:t>
            </a:r>
            <a:r>
              <a:rPr lang="zh-TW" altLang="zh-TW" dirty="0">
                <a:latin typeface="+mj-ea"/>
                <a:ea typeface="+mj-ea"/>
              </a:rPr>
              <a:t>三</a:t>
            </a:r>
            <a:r>
              <a:rPr lang="en-US" altLang="zh-TW" dirty="0">
                <a:latin typeface="+mj-ea"/>
                <a:ea typeface="+mj-ea"/>
              </a:rPr>
              <a:t>)</a:t>
            </a:r>
            <a:r>
              <a:rPr lang="zh-TW" altLang="zh-TW" dirty="0">
                <a:latin typeface="+mj-ea"/>
                <a:ea typeface="+mj-ea"/>
              </a:rPr>
              <a:t>個四分位數則是中位數以下</a:t>
            </a:r>
            <a:r>
              <a:rPr lang="en-US" altLang="zh-TW" dirty="0">
                <a:latin typeface="+mj-ea"/>
                <a:ea typeface="+mj-ea"/>
              </a:rPr>
              <a:t>(</a:t>
            </a:r>
            <a:r>
              <a:rPr lang="zh-TW" altLang="zh-TW" dirty="0">
                <a:latin typeface="+mj-ea"/>
                <a:ea typeface="+mj-ea"/>
              </a:rPr>
              <a:t>上</a:t>
            </a:r>
            <a:r>
              <a:rPr lang="en-US" altLang="zh-TW" dirty="0">
                <a:latin typeface="+mj-ea"/>
                <a:ea typeface="+mj-ea"/>
              </a:rPr>
              <a:t>)</a:t>
            </a:r>
            <a:r>
              <a:rPr lang="zh-TW" altLang="zh-TW" dirty="0">
                <a:latin typeface="+mj-ea"/>
                <a:ea typeface="+mj-ea"/>
              </a:rPr>
              <a:t>所有資料的</a:t>
            </a:r>
            <a:r>
              <a:rPr lang="en-US" altLang="zh-TW" dirty="0">
                <a:latin typeface="+mj-ea"/>
                <a:ea typeface="+mj-ea"/>
              </a:rPr>
              <a:t>"</a:t>
            </a:r>
            <a:r>
              <a:rPr lang="zh-TW" altLang="zh-TW" dirty="0">
                <a:latin typeface="+mj-ea"/>
                <a:ea typeface="+mj-ea"/>
              </a:rPr>
              <a:t>中位數</a:t>
            </a:r>
            <a:r>
              <a:rPr lang="en-US" altLang="zh-TW" dirty="0">
                <a:latin typeface="+mj-ea"/>
                <a:ea typeface="+mj-ea"/>
              </a:rPr>
              <a:t>"</a:t>
            </a:r>
            <a:r>
              <a:rPr lang="zh-TW" altLang="zh-TW" dirty="0">
                <a:latin typeface="+mj-ea"/>
                <a:ea typeface="+mj-ea"/>
              </a:rPr>
              <a:t>。全體資料本身的中位數又稱為第二個四分位數</a:t>
            </a:r>
            <a:r>
              <a:rPr lang="en-US" altLang="zh-TW" dirty="0">
                <a:latin typeface="+mj-ea"/>
                <a:ea typeface="+mj-ea"/>
              </a:rPr>
              <a:t>(Q</a:t>
            </a:r>
            <a:r>
              <a:rPr lang="en-US" altLang="zh-TW" baseline="-25000" dirty="0">
                <a:latin typeface="+mj-ea"/>
                <a:ea typeface="+mj-ea"/>
              </a:rPr>
              <a:t>2</a:t>
            </a:r>
            <a:r>
              <a:rPr lang="en-US" altLang="zh-TW" dirty="0">
                <a:latin typeface="+mj-ea"/>
                <a:ea typeface="+mj-ea"/>
              </a:rPr>
              <a:t>)</a:t>
            </a:r>
            <a:r>
              <a:rPr lang="zh-TW" altLang="zh-TW" dirty="0">
                <a:latin typeface="+mj-ea"/>
                <a:ea typeface="+mj-ea"/>
              </a:rPr>
              <a:t>。</a:t>
            </a:r>
            <a:r>
              <a:rPr lang="en-US" altLang="zh-TW" dirty="0">
                <a:latin typeface="+mj-ea"/>
                <a:ea typeface="+mj-ea"/>
              </a:rPr>
              <a:t>IQR</a:t>
            </a:r>
            <a:r>
              <a:rPr lang="zh-TW" altLang="zh-TW" dirty="0">
                <a:latin typeface="+mj-ea"/>
                <a:ea typeface="+mj-ea"/>
              </a:rPr>
              <a:t>只表達了中間</a:t>
            </a:r>
            <a:r>
              <a:rPr lang="en-US" altLang="zh-TW" dirty="0">
                <a:latin typeface="+mj-ea"/>
                <a:ea typeface="+mj-ea"/>
              </a:rPr>
              <a:t>50% </a:t>
            </a:r>
            <a:r>
              <a:rPr lang="zh-TW" altLang="zh-TW" dirty="0">
                <a:latin typeface="+mj-ea"/>
                <a:ea typeface="+mj-ea"/>
              </a:rPr>
              <a:t>資料的</a:t>
            </a:r>
            <a:r>
              <a:rPr lang="en-US" altLang="zh-TW" dirty="0">
                <a:latin typeface="+mj-ea"/>
                <a:ea typeface="+mj-ea"/>
              </a:rPr>
              <a:t>"</a:t>
            </a:r>
            <a:r>
              <a:rPr lang="zh-TW" altLang="zh-TW" dirty="0">
                <a:latin typeface="+mj-ea"/>
                <a:ea typeface="+mj-ea"/>
              </a:rPr>
              <a:t>全距</a:t>
            </a:r>
            <a:r>
              <a:rPr lang="en-US" altLang="zh-TW" dirty="0">
                <a:latin typeface="+mj-ea"/>
                <a:ea typeface="+mj-ea"/>
              </a:rPr>
              <a:t>"</a:t>
            </a:r>
            <a:r>
              <a:rPr lang="zh-TW" altLang="en-US" dirty="0">
                <a:latin typeface="+mj-ea"/>
                <a:ea typeface="+mj-ea"/>
              </a:rPr>
              <a:t>。</a:t>
            </a:r>
            <a:endParaRPr lang="en-US" altLang="zh-TW" dirty="0">
              <a:latin typeface="+mj-ea"/>
              <a:ea typeface="+mj-ea"/>
            </a:endParaRPr>
          </a:p>
          <a:p>
            <a:endParaRPr lang="en-US" altLang="zh-TW" dirty="0">
              <a:latin typeface="+mj-ea"/>
              <a:ea typeface="+mj-ea"/>
            </a:endParaRPr>
          </a:p>
          <a:p>
            <a:endParaRPr lang="en-US" altLang="zh-TW" dirty="0">
              <a:latin typeface="+mj-ea"/>
              <a:ea typeface="+mj-ea"/>
            </a:endParaRPr>
          </a:p>
          <a:p>
            <a:endParaRPr lang="en-US" altLang="zh-TW" dirty="0">
              <a:latin typeface="+mj-ea"/>
              <a:ea typeface="+mj-ea"/>
            </a:endParaRPr>
          </a:p>
          <a:p>
            <a:endParaRPr lang="en-US" altLang="zh-TW" sz="2200" dirty="0">
              <a:latin typeface="+mj-ea"/>
              <a:ea typeface="+mj-ea"/>
            </a:endParaRPr>
          </a:p>
          <a:p>
            <a:endParaRPr lang="en-US" altLang="zh-TW" sz="2200" dirty="0">
              <a:latin typeface="+mj-ea"/>
              <a:ea typeface="+mj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17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8326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620688"/>
                <a:ext cx="8229600" cy="55054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TW" altLang="zh-TW" sz="2400" b="1" dirty="0">
                    <a:latin typeface="+mj-ea"/>
                    <a:ea typeface="+mj-ea"/>
                  </a:rPr>
                  <a:t>標準差</a:t>
                </a:r>
                <a:r>
                  <a:rPr lang="en-US" altLang="zh-TW" sz="2400" b="1" dirty="0">
                    <a:latin typeface="+mj-ea"/>
                    <a:ea typeface="+mj-ea"/>
                  </a:rPr>
                  <a:t>( standard deviation )</a:t>
                </a:r>
                <a:r>
                  <a:rPr lang="zh-TW" altLang="en-US" sz="2400" b="1" dirty="0">
                    <a:latin typeface="+mj-ea"/>
                    <a:ea typeface="+mj-ea"/>
                  </a:rPr>
                  <a:t> </a:t>
                </a:r>
                <a:r>
                  <a:rPr lang="en-US" altLang="zh-TW" sz="2400" dirty="0">
                    <a:latin typeface="+mj-ea"/>
                    <a:ea typeface="+mj-ea"/>
                  </a:rPr>
                  <a:t>:</a:t>
                </a:r>
                <a:r>
                  <a:rPr lang="zh-TW" altLang="en-US" sz="2400" dirty="0">
                    <a:latin typeface="+mj-ea"/>
                    <a:ea typeface="+mj-ea"/>
                  </a:rPr>
                  <a:t> </a:t>
                </a:r>
                <a:endParaRPr lang="en-US" altLang="zh-TW" sz="2400" dirty="0">
                  <a:latin typeface="+mj-ea"/>
                  <a:ea typeface="+mj-ea"/>
                </a:endParaRPr>
              </a:p>
              <a:p>
                <a:endParaRPr lang="en-US" altLang="zh-TW" sz="2400" dirty="0"/>
              </a:p>
              <a:p>
                <a:endParaRPr lang="en-US" altLang="zh-TW" sz="2400" dirty="0">
                  <a:latin typeface="+mj-ea"/>
                  <a:ea typeface="+mj-ea"/>
                </a:endParaRPr>
              </a:p>
              <a:p>
                <a:endParaRPr lang="en-US" altLang="zh-TW" sz="2400" dirty="0">
                  <a:latin typeface="+mj-ea"/>
                  <a:ea typeface="+mj-ea"/>
                </a:endParaRPr>
              </a:p>
              <a:p>
                <a:r>
                  <a:rPr lang="zh-TW" altLang="zh-TW" sz="2400" dirty="0">
                    <a:latin typeface="+mj-ea"/>
                    <a:ea typeface="+mj-ea"/>
                  </a:rPr>
                  <a:t>標準差的平方稱為</a:t>
                </a:r>
                <a:r>
                  <a:rPr lang="zh-TW" altLang="zh-TW" sz="2400" b="1" dirty="0">
                    <a:latin typeface="+mj-ea"/>
                    <a:ea typeface="+mj-ea"/>
                  </a:rPr>
                  <a:t>變異數</a:t>
                </a:r>
                <a:r>
                  <a:rPr lang="en-US" altLang="zh-TW" sz="2400" b="1" dirty="0">
                    <a:latin typeface="+mj-ea"/>
                    <a:ea typeface="+mj-ea"/>
                  </a:rPr>
                  <a:t>( variance )</a:t>
                </a:r>
                <a:r>
                  <a:rPr lang="zh-TW" altLang="zh-TW" sz="2400" dirty="0">
                    <a:latin typeface="+mj-ea"/>
                    <a:ea typeface="+mj-ea"/>
                  </a:rPr>
                  <a:t>，假如我們用平均數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+mj-ea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TW" altLang="zh-TW" sz="2400" dirty="0">
                    <a:latin typeface="+mj-ea"/>
                    <a:ea typeface="+mj-ea"/>
                  </a:rPr>
                  <a:t>表示資料的集中趨勢，則任一資料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+mj-ea"/>
                      </a:rPr>
                      <m:t>𝑥</m:t>
                    </m:r>
                  </m:oMath>
                </a14:m>
                <a:r>
                  <a:rPr lang="en-US" altLang="zh-TW" sz="2400" dirty="0">
                    <a:latin typeface="+mj-ea"/>
                    <a:ea typeface="+mj-ea"/>
                  </a:rPr>
                  <a:t> </a:t>
                </a:r>
                <a:r>
                  <a:rPr lang="zh-TW" altLang="zh-TW" sz="2400" dirty="0">
                    <a:latin typeface="+mj-ea"/>
                    <a:ea typeface="+mj-ea"/>
                  </a:rPr>
                  <a:t>和集中趨勢值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TW" altLang="zh-TW" sz="24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+mj-ea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zh-TW" sz="2400" dirty="0">
                    <a:latin typeface="+mj-ea"/>
                    <a:ea typeface="+mj-ea"/>
                  </a:rPr>
                  <a:t> </a:t>
                </a:r>
                <a:r>
                  <a:rPr lang="zh-TW" altLang="zh-TW" sz="2400" dirty="0">
                    <a:latin typeface="+mj-ea"/>
                    <a:ea typeface="+mj-ea"/>
                  </a:rPr>
                  <a:t>間變異的平方為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TW" sz="24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en-US" altLang="zh-TW" sz="2400">
                            <a:latin typeface="Cambria Math" panose="02040503050406030204" pitchFamily="18" charset="0"/>
                            <a:ea typeface="+mj-ea"/>
                          </a:rPr>
                          <m:t>(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ea typeface="+mj-ea"/>
                          </a:rPr>
                          <m:t>𝑥</m:t>
                        </m:r>
                        <m:r>
                          <a:rPr lang="zh-TW" altLang="en-US" sz="2400" i="1">
                            <a:latin typeface="Cambria Math" panose="02040503050406030204" pitchFamily="18" charset="0"/>
                            <a:ea typeface="+mj-ea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zh-TW" altLang="zh-TW" sz="2400" i="1"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+mj-ea"/>
                              </a:rPr>
                              <m:t>𝑥</m:t>
                            </m:r>
                          </m:e>
                        </m:acc>
                        <m:r>
                          <a:rPr lang="en-US" altLang="zh-TW" sz="2400" i="1">
                            <a:latin typeface="Cambria Math" panose="02040503050406030204" pitchFamily="18" charset="0"/>
                            <a:ea typeface="+mj-ea"/>
                          </a:rPr>
                          <m:t>)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ea typeface="+mj-ea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+mj-ea"/>
                    <a:ea typeface="+mj-ea"/>
                  </a:rPr>
                  <a:t> </a:t>
                </a:r>
                <a:r>
                  <a:rPr lang="zh-TW" altLang="zh-TW" sz="2400" dirty="0">
                    <a:latin typeface="+mj-ea"/>
                    <a:ea typeface="+mj-ea"/>
                  </a:rPr>
                  <a:t>，而變異數就是這些變異平方的平均</a:t>
                </a:r>
                <a:r>
                  <a:rPr lang="en-US" altLang="zh-TW" sz="2400" dirty="0">
                    <a:latin typeface="+mj-ea"/>
                    <a:ea typeface="+mj-ea"/>
                  </a:rPr>
                  <a:t> :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zh-TW" altLang="zh-TW" sz="24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zh-TW" altLang="zh-TW" sz="2400" i="1"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zh-TW" altLang="zh-TW" sz="2400" i="1">
                                    <a:latin typeface="Cambria Math" panose="02040503050406030204" pitchFamily="18" charset="0"/>
                                    <a:ea typeface="+mj-ea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400">
                                    <a:latin typeface="Cambria Math" panose="02040503050406030204" pitchFamily="18" charset="0"/>
                                    <a:ea typeface="+mj-ea"/>
                                  </a:rPr>
                                  <m:t>(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  <a:ea typeface="+mj-ea"/>
                                  </a:rPr>
                                  <m:t>𝑥</m:t>
                                </m:r>
                                <m:r>
                                  <a:rPr lang="zh-TW" altLang="en-US" sz="2400" i="1">
                                    <a:latin typeface="Cambria Math" panose="02040503050406030204" pitchFamily="18" charset="0"/>
                                    <a:ea typeface="+mj-ea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zh-TW" altLang="zh-TW" sz="2400" i="1"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  <a:ea typeface="+mj-ea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  <a:ea typeface="+mj-ea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zh-TW" altLang="zh-TW" sz="2400" i="1"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+mj-ea"/>
                              </a:rPr>
                              <m:t>𝑓</m:t>
                            </m:r>
                          </m:e>
                        </m:nary>
                      </m:den>
                    </m:f>
                  </m:oMath>
                </a14:m>
                <a:r>
                  <a:rPr lang="en-US" altLang="zh-TW" sz="2400" dirty="0">
                    <a:latin typeface="+mj-ea"/>
                    <a:ea typeface="+mj-ea"/>
                  </a:rPr>
                  <a:t> </a:t>
                </a:r>
                <a:r>
                  <a:rPr lang="zh-TW" altLang="zh-TW" sz="2400" dirty="0">
                    <a:latin typeface="+mj-ea"/>
                    <a:ea typeface="+mj-ea"/>
                  </a:rPr>
                  <a:t>。</a:t>
                </a:r>
                <a:endParaRPr lang="en-US" altLang="zh-TW" sz="2400" dirty="0">
                  <a:latin typeface="+mj-ea"/>
                  <a:ea typeface="+mj-ea"/>
                </a:endParaRPr>
              </a:p>
              <a:p>
                <a:r>
                  <a:rPr lang="zh-TW" altLang="zh-TW" sz="2400" dirty="0">
                    <a:latin typeface="+mj-ea"/>
                    <a:ea typeface="+mj-ea"/>
                  </a:rPr>
                  <a:t>若是資料為母體全部的資料則變異數以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TW" sz="24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+mj-ea"/>
                          </a:rPr>
                          <m:t>𝜎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ea typeface="+mj-ea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+mj-ea"/>
                    <a:ea typeface="+mj-ea"/>
                  </a:rPr>
                  <a:t> </a:t>
                </a:r>
                <a:r>
                  <a:rPr lang="zh-TW" altLang="zh-TW" sz="2400" dirty="0">
                    <a:latin typeface="+mj-ea"/>
                    <a:ea typeface="+mj-ea"/>
                  </a:rPr>
                  <a:t>表達；若資料僅是樣本資料，則變異數</a:t>
                </a:r>
                <a:r>
                  <a:rPr lang="zh-TW" altLang="en-US" sz="2400" dirty="0">
                    <a:latin typeface="+mj-ea"/>
                    <a:ea typeface="+mj-ea"/>
                  </a:rPr>
                  <a:t>公</a:t>
                </a:r>
                <a:r>
                  <a:rPr lang="zh-TW" altLang="zh-TW" sz="2400" dirty="0">
                    <a:latin typeface="+mj-ea"/>
                    <a:ea typeface="+mj-ea"/>
                  </a:rPr>
                  <a:t>式中的分母改為</a:t>
                </a:r>
                <a:r>
                  <a:rPr lang="en-US" altLang="zh-TW" sz="2400" dirty="0">
                    <a:latin typeface="+mj-ea"/>
                    <a:ea typeface="+mj-ea"/>
                  </a:rPr>
                  <a:t> 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zh-TW" altLang="zh-TW" sz="24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+mj-ea"/>
                          </a:rPr>
                          <m:t>𝑓</m:t>
                        </m:r>
                      </m:e>
                    </m:nary>
                    <m:r>
                      <a:rPr lang="en-US" altLang="zh-TW" sz="2400" i="1">
                        <a:latin typeface="Cambria Math" panose="02040503050406030204" pitchFamily="18" charset="0"/>
                        <a:ea typeface="+mj-ea"/>
                      </a:rPr>
                      <m:t>)−1</m:t>
                    </m:r>
                  </m:oMath>
                </a14:m>
                <a:r>
                  <a:rPr lang="en-US" altLang="zh-TW" sz="2400" dirty="0">
                    <a:latin typeface="+mj-ea"/>
                    <a:ea typeface="+mj-ea"/>
                  </a:rPr>
                  <a:t> </a:t>
                </a:r>
                <a:r>
                  <a:rPr lang="zh-TW" altLang="zh-TW" sz="2400" dirty="0">
                    <a:latin typeface="+mj-ea"/>
                    <a:ea typeface="+mj-ea"/>
                  </a:rPr>
                  <a:t>，而</a:t>
                </a:r>
                <a:r>
                  <a:rPr lang="en-US" altLang="zh-TW" sz="2400" dirty="0">
                    <a:latin typeface="+mj-ea"/>
                    <a:ea typeface="+mj-ea"/>
                  </a:rPr>
                  <a:t>(</a:t>
                </a:r>
                <a:r>
                  <a:rPr lang="zh-TW" altLang="zh-TW" sz="2400" dirty="0">
                    <a:latin typeface="+mj-ea"/>
                    <a:ea typeface="+mj-ea"/>
                  </a:rPr>
                  <a:t>樣本</a:t>
                </a:r>
                <a:r>
                  <a:rPr lang="en-US" altLang="zh-TW" sz="2400" dirty="0">
                    <a:latin typeface="+mj-ea"/>
                    <a:ea typeface="+mj-ea"/>
                  </a:rPr>
                  <a:t>)</a:t>
                </a:r>
                <a:r>
                  <a:rPr lang="zh-TW" altLang="zh-TW" sz="2400" dirty="0">
                    <a:latin typeface="+mj-ea"/>
                    <a:ea typeface="+mj-ea"/>
                  </a:rPr>
                  <a:t>變異數</a:t>
                </a:r>
                <a:r>
                  <a:rPr lang="en-US" altLang="zh-TW" sz="2400" dirty="0">
                    <a:latin typeface="+mj-ea"/>
                    <a:ea typeface="+mj-ea"/>
                  </a:rPr>
                  <a:t>(</a:t>
                </a:r>
                <a:r>
                  <a:rPr lang="zh-TW" altLang="zh-TW" sz="2400" dirty="0">
                    <a:latin typeface="+mj-ea"/>
                    <a:ea typeface="+mj-ea"/>
                  </a:rPr>
                  <a:t>標準差</a:t>
                </a:r>
                <a:r>
                  <a:rPr lang="en-US" altLang="zh-TW" sz="2400" dirty="0">
                    <a:latin typeface="+mj-ea"/>
                    <a:ea typeface="+mj-ea"/>
                  </a:rPr>
                  <a:t>)</a:t>
                </a:r>
                <a:r>
                  <a:rPr lang="zh-TW" altLang="zh-TW" sz="2400" dirty="0">
                    <a:latin typeface="+mj-ea"/>
                    <a:ea typeface="+mj-ea"/>
                  </a:rPr>
                  <a:t>改以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TW" sz="24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  <a:ea typeface="+mj-ea"/>
                          </a:rPr>
                          <m:t>S</m:t>
                        </m:r>
                      </m:e>
                      <m:sup>
                        <m:r>
                          <a:rPr lang="en-US" altLang="zh-TW" sz="2400">
                            <a:latin typeface="Cambria Math" panose="02040503050406030204" pitchFamily="18" charset="0"/>
                            <a:ea typeface="+mj-ea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+mj-ea"/>
                    <a:ea typeface="+mj-ea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>
                        <a:latin typeface="Cambria Math" panose="02040503050406030204" pitchFamily="18" charset="0"/>
                        <a:ea typeface="+mj-ea"/>
                      </a:rPr>
                      <m:t>S</m:t>
                    </m:r>
                  </m:oMath>
                </a14:m>
                <a:r>
                  <a:rPr lang="en-US" altLang="zh-TW" sz="2400" dirty="0">
                    <a:latin typeface="+mj-ea"/>
                    <a:ea typeface="+mj-ea"/>
                  </a:rPr>
                  <a:t>)</a:t>
                </a:r>
                <a:r>
                  <a:rPr lang="zh-TW" altLang="zh-TW" sz="2400" dirty="0">
                    <a:latin typeface="+mj-ea"/>
                    <a:ea typeface="+mj-ea"/>
                  </a:rPr>
                  <a:t>表達。</a:t>
                </a:r>
                <a:endParaRPr lang="en-US" altLang="zh-TW" sz="2400" dirty="0">
                  <a:latin typeface="+mj-ea"/>
                  <a:ea typeface="+mj-ea"/>
                </a:endParaRPr>
              </a:p>
              <a:p>
                <a:r>
                  <a:rPr lang="zh-TW" altLang="zh-TW" sz="2400" dirty="0">
                    <a:latin typeface="+mj-ea"/>
                    <a:ea typeface="+mj-ea"/>
                  </a:rPr>
                  <a:t>由於我們經常無法觀察到全體的資料，我們會應用樣本資料去計算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TW" sz="24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  <a:ea typeface="+mj-ea"/>
                          </a:rPr>
                          <m:t>S</m:t>
                        </m:r>
                      </m:e>
                      <m:sup>
                        <m:r>
                          <a:rPr lang="en-US" altLang="zh-TW" sz="2400">
                            <a:latin typeface="Cambria Math" panose="02040503050406030204" pitchFamily="18" charset="0"/>
                            <a:ea typeface="+mj-ea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+mj-ea"/>
                    <a:ea typeface="+mj-ea"/>
                  </a:rPr>
                  <a:t> </a:t>
                </a:r>
                <a:r>
                  <a:rPr lang="zh-TW" altLang="zh-TW" sz="2400" dirty="0">
                    <a:latin typeface="+mj-ea"/>
                    <a:ea typeface="+mj-ea"/>
                  </a:rPr>
                  <a:t>，並用</a:t>
                </a:r>
                <a:r>
                  <a:rPr lang="en-US" altLang="zh-TW" sz="2400" dirty="0">
                    <a:latin typeface="+mj-ea"/>
                    <a:ea typeface="+mj-ea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TW" sz="24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  <a:ea typeface="+mj-ea"/>
                          </a:rPr>
                          <m:t>S</m:t>
                        </m:r>
                      </m:e>
                      <m:sup>
                        <m:r>
                          <a:rPr lang="en-US" altLang="zh-TW" sz="2400">
                            <a:latin typeface="Cambria Math" panose="02040503050406030204" pitchFamily="18" charset="0"/>
                            <a:ea typeface="+mj-ea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+mj-ea"/>
                    <a:ea typeface="+mj-ea"/>
                  </a:rPr>
                  <a:t> </a:t>
                </a:r>
                <a:r>
                  <a:rPr lang="zh-TW" altLang="zh-TW" sz="2400" dirty="0">
                    <a:latin typeface="+mj-ea"/>
                    <a:ea typeface="+mj-ea"/>
                  </a:rPr>
                  <a:t>去代表不知道的 </a:t>
                </a:r>
                <a:r>
                  <a:rPr lang="en-US" altLang="zh-TW" sz="2400" dirty="0">
                    <a:latin typeface="+mj-ea"/>
                    <a:ea typeface="+mj-ea"/>
                  </a:rPr>
                  <a:t>"</a:t>
                </a:r>
                <a:r>
                  <a:rPr lang="zh-TW" altLang="zh-TW" sz="2400" dirty="0">
                    <a:latin typeface="+mj-ea"/>
                    <a:ea typeface="+mj-ea"/>
                  </a:rPr>
                  <a:t>參數</a:t>
                </a:r>
                <a:r>
                  <a:rPr lang="en-US" altLang="zh-TW" sz="2400" dirty="0">
                    <a:latin typeface="+mj-ea"/>
                    <a:ea typeface="+mj-ea"/>
                  </a:rPr>
                  <a:t>"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TW" sz="24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+mj-ea"/>
                          </a:rPr>
                          <m:t>𝜎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ea typeface="+mj-ea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+mj-ea"/>
                    <a:ea typeface="+mj-ea"/>
                  </a:rPr>
                  <a:t> </a:t>
                </a:r>
                <a:r>
                  <a:rPr lang="zh-TW" altLang="zh-TW" sz="2400" dirty="0">
                    <a:latin typeface="+mj-ea"/>
                    <a:ea typeface="+mj-ea"/>
                  </a:rPr>
                  <a:t>，且稱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TW" sz="24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  <a:ea typeface="+mj-ea"/>
                          </a:rPr>
                          <m:t>S</m:t>
                        </m:r>
                      </m:e>
                      <m:sup>
                        <m:r>
                          <a:rPr lang="en-US" altLang="zh-TW" sz="2400">
                            <a:latin typeface="Cambria Math" panose="02040503050406030204" pitchFamily="18" charset="0"/>
                            <a:ea typeface="+mj-ea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+mj-ea"/>
                    <a:ea typeface="+mj-ea"/>
                  </a:rPr>
                  <a:t> </a:t>
                </a:r>
                <a:r>
                  <a:rPr lang="zh-TW" altLang="zh-TW" sz="2400" dirty="0">
                    <a:latin typeface="+mj-ea"/>
                    <a:ea typeface="+mj-ea"/>
                  </a:rPr>
                  <a:t>是參數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TW" sz="24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+mj-ea"/>
                          </a:rPr>
                          <m:t>𝜎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ea typeface="+mj-ea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TW" altLang="zh-TW" sz="2400" dirty="0">
                    <a:latin typeface="+mj-ea"/>
                    <a:ea typeface="+mj-ea"/>
                  </a:rPr>
                  <a:t>的一種</a:t>
                </a:r>
                <a:r>
                  <a:rPr lang="en-US" altLang="zh-TW" sz="2400" dirty="0">
                    <a:latin typeface="+mj-ea"/>
                    <a:ea typeface="+mj-ea"/>
                  </a:rPr>
                  <a:t>"</a:t>
                </a:r>
                <a:r>
                  <a:rPr lang="zh-TW" altLang="zh-TW" sz="2400" dirty="0">
                    <a:latin typeface="+mj-ea"/>
                    <a:ea typeface="+mj-ea"/>
                  </a:rPr>
                  <a:t>估計</a:t>
                </a:r>
                <a:r>
                  <a:rPr lang="en-US" altLang="zh-TW" sz="2400" dirty="0">
                    <a:latin typeface="+mj-ea"/>
                    <a:ea typeface="+mj-ea"/>
                  </a:rPr>
                  <a:t>"</a:t>
                </a:r>
                <a:r>
                  <a:rPr lang="zh-TW" altLang="zh-TW" sz="2400" dirty="0">
                    <a:latin typeface="+mj-ea"/>
                    <a:ea typeface="+mj-ea"/>
                  </a:rPr>
                  <a:t>。</a:t>
                </a:r>
                <a:endParaRPr lang="zh-TW" altLang="en-US" sz="2400" dirty="0">
                  <a:latin typeface="+mj-ea"/>
                  <a:ea typeface="+mj-ea"/>
                </a:endParaRPr>
              </a:p>
              <a:p>
                <a:endParaRPr lang="en-US" altLang="zh-TW" sz="2400" dirty="0">
                  <a:latin typeface="+mj-ea"/>
                  <a:ea typeface="+mj-ea"/>
                </a:endParaRPr>
              </a:p>
              <a:p>
                <a:endParaRPr lang="en-US" altLang="zh-TW" sz="2200" dirty="0">
                  <a:latin typeface="+mj-ea"/>
                  <a:ea typeface="+mj-ea"/>
                </a:endParaRPr>
              </a:p>
              <a:p>
                <a:endParaRPr lang="zh-TW" altLang="en-US" dirty="0">
                  <a:latin typeface="+mj-ea"/>
                  <a:ea typeface="+mj-ea"/>
                </a:endParaRPr>
              </a:p>
              <a:p>
                <a:endParaRPr lang="zh-TW" altLang="en-US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20688"/>
                <a:ext cx="8229600" cy="5505475"/>
              </a:xfrm>
              <a:blipFill>
                <a:blip r:embed="rId2"/>
                <a:stretch>
                  <a:fillRect l="-667" t="-2104" r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18</a:t>
            </a:r>
            <a:endParaRPr lang="zh-TW" altLang="en-US"/>
          </a:p>
        </p:txBody>
      </p:sp>
      <p:pic>
        <p:nvPicPr>
          <p:cNvPr id="5" name="圖片 4" descr="一張含有 字型, 白色, 圖表, 數字 的圖片&#10;&#10;AI 產生的內容可能不正確。">
            <a:extLst>
              <a:ext uri="{FF2B5EF4-FFF2-40B4-BE49-F238E27FC236}">
                <a16:creationId xmlns:a16="http://schemas.microsoft.com/office/drawing/2014/main" id="{5CDC90F1-E3C9-AFA2-9906-87C5766095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5919" y="1196752"/>
            <a:ext cx="2772162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65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764704"/>
                <a:ext cx="8229600" cy="5361459"/>
              </a:xfrm>
            </p:spPr>
            <p:txBody>
              <a:bodyPr>
                <a:normAutofit/>
              </a:bodyPr>
              <a:lstStyle/>
              <a:p>
                <a:r>
                  <a:rPr lang="zh-TW" altLang="zh-TW" dirty="0">
                    <a:latin typeface="+mj-ea"/>
                    <a:ea typeface="+mj-ea"/>
                  </a:rPr>
                  <a:t>樣本平均數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TW" altLang="zh-TW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+mj-ea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TW" altLang="zh-TW" dirty="0">
                    <a:latin typeface="+mj-ea"/>
                    <a:ea typeface="+mj-ea"/>
                  </a:rPr>
                  <a:t>和樣本標準差</a:t>
                </a:r>
                <a:r>
                  <a:rPr lang="en-US" altLang="zh-TW" dirty="0">
                    <a:latin typeface="+mj-ea"/>
                    <a:ea typeface="+mj-ea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+mj-ea"/>
                      </a:rPr>
                      <m:t>S</m:t>
                    </m:r>
                  </m:oMath>
                </a14:m>
                <a:r>
                  <a:rPr lang="en-US" altLang="zh-TW" dirty="0">
                    <a:latin typeface="+mj-ea"/>
                    <a:ea typeface="+mj-ea"/>
                  </a:rPr>
                  <a:t> </a:t>
                </a:r>
                <a:r>
                  <a:rPr lang="zh-TW" altLang="zh-TW" dirty="0">
                    <a:latin typeface="+mj-ea"/>
                    <a:ea typeface="+mj-ea"/>
                  </a:rPr>
                  <a:t>經常搭配在一起使用，前者表達資料的集中趨勢，後者則表示資料間分散差異的程度。</a:t>
                </a:r>
                <a:endParaRPr lang="en-US" altLang="zh-TW" dirty="0">
                  <a:latin typeface="+mj-ea"/>
                  <a:ea typeface="+mj-ea"/>
                </a:endParaRPr>
              </a:p>
              <a:p>
                <a:endParaRPr lang="en-US" altLang="zh-TW" dirty="0">
                  <a:latin typeface="+mj-ea"/>
                  <a:ea typeface="+mj-ea"/>
                </a:endParaRPr>
              </a:p>
              <a:p>
                <a:r>
                  <a:rPr lang="zh-TW" altLang="zh-TW" dirty="0">
                    <a:latin typeface="+mj-ea"/>
                    <a:ea typeface="+mj-ea"/>
                  </a:rPr>
                  <a:t>理論顯示</a:t>
                </a:r>
                <a:r>
                  <a:rPr lang="en-US" altLang="zh-TW" dirty="0">
                    <a:latin typeface="+mj-ea"/>
                    <a:ea typeface="+mj-ea"/>
                  </a:rPr>
                  <a:t>, </a:t>
                </a:r>
                <a:r>
                  <a:rPr lang="zh-TW" altLang="zh-TW" dirty="0">
                    <a:latin typeface="+mj-ea"/>
                    <a:ea typeface="+mj-ea"/>
                  </a:rPr>
                  <a:t>在</a:t>
                </a:r>
                <a:r>
                  <a:rPr lang="en-US" altLang="zh-TW" dirty="0">
                    <a:latin typeface="+mj-ea"/>
                    <a:ea typeface="+mj-ea"/>
                  </a:rPr>
                  <a:t>”</a:t>
                </a:r>
                <a:r>
                  <a:rPr lang="zh-TW" altLang="zh-TW" dirty="0">
                    <a:latin typeface="+mj-ea"/>
                    <a:ea typeface="+mj-ea"/>
                  </a:rPr>
                  <a:t>常態</a:t>
                </a:r>
                <a:r>
                  <a:rPr lang="en-US" altLang="zh-TW" dirty="0">
                    <a:latin typeface="+mj-ea"/>
                    <a:ea typeface="+mj-ea"/>
                  </a:rPr>
                  <a:t>” </a:t>
                </a:r>
                <a:r>
                  <a:rPr lang="zh-TW" altLang="zh-TW" dirty="0">
                    <a:latin typeface="+mj-ea"/>
                    <a:ea typeface="+mj-ea"/>
                  </a:rPr>
                  <a:t>的母體資料下，我們發現 </a:t>
                </a:r>
                <a:r>
                  <a:rPr lang="en-US" altLang="zh-TW" dirty="0">
                    <a:latin typeface="+mj-ea"/>
                    <a:ea typeface="+mj-ea"/>
                  </a:rPr>
                  <a:t>“</a:t>
                </a:r>
                <a:r>
                  <a:rPr lang="zh-TW" altLang="zh-TW" dirty="0">
                    <a:latin typeface="+mj-ea"/>
                    <a:ea typeface="+mj-ea"/>
                  </a:rPr>
                  <a:t>約有</a:t>
                </a:r>
                <a:r>
                  <a:rPr lang="en-US" altLang="zh-TW" dirty="0">
                    <a:latin typeface="+mj-ea"/>
                    <a:ea typeface="+mj-ea"/>
                  </a:rPr>
                  <a:t>95%</a:t>
                </a:r>
                <a:r>
                  <a:rPr lang="zh-TW" altLang="zh-TW" dirty="0">
                    <a:latin typeface="+mj-ea"/>
                    <a:ea typeface="+mj-ea"/>
                  </a:rPr>
                  <a:t>母體資料會落在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TW" altLang="zh-TW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+mj-ea"/>
                          </a:rPr>
                          <m:t>𝑥</m:t>
                        </m:r>
                      </m:e>
                    </m:acc>
                    <m:r>
                      <a:rPr lang="en-US" altLang="zh-TW">
                        <a:latin typeface="Cambria Math" panose="02040503050406030204" pitchFamily="18" charset="0"/>
                        <a:ea typeface="+mj-ea"/>
                      </a:rPr>
                      <m:t>±1.96</m:t>
                    </m:r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+mj-ea"/>
                      </a:rPr>
                      <m:t>S</m:t>
                    </m:r>
                  </m:oMath>
                </a14:m>
                <a:r>
                  <a:rPr lang="en-US" altLang="zh-TW" dirty="0">
                    <a:latin typeface="+mj-ea"/>
                    <a:ea typeface="+mj-ea"/>
                  </a:rPr>
                  <a:t> </a:t>
                </a:r>
                <a:r>
                  <a:rPr lang="zh-TW" altLang="zh-TW" dirty="0">
                    <a:latin typeface="+mj-ea"/>
                    <a:ea typeface="+mj-ea"/>
                  </a:rPr>
                  <a:t>的範圍內</a:t>
                </a:r>
                <a:r>
                  <a:rPr lang="en-US" altLang="zh-TW" dirty="0">
                    <a:latin typeface="+mj-ea"/>
                    <a:ea typeface="+mj-ea"/>
                  </a:rPr>
                  <a:t>”. </a:t>
                </a:r>
                <a:r>
                  <a:rPr lang="zh-TW" altLang="zh-TW" dirty="0">
                    <a:latin typeface="+mj-ea"/>
                    <a:ea typeface="+mj-ea"/>
                  </a:rPr>
                  <a:t>因此</a:t>
                </a:r>
                <a:r>
                  <a:rPr lang="en-US" altLang="zh-TW" dirty="0">
                    <a:latin typeface="+mj-ea"/>
                    <a:ea typeface="+mj-ea"/>
                  </a:rPr>
                  <a:t>, </a:t>
                </a:r>
                <a:r>
                  <a:rPr lang="zh-TW" altLang="zh-TW" dirty="0">
                    <a:latin typeface="+mj-ea"/>
                    <a:ea typeface="+mj-ea"/>
                  </a:rPr>
                  <a:t>即使我們沒有母群體的所有資料</a:t>
                </a:r>
                <a:r>
                  <a:rPr lang="en-US" altLang="zh-TW" dirty="0">
                    <a:latin typeface="+mj-ea"/>
                    <a:ea typeface="+mj-ea"/>
                  </a:rPr>
                  <a:t>,</a:t>
                </a:r>
                <a:r>
                  <a:rPr lang="zh-TW" altLang="zh-TW" dirty="0">
                    <a:latin typeface="+mj-ea"/>
                    <a:ea typeface="+mj-ea"/>
                  </a:rPr>
                  <a:t>我們仍然可以使用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TW" altLang="zh-TW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+mj-ea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TW" altLang="zh-TW" dirty="0">
                    <a:latin typeface="+mj-ea"/>
                    <a:ea typeface="+mj-ea"/>
                  </a:rPr>
                  <a:t>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+mj-ea"/>
                      </a:rPr>
                      <m:t>S</m:t>
                    </m:r>
                  </m:oMath>
                </a14:m>
                <a:r>
                  <a:rPr lang="zh-TW" altLang="zh-TW" dirty="0">
                    <a:latin typeface="+mj-ea"/>
                    <a:ea typeface="+mj-ea"/>
                  </a:rPr>
                  <a:t>分別來表示母群體資料的集中趨勢及分散程度。</a:t>
                </a:r>
                <a:endParaRPr lang="en-US" altLang="zh-TW" dirty="0">
                  <a:latin typeface="+mj-ea"/>
                  <a:ea typeface="+mj-ea"/>
                </a:endParaRPr>
              </a:p>
              <a:p>
                <a:endParaRPr lang="zh-TW" altLang="zh-TW" sz="2200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64704"/>
                <a:ext cx="8229600" cy="5361459"/>
              </a:xfrm>
              <a:blipFill>
                <a:blip r:embed="rId2"/>
                <a:stretch>
                  <a:fillRect l="-963" t="-1818" r="-58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19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7571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52736"/>
                <a:ext cx="8229600" cy="5073427"/>
              </a:xfrm>
            </p:spPr>
            <p:txBody>
              <a:bodyPr/>
              <a:lstStyle/>
              <a:p>
                <a:r>
                  <a:rPr lang="zh-TW" altLang="zh-TW" dirty="0">
                    <a:latin typeface="+mj-ea"/>
                    <a:ea typeface="+mj-ea"/>
                  </a:rPr>
                  <a:t>由以上的討論來看</a:t>
                </a:r>
                <a:r>
                  <a:rPr lang="zh-TW" altLang="en-US" dirty="0">
                    <a:latin typeface="+mj-ea"/>
                    <a:ea typeface="+mj-ea"/>
                  </a:rPr>
                  <a:t>，</a:t>
                </a:r>
                <a:r>
                  <a:rPr lang="zh-TW" altLang="zh-TW" dirty="0">
                    <a:latin typeface="+mj-ea"/>
                    <a:ea typeface="+mj-ea"/>
                  </a:rPr>
                  <a:t>在計算三種資料的分散度</a:t>
                </a:r>
                <a:r>
                  <a:rPr lang="zh-TW" altLang="en-US" dirty="0">
                    <a:latin typeface="+mj-ea"/>
                    <a:ea typeface="+mj-ea"/>
                  </a:rPr>
                  <a:t>：</a:t>
                </a:r>
                <a:r>
                  <a:rPr lang="zh-TW" altLang="zh-TW" dirty="0">
                    <a:latin typeface="+mj-ea"/>
                    <a:ea typeface="+mj-ea"/>
                  </a:rPr>
                  <a:t>全距</a:t>
                </a:r>
                <a:r>
                  <a:rPr lang="zh-TW" altLang="en-US" dirty="0">
                    <a:latin typeface="+mj-ea"/>
                    <a:ea typeface="+mj-ea"/>
                  </a:rPr>
                  <a:t>，</a:t>
                </a:r>
                <a:r>
                  <a:rPr lang="zh-TW" altLang="zh-TW" dirty="0">
                    <a:latin typeface="+mj-ea"/>
                    <a:ea typeface="+mj-ea"/>
                  </a:rPr>
                  <a:t>四分位距</a:t>
                </a:r>
                <a:r>
                  <a:rPr lang="zh-TW" altLang="en-US" dirty="0">
                    <a:latin typeface="+mj-ea"/>
                    <a:ea typeface="+mj-ea"/>
                  </a:rPr>
                  <a:t>，</a:t>
                </a:r>
                <a:r>
                  <a:rPr lang="zh-TW" altLang="zh-TW" dirty="0">
                    <a:latin typeface="+mj-ea"/>
                    <a:ea typeface="+mj-ea"/>
                  </a:rPr>
                  <a:t>或標準差時</a:t>
                </a:r>
                <a:r>
                  <a:rPr lang="zh-TW" altLang="en-US" dirty="0">
                    <a:latin typeface="+mj-ea"/>
                    <a:ea typeface="+mj-ea"/>
                  </a:rPr>
                  <a:t>，</a:t>
                </a:r>
                <a:r>
                  <a:rPr lang="zh-TW" altLang="zh-TW" dirty="0">
                    <a:latin typeface="+mj-ea"/>
                    <a:ea typeface="+mj-ea"/>
                  </a:rPr>
                  <a:t>我們首先必須將資料排序</a:t>
                </a:r>
                <a:r>
                  <a:rPr lang="zh-TW" altLang="en-US" dirty="0">
                    <a:latin typeface="+mj-ea"/>
                    <a:ea typeface="+mj-ea"/>
                  </a:rPr>
                  <a:t>，</a:t>
                </a:r>
                <a:r>
                  <a:rPr lang="zh-TW" altLang="zh-TW" dirty="0">
                    <a:latin typeface="+mj-ea"/>
                    <a:ea typeface="+mj-ea"/>
                  </a:rPr>
                  <a:t>加總或相減</a:t>
                </a:r>
                <a:r>
                  <a:rPr lang="zh-TW" altLang="en-US" dirty="0">
                    <a:latin typeface="+mj-ea"/>
                    <a:ea typeface="+mj-ea"/>
                  </a:rPr>
                  <a:t>，</a:t>
                </a:r>
                <a:r>
                  <a:rPr lang="zh-TW" altLang="zh-TW" dirty="0">
                    <a:latin typeface="+mj-ea"/>
                    <a:ea typeface="+mj-ea"/>
                  </a:rPr>
                  <a:t>因此</a:t>
                </a:r>
                <a:r>
                  <a:rPr lang="zh-TW" altLang="en-US" dirty="0">
                    <a:latin typeface="+mj-ea"/>
                    <a:ea typeface="+mj-ea"/>
                  </a:rPr>
                  <a:t>，</a:t>
                </a:r>
                <a:r>
                  <a:rPr lang="zh-TW" altLang="zh-TW" b="1" dirty="0">
                    <a:latin typeface="+mj-ea"/>
                    <a:ea typeface="+mj-ea"/>
                  </a:rPr>
                  <a:t>量性</a:t>
                </a:r>
                <a:r>
                  <a:rPr lang="zh-TW" altLang="zh-TW" dirty="0">
                    <a:latin typeface="+mj-ea"/>
                    <a:ea typeface="+mj-ea"/>
                  </a:rPr>
                  <a:t>的資料較適合 。</a:t>
                </a:r>
                <a:endParaRPr lang="en-US" altLang="zh-TW" dirty="0">
                  <a:latin typeface="+mj-ea"/>
                  <a:ea typeface="+mj-ea"/>
                </a:endParaRPr>
              </a:p>
              <a:p>
                <a:endParaRPr lang="en-US" altLang="zh-TW" dirty="0">
                  <a:latin typeface="+mj-ea"/>
                  <a:ea typeface="+mj-ea"/>
                </a:endParaRPr>
              </a:p>
              <a:p>
                <a:r>
                  <a:rPr lang="zh-TW" altLang="zh-TW" dirty="0">
                    <a:latin typeface="+mj-ea"/>
                    <a:ea typeface="+mj-ea"/>
                  </a:rPr>
                  <a:t>連續型的量性資料都可以應用於所有分散度的計算</a:t>
                </a:r>
                <a:r>
                  <a:rPr lang="en-US" altLang="zh-TW" dirty="0">
                    <a:latin typeface="+mj-ea"/>
                    <a:ea typeface="+mj-ea"/>
                  </a:rPr>
                  <a:t>, </a:t>
                </a:r>
                <a:r>
                  <a:rPr lang="zh-TW" altLang="zh-TW" dirty="0">
                    <a:latin typeface="+mj-ea"/>
                    <a:ea typeface="+mj-ea"/>
                  </a:rPr>
                  <a:t>但</a:t>
                </a:r>
                <a:r>
                  <a:rPr lang="zh-TW" altLang="zh-TW" b="1" dirty="0">
                    <a:latin typeface="+mj-ea"/>
                    <a:ea typeface="+mj-ea"/>
                  </a:rPr>
                  <a:t>通常</a:t>
                </a:r>
                <a:r>
                  <a:rPr lang="zh-TW" altLang="en-US" dirty="0">
                    <a:latin typeface="+mj-ea"/>
                    <a:ea typeface="+mj-ea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TW" altLang="zh-TW" b="1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accPr>
                      <m:e>
                        <m:r>
                          <a:rPr lang="en-US" altLang="zh-TW" b="1" i="1">
                            <a:latin typeface="Cambria Math" panose="02040503050406030204" pitchFamily="18" charset="0"/>
                            <a:ea typeface="+mj-ea"/>
                          </a:rPr>
                          <m:t>𝒙</m:t>
                        </m:r>
                      </m:e>
                    </m:acc>
                  </m:oMath>
                </a14:m>
                <a:r>
                  <a:rPr lang="zh-TW" altLang="zh-TW" b="1" dirty="0">
                    <a:latin typeface="+mj-ea"/>
                    <a:ea typeface="+mj-ea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TW" b="1" i="1">
                        <a:latin typeface="Cambria Math" panose="02040503050406030204" pitchFamily="18" charset="0"/>
                        <a:ea typeface="+mj-ea"/>
                      </a:rPr>
                      <m:t>𝐒</m:t>
                    </m:r>
                  </m:oMath>
                </a14:m>
                <a:r>
                  <a:rPr lang="zh-TW" altLang="zh-TW" b="1" dirty="0">
                    <a:latin typeface="+mj-ea"/>
                    <a:ea typeface="+mj-ea"/>
                  </a:rPr>
                  <a:t>搭檔使用</a:t>
                </a:r>
                <a:r>
                  <a:rPr lang="zh-TW" altLang="en-US" dirty="0">
                    <a:latin typeface="+mj-ea"/>
                    <a:ea typeface="+mj-ea"/>
                  </a:rPr>
                  <a:t>，</a:t>
                </a:r>
                <a:r>
                  <a:rPr lang="zh-TW" altLang="zh-TW" b="1" dirty="0">
                    <a:latin typeface="+mj-ea"/>
                    <a:ea typeface="+mj-ea"/>
                  </a:rPr>
                  <a:t>中位數</a:t>
                </a:r>
                <a:r>
                  <a:rPr lang="en-US" altLang="zh-TW" b="1" dirty="0">
                    <a:latin typeface="+mj-ea"/>
                    <a:ea typeface="+mj-ea"/>
                  </a:rPr>
                  <a:t>(Q</a:t>
                </a:r>
                <a:r>
                  <a:rPr lang="en-US" altLang="zh-TW" b="1" baseline="-25000" dirty="0">
                    <a:latin typeface="+mj-ea"/>
                    <a:ea typeface="+mj-ea"/>
                  </a:rPr>
                  <a:t>2</a:t>
                </a:r>
                <a:r>
                  <a:rPr lang="en-US" altLang="zh-TW" b="1" dirty="0">
                    <a:latin typeface="+mj-ea"/>
                    <a:ea typeface="+mj-ea"/>
                  </a:rPr>
                  <a:t>)</a:t>
                </a:r>
                <a:r>
                  <a:rPr lang="zh-TW" altLang="zh-TW" b="1" dirty="0">
                    <a:latin typeface="+mj-ea"/>
                    <a:ea typeface="+mj-ea"/>
                  </a:rPr>
                  <a:t>則和</a:t>
                </a:r>
                <a:r>
                  <a:rPr lang="en-US" altLang="zh-TW" b="1" dirty="0">
                    <a:latin typeface="+mj-ea"/>
                    <a:ea typeface="+mj-ea"/>
                  </a:rPr>
                  <a:t>IQR(</a:t>
                </a:r>
                <a:r>
                  <a:rPr lang="zh-TW" altLang="zh-TW" b="1" dirty="0">
                    <a:latin typeface="+mj-ea"/>
                    <a:ea typeface="+mj-ea"/>
                  </a:rPr>
                  <a:t>或全距</a:t>
                </a:r>
                <a:r>
                  <a:rPr lang="en-US" altLang="zh-TW" b="1" dirty="0">
                    <a:latin typeface="+mj-ea"/>
                    <a:ea typeface="+mj-ea"/>
                  </a:rPr>
                  <a:t>)</a:t>
                </a:r>
                <a:r>
                  <a:rPr lang="zh-TW" altLang="zh-TW" b="1" dirty="0">
                    <a:latin typeface="+mj-ea"/>
                    <a:ea typeface="+mj-ea"/>
                  </a:rPr>
                  <a:t>搭檔使用</a:t>
                </a:r>
                <a:r>
                  <a:rPr lang="zh-TW" altLang="zh-TW" dirty="0">
                    <a:latin typeface="+mj-ea"/>
                    <a:ea typeface="+mj-ea"/>
                  </a:rPr>
                  <a:t>。</a:t>
                </a:r>
                <a:endParaRPr lang="zh-TW" altLang="en-US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52736"/>
                <a:ext cx="8229600" cy="5073427"/>
              </a:xfrm>
              <a:blipFill rotWithShape="0">
                <a:blip r:embed="rId2"/>
                <a:stretch>
                  <a:fillRect t="-1082" r="-23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20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1719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b="1" dirty="0">
                <a:latin typeface="+mj-ea"/>
                <a:ea typeface="+mj-ea"/>
              </a:rPr>
              <a:t>特徵值的計算及圖表製作</a:t>
            </a:r>
            <a:endParaRPr lang="zh-TW" altLang="en-US" dirty="0">
              <a:latin typeface="+mj-ea"/>
              <a:ea typeface="+mj-ea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zh-TW" altLang="zh-TW" dirty="0">
                <a:latin typeface="+mj-ea"/>
                <a:ea typeface="+mj-ea"/>
              </a:rPr>
              <a:t>統計量的計算或圖表的製作經常必須借由統計軟體的應用來完成</a:t>
            </a:r>
            <a:r>
              <a:rPr lang="en-US" altLang="zh-TW" dirty="0">
                <a:latin typeface="+mj-ea"/>
                <a:ea typeface="+mj-ea"/>
              </a:rPr>
              <a:t>. </a:t>
            </a:r>
            <a:r>
              <a:rPr lang="zh-TW" altLang="zh-TW" dirty="0">
                <a:latin typeface="+mj-ea"/>
                <a:ea typeface="+mj-ea"/>
              </a:rPr>
              <a:t>本書所有的分析和圖表全部使用</a:t>
            </a:r>
            <a:r>
              <a:rPr lang="en-US" altLang="zh-TW" dirty="0">
                <a:latin typeface="+mj-ea"/>
                <a:ea typeface="+mj-ea"/>
              </a:rPr>
              <a:t> SPSS</a:t>
            </a:r>
            <a:r>
              <a:rPr lang="zh-TW" altLang="en-US" dirty="0">
                <a:latin typeface="+mj-ea"/>
                <a:ea typeface="+mj-ea"/>
              </a:rPr>
              <a:t> </a:t>
            </a:r>
            <a:r>
              <a:rPr lang="zh-TW" altLang="zh-TW" dirty="0">
                <a:latin typeface="+mj-ea"/>
                <a:ea typeface="+mj-ea"/>
              </a:rPr>
              <a:t>完成</a:t>
            </a:r>
            <a:r>
              <a:rPr lang="zh-TW" altLang="en-US" dirty="0">
                <a:latin typeface="+mj-ea"/>
                <a:ea typeface="+mj-ea"/>
              </a:rPr>
              <a:t>。</a:t>
            </a:r>
            <a:r>
              <a:rPr lang="zh-TW" altLang="zh-TW" dirty="0">
                <a:latin typeface="+mj-ea"/>
                <a:ea typeface="+mj-ea"/>
              </a:rPr>
              <a:t>請參考網址</a:t>
            </a:r>
            <a:r>
              <a:rPr lang="en-US" altLang="zh-TW" dirty="0">
                <a:latin typeface="+mj-ea"/>
                <a:ea typeface="+mj-ea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+mj-ea"/>
                <a:ea typeface="+mj-ea"/>
                <a:hlinkClick r:id="rId2"/>
              </a:rPr>
              <a:t>https://www.ibm.com/tw-zh/products/spss-statistics/base</a:t>
            </a:r>
            <a:r>
              <a:rPr lang="zh-TW" altLang="zh-TW" dirty="0">
                <a:latin typeface="+mj-ea"/>
                <a:ea typeface="+mj-ea"/>
              </a:rPr>
              <a:t>。</a:t>
            </a:r>
            <a:endParaRPr lang="en-US" altLang="zh-TW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TW" altLang="en-US" dirty="0">
                <a:latin typeface="+mj-ea"/>
                <a:ea typeface="+mj-ea"/>
              </a:rPr>
              <a:t>學生需要使用</a:t>
            </a:r>
            <a:r>
              <a:rPr lang="en-US" altLang="zh-TW" dirty="0" err="1">
                <a:latin typeface="+mj-ea"/>
                <a:ea typeface="+mj-ea"/>
              </a:rPr>
              <a:t>spss</a:t>
            </a:r>
            <a:r>
              <a:rPr lang="zh-TW" altLang="en-US" dirty="0">
                <a:latin typeface="+mj-ea"/>
                <a:ea typeface="+mj-ea"/>
              </a:rPr>
              <a:t>軟體，請使用</a:t>
            </a:r>
            <a:r>
              <a:rPr lang="en-US" altLang="zh-TW" dirty="0" err="1">
                <a:latin typeface="+mj-ea"/>
                <a:ea typeface="+mj-ea"/>
              </a:rPr>
              <a:t>myapp</a:t>
            </a:r>
            <a:r>
              <a:rPr lang="zh-TW" altLang="en-US" dirty="0">
                <a:latin typeface="+mj-ea"/>
                <a:ea typeface="+mj-ea"/>
              </a:rPr>
              <a:t>系統，路徑：資訊中心首頁</a:t>
            </a:r>
            <a:r>
              <a:rPr lang="en-US" altLang="zh-TW" dirty="0">
                <a:latin typeface="+mj-ea"/>
                <a:ea typeface="+mj-ea"/>
              </a:rPr>
              <a:t>-</a:t>
            </a:r>
            <a:r>
              <a:rPr lang="zh-TW" altLang="en-US" dirty="0">
                <a:latin typeface="+mj-ea"/>
                <a:ea typeface="+mj-ea"/>
              </a:rPr>
              <a:t>最下方</a:t>
            </a:r>
            <a:r>
              <a:rPr lang="en-US" altLang="zh-TW" dirty="0">
                <a:latin typeface="+mj-ea"/>
                <a:ea typeface="+mj-ea"/>
              </a:rPr>
              <a:t>/</a:t>
            </a:r>
            <a:r>
              <a:rPr lang="zh-TW" altLang="en-US" dirty="0">
                <a:latin typeface="+mj-ea"/>
                <a:ea typeface="+mj-ea"/>
              </a:rPr>
              <a:t>教學服務</a:t>
            </a:r>
            <a:r>
              <a:rPr lang="en-US" altLang="zh-TW" dirty="0">
                <a:latin typeface="+mj-ea"/>
                <a:ea typeface="+mj-ea"/>
              </a:rPr>
              <a:t>/</a:t>
            </a:r>
            <a:r>
              <a:rPr lang="en-US" altLang="zh-TW" dirty="0" err="1">
                <a:latin typeface="+mj-ea"/>
                <a:ea typeface="+mj-ea"/>
              </a:rPr>
              <a:t>myapp</a:t>
            </a:r>
            <a:r>
              <a:rPr lang="en-US" altLang="zh-TW" dirty="0">
                <a:latin typeface="+mj-ea"/>
                <a:ea typeface="+mj-ea"/>
              </a:rPr>
              <a:t>/</a:t>
            </a:r>
            <a:r>
              <a:rPr lang="zh-TW" altLang="en-US" dirty="0">
                <a:latin typeface="+mj-ea"/>
                <a:ea typeface="+mj-ea"/>
              </a:rPr>
              <a:t>，依說明作業即可</a:t>
            </a:r>
            <a:endParaRPr lang="en-US" altLang="zh-TW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TW" altLang="en-US" dirty="0">
                <a:latin typeface="+mj-ea"/>
                <a:ea typeface="+mj-ea"/>
              </a:rPr>
              <a:t>國體首頁</a:t>
            </a:r>
            <a:r>
              <a:rPr lang="en-US" altLang="zh-TW" dirty="0">
                <a:latin typeface="+mj-ea"/>
                <a:ea typeface="+mj-ea"/>
              </a:rPr>
              <a:t>-&gt;</a:t>
            </a:r>
            <a:r>
              <a:rPr lang="zh-TW" altLang="en-US" dirty="0">
                <a:latin typeface="+mj-ea"/>
                <a:ea typeface="+mj-ea"/>
              </a:rPr>
              <a:t>在校學生</a:t>
            </a:r>
            <a:r>
              <a:rPr lang="en-US" altLang="zh-TW" dirty="0">
                <a:latin typeface="+mj-ea"/>
                <a:ea typeface="+mj-ea"/>
              </a:rPr>
              <a:t>-&gt;APP</a:t>
            </a:r>
            <a:r>
              <a:rPr lang="zh-TW" altLang="en-US" dirty="0">
                <a:latin typeface="+mj-ea"/>
                <a:ea typeface="+mj-ea"/>
              </a:rPr>
              <a:t>雲端軟體</a:t>
            </a:r>
            <a:r>
              <a:rPr lang="en-US" altLang="zh-TW" dirty="0">
                <a:latin typeface="+mj-ea"/>
                <a:ea typeface="+mj-ea"/>
              </a:rPr>
              <a:t>-&gt;SPSS 20</a:t>
            </a:r>
          </a:p>
          <a:p>
            <a:endParaRPr lang="zh-TW" altLang="zh-TW" sz="2200" dirty="0">
              <a:latin typeface="+mj-ea"/>
              <a:ea typeface="+mj-ea"/>
            </a:endParaRPr>
          </a:p>
          <a:p>
            <a:endParaRPr lang="zh-TW" altLang="en-US" dirty="0">
              <a:latin typeface="+mj-ea"/>
              <a:ea typeface="+mj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21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5778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3746" y="2204864"/>
            <a:ext cx="8229600" cy="392899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50000"/>
              </a:lnSpc>
            </a:pPr>
            <a:r>
              <a:rPr lang="zh-TW" altLang="zh-TW" b="1" dirty="0">
                <a:latin typeface="+mj-ea"/>
                <a:ea typeface="+mj-ea"/>
              </a:rPr>
              <a:t>步驟一 </a:t>
            </a:r>
            <a:r>
              <a:rPr lang="zh-TW" altLang="en-US" b="1" dirty="0">
                <a:latin typeface="+mj-ea"/>
                <a:ea typeface="+mj-ea"/>
              </a:rPr>
              <a:t>檔案開啟</a:t>
            </a:r>
            <a:endParaRPr lang="en-US" altLang="zh-TW" b="1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zh-TW" b="1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zh-TW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zh-TW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TW" altLang="zh-TW" b="1" dirty="0">
                <a:latin typeface="+mj-ea"/>
                <a:ea typeface="+mj-ea"/>
              </a:rPr>
              <a:t>步驟二</a:t>
            </a:r>
            <a:r>
              <a:rPr lang="zh-TW" altLang="en-US" b="1" dirty="0">
                <a:latin typeface="+mj-ea"/>
                <a:ea typeface="+mj-ea"/>
              </a:rPr>
              <a:t>分析 </a:t>
            </a:r>
            <a:r>
              <a:rPr lang="en-US" altLang="zh-TW" b="1" dirty="0">
                <a:latin typeface="+mj-ea"/>
                <a:ea typeface="+mj-ea"/>
              </a:rPr>
              <a:t>-&gt;</a:t>
            </a:r>
            <a:r>
              <a:rPr lang="zh-TW" altLang="en-US" b="1" dirty="0">
                <a:latin typeface="+mj-ea"/>
                <a:ea typeface="+mj-ea"/>
              </a:rPr>
              <a:t> 次數分配表</a:t>
            </a:r>
            <a:r>
              <a:rPr lang="en-US" altLang="zh-TW" dirty="0">
                <a:latin typeface="+mj-ea"/>
                <a:ea typeface="+mj-ea"/>
              </a:rPr>
              <a:t>: </a:t>
            </a:r>
          </a:p>
          <a:p>
            <a:pPr lvl="1">
              <a:lnSpc>
                <a:spcPct val="150000"/>
              </a:lnSpc>
            </a:pPr>
            <a:r>
              <a:rPr lang="zh-TW" altLang="zh-TW" dirty="0">
                <a:latin typeface="+mj-ea"/>
                <a:ea typeface="+mj-ea"/>
              </a:rPr>
              <a:t>選擇變數</a:t>
            </a:r>
            <a:r>
              <a:rPr lang="en-US" altLang="zh-TW" dirty="0">
                <a:latin typeface="+mj-ea"/>
                <a:ea typeface="+mj-ea"/>
              </a:rPr>
              <a:t>: AGE(</a:t>
            </a:r>
            <a:r>
              <a:rPr lang="zh-TW" altLang="zh-TW" dirty="0">
                <a:latin typeface="+mj-ea"/>
                <a:ea typeface="+mj-ea"/>
              </a:rPr>
              <a:t>年齡</a:t>
            </a:r>
            <a:r>
              <a:rPr lang="en-US" altLang="zh-TW" dirty="0">
                <a:latin typeface="+mj-ea"/>
                <a:ea typeface="+mj-ea"/>
              </a:rPr>
              <a:t>)</a:t>
            </a:r>
            <a:r>
              <a:rPr lang="zh-TW" altLang="en-US" dirty="0">
                <a:latin typeface="+mj-ea"/>
                <a:ea typeface="+mj-ea"/>
              </a:rPr>
              <a:t>，</a:t>
            </a:r>
            <a:r>
              <a:rPr lang="en-US" altLang="zh-TW" dirty="0">
                <a:latin typeface="+mj-ea"/>
                <a:ea typeface="+mj-ea"/>
              </a:rPr>
              <a:t> SURVIVAL_MONTHS(</a:t>
            </a:r>
            <a:r>
              <a:rPr lang="zh-TW" altLang="zh-TW" dirty="0">
                <a:latin typeface="+mj-ea"/>
                <a:ea typeface="+mj-ea"/>
              </a:rPr>
              <a:t>存活時間</a:t>
            </a:r>
            <a:r>
              <a:rPr lang="en-US" altLang="zh-TW" dirty="0">
                <a:latin typeface="+mj-ea"/>
                <a:ea typeface="+mj-ea"/>
              </a:rPr>
              <a:t>)</a:t>
            </a:r>
            <a:r>
              <a:rPr lang="en-US" altLang="zh-TW" b="1" dirty="0">
                <a:latin typeface="+mj-ea"/>
                <a:ea typeface="+mj-ea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zh-TW" altLang="en-US" b="1" dirty="0">
                <a:latin typeface="+mj-ea"/>
                <a:ea typeface="+mj-ea"/>
              </a:rPr>
              <a:t>統計量：</a:t>
            </a:r>
            <a:r>
              <a:rPr lang="zh-TW" altLang="en-US" dirty="0">
                <a:latin typeface="+mj-ea"/>
                <a:ea typeface="+mj-ea"/>
              </a:rPr>
              <a:t>平均數、中位數、眾數、變異數、標準差</a:t>
            </a:r>
            <a:endParaRPr lang="en-US" altLang="zh-TW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TW" altLang="zh-TW" b="1" dirty="0">
                <a:latin typeface="+mj-ea"/>
                <a:ea typeface="+mj-ea"/>
              </a:rPr>
              <a:t>開始分析</a:t>
            </a:r>
            <a:endParaRPr lang="zh-TW" altLang="zh-TW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zh-TW" altLang="en-US" dirty="0">
              <a:latin typeface="+mj-ea"/>
              <a:ea typeface="+mj-ea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22</a:t>
            </a:r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395536" y="548680"/>
            <a:ext cx="8352928" cy="1308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zh-TW" sz="2800" dirty="0"/>
              <a:t>在資料檔</a:t>
            </a:r>
            <a:r>
              <a:rPr lang="en-US" altLang="zh-TW" sz="2800" dirty="0"/>
              <a:t> (sport injury)</a:t>
            </a:r>
            <a:r>
              <a:rPr lang="zh-TW" altLang="zh-TW" sz="2800" dirty="0"/>
              <a:t>上傳到</a:t>
            </a:r>
            <a:r>
              <a:rPr lang="en-US" altLang="zh-TW" sz="2800" dirty="0"/>
              <a:t>SPSS</a:t>
            </a:r>
            <a:r>
              <a:rPr lang="zh-TW" altLang="zh-TW" sz="2800" dirty="0"/>
              <a:t>後</a:t>
            </a:r>
            <a:r>
              <a:rPr lang="en-US" altLang="zh-TW" sz="2800" dirty="0"/>
              <a:t>, </a:t>
            </a:r>
            <a:r>
              <a:rPr lang="zh-TW" altLang="zh-TW" sz="2800" dirty="0"/>
              <a:t>以點選方式選用路徑</a:t>
            </a:r>
            <a:r>
              <a:rPr lang="en-US" altLang="zh-TW" sz="2800" dirty="0"/>
              <a:t>: </a:t>
            </a:r>
            <a:r>
              <a:rPr lang="zh-TW" altLang="en-US" sz="2800" dirty="0"/>
              <a:t>”</a:t>
            </a:r>
            <a:r>
              <a:rPr lang="zh-TW" altLang="zh-TW" sz="2800" dirty="0"/>
              <a:t>分析方法</a:t>
            </a:r>
            <a:r>
              <a:rPr lang="en-US" altLang="zh-TW" sz="2800" dirty="0"/>
              <a:t> </a:t>
            </a:r>
            <a:r>
              <a:rPr lang="zh-TW" altLang="zh-TW" sz="2800" dirty="0"/>
              <a:t>摘要統計</a:t>
            </a:r>
            <a:r>
              <a:rPr lang="zh-TW" altLang="en-US" sz="2800" dirty="0"/>
              <a:t>”</a:t>
            </a:r>
            <a:r>
              <a:rPr lang="en-US" altLang="zh-TW" sz="2800" dirty="0"/>
              <a:t> 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 rotWithShape="1">
          <a:blip r:embed="rId2"/>
          <a:srcRect l="17208" t="22452" r="17214" b="17800"/>
          <a:stretch/>
        </p:blipFill>
        <p:spPr>
          <a:xfrm>
            <a:off x="3666084" y="2034246"/>
            <a:ext cx="5040560" cy="2591209"/>
          </a:xfrm>
          <a:prstGeom prst="rect">
            <a:avLst/>
          </a:prstGeom>
        </p:spPr>
      </p:pic>
      <p:sp>
        <p:nvSpPr>
          <p:cNvPr id="6" name="直線圖說文字 1 5"/>
          <p:cNvSpPr/>
          <p:nvPr/>
        </p:nvSpPr>
        <p:spPr>
          <a:xfrm>
            <a:off x="683568" y="2824055"/>
            <a:ext cx="2214240" cy="576064"/>
          </a:xfrm>
          <a:prstGeom prst="borderCallout1">
            <a:avLst>
              <a:gd name="adj1" fmla="val -11554"/>
              <a:gd name="adj2" fmla="val 166188"/>
              <a:gd name="adj3" fmla="val 43235"/>
              <a:gd name="adj4" fmla="val 10223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出現</a:t>
            </a:r>
            <a:r>
              <a:rPr lang="en-US" altLang="zh-TW" dirty="0"/>
              <a:t>“</a:t>
            </a:r>
            <a:r>
              <a:rPr lang="zh-TW" altLang="en-US" dirty="0"/>
              <a:t>使用者名稱的</a:t>
            </a:r>
            <a:r>
              <a:rPr lang="en-US" altLang="zh-TW" dirty="0"/>
              <a:t>C</a:t>
            </a:r>
            <a:r>
              <a:rPr lang="zh-TW" altLang="en-US" dirty="0"/>
              <a:t>槽與</a:t>
            </a:r>
            <a:r>
              <a:rPr lang="en-US" altLang="zh-TW" dirty="0"/>
              <a:t>D</a:t>
            </a:r>
            <a:r>
              <a:rPr lang="zh-TW" altLang="en-US" dirty="0"/>
              <a:t>槽</a:t>
            </a:r>
            <a:r>
              <a:rPr lang="en-US" altLang="zh-TW" dirty="0"/>
              <a:t>”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7143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936104"/>
          </a:xfrm>
        </p:spPr>
        <p:txBody>
          <a:bodyPr>
            <a:normAutofit/>
          </a:bodyPr>
          <a:lstStyle/>
          <a:p>
            <a:r>
              <a:rPr lang="zh-TW" altLang="zh-TW" sz="3600" b="1" dirty="0">
                <a:latin typeface="+mj-ea"/>
                <a:ea typeface="+mj-ea"/>
              </a:rPr>
              <a:t>特徵值統計</a:t>
            </a:r>
            <a:r>
              <a:rPr lang="en-US" altLang="zh-TW" sz="3600" b="1" dirty="0">
                <a:latin typeface="+mj-ea"/>
                <a:ea typeface="+mj-ea"/>
              </a:rPr>
              <a:t>(</a:t>
            </a:r>
            <a:r>
              <a:rPr lang="zh-TW" altLang="zh-TW" sz="3600" b="1" dirty="0">
                <a:latin typeface="+mj-ea"/>
                <a:ea typeface="+mj-ea"/>
              </a:rPr>
              <a:t>不包含遺失值</a:t>
            </a:r>
            <a:r>
              <a:rPr lang="en-US" altLang="zh-TW" sz="3600" dirty="0">
                <a:latin typeface="+mj-ea"/>
                <a:ea typeface="+mj-ea"/>
              </a:rPr>
              <a:t>)</a:t>
            </a:r>
            <a:r>
              <a:rPr lang="zh-TW" altLang="zh-TW" sz="3600" b="1" dirty="0">
                <a:latin typeface="+mj-ea"/>
                <a:ea typeface="+mj-ea"/>
              </a:rPr>
              <a:t>：</a:t>
            </a:r>
            <a:endParaRPr lang="zh-TW" altLang="en-US" sz="3600" dirty="0">
              <a:latin typeface="+mj-ea"/>
              <a:ea typeface="+mj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23</a:t>
            </a:r>
            <a:endParaRPr lang="zh-TW" altLang="en-US"/>
          </a:p>
        </p:txBody>
      </p:sp>
      <p:pic>
        <p:nvPicPr>
          <p:cNvPr id="5" name="內容版面配置區 4" descr="畫面剪輯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1198690"/>
            <a:ext cx="4824536" cy="5225133"/>
          </a:xfrm>
        </p:spPr>
      </p:pic>
    </p:spTree>
    <p:extLst>
      <p:ext uri="{BB962C8B-B14F-4D97-AF65-F5344CB8AC3E}">
        <p14:creationId xmlns:p14="http://schemas.microsoft.com/office/powerpoint/2010/main" val="738346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0335" y="188640"/>
            <a:ext cx="7772400" cy="1609344"/>
          </a:xfrm>
        </p:spPr>
        <p:txBody>
          <a:bodyPr/>
          <a:lstStyle/>
          <a:p>
            <a:r>
              <a:rPr lang="zh-TW" altLang="zh-TW" b="1" dirty="0">
                <a:latin typeface="+mj-ea"/>
                <a:ea typeface="+mj-ea"/>
              </a:rPr>
              <a:t>盒鬚圖</a:t>
            </a:r>
            <a:r>
              <a:rPr lang="en-US" altLang="zh-TW" b="1" dirty="0">
                <a:latin typeface="+mj-ea"/>
                <a:ea typeface="+mj-ea"/>
              </a:rPr>
              <a:t>(Box and Whisker Plot)</a:t>
            </a:r>
            <a:endParaRPr lang="zh-TW" altLang="en-US" dirty="0">
              <a:latin typeface="+mj-ea"/>
              <a:ea typeface="+mj-ea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2089096"/>
            <a:ext cx="815981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>
                <a:latin typeface="+mj-ea"/>
                <a:ea typeface="+mj-ea"/>
              </a:rPr>
              <a:t> </a:t>
            </a:r>
            <a:r>
              <a:rPr lang="en-US" altLang="zh-TW" sz="2400" dirty="0" err="1">
                <a:latin typeface="+mj-ea"/>
                <a:ea typeface="+mj-ea"/>
                <a:hlinkClick r:id="rId2"/>
              </a:rPr>
              <a:t>圖表繪製</a:t>
            </a:r>
            <a:r>
              <a:rPr lang="en-US" altLang="zh-TW" sz="2400" dirty="0">
                <a:latin typeface="+mj-ea"/>
                <a:ea typeface="+mj-ea"/>
              </a:rPr>
              <a:t> </a:t>
            </a:r>
            <a:r>
              <a:rPr lang="zh-TW" altLang="zh-TW" sz="2400" dirty="0">
                <a:latin typeface="+mj-ea"/>
                <a:ea typeface="+mj-ea"/>
              </a:rPr>
              <a:t>盒鬚圖</a:t>
            </a:r>
            <a:r>
              <a:rPr lang="en-US" altLang="zh-TW" sz="2400" b="1" dirty="0">
                <a:latin typeface="+mj-ea"/>
                <a:ea typeface="+mj-ea"/>
              </a:rPr>
              <a:t>(</a:t>
            </a:r>
            <a:r>
              <a:rPr lang="en-US" altLang="zh-TW" sz="2400" dirty="0">
                <a:latin typeface="+mj-ea"/>
                <a:ea typeface="+mj-ea"/>
              </a:rPr>
              <a:t>Box and Whisker Plot) </a:t>
            </a:r>
          </a:p>
          <a:p>
            <a:r>
              <a:rPr lang="zh-TW" altLang="zh-TW" sz="2400" b="1" dirty="0">
                <a:latin typeface="+mj-ea"/>
                <a:ea typeface="+mj-ea"/>
              </a:rPr>
              <a:t>步驟一</a:t>
            </a:r>
            <a:r>
              <a:rPr lang="en-US" altLang="zh-TW" sz="2400" b="1" dirty="0">
                <a:latin typeface="+mj-ea"/>
                <a:ea typeface="+mj-ea"/>
              </a:rPr>
              <a:t> </a:t>
            </a:r>
            <a:r>
              <a:rPr lang="zh-TW" altLang="en-US" sz="2400" dirty="0">
                <a:latin typeface="+mj-ea"/>
                <a:ea typeface="+mj-ea"/>
              </a:rPr>
              <a:t>統計圖 </a:t>
            </a:r>
            <a:r>
              <a:rPr lang="en-US" altLang="zh-TW" sz="2400" dirty="0">
                <a:latin typeface="+mj-ea"/>
                <a:ea typeface="+mj-ea"/>
              </a:rPr>
              <a:t>(</a:t>
            </a:r>
            <a:r>
              <a:rPr lang="zh-TW" altLang="en-US" sz="2400" dirty="0">
                <a:latin typeface="+mj-ea"/>
                <a:ea typeface="+mj-ea"/>
              </a:rPr>
              <a:t>圖表建立器</a:t>
            </a:r>
            <a:r>
              <a:rPr lang="en-US" altLang="zh-TW" sz="2400" dirty="0">
                <a:latin typeface="+mj-ea"/>
                <a:ea typeface="+mj-ea"/>
              </a:rPr>
              <a:t>)</a:t>
            </a:r>
          </a:p>
          <a:p>
            <a:r>
              <a:rPr lang="zh-TW" altLang="zh-TW" sz="2400" b="1" dirty="0">
                <a:latin typeface="+mj-ea"/>
                <a:ea typeface="+mj-ea"/>
              </a:rPr>
              <a:t>步驟二</a:t>
            </a:r>
            <a:r>
              <a:rPr lang="en-US" altLang="zh-TW" sz="2400" b="1" dirty="0">
                <a:latin typeface="+mj-ea"/>
                <a:ea typeface="+mj-ea"/>
              </a:rPr>
              <a:t> </a:t>
            </a:r>
            <a:r>
              <a:rPr lang="zh-TW" altLang="zh-TW" sz="2400" dirty="0">
                <a:latin typeface="+mj-ea"/>
                <a:ea typeface="+mj-ea"/>
              </a:rPr>
              <a:t>選擇盒</a:t>
            </a:r>
            <a:r>
              <a:rPr lang="zh-TW" altLang="en-US" sz="2400" dirty="0">
                <a:latin typeface="+mj-ea"/>
                <a:ea typeface="+mj-ea"/>
              </a:rPr>
              <a:t>形</a:t>
            </a:r>
            <a:r>
              <a:rPr lang="zh-TW" altLang="zh-TW" sz="2400" dirty="0">
                <a:latin typeface="+mj-ea"/>
                <a:ea typeface="+mj-ea"/>
              </a:rPr>
              <a:t>圖</a:t>
            </a:r>
            <a:r>
              <a:rPr lang="zh-TW" altLang="en-US" sz="2400" dirty="0">
                <a:latin typeface="+mj-ea"/>
                <a:ea typeface="+mj-ea"/>
              </a:rPr>
              <a:t>拖拉至預覽區</a:t>
            </a:r>
            <a:endParaRPr lang="en-US" altLang="zh-TW" sz="2400" dirty="0">
              <a:latin typeface="+mj-ea"/>
              <a:ea typeface="+mj-ea"/>
            </a:endParaRPr>
          </a:p>
          <a:p>
            <a:r>
              <a:rPr lang="zh-TW" altLang="zh-TW" sz="2400" b="1" dirty="0">
                <a:latin typeface="+mj-ea"/>
                <a:ea typeface="+mj-ea"/>
              </a:rPr>
              <a:t>步驟</a:t>
            </a:r>
            <a:r>
              <a:rPr lang="zh-TW" altLang="en-US" sz="2400" b="1" dirty="0">
                <a:latin typeface="+mj-ea"/>
                <a:ea typeface="+mj-ea"/>
              </a:rPr>
              <a:t>三 </a:t>
            </a:r>
            <a:r>
              <a:rPr lang="zh-TW" altLang="en-US" sz="2400" dirty="0">
                <a:latin typeface="+mj-ea"/>
                <a:ea typeface="+mj-ea"/>
              </a:rPr>
              <a:t>拖拉</a:t>
            </a:r>
            <a:r>
              <a:rPr lang="en-US" altLang="zh-TW" sz="2400" dirty="0">
                <a:latin typeface="+mj-ea"/>
                <a:ea typeface="+mj-ea"/>
              </a:rPr>
              <a:t>SITE</a:t>
            </a:r>
            <a:r>
              <a:rPr lang="zh-TW" altLang="en-US" sz="2400" dirty="0">
                <a:latin typeface="+mj-ea"/>
                <a:ea typeface="+mj-ea"/>
              </a:rPr>
              <a:t>至</a:t>
            </a:r>
            <a:r>
              <a:rPr lang="en-US" altLang="zh-TW" sz="2400" dirty="0">
                <a:latin typeface="+mj-ea"/>
                <a:ea typeface="+mj-ea"/>
              </a:rPr>
              <a:t>X</a:t>
            </a:r>
            <a:r>
              <a:rPr lang="zh-TW" altLang="en-US" sz="2400" dirty="0">
                <a:latin typeface="+mj-ea"/>
                <a:ea typeface="+mj-ea"/>
              </a:rPr>
              <a:t>軸，</a:t>
            </a:r>
            <a:r>
              <a:rPr lang="en-US" altLang="zh-TW" sz="2400" dirty="0">
                <a:latin typeface="+mj-ea"/>
                <a:ea typeface="+mj-ea"/>
              </a:rPr>
              <a:t>SURVIVAL_MONTHS</a:t>
            </a:r>
            <a:r>
              <a:rPr lang="zh-TW" altLang="en-US" sz="2400" dirty="0">
                <a:latin typeface="+mj-ea"/>
                <a:ea typeface="+mj-ea"/>
              </a:rPr>
              <a:t>至</a:t>
            </a:r>
            <a:r>
              <a:rPr lang="en-US" altLang="zh-TW" sz="2400" dirty="0">
                <a:latin typeface="+mj-ea"/>
                <a:ea typeface="+mj-ea"/>
              </a:rPr>
              <a:t>Y</a:t>
            </a:r>
            <a:r>
              <a:rPr lang="zh-TW" altLang="en-US" sz="2400" dirty="0">
                <a:latin typeface="+mj-ea"/>
                <a:ea typeface="+mj-ea"/>
              </a:rPr>
              <a:t>軸</a:t>
            </a:r>
            <a:endParaRPr lang="en-US" altLang="zh-TW" sz="2400" dirty="0">
              <a:latin typeface="+mj-ea"/>
              <a:ea typeface="+mj-ea"/>
            </a:endParaRPr>
          </a:p>
          <a:p>
            <a:r>
              <a:rPr lang="zh-TW" altLang="en-US" sz="2400" b="1" dirty="0">
                <a:latin typeface="+mj-ea"/>
                <a:ea typeface="+mj-ea"/>
              </a:rPr>
              <a:t>步驟四</a:t>
            </a:r>
            <a:r>
              <a:rPr lang="en-US" altLang="zh-TW" sz="2400" b="1" dirty="0">
                <a:latin typeface="+mj-ea"/>
                <a:ea typeface="+mj-ea"/>
              </a:rPr>
              <a:t> </a:t>
            </a:r>
            <a:r>
              <a:rPr lang="zh-TW" altLang="en-US" sz="2400" b="1" dirty="0">
                <a:latin typeface="+mj-ea"/>
                <a:ea typeface="+mj-ea"/>
              </a:rPr>
              <a:t>確定</a:t>
            </a:r>
            <a:r>
              <a:rPr lang="zh-TW" altLang="zh-TW" sz="2400" dirty="0">
                <a:latin typeface="+mj-ea"/>
                <a:ea typeface="+mj-ea"/>
              </a:rPr>
              <a:t>則得以存活時間為分析變數</a:t>
            </a:r>
            <a:r>
              <a:rPr lang="zh-TW" altLang="en-US" sz="2400" dirty="0">
                <a:latin typeface="+mj-ea"/>
                <a:ea typeface="+mj-ea"/>
              </a:rPr>
              <a:t>，</a:t>
            </a:r>
            <a:r>
              <a:rPr lang="zh-TW" altLang="zh-TW" sz="2400" dirty="0">
                <a:latin typeface="+mj-ea"/>
                <a:ea typeface="+mj-ea"/>
              </a:rPr>
              <a:t>研究地點為分類變數的盒鬚圖</a:t>
            </a:r>
            <a:r>
              <a:rPr lang="zh-TW" altLang="en-US" sz="2400" dirty="0">
                <a:latin typeface="+mj-ea"/>
                <a:ea typeface="+mj-ea"/>
              </a:rPr>
              <a:t>。</a:t>
            </a:r>
            <a:endParaRPr lang="zh-TW" altLang="zh-TW" sz="2400" dirty="0">
              <a:latin typeface="+mj-ea"/>
              <a:ea typeface="+mj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24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7662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>
              <a:latin typeface="+mj-ea"/>
              <a:ea typeface="+mj-ea"/>
            </a:endParaRPr>
          </a:p>
        </p:txBody>
      </p:sp>
      <p:pic>
        <p:nvPicPr>
          <p:cNvPr id="7" name="內容版面配置區 6" descr="一張含有 文字, 螢幕擷取畫面, 圖表, 行 的圖片&#10;&#10;自動產生的描述">
            <a:extLst>
              <a:ext uri="{FF2B5EF4-FFF2-40B4-BE49-F238E27FC236}">
                <a16:creationId xmlns:a16="http://schemas.microsoft.com/office/drawing/2014/main" id="{A4AD45A1-0D86-8205-D7B8-30E6B98AC2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619" y="2120900"/>
            <a:ext cx="6978761" cy="4051300"/>
          </a:xfr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25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3746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6120680"/>
          </a:xfrm>
        </p:spPr>
        <p:txBody>
          <a:bodyPr>
            <a:normAutofit/>
          </a:bodyPr>
          <a:lstStyle/>
          <a:p>
            <a:r>
              <a:rPr lang="zh-TW" altLang="zh-TW" b="1" dirty="0">
                <a:latin typeface="+mj-ea"/>
                <a:ea typeface="+mj-ea"/>
              </a:rPr>
              <a:t>盒鬚圖</a:t>
            </a:r>
            <a:r>
              <a:rPr lang="zh-TW" altLang="zh-TW" dirty="0">
                <a:latin typeface="+mj-ea"/>
                <a:ea typeface="+mj-ea"/>
              </a:rPr>
              <a:t>又稱為箱型圖，是一種檢視</a:t>
            </a:r>
            <a:r>
              <a:rPr lang="en-US" altLang="zh-TW" dirty="0">
                <a:latin typeface="+mj-ea"/>
                <a:ea typeface="+mj-ea"/>
              </a:rPr>
              <a:t>(</a:t>
            </a:r>
            <a:r>
              <a:rPr lang="zh-TW" altLang="zh-TW" dirty="0">
                <a:latin typeface="+mj-ea"/>
                <a:ea typeface="+mj-ea"/>
              </a:rPr>
              <a:t>比較</a:t>
            </a:r>
            <a:r>
              <a:rPr lang="en-US" altLang="zh-TW" dirty="0">
                <a:latin typeface="+mj-ea"/>
                <a:ea typeface="+mj-ea"/>
              </a:rPr>
              <a:t>)</a:t>
            </a:r>
            <a:r>
              <a:rPr lang="zh-TW" altLang="zh-TW" dirty="0">
                <a:latin typeface="+mj-ea"/>
                <a:ea typeface="+mj-ea"/>
              </a:rPr>
              <a:t>資料分散程度時相當實用的一種統計圖。</a:t>
            </a:r>
            <a:endParaRPr lang="en-US" altLang="zh-TW" dirty="0">
              <a:latin typeface="+mj-ea"/>
              <a:ea typeface="+mj-ea"/>
            </a:endParaRPr>
          </a:p>
          <a:p>
            <a:endParaRPr lang="en-US" altLang="zh-TW" dirty="0">
              <a:latin typeface="+mj-ea"/>
              <a:ea typeface="+mj-ea"/>
            </a:endParaRPr>
          </a:p>
          <a:p>
            <a:r>
              <a:rPr lang="zh-TW" altLang="zh-TW" dirty="0">
                <a:latin typeface="+mj-ea"/>
                <a:ea typeface="+mj-ea"/>
              </a:rPr>
              <a:t>盒鬚圖中會顯示資料的最大值、最小值、中位數、第一四分位以及第三四分位數等統計量。</a:t>
            </a:r>
            <a:endParaRPr lang="en-US" altLang="zh-TW" dirty="0">
              <a:latin typeface="+mj-ea"/>
              <a:ea typeface="+mj-ea"/>
            </a:endParaRPr>
          </a:p>
          <a:p>
            <a:endParaRPr lang="en-US" altLang="zh-TW" dirty="0">
              <a:latin typeface="+mj-ea"/>
              <a:ea typeface="+mj-ea"/>
            </a:endParaRPr>
          </a:p>
          <a:p>
            <a:r>
              <a:rPr lang="zh-TW" altLang="zh-TW" dirty="0">
                <a:latin typeface="+mj-ea"/>
                <a:ea typeface="+mj-ea"/>
              </a:rPr>
              <a:t>盒子的下界高度為</a:t>
            </a:r>
            <a:r>
              <a:rPr lang="en-US" altLang="zh-TW" dirty="0">
                <a:latin typeface="+mj-ea"/>
                <a:ea typeface="+mj-ea"/>
              </a:rPr>
              <a:t>Q1</a:t>
            </a:r>
            <a:r>
              <a:rPr lang="zh-TW" altLang="en-US" dirty="0">
                <a:latin typeface="+mj-ea"/>
                <a:ea typeface="+mj-ea"/>
              </a:rPr>
              <a:t>，</a:t>
            </a:r>
            <a:r>
              <a:rPr lang="zh-TW" altLang="zh-TW" dirty="0">
                <a:latin typeface="+mj-ea"/>
                <a:ea typeface="+mj-ea"/>
              </a:rPr>
              <a:t>中線高度為</a:t>
            </a:r>
            <a:r>
              <a:rPr lang="en-US" altLang="zh-TW" dirty="0">
                <a:latin typeface="+mj-ea"/>
                <a:ea typeface="+mj-ea"/>
              </a:rPr>
              <a:t>Q2</a:t>
            </a:r>
            <a:r>
              <a:rPr lang="zh-TW" altLang="en-US" dirty="0">
                <a:latin typeface="+mj-ea"/>
                <a:ea typeface="+mj-ea"/>
              </a:rPr>
              <a:t>，</a:t>
            </a:r>
            <a:r>
              <a:rPr lang="zh-TW" altLang="zh-TW" dirty="0">
                <a:latin typeface="+mj-ea"/>
                <a:ea typeface="+mj-ea"/>
              </a:rPr>
              <a:t>上界高度為</a:t>
            </a:r>
            <a:r>
              <a:rPr lang="en-US" altLang="zh-TW" dirty="0">
                <a:latin typeface="+mj-ea"/>
                <a:ea typeface="+mj-ea"/>
              </a:rPr>
              <a:t>Q3</a:t>
            </a:r>
            <a:r>
              <a:rPr lang="zh-TW" altLang="en-US" dirty="0">
                <a:latin typeface="+mj-ea"/>
                <a:ea typeface="+mj-ea"/>
              </a:rPr>
              <a:t>，</a:t>
            </a:r>
            <a:r>
              <a:rPr lang="zh-TW" altLang="zh-TW" dirty="0">
                <a:latin typeface="+mj-ea"/>
                <a:ea typeface="+mj-ea"/>
              </a:rPr>
              <a:t>因此盒子的長為</a:t>
            </a:r>
            <a:r>
              <a:rPr lang="en-US" altLang="zh-TW" dirty="0">
                <a:latin typeface="+mj-ea"/>
                <a:ea typeface="+mj-ea"/>
              </a:rPr>
              <a:t>IQR</a:t>
            </a:r>
            <a:r>
              <a:rPr lang="zh-TW" altLang="zh-TW" dirty="0">
                <a:latin typeface="+mj-ea"/>
                <a:ea typeface="+mj-ea"/>
              </a:rPr>
              <a:t>。</a:t>
            </a:r>
            <a:endParaRPr lang="en-US" altLang="zh-TW" dirty="0">
              <a:latin typeface="+mj-ea"/>
              <a:ea typeface="+mj-ea"/>
            </a:endParaRPr>
          </a:p>
          <a:p>
            <a:endParaRPr lang="en-US" altLang="zh-TW" sz="2200" dirty="0">
              <a:latin typeface="+mj-ea"/>
              <a:ea typeface="+mj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26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6208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>
            <a:normAutofit/>
          </a:bodyPr>
          <a:lstStyle/>
          <a:p>
            <a:r>
              <a:rPr lang="zh-TW" altLang="zh-TW" dirty="0">
                <a:latin typeface="+mj-ea"/>
                <a:ea typeface="+mj-ea"/>
              </a:rPr>
              <a:t>最高實線的高度是資料中小於</a:t>
            </a:r>
            <a:r>
              <a:rPr lang="en-US" altLang="zh-TW" dirty="0">
                <a:latin typeface="+mj-ea"/>
                <a:ea typeface="+mj-ea"/>
              </a:rPr>
              <a:t> (Q3+1.5xIQR) </a:t>
            </a:r>
            <a:r>
              <a:rPr lang="zh-TW" altLang="zh-TW" dirty="0">
                <a:latin typeface="+mj-ea"/>
                <a:ea typeface="+mj-ea"/>
              </a:rPr>
              <a:t>的最大數值</a:t>
            </a:r>
            <a:r>
              <a:rPr lang="en-US" altLang="zh-TW" dirty="0">
                <a:latin typeface="+mj-ea"/>
                <a:ea typeface="+mj-ea"/>
              </a:rPr>
              <a:t>, </a:t>
            </a:r>
            <a:r>
              <a:rPr lang="zh-TW" altLang="zh-TW" dirty="0">
                <a:latin typeface="+mj-ea"/>
                <a:ea typeface="+mj-ea"/>
              </a:rPr>
              <a:t>又稱為上端點值</a:t>
            </a:r>
            <a:r>
              <a:rPr lang="zh-TW" altLang="en-US" dirty="0">
                <a:latin typeface="+mj-ea"/>
                <a:ea typeface="+mj-ea"/>
              </a:rPr>
              <a:t>；</a:t>
            </a:r>
            <a:r>
              <a:rPr lang="zh-TW" altLang="zh-TW" dirty="0">
                <a:latin typeface="+mj-ea"/>
                <a:ea typeface="+mj-ea"/>
              </a:rPr>
              <a:t>最低實線的高度是資料中大於</a:t>
            </a:r>
            <a:r>
              <a:rPr lang="en-US" altLang="zh-TW" dirty="0">
                <a:latin typeface="+mj-ea"/>
                <a:ea typeface="+mj-ea"/>
              </a:rPr>
              <a:t> (Q1-1.5xIQR) </a:t>
            </a:r>
            <a:r>
              <a:rPr lang="zh-TW" altLang="zh-TW" dirty="0">
                <a:latin typeface="+mj-ea"/>
                <a:ea typeface="+mj-ea"/>
              </a:rPr>
              <a:t>的最小數值</a:t>
            </a:r>
            <a:r>
              <a:rPr lang="zh-TW" altLang="en-US" dirty="0">
                <a:latin typeface="+mj-ea"/>
                <a:ea typeface="+mj-ea"/>
              </a:rPr>
              <a:t>，</a:t>
            </a:r>
            <a:r>
              <a:rPr lang="zh-TW" altLang="zh-TW" dirty="0">
                <a:latin typeface="+mj-ea"/>
                <a:ea typeface="+mj-ea"/>
              </a:rPr>
              <a:t>又稱為下端點值。 </a:t>
            </a:r>
            <a:endParaRPr lang="en-US" altLang="zh-TW" dirty="0">
              <a:latin typeface="+mj-ea"/>
              <a:ea typeface="+mj-ea"/>
            </a:endParaRPr>
          </a:p>
          <a:p>
            <a:endParaRPr lang="en-US" altLang="zh-TW" dirty="0">
              <a:latin typeface="+mj-ea"/>
              <a:ea typeface="+mj-ea"/>
            </a:endParaRPr>
          </a:p>
          <a:p>
            <a:r>
              <a:rPr lang="zh-TW" altLang="zh-TW" dirty="0">
                <a:latin typeface="+mj-ea"/>
                <a:ea typeface="+mj-ea"/>
              </a:rPr>
              <a:t>連結上下端點的線稱為</a:t>
            </a:r>
            <a:r>
              <a:rPr lang="en-US" altLang="zh-TW" dirty="0">
                <a:latin typeface="+mj-ea"/>
                <a:ea typeface="+mj-ea"/>
              </a:rPr>
              <a:t>“</a:t>
            </a:r>
            <a:r>
              <a:rPr lang="zh-TW" altLang="zh-TW" dirty="0">
                <a:latin typeface="+mj-ea"/>
                <a:ea typeface="+mj-ea"/>
              </a:rPr>
              <a:t>鬚線</a:t>
            </a:r>
            <a:r>
              <a:rPr lang="en-US" altLang="zh-TW" dirty="0">
                <a:latin typeface="+mj-ea"/>
                <a:ea typeface="+mj-ea"/>
              </a:rPr>
              <a:t>”</a:t>
            </a:r>
            <a:r>
              <a:rPr lang="zh-TW" altLang="en-US" dirty="0">
                <a:latin typeface="+mj-ea"/>
                <a:ea typeface="+mj-ea"/>
              </a:rPr>
              <a:t>。</a:t>
            </a:r>
            <a:r>
              <a:rPr lang="zh-TW" altLang="zh-TW" dirty="0">
                <a:latin typeface="+mj-ea"/>
                <a:ea typeface="+mj-ea"/>
              </a:rPr>
              <a:t>在</a:t>
            </a:r>
            <a:r>
              <a:rPr lang="en-US" altLang="zh-TW" dirty="0">
                <a:latin typeface="+mj-ea"/>
                <a:ea typeface="+mj-ea"/>
              </a:rPr>
              <a:t>“</a:t>
            </a:r>
            <a:r>
              <a:rPr lang="zh-TW" altLang="zh-TW" dirty="0">
                <a:latin typeface="+mj-ea"/>
                <a:ea typeface="+mj-ea"/>
              </a:rPr>
              <a:t>常態</a:t>
            </a:r>
            <a:r>
              <a:rPr lang="en-US" altLang="zh-TW" dirty="0">
                <a:latin typeface="+mj-ea"/>
                <a:ea typeface="+mj-ea"/>
              </a:rPr>
              <a:t>”</a:t>
            </a:r>
            <a:r>
              <a:rPr lang="zh-TW" altLang="zh-TW" dirty="0">
                <a:latin typeface="+mj-ea"/>
                <a:ea typeface="+mj-ea"/>
              </a:rPr>
              <a:t>母群體的資料下</a:t>
            </a:r>
            <a:r>
              <a:rPr lang="en-US" altLang="zh-TW" dirty="0">
                <a:latin typeface="+mj-ea"/>
                <a:ea typeface="+mj-ea"/>
              </a:rPr>
              <a:t>(Q1-1.5xIQR)</a:t>
            </a:r>
            <a:r>
              <a:rPr lang="zh-TW" altLang="zh-TW" dirty="0">
                <a:latin typeface="+mj-ea"/>
                <a:ea typeface="+mj-ea"/>
              </a:rPr>
              <a:t>和</a:t>
            </a:r>
            <a:r>
              <a:rPr lang="en-US" altLang="zh-TW" dirty="0">
                <a:latin typeface="+mj-ea"/>
                <a:ea typeface="+mj-ea"/>
              </a:rPr>
              <a:t>(Q3+1.5xIQR)</a:t>
            </a:r>
            <a:r>
              <a:rPr lang="zh-TW" altLang="zh-TW" dirty="0">
                <a:latin typeface="+mj-ea"/>
                <a:ea typeface="+mj-ea"/>
              </a:rPr>
              <a:t>的範圍內包含</a:t>
            </a:r>
            <a:r>
              <a:rPr lang="en-US" altLang="zh-TW" dirty="0">
                <a:latin typeface="+mj-ea"/>
                <a:ea typeface="+mj-ea"/>
              </a:rPr>
              <a:t>99%</a:t>
            </a:r>
            <a:r>
              <a:rPr lang="zh-TW" altLang="zh-TW" dirty="0">
                <a:latin typeface="+mj-ea"/>
                <a:ea typeface="+mj-ea"/>
              </a:rPr>
              <a:t>以上的資料量</a:t>
            </a:r>
            <a:r>
              <a:rPr lang="en-US" altLang="zh-TW" dirty="0">
                <a:latin typeface="+mj-ea"/>
                <a:ea typeface="+mj-ea"/>
              </a:rPr>
              <a:t>, </a:t>
            </a:r>
            <a:r>
              <a:rPr lang="zh-TW" altLang="zh-TW" dirty="0">
                <a:latin typeface="+mj-ea"/>
                <a:ea typeface="+mj-ea"/>
              </a:rPr>
              <a:t>因此鬚線以外的資料通常以 </a:t>
            </a:r>
            <a:r>
              <a:rPr lang="en-US" altLang="zh-TW" dirty="0">
                <a:latin typeface="+mj-ea"/>
                <a:ea typeface="+mj-ea"/>
              </a:rPr>
              <a:t>“o”</a:t>
            </a:r>
            <a:r>
              <a:rPr lang="zh-TW" altLang="zh-TW" dirty="0">
                <a:latin typeface="+mj-ea"/>
                <a:ea typeface="+mj-ea"/>
              </a:rPr>
              <a:t>表示</a:t>
            </a:r>
            <a:r>
              <a:rPr lang="zh-TW" altLang="en-US" dirty="0">
                <a:latin typeface="+mj-ea"/>
                <a:ea typeface="+mj-ea"/>
              </a:rPr>
              <a:t>，</a:t>
            </a:r>
            <a:r>
              <a:rPr lang="zh-TW" altLang="zh-TW" dirty="0">
                <a:latin typeface="+mj-ea"/>
                <a:ea typeface="+mj-ea"/>
              </a:rPr>
              <a:t>稱為界外資料</a:t>
            </a:r>
            <a:r>
              <a:rPr lang="en-US" altLang="zh-TW" dirty="0">
                <a:latin typeface="+mj-ea"/>
                <a:ea typeface="+mj-ea"/>
              </a:rPr>
              <a:t> (outlier) </a:t>
            </a:r>
            <a:r>
              <a:rPr lang="zh-TW" altLang="zh-TW" dirty="0">
                <a:latin typeface="+mj-ea"/>
                <a:ea typeface="+mj-ea"/>
              </a:rPr>
              <a:t>。 </a:t>
            </a:r>
            <a:endParaRPr lang="en-US" altLang="zh-TW" dirty="0">
              <a:latin typeface="+mj-ea"/>
              <a:ea typeface="+mj-ea"/>
            </a:endParaRPr>
          </a:p>
          <a:p>
            <a:endParaRPr lang="en-US" altLang="zh-TW" dirty="0">
              <a:latin typeface="+mj-ea"/>
              <a:ea typeface="+mj-ea"/>
            </a:endParaRPr>
          </a:p>
          <a:p>
            <a:r>
              <a:rPr lang="zh-TW" altLang="zh-TW" dirty="0">
                <a:latin typeface="+mj-ea"/>
                <a:ea typeface="+mj-ea"/>
              </a:rPr>
              <a:t>樣本資料若排除界外資料</a:t>
            </a:r>
            <a:r>
              <a:rPr lang="zh-TW" altLang="en-US" dirty="0">
                <a:latin typeface="+mj-ea"/>
                <a:ea typeface="+mj-ea"/>
              </a:rPr>
              <a:t>，</a:t>
            </a:r>
            <a:r>
              <a:rPr lang="zh-TW" altLang="zh-TW" dirty="0">
                <a:latin typeface="+mj-ea"/>
                <a:ea typeface="+mj-ea"/>
              </a:rPr>
              <a:t>則剩餘資料的全距就是鬚線的長度</a:t>
            </a:r>
            <a:r>
              <a:rPr lang="en-US" altLang="zh-TW" dirty="0">
                <a:latin typeface="+mj-ea"/>
                <a:ea typeface="+mj-ea"/>
              </a:rPr>
              <a:t>! </a:t>
            </a:r>
            <a:endParaRPr lang="zh-TW" altLang="zh-TW" dirty="0">
              <a:latin typeface="+mj-ea"/>
              <a:ea typeface="+mj-ea"/>
            </a:endParaRPr>
          </a:p>
          <a:p>
            <a:endParaRPr lang="zh-TW" altLang="en-US" dirty="0">
              <a:latin typeface="+mj-ea"/>
              <a:ea typeface="+mj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27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7718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528" y="-99392"/>
            <a:ext cx="7772400" cy="1609344"/>
          </a:xfrm>
        </p:spPr>
        <p:txBody>
          <a:bodyPr/>
          <a:lstStyle/>
          <a:p>
            <a:r>
              <a:rPr lang="zh-TW" altLang="zh-TW" b="1" dirty="0">
                <a:latin typeface="+mj-ea"/>
                <a:ea typeface="+mj-ea"/>
              </a:rPr>
              <a:t>直方圖</a:t>
            </a:r>
            <a:r>
              <a:rPr lang="zh-TW" altLang="en-US" b="1" dirty="0">
                <a:latin typeface="+mj-ea"/>
                <a:ea typeface="+mj-ea"/>
              </a:rPr>
              <a:t> </a:t>
            </a:r>
            <a:r>
              <a:rPr lang="en-US" altLang="zh-TW" b="1" dirty="0">
                <a:latin typeface="+mj-ea"/>
                <a:ea typeface="+mj-ea"/>
              </a:rPr>
              <a:t>(Histogram)</a:t>
            </a:r>
            <a:endParaRPr lang="zh-TW" altLang="en-US" b="1" dirty="0">
              <a:latin typeface="+mj-ea"/>
              <a:ea typeface="+mj-ea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1196752"/>
            <a:ext cx="8424936" cy="259228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dirty="0" err="1">
                <a:latin typeface="+mj-ea"/>
                <a:ea typeface="+mj-ea"/>
                <a:hlinkClick r:id="rId2"/>
              </a:rPr>
              <a:t>圖表繪製</a:t>
            </a:r>
            <a:r>
              <a:rPr lang="en-US" altLang="zh-TW" dirty="0">
                <a:latin typeface="+mj-ea"/>
                <a:ea typeface="+mj-ea"/>
              </a:rPr>
              <a:t> </a:t>
            </a:r>
            <a:r>
              <a:rPr lang="zh-TW" altLang="zh-TW" dirty="0">
                <a:latin typeface="+mj-ea"/>
                <a:ea typeface="+mj-ea"/>
              </a:rPr>
              <a:t>直方圖依照</a:t>
            </a:r>
            <a:r>
              <a:rPr lang="zh-TW" altLang="en-US" dirty="0">
                <a:latin typeface="+mj-ea"/>
                <a:ea typeface="+mj-ea"/>
              </a:rPr>
              <a:t>以下</a:t>
            </a:r>
            <a:r>
              <a:rPr lang="zh-TW" altLang="zh-TW" dirty="0">
                <a:latin typeface="+mj-ea"/>
                <a:ea typeface="+mj-ea"/>
              </a:rPr>
              <a:t>路徑</a:t>
            </a:r>
            <a:r>
              <a:rPr lang="zh-TW" altLang="en-US" dirty="0">
                <a:latin typeface="+mj-ea"/>
                <a:ea typeface="+mj-ea"/>
              </a:rPr>
              <a:t>：</a:t>
            </a:r>
            <a:endParaRPr lang="en-US" altLang="zh-TW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TW" altLang="zh-TW" b="1" dirty="0">
                <a:latin typeface="+mj-ea"/>
                <a:ea typeface="+mj-ea"/>
              </a:rPr>
              <a:t>步驟一</a:t>
            </a:r>
            <a:r>
              <a:rPr lang="en-US" altLang="zh-TW" b="1" dirty="0">
                <a:latin typeface="+mj-ea"/>
                <a:ea typeface="+mj-ea"/>
              </a:rPr>
              <a:t> </a:t>
            </a:r>
            <a:r>
              <a:rPr lang="zh-TW" altLang="en-US" b="1" dirty="0">
                <a:latin typeface="+mj-ea"/>
                <a:ea typeface="+mj-ea"/>
              </a:rPr>
              <a:t>分析 </a:t>
            </a:r>
            <a:r>
              <a:rPr lang="en-US" altLang="zh-TW" b="1" dirty="0">
                <a:latin typeface="+mj-ea"/>
                <a:ea typeface="+mj-ea"/>
              </a:rPr>
              <a:t>-&gt; </a:t>
            </a:r>
            <a:r>
              <a:rPr lang="zh-TW" altLang="en-US" b="1" dirty="0">
                <a:latin typeface="+mj-ea"/>
                <a:ea typeface="+mj-ea"/>
              </a:rPr>
              <a:t>敘述統計</a:t>
            </a:r>
            <a:r>
              <a:rPr lang="zh-TW" altLang="zh-TW" dirty="0">
                <a:latin typeface="+mj-ea"/>
                <a:ea typeface="+mj-ea"/>
              </a:rPr>
              <a:t> </a:t>
            </a:r>
            <a:endParaRPr lang="en-US" altLang="zh-TW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TW" altLang="zh-TW" b="1" dirty="0">
                <a:latin typeface="+mj-ea"/>
                <a:ea typeface="+mj-ea"/>
              </a:rPr>
              <a:t>步驟二</a:t>
            </a:r>
            <a:r>
              <a:rPr lang="zh-TW" altLang="en-US" b="1" dirty="0">
                <a:latin typeface="+mj-ea"/>
                <a:ea typeface="+mj-ea"/>
              </a:rPr>
              <a:t> </a:t>
            </a:r>
            <a:r>
              <a:rPr lang="zh-TW" altLang="zh-TW" b="1" dirty="0">
                <a:latin typeface="+mj-ea"/>
                <a:ea typeface="+mj-ea"/>
              </a:rPr>
              <a:t>選擇變數</a:t>
            </a:r>
            <a:r>
              <a:rPr lang="en-US" altLang="zh-TW" dirty="0">
                <a:latin typeface="+mj-ea"/>
                <a:ea typeface="+mj-ea"/>
              </a:rPr>
              <a:t>: SURVIVAL_MONTHS</a:t>
            </a:r>
          </a:p>
          <a:p>
            <a:pPr>
              <a:lnSpc>
                <a:spcPct val="150000"/>
              </a:lnSpc>
            </a:pPr>
            <a:r>
              <a:rPr lang="zh-TW" altLang="zh-TW" b="1" dirty="0">
                <a:latin typeface="+mj-ea"/>
                <a:ea typeface="+mj-ea"/>
              </a:rPr>
              <a:t>步驟</a:t>
            </a:r>
            <a:r>
              <a:rPr lang="zh-TW" altLang="en-US" b="1" dirty="0">
                <a:latin typeface="+mj-ea"/>
                <a:ea typeface="+mj-ea"/>
              </a:rPr>
              <a:t>三 圖表</a:t>
            </a:r>
            <a:r>
              <a:rPr lang="en-US" altLang="zh-TW" dirty="0">
                <a:latin typeface="+mj-ea"/>
                <a:ea typeface="+mj-ea"/>
              </a:rPr>
              <a:t>:</a:t>
            </a:r>
            <a:r>
              <a:rPr lang="zh-TW" altLang="en-US" dirty="0">
                <a:latin typeface="+mj-ea"/>
                <a:ea typeface="+mj-ea"/>
              </a:rPr>
              <a:t> 直方圖</a:t>
            </a:r>
            <a:endParaRPr lang="en-US" altLang="zh-TW" dirty="0">
              <a:latin typeface="+mj-ea"/>
              <a:ea typeface="+mj-ea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28</a:t>
            </a:r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611560" y="3861048"/>
            <a:ext cx="820891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zh-TW" sz="2800" dirty="0">
                <a:latin typeface="+mj-ea"/>
                <a:ea typeface="+mj-ea"/>
              </a:rPr>
              <a:t>直方圖是一種將</a:t>
            </a:r>
            <a:r>
              <a:rPr lang="zh-TW" altLang="zh-TW" sz="2800" dirty="0">
                <a:solidFill>
                  <a:srgbClr val="FF0000"/>
                </a:solidFill>
                <a:latin typeface="+mj-ea"/>
                <a:ea typeface="+mj-ea"/>
              </a:rPr>
              <a:t>連續型數值資料</a:t>
            </a:r>
            <a:r>
              <a:rPr lang="zh-TW" altLang="zh-TW" sz="2800" dirty="0">
                <a:latin typeface="+mj-ea"/>
                <a:ea typeface="+mj-ea"/>
              </a:rPr>
              <a:t>分組後，依各組次數分配或</a:t>
            </a:r>
            <a:r>
              <a:rPr lang="zh-TW" altLang="zh-TW" sz="2800" dirty="0">
                <a:solidFill>
                  <a:srgbClr val="FF0000"/>
                </a:solidFill>
                <a:latin typeface="+mj-ea"/>
                <a:ea typeface="+mj-ea"/>
              </a:rPr>
              <a:t>相對次數</a:t>
            </a:r>
            <a:r>
              <a:rPr lang="zh-TW" altLang="zh-TW" sz="2800" dirty="0">
                <a:latin typeface="+mj-ea"/>
                <a:ea typeface="+mj-ea"/>
              </a:rPr>
              <a:t>分配數據以</a:t>
            </a:r>
            <a:r>
              <a:rPr lang="zh-TW" altLang="zh-TW" sz="2800" dirty="0">
                <a:solidFill>
                  <a:srgbClr val="FF0000"/>
                </a:solidFill>
                <a:latin typeface="+mj-ea"/>
                <a:ea typeface="+mj-ea"/>
              </a:rPr>
              <a:t>長方形矩形連接</a:t>
            </a:r>
            <a:r>
              <a:rPr lang="zh-TW" altLang="zh-TW" sz="2800" dirty="0">
                <a:latin typeface="+mj-ea"/>
                <a:ea typeface="+mj-ea"/>
              </a:rPr>
              <a:t>而成的統計圖</a:t>
            </a:r>
            <a:r>
              <a:rPr lang="zh-TW" altLang="en-US" sz="2800" dirty="0">
                <a:latin typeface="+mj-ea"/>
                <a:ea typeface="+mj-ea"/>
              </a:rPr>
              <a:t>，</a:t>
            </a:r>
            <a:r>
              <a:rPr lang="zh-TW" altLang="zh-TW" sz="2800" dirty="0">
                <a:latin typeface="+mj-ea"/>
                <a:ea typeface="+mj-ea"/>
              </a:rPr>
              <a:t>可以了解資料大小分配比例的情形</a:t>
            </a:r>
            <a:r>
              <a:rPr lang="zh-TW" altLang="en-US" sz="2800" dirty="0">
                <a:latin typeface="+mj-ea"/>
                <a:ea typeface="+mj-ea"/>
              </a:rPr>
              <a:t>，</a:t>
            </a:r>
            <a:r>
              <a:rPr lang="zh-TW" altLang="zh-TW" sz="2800" dirty="0">
                <a:latin typeface="+mj-ea"/>
                <a:ea typeface="+mj-ea"/>
              </a:rPr>
              <a:t>也可以知道眾數的位置。</a:t>
            </a:r>
          </a:p>
        </p:txBody>
      </p:sp>
    </p:spTree>
    <p:extLst>
      <p:ext uri="{BB962C8B-B14F-4D97-AF65-F5344CB8AC3E}">
        <p14:creationId xmlns:p14="http://schemas.microsoft.com/office/powerpoint/2010/main" val="3353979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29</a:t>
            </a:r>
            <a:endParaRPr lang="zh-TW" altLang="en-US"/>
          </a:p>
        </p:txBody>
      </p:sp>
      <p:pic>
        <p:nvPicPr>
          <p:cNvPr id="7" name="內容版面配置區 6" descr="一張含有 繪圖, 圖表, 行, 斜率、斜坡 的圖片&#10;&#10;自動產生的描述">
            <a:extLst>
              <a:ext uri="{FF2B5EF4-FFF2-40B4-BE49-F238E27FC236}">
                <a16:creationId xmlns:a16="http://schemas.microsoft.com/office/drawing/2014/main" id="{E8B938F3-9365-6EEB-11A0-7B20B6B312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620688"/>
            <a:ext cx="8567870" cy="6017222"/>
          </a:xfrm>
        </p:spPr>
      </p:pic>
    </p:spTree>
    <p:extLst>
      <p:ext uri="{BB962C8B-B14F-4D97-AF65-F5344CB8AC3E}">
        <p14:creationId xmlns:p14="http://schemas.microsoft.com/office/powerpoint/2010/main" val="3750079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-99392"/>
            <a:ext cx="7772400" cy="1609344"/>
          </a:xfrm>
        </p:spPr>
        <p:txBody>
          <a:bodyPr>
            <a:normAutofit/>
          </a:bodyPr>
          <a:lstStyle/>
          <a:p>
            <a:r>
              <a:rPr lang="zh-TW" altLang="zh-TW" b="1" dirty="0">
                <a:latin typeface="+mj-ea"/>
                <a:ea typeface="+mj-ea"/>
              </a:rPr>
              <a:t>長條圖</a:t>
            </a:r>
            <a:endParaRPr lang="zh-TW" altLang="en-US" b="1" dirty="0">
              <a:latin typeface="+mj-ea"/>
              <a:ea typeface="+mj-ea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536" y="1268760"/>
            <a:ext cx="8496944" cy="5328591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dirty="0" err="1">
                <a:latin typeface="+mj-ea"/>
                <a:ea typeface="+mj-ea"/>
                <a:hlinkClick r:id="rId2"/>
              </a:rPr>
              <a:t>圖表繪製</a:t>
            </a:r>
            <a:r>
              <a:rPr lang="en-US" altLang="zh-TW" dirty="0">
                <a:latin typeface="+mj-ea"/>
                <a:ea typeface="+mj-ea"/>
              </a:rPr>
              <a:t> </a:t>
            </a:r>
            <a:r>
              <a:rPr lang="zh-TW" altLang="zh-TW" dirty="0">
                <a:latin typeface="+mj-ea"/>
                <a:ea typeface="+mj-ea"/>
              </a:rPr>
              <a:t>長條圖</a:t>
            </a:r>
            <a:r>
              <a:rPr lang="en-US" altLang="zh-TW" b="1" dirty="0">
                <a:latin typeface="+mj-ea"/>
                <a:ea typeface="+mj-ea"/>
              </a:rPr>
              <a:t>(Bar Chart)</a:t>
            </a:r>
            <a:r>
              <a:rPr lang="zh-TW" altLang="en-US" b="1" dirty="0">
                <a:latin typeface="+mj-ea"/>
                <a:ea typeface="+mj-ea"/>
              </a:rPr>
              <a:t>，</a:t>
            </a:r>
            <a:r>
              <a:rPr lang="zh-TW" altLang="zh-TW" dirty="0">
                <a:latin typeface="+mj-ea"/>
                <a:ea typeface="+mj-ea"/>
              </a:rPr>
              <a:t>依照</a:t>
            </a:r>
            <a:r>
              <a:rPr lang="zh-TW" altLang="en-US" dirty="0">
                <a:latin typeface="+mj-ea"/>
                <a:ea typeface="+mj-ea"/>
              </a:rPr>
              <a:t>以下</a:t>
            </a:r>
            <a:r>
              <a:rPr lang="zh-TW" altLang="zh-TW" dirty="0">
                <a:latin typeface="+mj-ea"/>
                <a:ea typeface="+mj-ea"/>
              </a:rPr>
              <a:t>路徑</a:t>
            </a:r>
            <a:r>
              <a:rPr lang="en-US" altLang="zh-TW" dirty="0">
                <a:latin typeface="+mj-ea"/>
                <a:ea typeface="+mj-ea"/>
              </a:rPr>
              <a:t>:</a:t>
            </a:r>
          </a:p>
          <a:p>
            <a:r>
              <a:rPr lang="zh-TW" altLang="zh-TW" b="1" dirty="0">
                <a:latin typeface="+mj-ea"/>
                <a:ea typeface="+mj-ea"/>
              </a:rPr>
              <a:t>步驟一</a:t>
            </a:r>
            <a:r>
              <a:rPr lang="en-US" altLang="zh-TW" b="1" dirty="0">
                <a:latin typeface="+mj-ea"/>
                <a:ea typeface="+mj-ea"/>
              </a:rPr>
              <a:t> </a:t>
            </a:r>
            <a:r>
              <a:rPr lang="zh-TW" altLang="en-US" dirty="0">
                <a:latin typeface="+mj-ea"/>
                <a:ea typeface="+mj-ea"/>
              </a:rPr>
              <a:t>統計圖 </a:t>
            </a:r>
            <a:r>
              <a:rPr lang="en-US" altLang="zh-TW" dirty="0">
                <a:latin typeface="+mj-ea"/>
                <a:ea typeface="+mj-ea"/>
              </a:rPr>
              <a:t>(</a:t>
            </a:r>
            <a:r>
              <a:rPr lang="zh-TW" altLang="en-US" dirty="0">
                <a:latin typeface="+mj-ea"/>
                <a:ea typeface="+mj-ea"/>
              </a:rPr>
              <a:t>圖表建立器</a:t>
            </a:r>
            <a:r>
              <a:rPr lang="en-US" altLang="zh-TW" dirty="0">
                <a:latin typeface="+mj-ea"/>
                <a:ea typeface="+mj-ea"/>
              </a:rPr>
              <a:t>)</a:t>
            </a:r>
          </a:p>
          <a:p>
            <a:r>
              <a:rPr lang="zh-TW" altLang="zh-TW" b="1" dirty="0">
                <a:latin typeface="+mj-ea"/>
                <a:ea typeface="+mj-ea"/>
              </a:rPr>
              <a:t>步驟二</a:t>
            </a:r>
            <a:r>
              <a:rPr lang="en-US" altLang="zh-TW" b="1" dirty="0">
                <a:latin typeface="+mj-ea"/>
                <a:ea typeface="+mj-ea"/>
              </a:rPr>
              <a:t> </a:t>
            </a:r>
            <a:r>
              <a:rPr lang="zh-TW" altLang="zh-TW" dirty="0">
                <a:latin typeface="+mj-ea"/>
                <a:ea typeface="+mj-ea"/>
              </a:rPr>
              <a:t>選擇</a:t>
            </a:r>
            <a:r>
              <a:rPr lang="zh-TW" altLang="en-US" dirty="0">
                <a:latin typeface="+mj-ea"/>
                <a:ea typeface="+mj-ea"/>
              </a:rPr>
              <a:t>堆疊長條</a:t>
            </a:r>
            <a:r>
              <a:rPr lang="zh-TW" altLang="zh-TW" dirty="0">
                <a:latin typeface="+mj-ea"/>
                <a:ea typeface="+mj-ea"/>
              </a:rPr>
              <a:t>圖</a:t>
            </a:r>
            <a:r>
              <a:rPr lang="zh-TW" altLang="en-US" dirty="0">
                <a:latin typeface="+mj-ea"/>
                <a:ea typeface="+mj-ea"/>
              </a:rPr>
              <a:t>拖拉至預覽區</a:t>
            </a:r>
            <a:endParaRPr lang="en-US" altLang="zh-TW" dirty="0">
              <a:latin typeface="+mj-ea"/>
              <a:ea typeface="+mj-ea"/>
            </a:endParaRPr>
          </a:p>
          <a:p>
            <a:r>
              <a:rPr lang="zh-TW" altLang="zh-TW" b="1" dirty="0">
                <a:latin typeface="+mj-ea"/>
                <a:ea typeface="+mj-ea"/>
              </a:rPr>
              <a:t>步驟</a:t>
            </a:r>
            <a:r>
              <a:rPr lang="zh-TW" altLang="en-US" b="1" dirty="0">
                <a:latin typeface="+mj-ea"/>
                <a:ea typeface="+mj-ea"/>
              </a:rPr>
              <a:t>三 </a:t>
            </a:r>
            <a:r>
              <a:rPr lang="zh-TW" altLang="en-US" dirty="0">
                <a:latin typeface="+mj-ea"/>
                <a:ea typeface="+mj-ea"/>
              </a:rPr>
              <a:t>拖拉</a:t>
            </a:r>
            <a:r>
              <a:rPr lang="en-US" altLang="zh-TW" dirty="0">
                <a:latin typeface="+mj-ea"/>
                <a:ea typeface="+mj-ea"/>
              </a:rPr>
              <a:t>SITE</a:t>
            </a:r>
            <a:r>
              <a:rPr lang="zh-TW" altLang="en-US" dirty="0">
                <a:latin typeface="+mj-ea"/>
                <a:ea typeface="+mj-ea"/>
              </a:rPr>
              <a:t>至</a:t>
            </a:r>
            <a:r>
              <a:rPr lang="en-US" altLang="zh-TW" dirty="0">
                <a:latin typeface="+mj-ea"/>
                <a:ea typeface="+mj-ea"/>
              </a:rPr>
              <a:t>X</a:t>
            </a:r>
            <a:r>
              <a:rPr lang="zh-TW" altLang="en-US" dirty="0">
                <a:latin typeface="+mj-ea"/>
                <a:ea typeface="+mj-ea"/>
              </a:rPr>
              <a:t>軸，</a:t>
            </a:r>
            <a:r>
              <a:rPr lang="en-US" altLang="zh-TW" dirty="0">
                <a:latin typeface="+mj-ea"/>
                <a:ea typeface="+mj-ea"/>
              </a:rPr>
              <a:t>gender</a:t>
            </a:r>
            <a:r>
              <a:rPr lang="zh-TW" altLang="en-US" dirty="0">
                <a:latin typeface="+mj-ea"/>
                <a:ea typeface="+mj-ea"/>
              </a:rPr>
              <a:t>至色彩</a:t>
            </a:r>
            <a:endParaRPr lang="en-US" altLang="zh-TW" dirty="0">
              <a:latin typeface="+mj-ea"/>
              <a:ea typeface="+mj-ea"/>
            </a:endParaRPr>
          </a:p>
          <a:p>
            <a:r>
              <a:rPr lang="zh-TW" altLang="en-US" b="1" dirty="0">
                <a:latin typeface="+mj-ea"/>
                <a:ea typeface="+mj-ea"/>
              </a:rPr>
              <a:t>步驟四</a:t>
            </a:r>
            <a:r>
              <a:rPr lang="en-US" altLang="zh-TW" b="1" dirty="0">
                <a:latin typeface="+mj-ea"/>
                <a:ea typeface="+mj-ea"/>
              </a:rPr>
              <a:t> </a:t>
            </a:r>
            <a:r>
              <a:rPr lang="zh-TW" altLang="en-US" b="1" dirty="0">
                <a:latin typeface="+mj-ea"/>
                <a:ea typeface="+mj-ea"/>
              </a:rPr>
              <a:t>確定</a:t>
            </a:r>
            <a:r>
              <a:rPr lang="zh-TW" altLang="zh-TW" dirty="0">
                <a:latin typeface="+mj-ea"/>
                <a:ea typeface="+mj-ea"/>
              </a:rPr>
              <a:t>則得以</a:t>
            </a:r>
            <a:r>
              <a:rPr lang="en-US" altLang="zh-TW" dirty="0">
                <a:latin typeface="+mj-ea"/>
                <a:ea typeface="+mj-ea"/>
              </a:rPr>
              <a:t>Site</a:t>
            </a:r>
            <a:r>
              <a:rPr lang="zh-TW" altLang="en-US" dirty="0">
                <a:latin typeface="+mj-ea"/>
                <a:ea typeface="+mj-ea"/>
              </a:rPr>
              <a:t>為</a:t>
            </a:r>
            <a:r>
              <a:rPr lang="en-US" altLang="zh-TW" dirty="0">
                <a:latin typeface="+mj-ea"/>
                <a:ea typeface="+mj-ea"/>
              </a:rPr>
              <a:t>X</a:t>
            </a:r>
            <a:r>
              <a:rPr lang="zh-TW" altLang="en-US" dirty="0">
                <a:latin typeface="+mj-ea"/>
                <a:ea typeface="+mj-ea"/>
              </a:rPr>
              <a:t>軸，</a:t>
            </a:r>
            <a:r>
              <a:rPr lang="en-US" altLang="zh-TW" dirty="0">
                <a:latin typeface="+mj-ea"/>
                <a:ea typeface="+mj-ea"/>
              </a:rPr>
              <a:t>gender</a:t>
            </a:r>
            <a:r>
              <a:rPr lang="zh-TW" altLang="en-US" dirty="0">
                <a:latin typeface="+mj-ea"/>
                <a:ea typeface="+mj-ea"/>
              </a:rPr>
              <a:t>為堆疊類別的直方圖。</a:t>
            </a:r>
            <a:endParaRPr lang="zh-TW" altLang="zh-TW" dirty="0">
              <a:latin typeface="+mj-ea"/>
              <a:ea typeface="+mj-ea"/>
            </a:endParaRPr>
          </a:p>
          <a:p>
            <a:endParaRPr lang="en-US" altLang="zh-TW" dirty="0">
              <a:latin typeface="+mj-ea"/>
              <a:ea typeface="+mj-ea"/>
            </a:endParaRPr>
          </a:p>
          <a:p>
            <a:pPr marL="0">
              <a:buNone/>
            </a:pPr>
            <a:r>
              <a:rPr lang="zh-TW" altLang="zh-TW" dirty="0">
                <a:latin typeface="+mj-ea"/>
                <a:ea typeface="+mj-ea"/>
              </a:rPr>
              <a:t>長條圖的功能和直方圖類似</a:t>
            </a:r>
            <a:r>
              <a:rPr lang="en-US" altLang="zh-TW" dirty="0">
                <a:latin typeface="+mj-ea"/>
                <a:ea typeface="+mj-ea"/>
              </a:rPr>
              <a:t>, </a:t>
            </a:r>
            <a:r>
              <a:rPr lang="zh-TW" altLang="zh-TW" dirty="0">
                <a:latin typeface="+mj-ea"/>
                <a:ea typeface="+mj-ea"/>
              </a:rPr>
              <a:t>用於表現</a:t>
            </a:r>
            <a:r>
              <a:rPr lang="zh-TW" altLang="zh-TW" dirty="0">
                <a:solidFill>
                  <a:srgbClr val="FF0000"/>
                </a:solidFill>
                <a:latin typeface="+mj-ea"/>
                <a:ea typeface="+mj-ea"/>
              </a:rPr>
              <a:t>類別資料</a:t>
            </a:r>
            <a:r>
              <a:rPr lang="zh-TW" altLang="zh-TW" dirty="0">
                <a:latin typeface="+mj-ea"/>
                <a:ea typeface="+mj-ea"/>
              </a:rPr>
              <a:t>之次數分佈情形。選定繪製長條圖的變數後，以長條狀圖形表示各組次數分配情形，長條圖表示法中各</a:t>
            </a:r>
            <a:r>
              <a:rPr lang="zh-TW" altLang="zh-TW" dirty="0">
                <a:solidFill>
                  <a:srgbClr val="FF0000"/>
                </a:solidFill>
                <a:latin typeface="+mj-ea"/>
                <a:ea typeface="+mj-ea"/>
              </a:rPr>
              <a:t>長方矩形不相連</a:t>
            </a:r>
            <a:r>
              <a:rPr lang="zh-TW" altLang="zh-TW" dirty="0">
                <a:latin typeface="+mj-ea"/>
                <a:ea typeface="+mj-ea"/>
              </a:rPr>
              <a:t>。</a:t>
            </a:r>
            <a:endParaRPr lang="zh-TW" altLang="en-US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zh-TW" altLang="zh-TW" dirty="0">
              <a:latin typeface="+mj-ea"/>
              <a:ea typeface="+mj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30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5365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31</a:t>
            </a:r>
            <a:endParaRPr lang="zh-TW" altLang="en-US"/>
          </a:p>
        </p:txBody>
      </p:sp>
      <p:pic>
        <p:nvPicPr>
          <p:cNvPr id="6" name="內容版面配置區 5" descr="一張含有 文字, 螢幕擷取畫面, 圖表, 行 的圖片&#10;&#10;自動產生的描述">
            <a:extLst>
              <a:ext uri="{FF2B5EF4-FFF2-40B4-BE49-F238E27FC236}">
                <a16:creationId xmlns:a16="http://schemas.microsoft.com/office/drawing/2014/main" id="{FFEA389D-B333-8660-B0E0-490425E749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692696"/>
            <a:ext cx="7943794" cy="5760640"/>
          </a:xfrm>
        </p:spPr>
      </p:pic>
    </p:spTree>
    <p:extLst>
      <p:ext uri="{BB962C8B-B14F-4D97-AF65-F5344CB8AC3E}">
        <p14:creationId xmlns:p14="http://schemas.microsoft.com/office/powerpoint/2010/main" val="207076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b="1" dirty="0">
                <a:latin typeface="+mj-ea"/>
                <a:ea typeface="+mj-ea"/>
              </a:rPr>
              <a:t>2D</a:t>
            </a:r>
            <a:r>
              <a:rPr lang="zh-TW" altLang="zh-TW" b="1" dirty="0">
                <a:latin typeface="+mj-ea"/>
                <a:ea typeface="+mj-ea"/>
              </a:rPr>
              <a:t>散佈圖</a:t>
            </a:r>
            <a:endParaRPr lang="zh-TW" altLang="en-US" b="1" dirty="0">
              <a:latin typeface="+mj-ea"/>
              <a:ea typeface="+mj-ea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760640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TW" altLang="zh-TW" sz="2800" dirty="0">
                <a:latin typeface="+mj-ea"/>
                <a:ea typeface="+mj-ea"/>
              </a:rPr>
              <a:t>最後是</a:t>
            </a:r>
            <a:r>
              <a:rPr lang="en-US" altLang="zh-TW" sz="2800" dirty="0">
                <a:latin typeface="+mj-ea"/>
                <a:ea typeface="+mj-ea"/>
              </a:rPr>
              <a:t>2D</a:t>
            </a:r>
            <a:r>
              <a:rPr lang="zh-TW" altLang="zh-TW" sz="2800" dirty="0">
                <a:latin typeface="+mj-ea"/>
                <a:ea typeface="+mj-ea"/>
              </a:rPr>
              <a:t>的散佈圖</a:t>
            </a:r>
            <a:r>
              <a:rPr lang="en-US" altLang="zh-TW" sz="2800" b="1" dirty="0">
                <a:latin typeface="+mj-ea"/>
                <a:ea typeface="+mj-ea"/>
              </a:rPr>
              <a:t>(</a:t>
            </a:r>
            <a:r>
              <a:rPr lang="en-US" altLang="zh-TW" sz="2800" dirty="0">
                <a:latin typeface="+mj-ea"/>
                <a:ea typeface="+mj-ea"/>
              </a:rPr>
              <a:t>Scatter Plot). </a:t>
            </a:r>
            <a:r>
              <a:rPr lang="zh-TW" altLang="zh-TW" sz="2800" dirty="0">
                <a:latin typeface="+mj-ea"/>
                <a:ea typeface="+mj-ea"/>
              </a:rPr>
              <a:t>將兩個可能相關之數值變數分別置於座標圖上的</a:t>
            </a:r>
            <a:r>
              <a:rPr lang="en-US" altLang="zh-TW" sz="2800" dirty="0">
                <a:latin typeface="+mj-ea"/>
                <a:ea typeface="+mj-ea"/>
              </a:rPr>
              <a:t>X</a:t>
            </a:r>
            <a:r>
              <a:rPr lang="zh-TW" altLang="zh-TW" sz="2800" dirty="0">
                <a:latin typeface="+mj-ea"/>
                <a:ea typeface="+mj-ea"/>
              </a:rPr>
              <a:t>與</a:t>
            </a:r>
            <a:r>
              <a:rPr lang="en-US" altLang="zh-TW" sz="2800" dirty="0">
                <a:latin typeface="+mj-ea"/>
                <a:ea typeface="+mj-ea"/>
              </a:rPr>
              <a:t>Y</a:t>
            </a:r>
            <a:r>
              <a:rPr lang="zh-TW" altLang="zh-TW" sz="2800" dirty="0">
                <a:latin typeface="+mj-ea"/>
                <a:ea typeface="+mj-ea"/>
              </a:rPr>
              <a:t>軸，用圖點標示各資料點的位置，可初步觀察兩變數間的相關性。</a:t>
            </a:r>
            <a:endParaRPr lang="en-US" altLang="zh-TW" sz="28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TW" sz="2800" dirty="0">
              <a:latin typeface="+mj-ea"/>
              <a:ea typeface="+mj-ea"/>
            </a:endParaRPr>
          </a:p>
          <a:p>
            <a:endParaRPr lang="en-US" altLang="zh-TW" sz="2800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zh-TW" sz="28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TW" sz="2800" dirty="0">
                <a:latin typeface="+mj-ea"/>
                <a:ea typeface="+mj-ea"/>
              </a:rPr>
              <a:t> </a:t>
            </a:r>
          </a:p>
          <a:p>
            <a:endParaRPr lang="en-US" altLang="zh-TW" sz="2800" dirty="0">
              <a:latin typeface="+mj-ea"/>
              <a:ea typeface="+mj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32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5156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dirty="0" err="1">
                <a:latin typeface="+mj-ea"/>
                <a:ea typeface="+mj-ea"/>
                <a:hlinkClick r:id="rId2"/>
              </a:rPr>
              <a:t>圖表繪製</a:t>
            </a:r>
            <a:r>
              <a:rPr lang="en-US" altLang="zh-TW" dirty="0">
                <a:latin typeface="+mj-ea"/>
                <a:ea typeface="+mj-ea"/>
              </a:rPr>
              <a:t> </a:t>
            </a:r>
            <a:r>
              <a:rPr lang="zh-TW" altLang="zh-TW" dirty="0">
                <a:latin typeface="+mj-ea"/>
                <a:ea typeface="+mj-ea"/>
              </a:rPr>
              <a:t>散佈圖</a:t>
            </a:r>
            <a:r>
              <a:rPr lang="en-US" altLang="zh-TW" dirty="0">
                <a:latin typeface="+mj-ea"/>
                <a:ea typeface="+mj-ea"/>
              </a:rPr>
              <a:t> </a:t>
            </a:r>
            <a:r>
              <a:rPr lang="zh-TW" altLang="en-US" dirty="0">
                <a:latin typeface="+mj-ea"/>
                <a:ea typeface="+mj-ea"/>
              </a:rPr>
              <a:t>，</a:t>
            </a:r>
            <a:r>
              <a:rPr lang="en-US" altLang="zh-TW" dirty="0">
                <a:latin typeface="+mj-ea"/>
                <a:ea typeface="+mj-ea"/>
              </a:rPr>
              <a:t>2D</a:t>
            </a:r>
            <a:r>
              <a:rPr lang="zh-TW" altLang="zh-TW" dirty="0">
                <a:latin typeface="+mj-ea"/>
                <a:ea typeface="+mj-ea"/>
              </a:rPr>
              <a:t>散佈圖</a:t>
            </a:r>
            <a:r>
              <a:rPr lang="zh-TW" altLang="en-US" dirty="0">
                <a:latin typeface="+mj-ea"/>
                <a:ea typeface="+mj-ea"/>
              </a:rPr>
              <a:t>之</a:t>
            </a:r>
            <a:r>
              <a:rPr lang="zh-TW" altLang="zh-TW" dirty="0">
                <a:latin typeface="+mj-ea"/>
                <a:ea typeface="+mj-ea"/>
              </a:rPr>
              <a:t>路徑</a:t>
            </a:r>
            <a:r>
              <a:rPr lang="zh-TW" altLang="en-US" dirty="0">
                <a:latin typeface="+mj-ea"/>
                <a:ea typeface="+mj-ea"/>
              </a:rPr>
              <a:t>為</a:t>
            </a:r>
            <a:r>
              <a:rPr lang="en-US" altLang="zh-TW" dirty="0">
                <a:latin typeface="+mj-ea"/>
                <a:ea typeface="+mj-ea"/>
              </a:rPr>
              <a:t>:  </a:t>
            </a:r>
          </a:p>
          <a:p>
            <a:r>
              <a:rPr lang="zh-TW" altLang="zh-TW" b="1" dirty="0">
                <a:latin typeface="+mj-ea"/>
                <a:ea typeface="+mj-ea"/>
              </a:rPr>
              <a:t>步驟一</a:t>
            </a:r>
            <a:r>
              <a:rPr lang="en-US" altLang="zh-TW" b="1" dirty="0">
                <a:latin typeface="+mj-ea"/>
                <a:ea typeface="+mj-ea"/>
              </a:rPr>
              <a:t> </a:t>
            </a:r>
            <a:r>
              <a:rPr lang="zh-TW" altLang="en-US" dirty="0">
                <a:latin typeface="+mj-ea"/>
                <a:ea typeface="+mj-ea"/>
              </a:rPr>
              <a:t>統計圖 </a:t>
            </a:r>
            <a:r>
              <a:rPr lang="en-US" altLang="zh-TW" dirty="0">
                <a:latin typeface="+mj-ea"/>
                <a:ea typeface="+mj-ea"/>
              </a:rPr>
              <a:t>(</a:t>
            </a:r>
            <a:r>
              <a:rPr lang="zh-TW" altLang="en-US" dirty="0">
                <a:latin typeface="+mj-ea"/>
                <a:ea typeface="+mj-ea"/>
              </a:rPr>
              <a:t>圖表建立器</a:t>
            </a:r>
            <a:r>
              <a:rPr lang="en-US" altLang="zh-TW" dirty="0">
                <a:latin typeface="+mj-ea"/>
                <a:ea typeface="+mj-ea"/>
              </a:rPr>
              <a:t>)</a:t>
            </a:r>
          </a:p>
          <a:p>
            <a:r>
              <a:rPr lang="zh-TW" altLang="zh-TW" b="1" dirty="0">
                <a:latin typeface="+mj-ea"/>
                <a:ea typeface="+mj-ea"/>
              </a:rPr>
              <a:t>步驟二</a:t>
            </a:r>
            <a:r>
              <a:rPr lang="en-US" altLang="zh-TW" b="1" dirty="0">
                <a:latin typeface="+mj-ea"/>
                <a:ea typeface="+mj-ea"/>
              </a:rPr>
              <a:t> </a:t>
            </a:r>
            <a:r>
              <a:rPr lang="zh-TW" altLang="zh-TW" dirty="0">
                <a:latin typeface="+mj-ea"/>
                <a:ea typeface="+mj-ea"/>
              </a:rPr>
              <a:t>選擇</a:t>
            </a:r>
            <a:r>
              <a:rPr lang="zh-TW" altLang="en-US" dirty="0">
                <a:latin typeface="+mj-ea"/>
                <a:ea typeface="+mj-ea"/>
              </a:rPr>
              <a:t>組別散佈圖拖拉至預覽區</a:t>
            </a:r>
            <a:endParaRPr lang="en-US" altLang="zh-TW" dirty="0">
              <a:latin typeface="+mj-ea"/>
              <a:ea typeface="+mj-ea"/>
            </a:endParaRPr>
          </a:p>
          <a:p>
            <a:r>
              <a:rPr lang="zh-TW" altLang="zh-TW" b="1" dirty="0">
                <a:latin typeface="+mj-ea"/>
                <a:ea typeface="+mj-ea"/>
              </a:rPr>
              <a:t>步驟</a:t>
            </a:r>
            <a:r>
              <a:rPr lang="zh-TW" altLang="en-US" b="1" dirty="0">
                <a:latin typeface="+mj-ea"/>
                <a:ea typeface="+mj-ea"/>
              </a:rPr>
              <a:t>三 </a:t>
            </a:r>
            <a:r>
              <a:rPr lang="zh-TW" altLang="en-US" dirty="0">
                <a:latin typeface="+mj-ea"/>
                <a:ea typeface="+mj-ea"/>
              </a:rPr>
              <a:t>拖拉</a:t>
            </a:r>
            <a:r>
              <a:rPr lang="en-US" altLang="zh-TW" dirty="0">
                <a:latin typeface="+mj-ea"/>
                <a:ea typeface="+mj-ea"/>
              </a:rPr>
              <a:t>Age</a:t>
            </a:r>
            <a:r>
              <a:rPr lang="zh-TW" altLang="en-US" dirty="0">
                <a:latin typeface="+mj-ea"/>
                <a:ea typeface="+mj-ea"/>
              </a:rPr>
              <a:t>至</a:t>
            </a:r>
            <a:r>
              <a:rPr lang="en-US" altLang="zh-TW" dirty="0">
                <a:latin typeface="+mj-ea"/>
                <a:ea typeface="+mj-ea"/>
              </a:rPr>
              <a:t>X</a:t>
            </a:r>
            <a:r>
              <a:rPr lang="zh-TW" altLang="en-US" dirty="0">
                <a:latin typeface="+mj-ea"/>
                <a:ea typeface="+mj-ea"/>
              </a:rPr>
              <a:t>軸，</a:t>
            </a:r>
            <a:r>
              <a:rPr lang="en-US" altLang="zh-TW" dirty="0">
                <a:latin typeface="+mj-ea"/>
                <a:ea typeface="+mj-ea"/>
              </a:rPr>
              <a:t>survival month</a:t>
            </a:r>
            <a:r>
              <a:rPr lang="zh-TW" altLang="en-US" dirty="0">
                <a:latin typeface="+mj-ea"/>
                <a:ea typeface="+mj-ea"/>
              </a:rPr>
              <a:t>至</a:t>
            </a:r>
            <a:r>
              <a:rPr lang="en-US" altLang="zh-TW" dirty="0">
                <a:latin typeface="+mj-ea"/>
                <a:ea typeface="+mj-ea"/>
              </a:rPr>
              <a:t>Y</a:t>
            </a:r>
            <a:r>
              <a:rPr lang="zh-TW" altLang="en-US" dirty="0">
                <a:latin typeface="+mj-ea"/>
                <a:ea typeface="+mj-ea"/>
              </a:rPr>
              <a:t>軸，</a:t>
            </a:r>
            <a:r>
              <a:rPr lang="en-US" altLang="zh-TW" dirty="0">
                <a:latin typeface="+mj-ea"/>
                <a:ea typeface="+mj-ea"/>
              </a:rPr>
              <a:t>rank</a:t>
            </a:r>
            <a:r>
              <a:rPr lang="zh-TW" altLang="en-US" dirty="0">
                <a:latin typeface="+mj-ea"/>
                <a:ea typeface="+mj-ea"/>
              </a:rPr>
              <a:t>至色彩</a:t>
            </a:r>
            <a:endParaRPr lang="en-US" altLang="zh-TW" dirty="0">
              <a:latin typeface="+mj-ea"/>
              <a:ea typeface="+mj-ea"/>
            </a:endParaRPr>
          </a:p>
          <a:p>
            <a:r>
              <a:rPr lang="zh-TW" altLang="en-US" b="1" dirty="0">
                <a:latin typeface="+mj-ea"/>
                <a:ea typeface="+mj-ea"/>
              </a:rPr>
              <a:t>步驟四</a:t>
            </a:r>
            <a:r>
              <a:rPr lang="en-US" altLang="zh-TW" b="1" dirty="0">
                <a:latin typeface="+mj-ea"/>
                <a:ea typeface="+mj-ea"/>
              </a:rPr>
              <a:t> </a:t>
            </a:r>
            <a:r>
              <a:rPr lang="zh-TW" altLang="en-US" b="1" dirty="0">
                <a:latin typeface="+mj-ea"/>
                <a:ea typeface="+mj-ea"/>
              </a:rPr>
              <a:t>確定</a:t>
            </a:r>
            <a:r>
              <a:rPr lang="zh-TW" altLang="zh-TW" dirty="0">
                <a:latin typeface="+mj-ea"/>
                <a:ea typeface="+mj-ea"/>
              </a:rPr>
              <a:t>則得以</a:t>
            </a:r>
            <a:r>
              <a:rPr lang="en-US" altLang="zh-TW" dirty="0">
                <a:latin typeface="+mj-ea"/>
                <a:ea typeface="+mj-ea"/>
              </a:rPr>
              <a:t>Age</a:t>
            </a:r>
            <a:r>
              <a:rPr lang="zh-TW" altLang="en-US" dirty="0">
                <a:latin typeface="+mj-ea"/>
                <a:ea typeface="+mj-ea"/>
              </a:rPr>
              <a:t>為</a:t>
            </a:r>
            <a:r>
              <a:rPr lang="en-US" altLang="zh-TW" dirty="0">
                <a:latin typeface="+mj-ea"/>
                <a:ea typeface="+mj-ea"/>
              </a:rPr>
              <a:t>X</a:t>
            </a:r>
            <a:r>
              <a:rPr lang="zh-TW" altLang="en-US" dirty="0">
                <a:latin typeface="+mj-ea"/>
                <a:ea typeface="+mj-ea"/>
              </a:rPr>
              <a:t>軸，</a:t>
            </a:r>
            <a:r>
              <a:rPr lang="en-US" altLang="zh-TW" dirty="0">
                <a:latin typeface="+mj-ea"/>
                <a:ea typeface="+mj-ea"/>
              </a:rPr>
              <a:t> survival month</a:t>
            </a:r>
            <a:r>
              <a:rPr lang="zh-TW" altLang="en-US" dirty="0">
                <a:latin typeface="+mj-ea"/>
                <a:ea typeface="+mj-ea"/>
              </a:rPr>
              <a:t>至</a:t>
            </a:r>
            <a:r>
              <a:rPr lang="en-US" altLang="zh-TW" dirty="0">
                <a:latin typeface="+mj-ea"/>
                <a:ea typeface="+mj-ea"/>
              </a:rPr>
              <a:t>Y</a:t>
            </a:r>
            <a:r>
              <a:rPr lang="zh-TW" altLang="en-US" dirty="0">
                <a:latin typeface="+mj-ea"/>
                <a:ea typeface="+mj-ea"/>
              </a:rPr>
              <a:t>軸的散佈圖。</a:t>
            </a:r>
            <a:endParaRPr lang="zh-TW" altLang="zh-TW" dirty="0">
              <a:latin typeface="+mj-ea"/>
              <a:ea typeface="+mj-ea"/>
            </a:endParaRPr>
          </a:p>
          <a:p>
            <a:endParaRPr lang="zh-TW" altLang="en-US" dirty="0">
              <a:latin typeface="+mj-ea"/>
              <a:ea typeface="+mj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33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1385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34</a:t>
            </a:r>
            <a:endParaRPr lang="zh-TW" altLang="en-US"/>
          </a:p>
        </p:txBody>
      </p:sp>
      <p:pic>
        <p:nvPicPr>
          <p:cNvPr id="6" name="圖片 5" descr="一張含有 圖表, 文字, 行, 繪圖 的圖片&#10;&#10;自動產生的描述">
            <a:extLst>
              <a:ext uri="{FF2B5EF4-FFF2-40B4-BE49-F238E27FC236}">
                <a16:creationId xmlns:a16="http://schemas.microsoft.com/office/drawing/2014/main" id="{EB8374E6-9093-65EF-4774-E9DE0A3CA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1" y="476672"/>
            <a:ext cx="8231826" cy="616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151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zh-TW" altLang="en-US" dirty="0">
                <a:latin typeface="+mj-ea"/>
                <a:ea typeface="+mj-ea"/>
              </a:rPr>
              <a:t>作業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576450"/>
          </a:xfrm>
        </p:spPr>
        <p:txBody>
          <a:bodyPr>
            <a:normAutofit fontScale="85000" lnSpcReduction="10000"/>
          </a:bodyPr>
          <a:lstStyle/>
          <a:p>
            <a:pPr marL="109728" lvl="0" indent="0">
              <a:lnSpc>
                <a:spcPct val="130000"/>
              </a:lnSpc>
              <a:buNone/>
            </a:pPr>
            <a:r>
              <a:rPr lang="en-US" altLang="zh-TW" sz="2800" dirty="0">
                <a:latin typeface="+mj-ea"/>
                <a:ea typeface="+mj-ea"/>
              </a:rPr>
              <a:t>1. Adult income</a:t>
            </a:r>
            <a:r>
              <a:rPr lang="zh-TW" altLang="zh-TW" sz="2800" dirty="0">
                <a:latin typeface="+mj-ea"/>
                <a:ea typeface="+mj-ea"/>
              </a:rPr>
              <a:t>資料檔中包含</a:t>
            </a:r>
            <a:r>
              <a:rPr lang="en-US" altLang="zh-TW" sz="2800" dirty="0">
                <a:latin typeface="+mj-ea"/>
                <a:ea typeface="+mj-ea"/>
              </a:rPr>
              <a:t>1994</a:t>
            </a:r>
            <a:r>
              <a:rPr lang="zh-TW" altLang="en-US" sz="2800" dirty="0">
                <a:latin typeface="+mj-ea"/>
                <a:ea typeface="+mj-ea"/>
              </a:rPr>
              <a:t>年美國薪資普查資料</a:t>
            </a:r>
            <a:r>
              <a:rPr lang="zh-TW" altLang="zh-TW" sz="2800" dirty="0">
                <a:latin typeface="+mj-ea"/>
                <a:ea typeface="+mj-ea"/>
              </a:rPr>
              <a:t>。</a:t>
            </a:r>
          </a:p>
          <a:p>
            <a:pPr marL="109728" lvl="0" indent="0">
              <a:lnSpc>
                <a:spcPct val="130000"/>
              </a:lnSpc>
              <a:buNone/>
            </a:pPr>
            <a:r>
              <a:rPr lang="en-US" altLang="zh-TW" sz="2800" dirty="0">
                <a:latin typeface="+mj-ea"/>
                <a:ea typeface="+mj-ea"/>
              </a:rPr>
              <a:t>    (1) </a:t>
            </a:r>
            <a:r>
              <a:rPr lang="zh-TW" altLang="zh-TW" sz="2800" dirty="0">
                <a:latin typeface="+mj-ea"/>
                <a:ea typeface="+mj-ea"/>
              </a:rPr>
              <a:t>請計算</a:t>
            </a:r>
            <a:r>
              <a:rPr lang="zh-TW" altLang="en-US" dirty="0"/>
              <a:t>薪資</a:t>
            </a:r>
            <a:r>
              <a:rPr lang="zh-TW" altLang="zh-TW" sz="2800" dirty="0">
                <a:latin typeface="+mj-ea"/>
                <a:ea typeface="+mj-ea"/>
              </a:rPr>
              <a:t>及</a:t>
            </a:r>
            <a:r>
              <a:rPr lang="zh-TW" altLang="en-US" sz="2800" dirty="0">
                <a:latin typeface="+mj-ea"/>
                <a:ea typeface="+mj-ea"/>
              </a:rPr>
              <a:t>年紀</a:t>
            </a:r>
            <a:r>
              <a:rPr lang="zh-TW" altLang="zh-TW" sz="2800" dirty="0">
                <a:latin typeface="+mj-ea"/>
                <a:ea typeface="+mj-ea"/>
              </a:rPr>
              <a:t>的平均數，中位數，變異數及</a:t>
            </a:r>
            <a:r>
              <a:rPr lang="en-US" altLang="zh-TW" sz="2800" dirty="0">
                <a:latin typeface="+mj-ea"/>
                <a:ea typeface="+mj-ea"/>
              </a:rPr>
              <a:t>IQR</a:t>
            </a:r>
            <a:r>
              <a:rPr lang="zh-TW" altLang="zh-TW" sz="2800" dirty="0">
                <a:latin typeface="+mj-ea"/>
                <a:ea typeface="+mj-ea"/>
              </a:rPr>
              <a:t>。</a:t>
            </a:r>
          </a:p>
          <a:p>
            <a:pPr marL="109728" lvl="0" indent="0">
              <a:lnSpc>
                <a:spcPct val="130000"/>
              </a:lnSpc>
              <a:buNone/>
            </a:pPr>
            <a:r>
              <a:rPr lang="en-US" altLang="zh-TW" sz="2800" dirty="0">
                <a:latin typeface="+mj-ea"/>
                <a:ea typeface="+mj-ea"/>
              </a:rPr>
              <a:t>    (2) </a:t>
            </a:r>
            <a:r>
              <a:rPr lang="zh-TW" altLang="zh-TW" sz="2800" dirty="0">
                <a:latin typeface="+mj-ea"/>
                <a:ea typeface="+mj-ea"/>
              </a:rPr>
              <a:t>接續第</a:t>
            </a:r>
            <a:r>
              <a:rPr lang="en-US" altLang="zh-TW" sz="2800" dirty="0">
                <a:latin typeface="+mj-ea"/>
                <a:ea typeface="+mj-ea"/>
              </a:rPr>
              <a:t>(1)</a:t>
            </a:r>
            <a:r>
              <a:rPr lang="zh-TW" altLang="zh-TW" sz="2800" dirty="0">
                <a:latin typeface="+mj-ea"/>
                <a:ea typeface="+mj-ea"/>
              </a:rPr>
              <a:t>小題，請分別以男女的結果呈現。</a:t>
            </a:r>
          </a:p>
          <a:p>
            <a:pPr marL="109728" lvl="0" indent="0">
              <a:lnSpc>
                <a:spcPct val="130000"/>
              </a:lnSpc>
              <a:buNone/>
            </a:pPr>
            <a:r>
              <a:rPr lang="en-US" altLang="zh-TW" sz="2800" dirty="0">
                <a:latin typeface="+mj-ea"/>
                <a:ea typeface="+mj-ea"/>
              </a:rPr>
              <a:t>    (3) </a:t>
            </a:r>
            <a:r>
              <a:rPr lang="zh-TW" altLang="zh-TW" sz="2800" dirty="0">
                <a:latin typeface="+mj-ea"/>
                <a:ea typeface="+mj-ea"/>
              </a:rPr>
              <a:t>接續第</a:t>
            </a:r>
            <a:r>
              <a:rPr lang="en-US" altLang="zh-TW" sz="2800" dirty="0">
                <a:latin typeface="+mj-ea"/>
                <a:ea typeface="+mj-ea"/>
              </a:rPr>
              <a:t>(1)</a:t>
            </a:r>
            <a:r>
              <a:rPr lang="zh-TW" altLang="zh-TW" sz="2800" dirty="0">
                <a:latin typeface="+mj-ea"/>
                <a:ea typeface="+mj-ea"/>
              </a:rPr>
              <a:t>小題，請針對</a:t>
            </a:r>
            <a:r>
              <a:rPr lang="zh-TW" altLang="en-US" sz="2800" dirty="0">
                <a:latin typeface="+mj-ea"/>
                <a:ea typeface="+mj-ea"/>
              </a:rPr>
              <a:t>薪資</a:t>
            </a:r>
            <a:r>
              <a:rPr lang="zh-TW" altLang="zh-TW" sz="2800" dirty="0">
                <a:latin typeface="+mj-ea"/>
                <a:ea typeface="+mj-ea"/>
              </a:rPr>
              <a:t>小於平均數以下的</a:t>
            </a:r>
            <a:r>
              <a:rPr lang="zh-TW" altLang="en-US" sz="2800" dirty="0">
                <a:latin typeface="+mj-ea"/>
                <a:ea typeface="+mj-ea"/>
              </a:rPr>
              <a:t>民眾</a:t>
            </a:r>
            <a:r>
              <a:rPr lang="zh-TW" altLang="zh-TW" sz="2800" dirty="0">
                <a:latin typeface="+mj-ea"/>
                <a:ea typeface="+mj-ea"/>
              </a:rPr>
              <a:t>，計算他們</a:t>
            </a:r>
            <a:r>
              <a:rPr lang="zh-TW" altLang="en-US" dirty="0"/>
              <a:t>年紀</a:t>
            </a:r>
            <a:r>
              <a:rPr lang="zh-TW" altLang="zh-TW" sz="2800" dirty="0">
                <a:latin typeface="+mj-ea"/>
                <a:ea typeface="+mj-ea"/>
              </a:rPr>
              <a:t>的平均數，中位數，變異數及</a:t>
            </a:r>
            <a:r>
              <a:rPr lang="en-US" altLang="zh-TW" sz="2800" dirty="0">
                <a:latin typeface="+mj-ea"/>
                <a:ea typeface="+mj-ea"/>
              </a:rPr>
              <a:t>IQR</a:t>
            </a:r>
            <a:r>
              <a:rPr lang="zh-TW" altLang="zh-TW" sz="2800" dirty="0">
                <a:latin typeface="+mj-ea"/>
                <a:ea typeface="+mj-ea"/>
              </a:rPr>
              <a:t>。</a:t>
            </a:r>
          </a:p>
          <a:p>
            <a:pPr marL="109728" lvl="0" indent="0">
              <a:lnSpc>
                <a:spcPct val="130000"/>
              </a:lnSpc>
              <a:spcBef>
                <a:spcPts val="1800"/>
              </a:spcBef>
              <a:buNone/>
            </a:pPr>
            <a:r>
              <a:rPr lang="en-US" altLang="zh-TW" sz="2800" dirty="0">
                <a:latin typeface="+mj-ea"/>
                <a:ea typeface="+mj-ea"/>
              </a:rPr>
              <a:t>2. </a:t>
            </a:r>
            <a:r>
              <a:rPr lang="zh-TW" altLang="zh-TW" sz="2800" dirty="0">
                <a:latin typeface="+mj-ea"/>
                <a:ea typeface="+mj-ea"/>
              </a:rPr>
              <a:t>資料總結的五數（</a:t>
            </a:r>
            <a:r>
              <a:rPr lang="en-US" altLang="zh-TW" sz="2800" dirty="0">
                <a:latin typeface="+mj-ea"/>
                <a:ea typeface="+mj-ea"/>
              </a:rPr>
              <a:t>five-number summary</a:t>
            </a:r>
            <a:r>
              <a:rPr lang="zh-TW" altLang="zh-TW" sz="2800" dirty="0">
                <a:latin typeface="+mj-ea"/>
                <a:ea typeface="+mj-ea"/>
              </a:rPr>
              <a:t>）通常以極小、極大數、中位數、第一和第三個四分位數來表達。由五數的結構我們通常可以約略的認識資料＂分佈＂的狀態。使用</a:t>
            </a:r>
            <a:r>
              <a:rPr lang="en-US" altLang="zh-TW" sz="2800" dirty="0" err="1">
                <a:latin typeface="+mj-ea"/>
                <a:ea typeface="+mj-ea"/>
              </a:rPr>
              <a:t>CVD_All</a:t>
            </a:r>
            <a:r>
              <a:rPr lang="zh-TW" altLang="zh-TW" sz="2800" dirty="0">
                <a:latin typeface="+mj-ea"/>
                <a:ea typeface="+mj-ea"/>
              </a:rPr>
              <a:t>的資料，</a:t>
            </a:r>
            <a:r>
              <a:rPr lang="en-US" altLang="zh-TW" sz="2800" dirty="0">
                <a:latin typeface="+mj-ea"/>
                <a:ea typeface="+mj-ea"/>
              </a:rPr>
              <a:t>	(1) </a:t>
            </a:r>
            <a:r>
              <a:rPr lang="zh-TW" altLang="zh-TW" dirty="0">
                <a:latin typeface="+mj-ea"/>
                <a:ea typeface="+mj-ea"/>
              </a:rPr>
              <a:t>計算收縮壓資料的五個總結數；</a:t>
            </a:r>
            <a:r>
              <a:rPr lang="en-US" altLang="zh-TW" dirty="0">
                <a:latin typeface="+mj-ea"/>
                <a:ea typeface="+mj-ea"/>
              </a:rPr>
              <a:t> </a:t>
            </a:r>
            <a:r>
              <a:rPr lang="en-US" altLang="zh-TW" sz="2800" dirty="0">
                <a:latin typeface="+mj-ea"/>
                <a:ea typeface="+mj-ea"/>
              </a:rPr>
              <a:t>(2) </a:t>
            </a:r>
            <a:r>
              <a:rPr lang="zh-TW" altLang="zh-TW" sz="2800" dirty="0">
                <a:latin typeface="+mj-ea"/>
                <a:ea typeface="+mj-ea"/>
              </a:rPr>
              <a:t>計算空腹血糖資料的五個總結數；</a:t>
            </a:r>
            <a:r>
              <a:rPr lang="en-US" altLang="zh-TW" sz="2800" dirty="0">
                <a:latin typeface="+mj-ea"/>
                <a:ea typeface="+mj-ea"/>
              </a:rPr>
              <a:t>(3) </a:t>
            </a:r>
            <a:r>
              <a:rPr lang="zh-TW" altLang="zh-TW" sz="2800" dirty="0">
                <a:latin typeface="+mj-ea"/>
                <a:ea typeface="+mj-ea"/>
              </a:rPr>
              <a:t>計算三酸甘油酯資料的五個總結數；</a:t>
            </a:r>
            <a:r>
              <a:rPr lang="en-US" altLang="zh-TW" sz="2800" dirty="0">
                <a:latin typeface="+mj-ea"/>
                <a:ea typeface="+mj-ea"/>
              </a:rPr>
              <a:t>(4) </a:t>
            </a:r>
            <a:r>
              <a:rPr lang="zh-TW" altLang="zh-TW" sz="2800" dirty="0">
                <a:latin typeface="+mj-ea"/>
                <a:ea typeface="+mj-ea"/>
              </a:rPr>
              <a:t>前面五個總結數，以男女分別呈現；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35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1871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539552" y="0"/>
            <a:ext cx="7772400" cy="1609344"/>
          </a:xfrm>
        </p:spPr>
        <p:txBody>
          <a:bodyPr/>
          <a:lstStyle/>
          <a:p>
            <a:endParaRPr lang="zh-TW" altLang="en-US" dirty="0">
              <a:latin typeface="+mj-ea"/>
              <a:ea typeface="+mj-ea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666523"/>
          </a:xfrm>
        </p:spPr>
        <p:txBody>
          <a:bodyPr>
            <a:normAutofit fontScale="92500"/>
          </a:bodyPr>
          <a:lstStyle/>
          <a:p>
            <a:pPr marL="109728" lvl="0" indent="0">
              <a:lnSpc>
                <a:spcPct val="130000"/>
              </a:lnSpc>
              <a:buNone/>
            </a:pPr>
            <a:r>
              <a:rPr lang="en-US" altLang="zh-TW" dirty="0">
                <a:latin typeface="+mj-ea"/>
                <a:ea typeface="+mj-ea"/>
              </a:rPr>
              <a:t>3. </a:t>
            </a:r>
            <a:r>
              <a:rPr lang="zh-TW" altLang="zh-TW" dirty="0">
                <a:latin typeface="+mj-ea"/>
                <a:ea typeface="+mj-ea"/>
              </a:rPr>
              <a:t>請使用盒鬚圖，探討</a:t>
            </a:r>
            <a:r>
              <a:rPr lang="zh-TW" altLang="zh-TW" dirty="0"/>
              <a:t>收縮壓資料</a:t>
            </a:r>
            <a:r>
              <a:rPr lang="zh-TW" altLang="zh-TW" dirty="0">
                <a:latin typeface="+mj-ea"/>
                <a:ea typeface="+mj-ea"/>
              </a:rPr>
              <a:t>男女資料分散程度的差異性。</a:t>
            </a:r>
          </a:p>
          <a:p>
            <a:pPr marL="109728" lvl="0" indent="0">
              <a:lnSpc>
                <a:spcPct val="130000"/>
              </a:lnSpc>
              <a:buNone/>
            </a:pPr>
            <a:r>
              <a:rPr lang="en-US" altLang="zh-TW" sz="2800" dirty="0">
                <a:latin typeface="+mj-ea"/>
                <a:ea typeface="+mj-ea"/>
              </a:rPr>
              <a:t>4. </a:t>
            </a:r>
            <a:r>
              <a:rPr lang="zh-TW" altLang="zh-TW" sz="2800" dirty="0">
                <a:latin typeface="+mj-ea"/>
                <a:ea typeface="+mj-ea"/>
              </a:rPr>
              <a:t>接續第</a:t>
            </a:r>
            <a:r>
              <a:rPr lang="en-US" altLang="zh-TW" sz="2800" dirty="0">
                <a:latin typeface="+mj-ea"/>
                <a:ea typeface="+mj-ea"/>
              </a:rPr>
              <a:t>2</a:t>
            </a:r>
            <a:r>
              <a:rPr lang="zh-TW" altLang="zh-TW" sz="2800" dirty="0">
                <a:latin typeface="+mj-ea"/>
                <a:ea typeface="+mj-ea"/>
              </a:rPr>
              <a:t>個題目中的資料，</a:t>
            </a:r>
          </a:p>
          <a:p>
            <a:pPr marL="393192" lvl="1" indent="0">
              <a:lnSpc>
                <a:spcPct val="130000"/>
              </a:lnSpc>
              <a:buNone/>
            </a:pPr>
            <a:r>
              <a:rPr lang="en-US" altLang="zh-TW" sz="2400" dirty="0">
                <a:latin typeface="+mj-ea"/>
                <a:ea typeface="+mj-ea"/>
              </a:rPr>
              <a:t>(1) </a:t>
            </a:r>
            <a:r>
              <a:rPr lang="zh-TW" altLang="zh-TW" sz="2400" dirty="0">
                <a:latin typeface="+mj-ea"/>
                <a:ea typeface="+mj-ea"/>
              </a:rPr>
              <a:t>請畫出收縮壓資料的直方圖，</a:t>
            </a:r>
          </a:p>
          <a:p>
            <a:pPr marL="393192" lvl="1" indent="0">
              <a:lnSpc>
                <a:spcPct val="130000"/>
              </a:lnSpc>
              <a:buNone/>
            </a:pPr>
            <a:r>
              <a:rPr lang="en-US" altLang="zh-TW" sz="2400" dirty="0">
                <a:latin typeface="+mj-ea"/>
                <a:ea typeface="+mj-ea"/>
              </a:rPr>
              <a:t>(2) </a:t>
            </a:r>
            <a:r>
              <a:rPr lang="zh-TW" altLang="zh-TW" sz="2400" dirty="0">
                <a:latin typeface="+mj-ea"/>
                <a:ea typeface="+mj-ea"/>
              </a:rPr>
              <a:t>請畫出舒張壓資料的直方圖，</a:t>
            </a:r>
          </a:p>
          <a:p>
            <a:pPr marL="393192" lvl="1" indent="0">
              <a:lnSpc>
                <a:spcPct val="130000"/>
              </a:lnSpc>
              <a:buNone/>
            </a:pPr>
            <a:r>
              <a:rPr lang="en-US" altLang="zh-TW" sz="2400" dirty="0">
                <a:latin typeface="+mj-ea"/>
                <a:ea typeface="+mj-ea"/>
              </a:rPr>
              <a:t>(3) </a:t>
            </a:r>
            <a:r>
              <a:rPr lang="zh-TW" altLang="zh-TW" sz="2400" dirty="0">
                <a:latin typeface="+mj-ea"/>
                <a:ea typeface="+mj-ea"/>
              </a:rPr>
              <a:t>請比較前面二個直方圖，並列出結論</a:t>
            </a:r>
            <a:r>
              <a:rPr lang="en-US" altLang="zh-TW" sz="2400" dirty="0">
                <a:latin typeface="+mj-ea"/>
                <a:ea typeface="+mj-ea"/>
              </a:rPr>
              <a:t>?</a:t>
            </a:r>
            <a:endParaRPr lang="zh-TW" altLang="zh-TW" sz="2400" dirty="0">
              <a:latin typeface="+mj-ea"/>
              <a:ea typeface="+mj-ea"/>
            </a:endParaRPr>
          </a:p>
          <a:p>
            <a:pPr marL="109728" lvl="0" indent="0">
              <a:lnSpc>
                <a:spcPct val="130000"/>
              </a:lnSpc>
              <a:buNone/>
            </a:pPr>
            <a:r>
              <a:rPr lang="en-US" altLang="zh-TW" sz="2800" dirty="0">
                <a:latin typeface="+mj-ea"/>
                <a:ea typeface="+mj-ea"/>
              </a:rPr>
              <a:t>5. </a:t>
            </a:r>
            <a:r>
              <a:rPr lang="zh-TW" altLang="zh-TW" sz="2800" dirty="0">
                <a:latin typeface="+mj-ea"/>
                <a:ea typeface="+mj-ea"/>
              </a:rPr>
              <a:t>接續第</a:t>
            </a:r>
            <a:r>
              <a:rPr lang="en-US" altLang="zh-TW" sz="2800" dirty="0">
                <a:latin typeface="+mj-ea"/>
                <a:ea typeface="+mj-ea"/>
              </a:rPr>
              <a:t>2</a:t>
            </a:r>
            <a:r>
              <a:rPr lang="zh-TW" altLang="zh-TW" sz="2800" dirty="0">
                <a:latin typeface="+mj-ea"/>
                <a:ea typeface="+mj-ea"/>
              </a:rPr>
              <a:t>個題目中的資料，請針對收縮壓及舒張壓，畫出</a:t>
            </a:r>
            <a:r>
              <a:rPr lang="en-US" altLang="zh-TW" sz="2800" dirty="0">
                <a:latin typeface="+mj-ea"/>
                <a:ea typeface="+mj-ea"/>
              </a:rPr>
              <a:t>2D</a:t>
            </a:r>
            <a:r>
              <a:rPr lang="zh-TW" altLang="zh-TW" sz="2800" dirty="0">
                <a:latin typeface="+mj-ea"/>
                <a:ea typeface="+mj-ea"/>
              </a:rPr>
              <a:t>的散佈圖，並探討二個變數間的相關性。</a:t>
            </a:r>
          </a:p>
          <a:p>
            <a:endParaRPr lang="zh-TW" altLang="en-US" dirty="0">
              <a:latin typeface="+mj-ea"/>
              <a:ea typeface="+mj-ea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36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142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+mj-ea"/>
                <a:ea typeface="+mj-ea"/>
              </a:rPr>
              <a:t>參考資料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685800" y="1844824"/>
            <a:ext cx="8350696" cy="4050792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1800"/>
              </a:spcBef>
            </a:pPr>
            <a:r>
              <a:rPr lang="zh-TW" altLang="en-US" sz="2800" dirty="0">
                <a:latin typeface="+mj-ea"/>
                <a:ea typeface="+mj-ea"/>
              </a:rPr>
              <a:t>本章節使用之</a:t>
            </a:r>
            <a:r>
              <a:rPr lang="zh-TW" altLang="zh-TW" sz="2800" dirty="0">
                <a:latin typeface="+mj-ea"/>
                <a:ea typeface="+mj-ea"/>
              </a:rPr>
              <a:t>資料</a:t>
            </a:r>
            <a:r>
              <a:rPr lang="zh-TW" altLang="en-US" sz="2800" dirty="0">
                <a:latin typeface="+mj-ea"/>
                <a:ea typeface="+mj-ea"/>
              </a:rPr>
              <a:t>檔</a:t>
            </a:r>
            <a:r>
              <a:rPr lang="zh-TW" altLang="zh-TW" sz="2800" dirty="0">
                <a:latin typeface="+mj-ea"/>
                <a:ea typeface="+mj-ea"/>
              </a:rPr>
              <a:t>檔名：</a:t>
            </a:r>
            <a:endParaRPr lang="en-US" altLang="zh-TW" sz="2800" dirty="0">
              <a:latin typeface="+mj-ea"/>
              <a:ea typeface="+mj-ea"/>
            </a:endParaRPr>
          </a:p>
          <a:p>
            <a:pPr lvl="1">
              <a:spcBef>
                <a:spcPts val="1800"/>
              </a:spcBef>
            </a:pPr>
            <a:r>
              <a:rPr lang="en-US" altLang="zh-TW" dirty="0">
                <a:latin typeface="+mj-ea"/>
                <a:ea typeface="+mj-ea"/>
              </a:rPr>
              <a:t>sport injury, </a:t>
            </a:r>
          </a:p>
          <a:p>
            <a:pPr lvl="1">
              <a:spcBef>
                <a:spcPts val="1800"/>
              </a:spcBef>
            </a:pPr>
            <a:r>
              <a:rPr lang="en-US" altLang="zh-TW" dirty="0">
                <a:latin typeface="+mj-ea"/>
                <a:ea typeface="+mj-ea"/>
              </a:rPr>
              <a:t>adult income</a:t>
            </a:r>
          </a:p>
          <a:p>
            <a:pPr lvl="1">
              <a:spcBef>
                <a:spcPts val="1800"/>
              </a:spcBef>
            </a:pPr>
            <a:r>
              <a:rPr lang="en-US" altLang="zh-TW" dirty="0" err="1">
                <a:latin typeface="+mj-ea"/>
                <a:ea typeface="+mj-ea"/>
              </a:rPr>
              <a:t>CVD_all</a:t>
            </a:r>
            <a:endParaRPr lang="en-US" altLang="zh-TW" dirty="0">
              <a:latin typeface="+mj-ea"/>
              <a:ea typeface="+mj-ea"/>
            </a:endParaRPr>
          </a:p>
          <a:p>
            <a:pPr lvl="1">
              <a:spcBef>
                <a:spcPts val="1800"/>
              </a:spcBef>
            </a:pPr>
            <a:endParaRPr lang="en-US" altLang="zh-TW" dirty="0">
              <a:latin typeface="+mj-ea"/>
              <a:ea typeface="+mj-ea"/>
            </a:endParaRPr>
          </a:p>
          <a:p>
            <a:pPr marL="566928" indent="-457200">
              <a:spcBef>
                <a:spcPts val="1800"/>
              </a:spcBef>
            </a:pPr>
            <a:r>
              <a:rPr lang="zh-TW" altLang="en-US" dirty="0">
                <a:latin typeface="+mj-ea"/>
                <a:ea typeface="+mj-ea"/>
              </a:rPr>
              <a:t>資料下載連結</a:t>
            </a:r>
            <a:r>
              <a:rPr lang="en-US" altLang="zh-TW" dirty="0">
                <a:latin typeface="+mj-ea"/>
                <a:ea typeface="+mj-ea"/>
              </a:rPr>
              <a:t>:</a:t>
            </a:r>
          </a:p>
          <a:p>
            <a:pPr marL="841248" lvl="1" indent="-457200">
              <a:spcBef>
                <a:spcPts val="1800"/>
              </a:spcBef>
            </a:pPr>
            <a:r>
              <a:rPr lang="en-US" altLang="zh-TW" dirty="0">
                <a:latin typeface="+mj-ea"/>
                <a:ea typeface="+mj-ea"/>
                <a:hlinkClick r:id="rId2"/>
              </a:rPr>
              <a:t>https://bit.ly/3sBNc9Z</a:t>
            </a:r>
            <a:endParaRPr lang="en-US" altLang="zh-TW" dirty="0">
              <a:latin typeface="+mj-ea"/>
              <a:ea typeface="+mj-ea"/>
            </a:endParaRPr>
          </a:p>
          <a:p>
            <a:pPr marL="841248" lvl="1" indent="-457200">
              <a:spcBef>
                <a:spcPts val="1800"/>
              </a:spcBef>
            </a:pPr>
            <a:r>
              <a:rPr lang="en-US" altLang="zh-TW" dirty="0">
                <a:latin typeface="+mj-ea"/>
                <a:ea typeface="+mj-ea"/>
                <a:hlinkClick r:id="rId3"/>
              </a:rPr>
              <a:t>https://bit.ly/3ZaIFrj</a:t>
            </a:r>
            <a:endParaRPr lang="en-US" altLang="zh-TW" dirty="0">
              <a:latin typeface="+mj-ea"/>
              <a:ea typeface="+mj-ea"/>
            </a:endParaRPr>
          </a:p>
          <a:p>
            <a:pPr marL="841248" lvl="1" indent="-457200">
              <a:spcBef>
                <a:spcPts val="1800"/>
              </a:spcBef>
            </a:pPr>
            <a:r>
              <a:rPr lang="en-US" altLang="zh-TW" dirty="0">
                <a:latin typeface="+mj-ea"/>
                <a:ea typeface="+mj-ea"/>
              </a:rPr>
              <a:t>https://bit.ly/3PdcwL8</a:t>
            </a:r>
          </a:p>
          <a:p>
            <a:pPr marL="109728" indent="0">
              <a:spcBef>
                <a:spcPts val="1800"/>
              </a:spcBef>
              <a:buNone/>
            </a:pPr>
            <a:endParaRPr lang="en-US" altLang="zh-TW" sz="2800" dirty="0">
              <a:latin typeface="+mj-ea"/>
              <a:ea typeface="+mj-ea"/>
            </a:endParaRPr>
          </a:p>
          <a:p>
            <a:pPr marL="109728" indent="0">
              <a:spcBef>
                <a:spcPts val="1800"/>
              </a:spcBef>
              <a:buNone/>
            </a:pPr>
            <a:endParaRPr lang="en-US" altLang="zh-TW" sz="2800" dirty="0">
              <a:latin typeface="+mj-ea"/>
              <a:ea typeface="+mj-ea"/>
            </a:endParaRPr>
          </a:p>
          <a:p>
            <a:pPr marL="109728" indent="0">
              <a:buNone/>
            </a:pPr>
            <a:endParaRPr lang="zh-TW" altLang="zh-TW" sz="2800" dirty="0">
              <a:latin typeface="+mj-ea"/>
              <a:ea typeface="+mj-ea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 smtClean="0"/>
              <a:t>37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0071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 descr="一群人在音樂會中玩樂">
            <a:extLst>
              <a:ext uri="{FF2B5EF4-FFF2-40B4-BE49-F238E27FC236}">
                <a16:creationId xmlns:a16="http://schemas.microsoft.com/office/drawing/2014/main" id="{8A27CE55-CF8B-FF68-E298-1107C3CB0A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93" y="0"/>
            <a:ext cx="9144000" cy="6085582"/>
          </a:xfrm>
          <a:prstGeom prst="rect">
            <a:avLst/>
          </a:prstGeom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35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E02B2EC-6BF1-7091-AA14-C3C74130E240}"/>
              </a:ext>
            </a:extLst>
          </p:cNvPr>
          <p:cNvSpPr txBox="1"/>
          <p:nvPr/>
        </p:nvSpPr>
        <p:spPr>
          <a:xfrm>
            <a:off x="0" y="1556792"/>
            <a:ext cx="91440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96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恭喜完成第一章</a:t>
            </a:r>
            <a:r>
              <a:rPr lang="en-US" altLang="zh-TW" sz="96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!</a:t>
            </a:r>
            <a:endParaRPr lang="zh-TW" altLang="en-US" sz="96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0.20.1.2101"/>
  <p:tag name="SLIDO_PRESENTATION_ID" val="00000000-0000-0000-0000-000000000000"/>
  <p:tag name="SLIDO_EVENT_UUID" val="0e19d0ae-9552-4b78-bdf8-245075578fa4"/>
  <p:tag name="SLIDO_EVENT_SECTION_UUID" val="09681599-be93-4ad1-9533-a9fb2438887d"/>
</p:tagLst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刻字型">
  <a:themeElements>
    <a:clrScheme name="木刻字型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刻字型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刻字型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木頭類型</Template>
  <TotalTime>0</TotalTime>
  <Words>2520</Words>
  <Application>Microsoft Office PowerPoint</Application>
  <PresentationFormat>如螢幕大小 (4:3)</PresentationFormat>
  <Paragraphs>225</Paragraphs>
  <Slides>38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38</vt:i4>
      </vt:variant>
    </vt:vector>
  </HeadingPairs>
  <TitlesOfParts>
    <vt:vector size="46" baseType="lpstr">
      <vt:lpstr>微軟正黑體</vt:lpstr>
      <vt:lpstr>Calibri</vt:lpstr>
      <vt:lpstr>Cambria Math</vt:lpstr>
      <vt:lpstr>Rockwell</vt:lpstr>
      <vt:lpstr>Rockwell Condensed</vt:lpstr>
      <vt:lpstr>Wingdings</vt:lpstr>
      <vt:lpstr>Wingdings 3</vt:lpstr>
      <vt:lpstr>木刻字型</vt:lpstr>
      <vt:lpstr>高等體育統計學 </vt:lpstr>
      <vt:lpstr>Line 群</vt:lpstr>
      <vt:lpstr>目錄</vt:lpstr>
      <vt:lpstr>成績計算方式</vt:lpstr>
      <vt:lpstr>第一章 描述資料特徵的統計量及圖表</vt:lpstr>
      <vt:lpstr>關鍵字(Key words)</vt:lpstr>
      <vt:lpstr>PowerPoint 簡報</vt:lpstr>
      <vt:lpstr>PowerPoint 簡報</vt:lpstr>
      <vt:lpstr>描述資料集中趨勢 (central tendency) 的統計量</vt:lpstr>
      <vt:lpstr>PowerPoint 簡報</vt:lpstr>
      <vt:lpstr>PowerPoint 簡報</vt:lpstr>
      <vt:lpstr> 圖1: 高中職受壓力的時間</vt:lpstr>
      <vt:lpstr>PowerPoint 簡報</vt:lpstr>
      <vt:lpstr>PowerPoint 簡報</vt:lpstr>
      <vt:lpstr>表2　受雇勞工在於2009-2016年時薪資的平均數和中位數　　 單位：元</vt:lpstr>
      <vt:lpstr>這二種集中趨勢的統計量各有其代表的意義，但我們發現一個有趣的現象：</vt:lpstr>
      <vt:lpstr>PowerPoint 簡報</vt:lpstr>
      <vt:lpstr>PowerPoint 簡報</vt:lpstr>
      <vt:lpstr>PowerPoint 簡報</vt:lpstr>
      <vt:lpstr>PowerPoint 簡報</vt:lpstr>
      <vt:lpstr>特徵值的計算及圖表製作</vt:lpstr>
      <vt:lpstr>PowerPoint 簡報</vt:lpstr>
      <vt:lpstr>特徵值統計(不包含遺失值)：</vt:lpstr>
      <vt:lpstr>盒鬚圖(Box and Whisker Plot)</vt:lpstr>
      <vt:lpstr>PowerPoint 簡報</vt:lpstr>
      <vt:lpstr>PowerPoint 簡報</vt:lpstr>
      <vt:lpstr>PowerPoint 簡報</vt:lpstr>
      <vt:lpstr>直方圖 (Histogram)</vt:lpstr>
      <vt:lpstr>PowerPoint 簡報</vt:lpstr>
      <vt:lpstr>長條圖</vt:lpstr>
      <vt:lpstr>PowerPoint 簡報</vt:lpstr>
      <vt:lpstr>2D散佈圖</vt:lpstr>
      <vt:lpstr>PowerPoint 簡報</vt:lpstr>
      <vt:lpstr>PowerPoint 簡報</vt:lpstr>
      <vt:lpstr>作業</vt:lpstr>
      <vt:lpstr>PowerPoint 簡報</vt:lpstr>
      <vt:lpstr>參考資料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描述資料特徵的統計量及圖表</dc:title>
  <dc:creator>user</dc:creator>
  <cp:lastModifiedBy>YK Lin</cp:lastModifiedBy>
  <cp:revision>181</cp:revision>
  <dcterms:created xsi:type="dcterms:W3CDTF">2014-07-25T05:28:55Z</dcterms:created>
  <dcterms:modified xsi:type="dcterms:W3CDTF">2026-03-06T14:18:11Z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0.20.1.2101</vt:lpwstr>
  </property>
</Properties>
</file>